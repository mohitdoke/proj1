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 id="2147483682" r:id="rId2"/>
  </p:sldMasterIdLst>
  <p:notesMasterIdLst>
    <p:notesMasterId r:id="rId21"/>
  </p:notesMasterIdLst>
  <p:sldIdLst>
    <p:sldId id="4606" r:id="rId3"/>
    <p:sldId id="4626" r:id="rId4"/>
    <p:sldId id="4660" r:id="rId5"/>
    <p:sldId id="4644" r:id="rId6"/>
    <p:sldId id="4662" r:id="rId7"/>
    <p:sldId id="4656" r:id="rId8"/>
    <p:sldId id="4645" r:id="rId9"/>
    <p:sldId id="4657" r:id="rId10"/>
    <p:sldId id="4658" r:id="rId11"/>
    <p:sldId id="4646" r:id="rId12"/>
    <p:sldId id="4666" r:id="rId13"/>
    <p:sldId id="4647" r:id="rId14"/>
    <p:sldId id="4667" r:id="rId15"/>
    <p:sldId id="4668" r:id="rId16"/>
    <p:sldId id="4661" r:id="rId17"/>
    <p:sldId id="4659" r:id="rId18"/>
    <p:sldId id="4649" r:id="rId19"/>
    <p:sldId id="4650" r:id="rId20"/>
  </p:sldIdLst>
  <p:sldSz cx="12192000" cy="6858000"/>
  <p:notesSz cx="9601200" cy="15087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8750E31-3D0C-88D8-00BB-95CC06D3CDF3}" name="Govind Chandak" initials="GC" userId="S::govind.chandak@iiflcapital.com::3683b576-1a21-48e9-ad62-3a79c475d8c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AE3F8"/>
    <a:srgbClr val="CCDDF8"/>
    <a:srgbClr val="2E31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7432DE-294B-543D-05D7-77B2DACD4466}" v="14" dt="2026-06-08T07:57:26.7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5/10/relationships/revisionInfo" Target="revisionInfo.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 Id="rId27"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4160520" cy="757001"/>
          </a:xfrm>
          <a:prstGeom prst="rect">
            <a:avLst/>
          </a:prstGeom>
        </p:spPr>
        <p:txBody>
          <a:bodyPr vert="horz" lIns="163894" tIns="81946" rIns="163894" bIns="81946" rtlCol="0"/>
          <a:lstStyle>
            <a:lvl1pPr algn="l">
              <a:defRPr sz="2100"/>
            </a:lvl1pPr>
          </a:lstStyle>
          <a:p>
            <a:endParaRPr lang="en-IN"/>
          </a:p>
        </p:txBody>
      </p:sp>
      <p:sp>
        <p:nvSpPr>
          <p:cNvPr id="3" name="Date Placeholder 2"/>
          <p:cNvSpPr>
            <a:spLocks noGrp="1"/>
          </p:cNvSpPr>
          <p:nvPr>
            <p:ph type="dt" idx="1"/>
          </p:nvPr>
        </p:nvSpPr>
        <p:spPr>
          <a:xfrm>
            <a:off x="5438460" y="3"/>
            <a:ext cx="4160520" cy="757001"/>
          </a:xfrm>
          <a:prstGeom prst="rect">
            <a:avLst/>
          </a:prstGeom>
        </p:spPr>
        <p:txBody>
          <a:bodyPr vert="horz" lIns="163894" tIns="81946" rIns="163894" bIns="81946" rtlCol="0"/>
          <a:lstStyle>
            <a:lvl1pPr algn="r">
              <a:defRPr sz="2100"/>
            </a:lvl1pPr>
          </a:lstStyle>
          <a:p>
            <a:fld id="{D298953A-8368-45A4-AB1C-E4E12C178E86}" type="datetimeFigureOut">
              <a:rPr lang="en-IN" smtClean="0"/>
              <a:t>08-06-2026</a:t>
            </a:fld>
            <a:endParaRPr lang="en-IN"/>
          </a:p>
        </p:txBody>
      </p:sp>
      <p:sp>
        <p:nvSpPr>
          <p:cNvPr id="4" name="Slide Image Placeholder 3"/>
          <p:cNvSpPr>
            <a:spLocks noGrp="1" noRot="1" noChangeAspect="1"/>
          </p:cNvSpPr>
          <p:nvPr>
            <p:ph type="sldImg" idx="2"/>
          </p:nvPr>
        </p:nvSpPr>
        <p:spPr>
          <a:xfrm>
            <a:off x="274638" y="1889125"/>
            <a:ext cx="9051925" cy="5091113"/>
          </a:xfrm>
          <a:prstGeom prst="rect">
            <a:avLst/>
          </a:prstGeom>
          <a:noFill/>
          <a:ln w="12700">
            <a:solidFill>
              <a:prstClr val="black"/>
            </a:solidFill>
          </a:ln>
        </p:spPr>
        <p:txBody>
          <a:bodyPr vert="horz" lIns="163894" tIns="81946" rIns="163894" bIns="81946" rtlCol="0" anchor="ctr"/>
          <a:lstStyle/>
          <a:p>
            <a:endParaRPr lang="en-IN"/>
          </a:p>
        </p:txBody>
      </p:sp>
      <p:sp>
        <p:nvSpPr>
          <p:cNvPr id="5" name="Notes Placeholder 4"/>
          <p:cNvSpPr>
            <a:spLocks noGrp="1"/>
          </p:cNvSpPr>
          <p:nvPr>
            <p:ph type="body" sz="quarter" idx="3"/>
          </p:nvPr>
        </p:nvSpPr>
        <p:spPr>
          <a:xfrm>
            <a:off x="960122" y="7260911"/>
            <a:ext cx="7680960" cy="5940743"/>
          </a:xfrm>
          <a:prstGeom prst="rect">
            <a:avLst/>
          </a:prstGeom>
        </p:spPr>
        <p:txBody>
          <a:bodyPr vert="horz" lIns="163894" tIns="81946" rIns="163894" bIns="819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4330604"/>
            <a:ext cx="4160520" cy="756997"/>
          </a:xfrm>
          <a:prstGeom prst="rect">
            <a:avLst/>
          </a:prstGeom>
        </p:spPr>
        <p:txBody>
          <a:bodyPr vert="horz" lIns="163894" tIns="81946" rIns="163894" bIns="81946" rtlCol="0" anchor="b"/>
          <a:lstStyle>
            <a:lvl1pPr algn="l">
              <a:defRPr sz="2100"/>
            </a:lvl1pPr>
          </a:lstStyle>
          <a:p>
            <a:endParaRPr lang="en-IN"/>
          </a:p>
        </p:txBody>
      </p:sp>
      <p:sp>
        <p:nvSpPr>
          <p:cNvPr id="7" name="Slide Number Placeholder 6"/>
          <p:cNvSpPr>
            <a:spLocks noGrp="1"/>
          </p:cNvSpPr>
          <p:nvPr>
            <p:ph type="sldNum" sz="quarter" idx="5"/>
          </p:nvPr>
        </p:nvSpPr>
        <p:spPr>
          <a:xfrm>
            <a:off x="5438460" y="14330604"/>
            <a:ext cx="4160520" cy="756997"/>
          </a:xfrm>
          <a:prstGeom prst="rect">
            <a:avLst/>
          </a:prstGeom>
        </p:spPr>
        <p:txBody>
          <a:bodyPr vert="horz" lIns="163894" tIns="81946" rIns="163894" bIns="81946" rtlCol="0" anchor="b"/>
          <a:lstStyle>
            <a:lvl1pPr algn="r">
              <a:defRPr sz="2100"/>
            </a:lvl1pPr>
          </a:lstStyle>
          <a:p>
            <a:fld id="{AC1883FA-FAA0-47CC-8B67-B5B6428D0010}" type="slidenum">
              <a:rPr lang="en-IN" smtClean="0"/>
              <a:t>‹#›</a:t>
            </a:fld>
            <a:endParaRPr lang="en-IN"/>
          </a:p>
        </p:txBody>
      </p:sp>
    </p:spTree>
    <p:extLst>
      <p:ext uri="{BB962C8B-B14F-4D97-AF65-F5344CB8AC3E}">
        <p14:creationId xmlns:p14="http://schemas.microsoft.com/office/powerpoint/2010/main" val="21481475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52DBCF-EB01-B14A-A773-5B62D36E210B}" type="slidenum">
              <a:rPr lang="en-US" smtClean="0"/>
              <a:t>1</a:t>
            </a:fld>
            <a:endParaRPr lang="en-US"/>
          </a:p>
        </p:txBody>
      </p:sp>
    </p:spTree>
    <p:extLst>
      <p:ext uri="{BB962C8B-B14F-4D97-AF65-F5344CB8AC3E}">
        <p14:creationId xmlns:p14="http://schemas.microsoft.com/office/powerpoint/2010/main" val="168614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AC1883FA-FAA0-47CC-8B67-B5B6428D0010}" type="slidenum">
              <a:rPr lang="en-IN" smtClean="0"/>
              <a:t>11</a:t>
            </a:fld>
            <a:endParaRPr lang="en-IN"/>
          </a:p>
        </p:txBody>
      </p:sp>
    </p:spTree>
    <p:extLst>
      <p:ext uri="{BB962C8B-B14F-4D97-AF65-F5344CB8AC3E}">
        <p14:creationId xmlns:p14="http://schemas.microsoft.com/office/powerpoint/2010/main" val="13146302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AC1883FA-FAA0-47CC-8B67-B5B6428D0010}" type="slidenum">
              <a:rPr lang="en-IN" smtClean="0"/>
              <a:t>12</a:t>
            </a:fld>
            <a:endParaRPr lang="en-IN"/>
          </a:p>
        </p:txBody>
      </p:sp>
    </p:spTree>
    <p:extLst>
      <p:ext uri="{BB962C8B-B14F-4D97-AF65-F5344CB8AC3E}">
        <p14:creationId xmlns:p14="http://schemas.microsoft.com/office/powerpoint/2010/main" val="18659165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883FA-FAA0-47CC-8B67-B5B6428D0010}" type="slidenum">
              <a:rPr lang="en-IN" smtClean="0"/>
              <a:t>13</a:t>
            </a:fld>
            <a:endParaRPr lang="en-IN"/>
          </a:p>
        </p:txBody>
      </p:sp>
    </p:spTree>
    <p:extLst>
      <p:ext uri="{BB962C8B-B14F-4D97-AF65-F5344CB8AC3E}">
        <p14:creationId xmlns:p14="http://schemas.microsoft.com/office/powerpoint/2010/main" val="2715516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2A5BF-79A1-2BC9-F1F6-2FC2A8C9F8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E7F6E6-3065-2710-4165-3AD2A7D195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BF9E9A-2C7D-56AB-A4E9-0583E91B1B6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939387E-790D-AC39-4B19-893BAB2A666A}"/>
              </a:ext>
            </a:extLst>
          </p:cNvPr>
          <p:cNvSpPr>
            <a:spLocks noGrp="1"/>
          </p:cNvSpPr>
          <p:nvPr>
            <p:ph type="sldNum" sz="quarter" idx="5"/>
          </p:nvPr>
        </p:nvSpPr>
        <p:spPr/>
        <p:txBody>
          <a:bodyPr/>
          <a:lstStyle/>
          <a:p>
            <a:fld id="{AC1883FA-FAA0-47CC-8B67-B5B6428D0010}" type="slidenum">
              <a:rPr lang="en-IN" smtClean="0"/>
              <a:t>14</a:t>
            </a:fld>
            <a:endParaRPr lang="en-IN"/>
          </a:p>
        </p:txBody>
      </p:sp>
    </p:spTree>
    <p:extLst>
      <p:ext uri="{BB962C8B-B14F-4D97-AF65-F5344CB8AC3E}">
        <p14:creationId xmlns:p14="http://schemas.microsoft.com/office/powerpoint/2010/main" val="7973160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AC1883FA-FAA0-47CC-8B67-B5B6428D0010}" type="slidenum">
              <a:rPr lang="en-IN" smtClean="0"/>
              <a:t>15</a:t>
            </a:fld>
            <a:endParaRPr lang="en-IN"/>
          </a:p>
        </p:txBody>
      </p:sp>
    </p:spTree>
    <p:extLst>
      <p:ext uri="{BB962C8B-B14F-4D97-AF65-F5344CB8AC3E}">
        <p14:creationId xmlns:p14="http://schemas.microsoft.com/office/powerpoint/2010/main" val="25301107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AC1883FA-FAA0-47CC-8B67-B5B6428D0010}" type="slidenum">
              <a:rPr lang="en-IN" smtClean="0"/>
              <a:t>16</a:t>
            </a:fld>
            <a:endParaRPr lang="en-IN"/>
          </a:p>
        </p:txBody>
      </p:sp>
    </p:spTree>
    <p:extLst>
      <p:ext uri="{BB962C8B-B14F-4D97-AF65-F5344CB8AC3E}">
        <p14:creationId xmlns:p14="http://schemas.microsoft.com/office/powerpoint/2010/main" val="3960786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AC1883FA-FAA0-47CC-8B67-B5B6428D0010}" type="slidenum">
              <a:rPr lang="en-IN" smtClean="0"/>
              <a:t>17</a:t>
            </a:fld>
            <a:endParaRPr lang="en-IN"/>
          </a:p>
        </p:txBody>
      </p:sp>
    </p:spTree>
    <p:extLst>
      <p:ext uri="{BB962C8B-B14F-4D97-AF65-F5344CB8AC3E}">
        <p14:creationId xmlns:p14="http://schemas.microsoft.com/office/powerpoint/2010/main" val="28304743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883FA-FAA0-47CC-8B67-B5B6428D0010}" type="slidenum">
              <a:rPr lang="en-IN" smtClean="0"/>
              <a:t>18</a:t>
            </a:fld>
            <a:endParaRPr lang="en-IN"/>
          </a:p>
        </p:txBody>
      </p:sp>
    </p:spTree>
    <p:extLst>
      <p:ext uri="{BB962C8B-B14F-4D97-AF65-F5344CB8AC3E}">
        <p14:creationId xmlns:p14="http://schemas.microsoft.com/office/powerpoint/2010/main" val="15990933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883FA-FAA0-47CC-8B67-B5B6428D0010}" type="slidenum">
              <a:rPr lang="en-IN" smtClean="0"/>
              <a:t>19</a:t>
            </a:fld>
            <a:endParaRPr lang="en-IN"/>
          </a:p>
        </p:txBody>
      </p:sp>
    </p:spTree>
    <p:extLst>
      <p:ext uri="{BB962C8B-B14F-4D97-AF65-F5344CB8AC3E}">
        <p14:creationId xmlns:p14="http://schemas.microsoft.com/office/powerpoint/2010/main" val="31663708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45810-BE7B-2221-E976-ECC19B3B05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F871A2-13D1-CB01-E050-AC41DDACB2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DD5225-979F-43A7-ABD3-10212075522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62D9059-C578-8473-2DCD-75A54FE628D6}"/>
              </a:ext>
            </a:extLst>
          </p:cNvPr>
          <p:cNvSpPr>
            <a:spLocks noGrp="1"/>
          </p:cNvSpPr>
          <p:nvPr>
            <p:ph type="sldNum" sz="quarter" idx="5"/>
          </p:nvPr>
        </p:nvSpPr>
        <p:spPr/>
        <p:txBody>
          <a:bodyPr/>
          <a:lstStyle/>
          <a:p>
            <a:fld id="{AC1883FA-FAA0-47CC-8B67-B5B6428D0010}" type="slidenum">
              <a:rPr lang="en-IN" smtClean="0"/>
              <a:t>20</a:t>
            </a:fld>
            <a:endParaRPr lang="en-IN"/>
          </a:p>
        </p:txBody>
      </p:sp>
    </p:spTree>
    <p:extLst>
      <p:ext uri="{BB962C8B-B14F-4D97-AF65-F5344CB8AC3E}">
        <p14:creationId xmlns:p14="http://schemas.microsoft.com/office/powerpoint/2010/main" val="29708230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E99A5-CA75-7DFA-2711-37C018FEE2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2BD446-520A-5A86-1257-B61BB705B4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0CAF93-FE25-2AB4-F093-BD3C3DCA189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A822835-C6E5-6A03-E195-CC5411DC6681}"/>
              </a:ext>
            </a:extLst>
          </p:cNvPr>
          <p:cNvSpPr>
            <a:spLocks noGrp="1"/>
          </p:cNvSpPr>
          <p:nvPr>
            <p:ph type="sldNum" sz="quarter" idx="5"/>
          </p:nvPr>
        </p:nvSpPr>
        <p:spPr/>
        <p:txBody>
          <a:bodyPr/>
          <a:lstStyle/>
          <a:p>
            <a:fld id="{AC1883FA-FAA0-47CC-8B67-B5B6428D0010}" type="slidenum">
              <a:rPr lang="en-IN" smtClean="0"/>
              <a:t>21</a:t>
            </a:fld>
            <a:endParaRPr lang="en-IN"/>
          </a:p>
        </p:txBody>
      </p:sp>
    </p:spTree>
    <p:extLst>
      <p:ext uri="{BB962C8B-B14F-4D97-AF65-F5344CB8AC3E}">
        <p14:creationId xmlns:p14="http://schemas.microsoft.com/office/powerpoint/2010/main" val="6329721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3D60E-1094-4A0B-1B07-B1BE85F8A4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88C59F-F90D-3FA5-4223-71AD290446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16F152-7B3D-415D-A744-1EF40430901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F36B47E-7A36-4B2A-88FF-13E7C70BA1B5}"/>
              </a:ext>
            </a:extLst>
          </p:cNvPr>
          <p:cNvSpPr>
            <a:spLocks noGrp="1"/>
          </p:cNvSpPr>
          <p:nvPr>
            <p:ph type="sldNum" sz="quarter" idx="5"/>
          </p:nvPr>
        </p:nvSpPr>
        <p:spPr/>
        <p:txBody>
          <a:bodyPr/>
          <a:lstStyle/>
          <a:p>
            <a:fld id="{AC1883FA-FAA0-47CC-8B67-B5B6428D0010}" type="slidenum">
              <a:rPr lang="en-IN" smtClean="0"/>
              <a:t>22</a:t>
            </a:fld>
            <a:endParaRPr lang="en-IN"/>
          </a:p>
        </p:txBody>
      </p:sp>
    </p:spTree>
    <p:extLst>
      <p:ext uri="{BB962C8B-B14F-4D97-AF65-F5344CB8AC3E}">
        <p14:creationId xmlns:p14="http://schemas.microsoft.com/office/powerpoint/2010/main" val="3605578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55564-391E-5156-8F36-44F1772E2D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ADF86A-DF06-210F-2776-8918285BE5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3AD1E9-D5DF-BDCE-DBC7-7E089427BB7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3BCA3D3-A57B-0AA7-3F92-32B22FA65011}"/>
              </a:ext>
            </a:extLst>
          </p:cNvPr>
          <p:cNvSpPr>
            <a:spLocks noGrp="1"/>
          </p:cNvSpPr>
          <p:nvPr>
            <p:ph type="sldNum" sz="quarter" idx="5"/>
          </p:nvPr>
        </p:nvSpPr>
        <p:spPr/>
        <p:txBody>
          <a:bodyPr/>
          <a:lstStyle/>
          <a:p>
            <a:fld id="{AC1883FA-FAA0-47CC-8B67-B5B6428D0010}" type="slidenum">
              <a:rPr lang="en-IN" smtClean="0"/>
              <a:t>23</a:t>
            </a:fld>
            <a:endParaRPr lang="en-IN"/>
          </a:p>
        </p:txBody>
      </p:sp>
    </p:spTree>
    <p:extLst>
      <p:ext uri="{BB962C8B-B14F-4D97-AF65-F5344CB8AC3E}">
        <p14:creationId xmlns:p14="http://schemas.microsoft.com/office/powerpoint/2010/main" val="41031709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883FA-FAA0-47CC-8B67-B5B6428D0010}" type="slidenum">
              <a:rPr lang="en-IN" smtClean="0"/>
              <a:t>24</a:t>
            </a:fld>
            <a:endParaRPr lang="en-IN"/>
          </a:p>
        </p:txBody>
      </p:sp>
    </p:spTree>
    <p:extLst>
      <p:ext uri="{BB962C8B-B14F-4D97-AF65-F5344CB8AC3E}">
        <p14:creationId xmlns:p14="http://schemas.microsoft.com/office/powerpoint/2010/main" val="9434648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B6D6A-9366-74DA-5277-DB49101B68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609DF3-2DC8-484C-A4DD-37BC4AFCA8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7FA324-7754-DFF1-ACAA-1FE10EDD547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757C6F37-1D94-5C69-BE72-03740ADC0305}"/>
              </a:ext>
            </a:extLst>
          </p:cNvPr>
          <p:cNvSpPr>
            <a:spLocks noGrp="1"/>
          </p:cNvSpPr>
          <p:nvPr>
            <p:ph type="sldNum" sz="quarter" idx="5"/>
          </p:nvPr>
        </p:nvSpPr>
        <p:spPr/>
        <p:txBody>
          <a:bodyPr/>
          <a:lstStyle/>
          <a:p>
            <a:fld id="{AC1883FA-FAA0-47CC-8B67-B5B6428D0010}" type="slidenum">
              <a:rPr lang="en-IN" smtClean="0"/>
              <a:t>16</a:t>
            </a:fld>
            <a:endParaRPr lang="en-IN"/>
          </a:p>
        </p:txBody>
      </p:sp>
    </p:spTree>
    <p:extLst>
      <p:ext uri="{BB962C8B-B14F-4D97-AF65-F5344CB8AC3E}">
        <p14:creationId xmlns:p14="http://schemas.microsoft.com/office/powerpoint/2010/main" val="10090905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883FA-FAA0-47CC-8B67-B5B6428D0010}" type="slidenum">
              <a:rPr lang="en-IN" smtClean="0"/>
              <a:t>17</a:t>
            </a:fld>
            <a:endParaRPr lang="en-IN"/>
          </a:p>
        </p:txBody>
      </p:sp>
    </p:spTree>
    <p:extLst>
      <p:ext uri="{BB962C8B-B14F-4D97-AF65-F5344CB8AC3E}">
        <p14:creationId xmlns:p14="http://schemas.microsoft.com/office/powerpoint/2010/main" val="21730503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883FA-FAA0-47CC-8B67-B5B6428D0010}" type="slidenum">
              <a:rPr lang="en-IN" smtClean="0"/>
              <a:t>18</a:t>
            </a:fld>
            <a:endParaRPr lang="en-IN"/>
          </a:p>
        </p:txBody>
      </p:sp>
    </p:spTree>
    <p:extLst>
      <p:ext uri="{BB962C8B-B14F-4D97-AF65-F5344CB8AC3E}">
        <p14:creationId xmlns:p14="http://schemas.microsoft.com/office/powerpoint/2010/main" val="460793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e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458610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71C64-F872-A4C5-52BD-9EB199726D1D}"/>
              </a:ext>
            </a:extLst>
          </p:cNvPr>
          <p:cNvSpPr>
            <a:spLocks noGrp="1"/>
          </p:cNvSpPr>
          <p:nvPr>
            <p:ph type="title"/>
          </p:nvPr>
        </p:nvSpPr>
        <p:spPr>
          <a:xfrm>
            <a:off x="371557" y="525420"/>
            <a:ext cx="6574971" cy="334515"/>
          </a:xfrm>
          <a:prstGeom prst="rect">
            <a:avLst/>
          </a:prstGeom>
        </p:spPr>
        <p:txBody>
          <a:bodyPr/>
          <a:lstStyle/>
          <a:p>
            <a:r>
              <a:rPr lang="en-GB"/>
              <a:t>Click to edit Master title style</a:t>
            </a:r>
            <a:endParaRPr lang="en-US"/>
          </a:p>
        </p:txBody>
      </p:sp>
    </p:spTree>
    <p:extLst>
      <p:ext uri="{BB962C8B-B14F-4D97-AF65-F5344CB8AC3E}">
        <p14:creationId xmlns:p14="http://schemas.microsoft.com/office/powerpoint/2010/main" val="20860255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34FE244-943F-E58D-FE8C-9DEA70E7AD42}"/>
              </a:ext>
            </a:extLst>
          </p:cNvPr>
          <p:cNvSpPr>
            <a:spLocks noGrp="1"/>
          </p:cNvSpPr>
          <p:nvPr>
            <p:ph type="title"/>
          </p:nvPr>
        </p:nvSpPr>
        <p:spPr>
          <a:xfrm>
            <a:off x="371557" y="525420"/>
            <a:ext cx="6574971" cy="334515"/>
          </a:xfrm>
          <a:prstGeom prst="rect">
            <a:avLst/>
          </a:prstGeom>
        </p:spPr>
        <p:txBody>
          <a:bodyPr/>
          <a:lstStyle/>
          <a:p>
            <a:r>
              <a:rPr lang="en-GB"/>
              <a:t>Click to edit Master title style</a:t>
            </a:r>
            <a:endParaRPr lang="en-US"/>
          </a:p>
        </p:txBody>
      </p:sp>
    </p:spTree>
    <p:extLst>
      <p:ext uri="{BB962C8B-B14F-4D97-AF65-F5344CB8AC3E}">
        <p14:creationId xmlns:p14="http://schemas.microsoft.com/office/powerpoint/2010/main" val="3064247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00566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690E450-0CF6-9A1B-374A-F8F477AEB423}"/>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CBDF7970-DF7B-880B-B616-2102A284C4B9}"/>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76BAB6E-9B45-22C7-D013-49CF29F4DE45}"/>
              </a:ext>
            </a:extLst>
          </p:cNvPr>
          <p:cNvPicPr>
            <a:picLocks noChangeAspect="1"/>
          </p:cNvPicPr>
          <p:nvPr userDrawn="1"/>
        </p:nvPicPr>
        <p:blipFill>
          <a:blip r:embed="rId2"/>
          <a:srcRect/>
          <a:stretch/>
        </p:blipFill>
        <p:spPr>
          <a:xfrm>
            <a:off x="9598554" y="81058"/>
            <a:ext cx="2440463" cy="778871"/>
          </a:xfrm>
          <a:prstGeom prst="rect">
            <a:avLst/>
          </a:prstGeom>
        </p:spPr>
      </p:pic>
    </p:spTree>
    <p:extLst>
      <p:ext uri="{BB962C8B-B14F-4D97-AF65-F5344CB8AC3E}">
        <p14:creationId xmlns:p14="http://schemas.microsoft.com/office/powerpoint/2010/main" val="2855029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8E9BA-31F9-71B1-294B-F226A8624CB4}"/>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15F576A-9EEF-7F35-D7F1-79C5B4BB81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928BA0A-8211-6316-2E0E-64D4AE0C6994}"/>
              </a:ext>
            </a:extLst>
          </p:cNvPr>
          <p:cNvSpPr>
            <a:spLocks noGrp="1"/>
          </p:cNvSpPr>
          <p:nvPr>
            <p:ph type="dt" sz="half" idx="10"/>
          </p:nvPr>
        </p:nvSpPr>
        <p:spPr/>
        <p:txBody>
          <a:bodyPr/>
          <a:lstStyle/>
          <a:p>
            <a:fld id="{D2677DF2-7883-4817-B6E4-2CDC0C578772}" type="datetimeFigureOut">
              <a:rPr lang="en-IN" smtClean="0"/>
              <a:t>08-06-2026</a:t>
            </a:fld>
            <a:endParaRPr lang="en-IN"/>
          </a:p>
        </p:txBody>
      </p:sp>
      <p:sp>
        <p:nvSpPr>
          <p:cNvPr id="5" name="Footer Placeholder 4">
            <a:extLst>
              <a:ext uri="{FF2B5EF4-FFF2-40B4-BE49-F238E27FC236}">
                <a16:creationId xmlns:a16="http://schemas.microsoft.com/office/drawing/2014/main" id="{B59E55DD-1811-493C-3605-CDCA536247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76B8B7-4C35-BFF8-137A-259FDBB9946A}"/>
              </a:ext>
            </a:extLst>
          </p:cNvPr>
          <p:cNvSpPr>
            <a:spLocks noGrp="1"/>
          </p:cNvSpPr>
          <p:nvPr>
            <p:ph type="sldNum" sz="quarter" idx="12"/>
          </p:nvPr>
        </p:nvSpPr>
        <p:spPr/>
        <p:txBody>
          <a:bodyPr/>
          <a:lstStyle/>
          <a:p>
            <a:fld id="{D3DCCF26-4F59-4111-9306-F3FE37C64CFB}" type="slidenum">
              <a:rPr lang="en-IN" smtClean="0"/>
              <a:t>‹#›</a:t>
            </a:fld>
            <a:endParaRPr lang="en-IN"/>
          </a:p>
        </p:txBody>
      </p:sp>
    </p:spTree>
    <p:extLst>
      <p:ext uri="{BB962C8B-B14F-4D97-AF65-F5344CB8AC3E}">
        <p14:creationId xmlns:p14="http://schemas.microsoft.com/office/powerpoint/2010/main" val="427417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Slide - Blu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6EAA736-20EB-3B46-CAE4-AB8DD982EE2F}"/>
              </a:ext>
            </a:extLst>
          </p:cNvPr>
          <p:cNvPicPr>
            <a:picLocks noChangeAspect="1"/>
          </p:cNvPicPr>
          <p:nvPr userDrawn="1"/>
        </p:nvPicPr>
        <p:blipFill>
          <a:blip r:embed="rId2">
            <a:alphaModFix/>
            <a:extLst>
              <a:ext uri="{BEBA8EAE-BF5A-486C-A8C5-ECC9F3942E4B}">
                <a14:imgProps xmlns:a14="http://schemas.microsoft.com/office/drawing/2010/main">
                  <a14:imgLayer r:embed="rId3">
                    <a14:imgEffect>
                      <a14:colorTemperature colorTemp="5433"/>
                    </a14:imgEffect>
                    <a14:imgEffect>
                      <a14:saturation sat="154000"/>
                    </a14:imgEffect>
                    <a14:imgEffect>
                      <a14:brightnessContrast bright="-23000" contrast="-13000"/>
                    </a14:imgEffect>
                  </a14:imgLayer>
                </a14:imgProps>
              </a:ext>
            </a:extLst>
          </a:blip>
          <a:srcRect l="11409" t="9503" r="26622" b="10731"/>
          <a:stretch>
            <a:fillRect/>
          </a:stretch>
        </p:blipFill>
        <p:spPr>
          <a:xfrm rot="10800000" flipH="1">
            <a:off x="0" y="0"/>
            <a:ext cx="12191999" cy="6858000"/>
          </a:xfrm>
          <a:prstGeom prst="rect">
            <a:avLst/>
          </a:prstGeom>
        </p:spPr>
      </p:pic>
      <p:pic>
        <p:nvPicPr>
          <p:cNvPr id="18" name="Picture 17">
            <a:extLst>
              <a:ext uri="{FF2B5EF4-FFF2-40B4-BE49-F238E27FC236}">
                <a16:creationId xmlns:a16="http://schemas.microsoft.com/office/drawing/2014/main" id="{A36F5038-EBC1-FC52-ABB3-737C8B08EE87}"/>
              </a:ext>
            </a:extLst>
          </p:cNvPr>
          <p:cNvPicPr>
            <a:picLocks noChangeAspect="1"/>
          </p:cNvPicPr>
          <p:nvPr userDrawn="1"/>
        </p:nvPicPr>
        <p:blipFill>
          <a:blip r:embed="rId4"/>
          <a:srcRect/>
          <a:stretch/>
        </p:blipFill>
        <p:spPr>
          <a:xfrm>
            <a:off x="665718" y="589323"/>
            <a:ext cx="3832813" cy="1225045"/>
          </a:xfrm>
          <a:prstGeom prst="rect">
            <a:avLst/>
          </a:prstGeom>
        </p:spPr>
      </p:pic>
      <p:sp>
        <p:nvSpPr>
          <p:cNvPr id="8" name="Footer Placeholder 3">
            <a:extLst>
              <a:ext uri="{FF2B5EF4-FFF2-40B4-BE49-F238E27FC236}">
                <a16:creationId xmlns:a16="http://schemas.microsoft.com/office/drawing/2014/main" id="{48854C69-1177-5C25-8316-022C33156C7C}"/>
              </a:ext>
            </a:extLst>
          </p:cNvPr>
          <p:cNvSpPr txBox="1">
            <a:spLocks/>
          </p:cNvSpPr>
          <p:nvPr userDrawn="1"/>
        </p:nvSpPr>
        <p:spPr>
          <a:xfrm>
            <a:off x="290431" y="6630910"/>
            <a:ext cx="8022127" cy="121356"/>
          </a:xfrm>
          <a:prstGeom prst="rect">
            <a:avLst/>
          </a:prstGeom>
        </p:spPr>
        <p:txBody>
          <a:bodyPr lIns="0" tIns="0" rIns="0" bIns="0"/>
          <a:lstStyle>
            <a:defPPr>
              <a:defRPr lang="en-US"/>
            </a:defPPr>
            <a:lvl1pPr marL="0" algn="l" defTabSz="914400" rtl="0" eaLnBrk="1" latinLnBrk="0" hangingPunct="1">
              <a:defRPr sz="1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700" b="0" i="0" dirty="0">
                <a:solidFill>
                  <a:schemeClr val="bg1">
                    <a:lumMod val="50000"/>
                  </a:schemeClr>
                </a:solidFill>
                <a:latin typeface="Aptos Light" panose="020B0004020202020204" pitchFamily="34" charset="0"/>
              </a:rPr>
              <a:t>IIFL Capital Services Limited Formerly Known as IIFL Securities Limited   |   Strictly Private And Confidential – Do Not Reproduce or Distribute Without Consent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700" b="0" i="0" dirty="0">
              <a:solidFill>
                <a:schemeClr val="bg1">
                  <a:lumMod val="50000"/>
                </a:schemeClr>
              </a:solidFill>
              <a:latin typeface="Aptos Light" panose="020B0004020202020204" pitchFamily="34" charset="0"/>
            </a:endParaRPr>
          </a:p>
        </p:txBody>
      </p:sp>
      <p:sp>
        <p:nvSpPr>
          <p:cNvPr id="13" name="Title 1">
            <a:extLst>
              <a:ext uri="{FF2B5EF4-FFF2-40B4-BE49-F238E27FC236}">
                <a16:creationId xmlns:a16="http://schemas.microsoft.com/office/drawing/2014/main" id="{C4ACD4AB-8A71-FDC9-E5A9-7D9F7073EA8E}"/>
              </a:ext>
            </a:extLst>
          </p:cNvPr>
          <p:cNvSpPr>
            <a:spLocks noGrp="1"/>
          </p:cNvSpPr>
          <p:nvPr>
            <p:ph type="ctrTitle"/>
          </p:nvPr>
        </p:nvSpPr>
        <p:spPr>
          <a:xfrm>
            <a:off x="990600" y="3485511"/>
            <a:ext cx="8630478" cy="660950"/>
          </a:xfrm>
          <a:prstGeom prst="rect">
            <a:avLst/>
          </a:prstGeom>
          <a:ln w="9525">
            <a:noFill/>
          </a:ln>
        </p:spPr>
        <p:txBody>
          <a:bodyPr anchor="b"/>
          <a:lstStyle>
            <a:lvl1pPr algn="l">
              <a:lnSpc>
                <a:spcPts val="5080"/>
              </a:lnSpc>
              <a:defRPr sz="4800" b="0" i="0">
                <a:solidFill>
                  <a:schemeClr val="bg1"/>
                </a:solidFill>
                <a:latin typeface="Aptos" panose="020B0004020202020204" pitchFamily="34" charset="0"/>
              </a:defRPr>
            </a:lvl1pPr>
          </a:lstStyle>
          <a:p>
            <a:r>
              <a:rPr lang="en-GB" dirty="0"/>
              <a:t>Click to edit Master title style</a:t>
            </a:r>
            <a:endParaRPr lang="en-US" dirty="0"/>
          </a:p>
        </p:txBody>
      </p:sp>
      <p:sp>
        <p:nvSpPr>
          <p:cNvPr id="27" name="Subtitle 2">
            <a:extLst>
              <a:ext uri="{FF2B5EF4-FFF2-40B4-BE49-F238E27FC236}">
                <a16:creationId xmlns:a16="http://schemas.microsoft.com/office/drawing/2014/main" id="{87861337-E8B1-28E9-4686-3C1FB0AAAA0E}"/>
              </a:ext>
            </a:extLst>
          </p:cNvPr>
          <p:cNvSpPr>
            <a:spLocks noGrp="1"/>
          </p:cNvSpPr>
          <p:nvPr>
            <p:ph type="subTitle" idx="1"/>
          </p:nvPr>
        </p:nvSpPr>
        <p:spPr>
          <a:xfrm>
            <a:off x="990600" y="4280971"/>
            <a:ext cx="8630478" cy="387772"/>
          </a:xfrm>
          <a:prstGeom prst="rect">
            <a:avLst/>
          </a:prstGeo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grpSp>
        <p:nvGrpSpPr>
          <p:cNvPr id="2" name="Group 1">
            <a:extLst>
              <a:ext uri="{FF2B5EF4-FFF2-40B4-BE49-F238E27FC236}">
                <a16:creationId xmlns:a16="http://schemas.microsoft.com/office/drawing/2014/main" id="{B261EAC2-6E35-430C-AB28-B7207E6D3BDC}"/>
              </a:ext>
            </a:extLst>
          </p:cNvPr>
          <p:cNvGrpSpPr/>
          <p:nvPr userDrawn="1"/>
        </p:nvGrpSpPr>
        <p:grpSpPr>
          <a:xfrm>
            <a:off x="990600" y="5745825"/>
            <a:ext cx="10210800" cy="140631"/>
            <a:chOff x="903514" y="6058341"/>
            <a:chExt cx="10210800" cy="140631"/>
          </a:xfrm>
        </p:grpSpPr>
        <p:cxnSp>
          <p:nvCxnSpPr>
            <p:cNvPr id="3" name="Straight Connector 2">
              <a:extLst>
                <a:ext uri="{FF2B5EF4-FFF2-40B4-BE49-F238E27FC236}">
                  <a16:creationId xmlns:a16="http://schemas.microsoft.com/office/drawing/2014/main" id="{DB79EC2D-E412-AA3F-2132-44E84F8BD7F4}"/>
                </a:ext>
              </a:extLst>
            </p:cNvPr>
            <p:cNvCxnSpPr/>
            <p:nvPr/>
          </p:nvCxnSpPr>
          <p:spPr>
            <a:xfrm>
              <a:off x="903514" y="6128657"/>
              <a:ext cx="10210800" cy="0"/>
            </a:xfrm>
            <a:prstGeom prst="line">
              <a:avLst/>
            </a:prstGeom>
            <a:ln w="9525">
              <a:solidFill>
                <a:schemeClr val="bg1"/>
              </a:solidFill>
            </a:ln>
          </p:spPr>
          <p:style>
            <a:lnRef idx="1">
              <a:schemeClr val="accent6"/>
            </a:lnRef>
            <a:fillRef idx="0">
              <a:schemeClr val="accent6"/>
            </a:fillRef>
            <a:effectRef idx="0">
              <a:schemeClr val="accent6"/>
            </a:effectRef>
            <a:fontRef idx="minor">
              <a:schemeClr val="tx1"/>
            </a:fontRef>
          </p:style>
        </p:cxnSp>
        <p:sp>
          <p:nvSpPr>
            <p:cNvPr id="4" name="Rounded Rectangle 3">
              <a:extLst>
                <a:ext uri="{FF2B5EF4-FFF2-40B4-BE49-F238E27FC236}">
                  <a16:creationId xmlns:a16="http://schemas.microsoft.com/office/drawing/2014/main" id="{C7AC2B42-392B-956E-ED9D-FF2F1F61CEB2}"/>
                </a:ext>
              </a:extLst>
            </p:cNvPr>
            <p:cNvSpPr/>
            <p:nvPr/>
          </p:nvSpPr>
          <p:spPr>
            <a:xfrm>
              <a:off x="10138611" y="6058341"/>
              <a:ext cx="975703" cy="140631"/>
            </a:xfrm>
            <a:prstGeom prst="roundRect">
              <a:avLst>
                <a:gd name="adj" fmla="val 50000"/>
              </a:avLst>
            </a:prstGeom>
            <a:solidFill>
              <a:schemeClr val="bg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Date Placeholder 3">
            <a:extLst>
              <a:ext uri="{FF2B5EF4-FFF2-40B4-BE49-F238E27FC236}">
                <a16:creationId xmlns:a16="http://schemas.microsoft.com/office/drawing/2014/main" id="{90B7D07D-2CD4-77EC-ADE2-C2B232EAC28A}"/>
              </a:ext>
            </a:extLst>
          </p:cNvPr>
          <p:cNvSpPr>
            <a:spLocks noGrp="1"/>
          </p:cNvSpPr>
          <p:nvPr>
            <p:ph type="dt" sz="half" idx="2"/>
          </p:nvPr>
        </p:nvSpPr>
        <p:spPr>
          <a:xfrm>
            <a:off x="990600" y="5043632"/>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80E9C8-B1D0-C94B-8ACB-6B6F75CB9E46}" type="datetimeFigureOut">
              <a:rPr lang="en-US" smtClean="0"/>
              <a:t>6/8/2026</a:t>
            </a:fld>
            <a:endParaRPr lang="en-US"/>
          </a:p>
        </p:txBody>
      </p:sp>
    </p:spTree>
    <p:extLst>
      <p:ext uri="{BB962C8B-B14F-4D97-AF65-F5344CB8AC3E}">
        <p14:creationId xmlns:p14="http://schemas.microsoft.com/office/powerpoint/2010/main" val="4017249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ver Slide - Wh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687D3FC-F08C-76F6-4025-305CFF998F74}"/>
              </a:ext>
            </a:extLst>
          </p:cNvPr>
          <p:cNvSpPr/>
          <p:nvPr userDrawn="1"/>
        </p:nvSpPr>
        <p:spPr>
          <a:xfrm>
            <a:off x="-1"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white triangle on a white surface&#10;&#10;AI-generated content may be incorrect.">
            <a:extLst>
              <a:ext uri="{FF2B5EF4-FFF2-40B4-BE49-F238E27FC236}">
                <a16:creationId xmlns:a16="http://schemas.microsoft.com/office/drawing/2014/main" id="{8F929201-9FE8-F9CA-961A-CDB707717825}"/>
              </a:ext>
            </a:extLst>
          </p:cNvPr>
          <p:cNvPicPr>
            <a:picLocks noChangeAspect="1"/>
          </p:cNvPicPr>
          <p:nvPr userDrawn="1"/>
        </p:nvPicPr>
        <p:blipFill>
          <a:blip r:embed="rId2">
            <a:alphaModFix amt="35000"/>
          </a:blip>
          <a:srcRect l="11149" t="9544" r="26735" b="10068"/>
          <a:stretch>
            <a:fillRect/>
          </a:stretch>
        </p:blipFill>
        <p:spPr>
          <a:xfrm rot="10800000" flipH="1">
            <a:off x="-1" y="0"/>
            <a:ext cx="12192000" cy="6858000"/>
          </a:xfrm>
          <a:prstGeom prst="rect">
            <a:avLst/>
          </a:prstGeom>
        </p:spPr>
      </p:pic>
      <p:grpSp>
        <p:nvGrpSpPr>
          <p:cNvPr id="14" name="Group 13">
            <a:extLst>
              <a:ext uri="{FF2B5EF4-FFF2-40B4-BE49-F238E27FC236}">
                <a16:creationId xmlns:a16="http://schemas.microsoft.com/office/drawing/2014/main" id="{2DA7DACB-3109-4ABC-8F07-D695240E8BBE}"/>
              </a:ext>
            </a:extLst>
          </p:cNvPr>
          <p:cNvGrpSpPr/>
          <p:nvPr userDrawn="1"/>
        </p:nvGrpSpPr>
        <p:grpSpPr>
          <a:xfrm>
            <a:off x="990600" y="5745825"/>
            <a:ext cx="10210800" cy="140631"/>
            <a:chOff x="903514" y="6058341"/>
            <a:chExt cx="10210800" cy="140631"/>
          </a:xfrm>
        </p:grpSpPr>
        <p:cxnSp>
          <p:nvCxnSpPr>
            <p:cNvPr id="15" name="Straight Connector 14">
              <a:extLst>
                <a:ext uri="{FF2B5EF4-FFF2-40B4-BE49-F238E27FC236}">
                  <a16:creationId xmlns:a16="http://schemas.microsoft.com/office/drawing/2014/main" id="{055EF1A4-73D4-9CA8-5995-7D8791DE4F5C}"/>
                </a:ext>
              </a:extLst>
            </p:cNvPr>
            <p:cNvCxnSpPr/>
            <p:nvPr/>
          </p:nvCxnSpPr>
          <p:spPr>
            <a:xfrm>
              <a:off x="903514" y="6128657"/>
              <a:ext cx="10210800" cy="0"/>
            </a:xfrm>
            <a:prstGeom prst="line">
              <a:avLst/>
            </a:prstGeom>
            <a:ln w="9525">
              <a:solidFill>
                <a:schemeClr val="accent2"/>
              </a:solidFill>
            </a:ln>
          </p:spPr>
          <p:style>
            <a:lnRef idx="1">
              <a:schemeClr val="accent6"/>
            </a:lnRef>
            <a:fillRef idx="0">
              <a:schemeClr val="accent6"/>
            </a:fillRef>
            <a:effectRef idx="0">
              <a:schemeClr val="accent6"/>
            </a:effectRef>
            <a:fontRef idx="minor">
              <a:schemeClr val="tx1"/>
            </a:fontRef>
          </p:style>
        </p:cxnSp>
        <p:sp>
          <p:nvSpPr>
            <p:cNvPr id="16" name="Rounded Rectangle 15">
              <a:extLst>
                <a:ext uri="{FF2B5EF4-FFF2-40B4-BE49-F238E27FC236}">
                  <a16:creationId xmlns:a16="http://schemas.microsoft.com/office/drawing/2014/main" id="{90A75F09-02BA-065A-D3DF-9EBE3B0FEF1F}"/>
                </a:ext>
              </a:extLst>
            </p:cNvPr>
            <p:cNvSpPr/>
            <p:nvPr/>
          </p:nvSpPr>
          <p:spPr>
            <a:xfrm>
              <a:off x="10138611" y="6058341"/>
              <a:ext cx="975703" cy="140631"/>
            </a:xfrm>
            <a:prstGeom prst="roundRect">
              <a:avLst>
                <a:gd name="adj" fmla="val 50000"/>
              </a:avLst>
            </a:prstGeom>
            <a:solidFill>
              <a:schemeClr val="accent2"/>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Footer Placeholder 3">
            <a:extLst>
              <a:ext uri="{FF2B5EF4-FFF2-40B4-BE49-F238E27FC236}">
                <a16:creationId xmlns:a16="http://schemas.microsoft.com/office/drawing/2014/main" id="{48854C69-1177-5C25-8316-022C33156C7C}"/>
              </a:ext>
            </a:extLst>
          </p:cNvPr>
          <p:cNvSpPr txBox="1">
            <a:spLocks/>
          </p:cNvSpPr>
          <p:nvPr userDrawn="1"/>
        </p:nvSpPr>
        <p:spPr>
          <a:xfrm>
            <a:off x="290431" y="6630910"/>
            <a:ext cx="8022127" cy="121356"/>
          </a:xfrm>
          <a:prstGeom prst="rect">
            <a:avLst/>
          </a:prstGeom>
        </p:spPr>
        <p:txBody>
          <a:bodyPr lIns="0" tIns="0" rIns="0" bIns="0"/>
          <a:lstStyle>
            <a:defPPr>
              <a:defRPr lang="en-US"/>
            </a:defPPr>
            <a:lvl1pPr marL="0" algn="l" defTabSz="914400" rtl="0" eaLnBrk="1" latinLnBrk="0" hangingPunct="1">
              <a:defRPr sz="1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700" b="0" i="0" dirty="0">
                <a:solidFill>
                  <a:schemeClr val="bg1">
                    <a:lumMod val="50000"/>
                  </a:schemeClr>
                </a:solidFill>
                <a:latin typeface="Aptos Light" panose="020B0004020202020204" pitchFamily="34" charset="0"/>
              </a:rPr>
              <a:t>IIFL Capital Services Limited Formerly Known as IIFL Securities Limited   |   Strictly Private And Confidential – Do Not Reproduce or Distribute Without Consent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700" b="0" i="0" dirty="0">
              <a:solidFill>
                <a:schemeClr val="bg1">
                  <a:lumMod val="50000"/>
                </a:schemeClr>
              </a:solidFill>
              <a:latin typeface="Aptos Light" panose="020B0004020202020204" pitchFamily="34" charset="0"/>
            </a:endParaRPr>
          </a:p>
        </p:txBody>
      </p:sp>
      <p:sp>
        <p:nvSpPr>
          <p:cNvPr id="13" name="Title 1">
            <a:extLst>
              <a:ext uri="{FF2B5EF4-FFF2-40B4-BE49-F238E27FC236}">
                <a16:creationId xmlns:a16="http://schemas.microsoft.com/office/drawing/2014/main" id="{C4ACD4AB-8A71-FDC9-E5A9-7D9F7073EA8E}"/>
              </a:ext>
            </a:extLst>
          </p:cNvPr>
          <p:cNvSpPr>
            <a:spLocks noGrp="1"/>
          </p:cNvSpPr>
          <p:nvPr>
            <p:ph type="ctrTitle"/>
          </p:nvPr>
        </p:nvSpPr>
        <p:spPr>
          <a:xfrm>
            <a:off x="990600" y="3485511"/>
            <a:ext cx="8630478" cy="660950"/>
          </a:xfrm>
          <a:prstGeom prst="rect">
            <a:avLst/>
          </a:prstGeom>
          <a:ln w="9525">
            <a:noFill/>
          </a:ln>
        </p:spPr>
        <p:txBody>
          <a:bodyPr anchor="b"/>
          <a:lstStyle>
            <a:lvl1pPr algn="l">
              <a:lnSpc>
                <a:spcPts val="5080"/>
              </a:lnSpc>
              <a:defRPr sz="4800" b="0" i="0">
                <a:solidFill>
                  <a:schemeClr val="accent1"/>
                </a:solidFill>
                <a:latin typeface="Aptos" panose="020B0004020202020204" pitchFamily="34" charset="0"/>
              </a:defRPr>
            </a:lvl1pPr>
          </a:lstStyle>
          <a:p>
            <a:r>
              <a:rPr lang="en-GB" dirty="0"/>
              <a:t>Click to edit Master title style</a:t>
            </a:r>
            <a:endParaRPr lang="en-US" dirty="0"/>
          </a:p>
        </p:txBody>
      </p:sp>
      <p:sp>
        <p:nvSpPr>
          <p:cNvPr id="27" name="Subtitle 2">
            <a:extLst>
              <a:ext uri="{FF2B5EF4-FFF2-40B4-BE49-F238E27FC236}">
                <a16:creationId xmlns:a16="http://schemas.microsoft.com/office/drawing/2014/main" id="{87861337-E8B1-28E9-4686-3C1FB0AAAA0E}"/>
              </a:ext>
            </a:extLst>
          </p:cNvPr>
          <p:cNvSpPr>
            <a:spLocks noGrp="1"/>
          </p:cNvSpPr>
          <p:nvPr>
            <p:ph type="subTitle" idx="1"/>
          </p:nvPr>
        </p:nvSpPr>
        <p:spPr>
          <a:xfrm>
            <a:off x="990600" y="4280971"/>
            <a:ext cx="8630478" cy="387772"/>
          </a:xfrm>
          <a:prstGeom prst="rect">
            <a:avLst/>
          </a:prstGeom>
        </p:spPr>
        <p:txBody>
          <a:bodyPr/>
          <a:lstStyle>
            <a:lvl1pPr marL="0" indent="0" algn="l">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8" name="Date Placeholder 3">
            <a:extLst>
              <a:ext uri="{FF2B5EF4-FFF2-40B4-BE49-F238E27FC236}">
                <a16:creationId xmlns:a16="http://schemas.microsoft.com/office/drawing/2014/main" id="{077CC122-9E82-678A-1DFA-30C0C01B8D6E}"/>
              </a:ext>
            </a:extLst>
          </p:cNvPr>
          <p:cNvSpPr>
            <a:spLocks noGrp="1"/>
          </p:cNvSpPr>
          <p:nvPr>
            <p:ph type="dt" sz="half" idx="2"/>
          </p:nvPr>
        </p:nvSpPr>
        <p:spPr>
          <a:xfrm>
            <a:off x="990600" y="5043632"/>
            <a:ext cx="2743200" cy="365125"/>
          </a:xfrm>
          <a:prstGeom prst="rect">
            <a:avLst/>
          </a:prstGeom>
        </p:spPr>
        <p:txBody>
          <a:bodyPr vert="horz" lIns="91440" tIns="45720" rIns="91440" bIns="45720" rtlCol="0" anchor="ctr"/>
          <a:lstStyle>
            <a:lvl1pPr algn="l">
              <a:defRPr sz="1200">
                <a:solidFill>
                  <a:schemeClr val="accent1"/>
                </a:solidFill>
              </a:defRPr>
            </a:lvl1pPr>
          </a:lstStyle>
          <a:p>
            <a:fld id="{D680E9C8-B1D0-C94B-8ACB-6B6F75CB9E46}" type="datetimeFigureOut">
              <a:rPr lang="en-US" smtClean="0"/>
              <a:pPr/>
              <a:t>6/8/2026</a:t>
            </a:fld>
            <a:endParaRPr lang="en-US" dirty="0"/>
          </a:p>
        </p:txBody>
      </p:sp>
      <p:pic>
        <p:nvPicPr>
          <p:cNvPr id="4" name="Picture 3">
            <a:extLst>
              <a:ext uri="{FF2B5EF4-FFF2-40B4-BE49-F238E27FC236}">
                <a16:creationId xmlns:a16="http://schemas.microsoft.com/office/drawing/2014/main" id="{BDC4D521-5FFC-1813-3A41-AFB16693DB53}"/>
              </a:ext>
            </a:extLst>
          </p:cNvPr>
          <p:cNvPicPr>
            <a:picLocks noChangeAspect="1"/>
          </p:cNvPicPr>
          <p:nvPr userDrawn="1"/>
        </p:nvPicPr>
        <p:blipFill>
          <a:blip r:embed="rId3"/>
          <a:srcRect/>
          <a:stretch/>
        </p:blipFill>
        <p:spPr>
          <a:xfrm>
            <a:off x="665718" y="590226"/>
            <a:ext cx="3832813" cy="1223238"/>
          </a:xfrm>
          <a:prstGeom prst="rect">
            <a:avLst/>
          </a:prstGeom>
        </p:spPr>
      </p:pic>
    </p:spTree>
    <p:extLst>
      <p:ext uri="{BB962C8B-B14F-4D97-AF65-F5344CB8AC3E}">
        <p14:creationId xmlns:p14="http://schemas.microsoft.com/office/powerpoint/2010/main" val="22162196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FD603-A916-7991-740B-D5DED7179FA2}"/>
              </a:ext>
            </a:extLst>
          </p:cNvPr>
          <p:cNvSpPr>
            <a:spLocks noGrp="1"/>
          </p:cNvSpPr>
          <p:nvPr>
            <p:ph type="title"/>
          </p:nvPr>
        </p:nvSpPr>
        <p:spPr/>
        <p:txBody>
          <a:bodyPr/>
          <a:lstStyle>
            <a:lvl1pPr>
              <a:defRPr>
                <a:solidFill>
                  <a:schemeClr val="accent1"/>
                </a:solidFill>
              </a:defRPr>
            </a:lvl1pPr>
          </a:lstStyle>
          <a:p>
            <a:r>
              <a:rPr lang="en-GB"/>
              <a:t>Click to edit Master title style</a:t>
            </a:r>
            <a:endParaRPr lang="en-US"/>
          </a:p>
        </p:txBody>
      </p:sp>
    </p:spTree>
    <p:extLst>
      <p:ext uri="{BB962C8B-B14F-4D97-AF65-F5344CB8AC3E}">
        <p14:creationId xmlns:p14="http://schemas.microsoft.com/office/powerpoint/2010/main" val="1520454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791D1B-2961-FEC8-ED3A-B555A74C509E}"/>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a:off x="0" y="0"/>
            <a:ext cx="12192000" cy="6498183"/>
          </a:xfrm>
          <a:prstGeom prst="rect">
            <a:avLst/>
          </a:prstGeom>
        </p:spPr>
      </p:pic>
      <p:sp>
        <p:nvSpPr>
          <p:cNvPr id="2" name="Title 1">
            <a:extLst>
              <a:ext uri="{FF2B5EF4-FFF2-40B4-BE49-F238E27FC236}">
                <a16:creationId xmlns:a16="http://schemas.microsoft.com/office/drawing/2014/main" id="{365FD603-A916-7991-740B-D5DED7179FA2}"/>
              </a:ext>
            </a:extLst>
          </p:cNvPr>
          <p:cNvSpPr>
            <a:spLocks noGrp="1"/>
          </p:cNvSpPr>
          <p:nvPr>
            <p:ph type="title"/>
          </p:nvPr>
        </p:nvSpPr>
        <p:spPr>
          <a:xfrm>
            <a:off x="339049" y="606245"/>
            <a:ext cx="7777514" cy="306622"/>
          </a:xfrm>
        </p:spPr>
        <p:txBody>
          <a:bodyPr/>
          <a:lstStyle>
            <a:lvl1pPr>
              <a:defRPr>
                <a:solidFill>
                  <a:schemeClr val="accent1"/>
                </a:solidFill>
              </a:defRPr>
            </a:lvl1pPr>
          </a:lstStyle>
          <a:p>
            <a:r>
              <a:rPr lang="en-GB" dirty="0"/>
              <a:t>Click to edit Master title style</a:t>
            </a:r>
            <a:endParaRPr lang="en-US" dirty="0"/>
          </a:p>
        </p:txBody>
      </p:sp>
      <p:pic>
        <p:nvPicPr>
          <p:cNvPr id="4" name="Picture 3">
            <a:extLst>
              <a:ext uri="{FF2B5EF4-FFF2-40B4-BE49-F238E27FC236}">
                <a16:creationId xmlns:a16="http://schemas.microsoft.com/office/drawing/2014/main" id="{19976753-2258-FECB-D8F6-F5807C0F6BC3}"/>
              </a:ext>
            </a:extLst>
          </p:cNvPr>
          <p:cNvPicPr>
            <a:picLocks noChangeAspect="1"/>
          </p:cNvPicPr>
          <p:nvPr userDrawn="1"/>
        </p:nvPicPr>
        <p:blipFill>
          <a:blip r:embed="rId3"/>
          <a:srcRect/>
          <a:stretch/>
        </p:blipFill>
        <p:spPr>
          <a:xfrm>
            <a:off x="10279375" y="232939"/>
            <a:ext cx="1821129" cy="582070"/>
          </a:xfrm>
          <a:prstGeom prst="rect">
            <a:avLst/>
          </a:prstGeom>
        </p:spPr>
      </p:pic>
    </p:spTree>
    <p:extLst>
      <p:ext uri="{BB962C8B-B14F-4D97-AF65-F5344CB8AC3E}">
        <p14:creationId xmlns:p14="http://schemas.microsoft.com/office/powerpoint/2010/main" val="599975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55E1859-3949-F32C-FF0F-840E583BF2E4}"/>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5FD603-A916-7991-740B-D5DED7179FA2}"/>
              </a:ext>
            </a:extLst>
          </p:cNvPr>
          <p:cNvSpPr>
            <a:spLocks noGrp="1"/>
          </p:cNvSpPr>
          <p:nvPr>
            <p:ph type="title"/>
          </p:nvPr>
        </p:nvSpPr>
        <p:spPr>
          <a:xfrm>
            <a:off x="339049" y="606245"/>
            <a:ext cx="7777514" cy="306622"/>
          </a:xfrm>
        </p:spPr>
        <p:txBody>
          <a:bodyPr/>
          <a:lstStyle>
            <a:lvl1pPr>
              <a:defRPr>
                <a:solidFill>
                  <a:schemeClr val="accent1"/>
                </a:solidFill>
              </a:defRPr>
            </a:lvl1pPr>
          </a:lstStyle>
          <a:p>
            <a:r>
              <a:rPr lang="en-GB" dirty="0"/>
              <a:t>Click to edit Master title style</a:t>
            </a:r>
            <a:endParaRPr lang="en-US" dirty="0"/>
          </a:p>
        </p:txBody>
      </p:sp>
      <p:pic>
        <p:nvPicPr>
          <p:cNvPr id="6" name="Picture 5">
            <a:extLst>
              <a:ext uri="{FF2B5EF4-FFF2-40B4-BE49-F238E27FC236}">
                <a16:creationId xmlns:a16="http://schemas.microsoft.com/office/drawing/2014/main" id="{86CED716-53C2-F484-5F5D-37D5CB5061A4}"/>
              </a:ext>
            </a:extLst>
          </p:cNvPr>
          <p:cNvPicPr>
            <a:picLocks noChangeAspect="1"/>
          </p:cNvPicPr>
          <p:nvPr userDrawn="1"/>
        </p:nvPicPr>
        <p:blipFill>
          <a:blip r:embed="rId2"/>
          <a:srcRect/>
          <a:stretch/>
        </p:blipFill>
        <p:spPr>
          <a:xfrm>
            <a:off x="9598970" y="138907"/>
            <a:ext cx="2451839" cy="782501"/>
          </a:xfrm>
          <a:prstGeom prst="rect">
            <a:avLst/>
          </a:prstGeom>
        </p:spPr>
      </p:pic>
    </p:spTree>
    <p:extLst>
      <p:ext uri="{BB962C8B-B14F-4D97-AF65-F5344CB8AC3E}">
        <p14:creationId xmlns:p14="http://schemas.microsoft.com/office/powerpoint/2010/main" val="15678647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fographic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49104F8-D1B8-D54D-C3D2-A72B11D94C5F}"/>
              </a:ext>
            </a:extLst>
          </p:cNvPr>
          <p:cNvSpPr/>
          <p:nvPr userDrawn="1"/>
        </p:nvSpPr>
        <p:spPr>
          <a:xfrm>
            <a:off x="0" y="0"/>
            <a:ext cx="1219200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black background with a blue corner&#10;&#10;AI-generated content may be incorrect.">
            <a:extLst>
              <a:ext uri="{FF2B5EF4-FFF2-40B4-BE49-F238E27FC236}">
                <a16:creationId xmlns:a16="http://schemas.microsoft.com/office/drawing/2014/main" id="{FDC54057-C6C8-23CB-70CC-A0FC5A316CFE}"/>
              </a:ext>
            </a:extLst>
          </p:cNvPr>
          <p:cNvPicPr>
            <a:picLocks noChangeAspect="1"/>
          </p:cNvPicPr>
          <p:nvPr userDrawn="1"/>
        </p:nvPicPr>
        <p:blipFill>
          <a:blip r:embed="rId2"/>
          <a:stretch>
            <a:fillRect/>
          </a:stretch>
        </p:blipFill>
        <p:spPr>
          <a:xfrm>
            <a:off x="0" y="-9939"/>
            <a:ext cx="12192000" cy="6858000"/>
          </a:xfrm>
          <a:prstGeom prst="rect">
            <a:avLst/>
          </a:prstGeom>
        </p:spPr>
      </p:pic>
      <p:sp>
        <p:nvSpPr>
          <p:cNvPr id="7" name="Footer Placeholder 3">
            <a:extLst>
              <a:ext uri="{FF2B5EF4-FFF2-40B4-BE49-F238E27FC236}">
                <a16:creationId xmlns:a16="http://schemas.microsoft.com/office/drawing/2014/main" id="{C493B964-70E8-D59D-BD20-37E69425B90A}"/>
              </a:ext>
            </a:extLst>
          </p:cNvPr>
          <p:cNvSpPr txBox="1">
            <a:spLocks/>
          </p:cNvSpPr>
          <p:nvPr userDrawn="1"/>
        </p:nvSpPr>
        <p:spPr>
          <a:xfrm>
            <a:off x="290431" y="6570232"/>
            <a:ext cx="8022127" cy="121356"/>
          </a:xfrm>
          <a:prstGeom prst="rect">
            <a:avLst/>
          </a:prstGeom>
        </p:spPr>
        <p:txBody>
          <a:bodyPr lIns="0" tIns="0" rIns="0" bIns="0"/>
          <a:lstStyle>
            <a:defPPr>
              <a:defRPr lang="en-US"/>
            </a:defPPr>
            <a:lvl1pPr marL="0" algn="l" defTabSz="914400" rtl="0" eaLnBrk="1" latinLnBrk="0" hangingPunct="1">
              <a:defRPr sz="1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700" b="0" i="0" dirty="0">
                <a:solidFill>
                  <a:schemeClr val="bg1">
                    <a:lumMod val="50000"/>
                  </a:schemeClr>
                </a:solidFill>
                <a:latin typeface="Aptos Light" panose="020B0004020202020204" pitchFamily="34" charset="0"/>
              </a:rPr>
              <a:t>IIFL Capital Services Limited Formerly Known as IIFL Securities Limited   |   Strictly Private And Confidential – Do Not Reproduce or Distribute Without Consent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700" b="0" i="0" dirty="0">
              <a:solidFill>
                <a:schemeClr val="bg1">
                  <a:lumMod val="50000"/>
                </a:schemeClr>
              </a:solidFill>
              <a:latin typeface="Aptos Light" panose="020B0004020202020204" pitchFamily="34" charset="0"/>
            </a:endParaRPr>
          </a:p>
        </p:txBody>
      </p:sp>
      <p:sp>
        <p:nvSpPr>
          <p:cNvPr id="8" name="Slide Number Placeholder 4">
            <a:extLst>
              <a:ext uri="{FF2B5EF4-FFF2-40B4-BE49-F238E27FC236}">
                <a16:creationId xmlns:a16="http://schemas.microsoft.com/office/drawing/2014/main" id="{72BDEA6D-C282-B9D1-9A8C-9A221360696E}"/>
              </a:ext>
            </a:extLst>
          </p:cNvPr>
          <p:cNvSpPr txBox="1">
            <a:spLocks/>
          </p:cNvSpPr>
          <p:nvPr userDrawn="1"/>
        </p:nvSpPr>
        <p:spPr>
          <a:xfrm>
            <a:off x="9216780" y="6467844"/>
            <a:ext cx="2743200" cy="226748"/>
          </a:xfrm>
          <a:prstGeom prst="rect">
            <a:avLst/>
          </a:prstGeom>
        </p:spPr>
        <p:txBody>
          <a:bodyPr vert="horz" lIns="0" tIns="0" rIns="0" bIns="0" rtlCol="0" anchor="b"/>
          <a:lstStyle>
            <a:defPPr>
              <a:defRPr lang="en-US"/>
            </a:defPPr>
            <a:lvl1pPr marL="0" algn="r" defTabSz="914400" rtl="0" eaLnBrk="1" latinLnBrk="0" hangingPunct="1">
              <a:defRPr sz="1050" b="0" i="0" kern="1200">
                <a:solidFill>
                  <a:srgbClr val="4C4C92"/>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396CDF3-4848-744E-BF0D-3AA041748586}" type="slidenum">
              <a:rPr lang="en-US" sz="700" b="0" i="0" smtClean="0">
                <a:solidFill>
                  <a:schemeClr val="bg1">
                    <a:lumMod val="50000"/>
                  </a:schemeClr>
                </a:solidFill>
                <a:latin typeface="Aptos Light" panose="020B0004020202020204" pitchFamily="34" charset="0"/>
              </a:rPr>
              <a:pPr/>
              <a:t>‹#›</a:t>
            </a:fld>
            <a:endParaRPr lang="en-US" sz="700" b="0" i="0" dirty="0">
              <a:solidFill>
                <a:schemeClr val="bg1">
                  <a:lumMod val="50000"/>
                </a:schemeClr>
              </a:solidFill>
              <a:latin typeface="Aptos Light" panose="020B0004020202020204" pitchFamily="34" charset="0"/>
            </a:endParaRPr>
          </a:p>
        </p:txBody>
      </p:sp>
      <p:sp>
        <p:nvSpPr>
          <p:cNvPr id="10" name="Title 1">
            <a:extLst>
              <a:ext uri="{FF2B5EF4-FFF2-40B4-BE49-F238E27FC236}">
                <a16:creationId xmlns:a16="http://schemas.microsoft.com/office/drawing/2014/main" id="{1C713CD4-16E6-5DB6-A118-EE146E03B250}"/>
              </a:ext>
            </a:extLst>
          </p:cNvPr>
          <p:cNvSpPr>
            <a:spLocks noGrp="1"/>
          </p:cNvSpPr>
          <p:nvPr>
            <p:ph type="title"/>
          </p:nvPr>
        </p:nvSpPr>
        <p:spPr>
          <a:xfrm>
            <a:off x="339049" y="755332"/>
            <a:ext cx="7777514" cy="306622"/>
          </a:xfrm>
        </p:spPr>
        <p:txBody>
          <a:bodyPr/>
          <a:lstStyle/>
          <a:p>
            <a:r>
              <a:rPr lang="en-GB"/>
              <a:t>Click to edit Master title style</a:t>
            </a:r>
            <a:endParaRPr lang="en-US"/>
          </a:p>
        </p:txBody>
      </p:sp>
      <p:pic>
        <p:nvPicPr>
          <p:cNvPr id="2" name="Picture 1">
            <a:extLst>
              <a:ext uri="{FF2B5EF4-FFF2-40B4-BE49-F238E27FC236}">
                <a16:creationId xmlns:a16="http://schemas.microsoft.com/office/drawing/2014/main" id="{7672AA22-0631-642C-F190-A3E3E3126433}"/>
              </a:ext>
            </a:extLst>
          </p:cNvPr>
          <p:cNvPicPr>
            <a:picLocks noChangeAspect="1"/>
          </p:cNvPicPr>
          <p:nvPr userDrawn="1"/>
        </p:nvPicPr>
        <p:blipFill>
          <a:blip r:embed="rId3"/>
          <a:srcRect/>
          <a:stretch/>
        </p:blipFill>
        <p:spPr>
          <a:xfrm>
            <a:off x="9658604" y="232939"/>
            <a:ext cx="2451839" cy="783658"/>
          </a:xfrm>
          <a:prstGeom prst="rect">
            <a:avLst/>
          </a:prstGeom>
        </p:spPr>
      </p:pic>
    </p:spTree>
    <p:extLst>
      <p:ext uri="{BB962C8B-B14F-4D97-AF65-F5344CB8AC3E}">
        <p14:creationId xmlns:p14="http://schemas.microsoft.com/office/powerpoint/2010/main" val="176595019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4330020-7542-CF99-52B3-233844024426}"/>
              </a:ext>
            </a:extLst>
          </p:cNvPr>
          <p:cNvSpPr/>
          <p:nvPr userDrawn="1"/>
        </p:nvSpPr>
        <p:spPr>
          <a:xfrm>
            <a:off x="-1"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 white triangle on a white surface&#10;&#10;AI-generated content may be incorrect.">
            <a:extLst>
              <a:ext uri="{FF2B5EF4-FFF2-40B4-BE49-F238E27FC236}">
                <a16:creationId xmlns:a16="http://schemas.microsoft.com/office/drawing/2014/main" id="{C0AB502B-557B-1410-0806-4C26303A8348}"/>
              </a:ext>
            </a:extLst>
          </p:cNvPr>
          <p:cNvPicPr>
            <a:picLocks noChangeAspect="1"/>
          </p:cNvPicPr>
          <p:nvPr userDrawn="1"/>
        </p:nvPicPr>
        <p:blipFill>
          <a:blip r:embed="rId2">
            <a:alphaModFix amt="35000"/>
          </a:blip>
          <a:srcRect l="11149" t="9544" r="26735" b="10068"/>
          <a:stretch>
            <a:fillRect/>
          </a:stretch>
        </p:blipFill>
        <p:spPr>
          <a:xfrm rot="10800000" flipH="1">
            <a:off x="0" y="0"/>
            <a:ext cx="12192000" cy="6858000"/>
          </a:xfrm>
          <a:prstGeom prst="rect">
            <a:avLst/>
          </a:prstGeom>
        </p:spPr>
      </p:pic>
      <p:pic>
        <p:nvPicPr>
          <p:cNvPr id="17" name="Picture 16" descr="A black background with a blue corner&#10;&#10;AI-generated content may be incorrect.">
            <a:extLst>
              <a:ext uri="{FF2B5EF4-FFF2-40B4-BE49-F238E27FC236}">
                <a16:creationId xmlns:a16="http://schemas.microsoft.com/office/drawing/2014/main" id="{0883836D-F0CE-24C6-0968-F136F7E0C4B6}"/>
              </a:ext>
            </a:extLst>
          </p:cNvPr>
          <p:cNvPicPr>
            <a:picLocks noChangeAspect="1"/>
          </p:cNvPicPr>
          <p:nvPr userDrawn="1"/>
        </p:nvPicPr>
        <p:blipFill>
          <a:blip r:embed="rId3"/>
          <a:stretch>
            <a:fillRect/>
          </a:stretch>
        </p:blipFill>
        <p:spPr>
          <a:xfrm>
            <a:off x="0" y="0"/>
            <a:ext cx="12192000" cy="6858000"/>
          </a:xfrm>
          <a:prstGeom prst="rect">
            <a:avLst/>
          </a:prstGeom>
        </p:spPr>
      </p:pic>
      <p:grpSp>
        <p:nvGrpSpPr>
          <p:cNvPr id="3" name="Group 2">
            <a:extLst>
              <a:ext uri="{FF2B5EF4-FFF2-40B4-BE49-F238E27FC236}">
                <a16:creationId xmlns:a16="http://schemas.microsoft.com/office/drawing/2014/main" id="{29AE6F98-DCDA-7450-6E57-5C627B4E20A5}"/>
              </a:ext>
            </a:extLst>
          </p:cNvPr>
          <p:cNvGrpSpPr/>
          <p:nvPr userDrawn="1"/>
        </p:nvGrpSpPr>
        <p:grpSpPr>
          <a:xfrm>
            <a:off x="871428" y="4821224"/>
            <a:ext cx="8891336" cy="106640"/>
            <a:chOff x="2222978" y="6072151"/>
            <a:chExt cx="8891336" cy="106640"/>
          </a:xfrm>
          <a:solidFill>
            <a:schemeClr val="accent2"/>
          </a:solidFill>
        </p:grpSpPr>
        <p:cxnSp>
          <p:nvCxnSpPr>
            <p:cNvPr id="5" name="Straight Connector 4">
              <a:extLst>
                <a:ext uri="{FF2B5EF4-FFF2-40B4-BE49-F238E27FC236}">
                  <a16:creationId xmlns:a16="http://schemas.microsoft.com/office/drawing/2014/main" id="{3901ABC1-EB97-F417-4A84-6FDB113733CA}"/>
                </a:ext>
              </a:extLst>
            </p:cNvPr>
            <p:cNvCxnSpPr>
              <a:cxnSpLocks/>
            </p:cNvCxnSpPr>
            <p:nvPr/>
          </p:nvCxnSpPr>
          <p:spPr>
            <a:xfrm>
              <a:off x="2222978" y="6128657"/>
              <a:ext cx="8891336" cy="0"/>
            </a:xfrm>
            <a:prstGeom prst="line">
              <a:avLst/>
            </a:prstGeom>
            <a:grpFill/>
            <a:ln w="9525">
              <a:solidFill>
                <a:schemeClr val="accent2"/>
              </a:solidFill>
            </a:ln>
          </p:spPr>
          <p:style>
            <a:lnRef idx="1">
              <a:schemeClr val="accent6"/>
            </a:lnRef>
            <a:fillRef idx="0">
              <a:schemeClr val="accent6"/>
            </a:fillRef>
            <a:effectRef idx="0">
              <a:schemeClr val="accent6"/>
            </a:effectRef>
            <a:fontRef idx="minor">
              <a:schemeClr val="tx1"/>
            </a:fontRef>
          </p:style>
        </p:cxnSp>
        <p:sp>
          <p:nvSpPr>
            <p:cNvPr id="6" name="Rounded Rectangle 5">
              <a:extLst>
                <a:ext uri="{FF2B5EF4-FFF2-40B4-BE49-F238E27FC236}">
                  <a16:creationId xmlns:a16="http://schemas.microsoft.com/office/drawing/2014/main" id="{42653C49-BBD9-355B-ED9B-4FD452FFA956}"/>
                </a:ext>
              </a:extLst>
            </p:cNvPr>
            <p:cNvSpPr/>
            <p:nvPr/>
          </p:nvSpPr>
          <p:spPr>
            <a:xfrm>
              <a:off x="10358984" y="6072151"/>
              <a:ext cx="755330" cy="106640"/>
            </a:xfrm>
            <a:prstGeom prst="roundRect">
              <a:avLst>
                <a:gd name="adj" fmla="val 50000"/>
              </a:avLst>
            </a:prstGeom>
            <a:solidFill>
              <a:schemeClr val="accent2"/>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grpSp>
      <p:sp>
        <p:nvSpPr>
          <p:cNvPr id="13" name="Title 1">
            <a:extLst>
              <a:ext uri="{FF2B5EF4-FFF2-40B4-BE49-F238E27FC236}">
                <a16:creationId xmlns:a16="http://schemas.microsoft.com/office/drawing/2014/main" id="{C4ACD4AB-8A71-FDC9-E5A9-7D9F7073EA8E}"/>
              </a:ext>
            </a:extLst>
          </p:cNvPr>
          <p:cNvSpPr>
            <a:spLocks noGrp="1"/>
          </p:cNvSpPr>
          <p:nvPr>
            <p:ph type="ctrTitle"/>
          </p:nvPr>
        </p:nvSpPr>
        <p:spPr>
          <a:xfrm>
            <a:off x="871428" y="3361545"/>
            <a:ext cx="7208270" cy="1336328"/>
          </a:xfrm>
          <a:prstGeom prst="rect">
            <a:avLst/>
          </a:prstGeom>
          <a:ln w="9525">
            <a:noFill/>
          </a:ln>
        </p:spPr>
        <p:txBody>
          <a:bodyPr anchor="b"/>
          <a:lstStyle>
            <a:lvl1pPr algn="l">
              <a:lnSpc>
                <a:spcPts val="5080"/>
              </a:lnSpc>
              <a:defRPr sz="4800">
                <a:solidFill>
                  <a:schemeClr val="accent1"/>
                </a:solidFill>
              </a:defRPr>
            </a:lvl1pPr>
          </a:lstStyle>
          <a:p>
            <a:r>
              <a:rPr lang="en-GB" dirty="0"/>
              <a:t>Click to edit Master title style</a:t>
            </a:r>
            <a:endParaRPr lang="en-US" dirty="0"/>
          </a:p>
        </p:txBody>
      </p:sp>
      <p:sp>
        <p:nvSpPr>
          <p:cNvPr id="11" name="Footer Placeholder 3">
            <a:extLst>
              <a:ext uri="{FF2B5EF4-FFF2-40B4-BE49-F238E27FC236}">
                <a16:creationId xmlns:a16="http://schemas.microsoft.com/office/drawing/2014/main" id="{22C67C05-F88E-AD6B-023E-D95808331FC3}"/>
              </a:ext>
            </a:extLst>
          </p:cNvPr>
          <p:cNvSpPr txBox="1">
            <a:spLocks/>
          </p:cNvSpPr>
          <p:nvPr userDrawn="1"/>
        </p:nvSpPr>
        <p:spPr>
          <a:xfrm>
            <a:off x="290431" y="6570232"/>
            <a:ext cx="8022127" cy="121356"/>
          </a:xfrm>
          <a:prstGeom prst="rect">
            <a:avLst/>
          </a:prstGeom>
        </p:spPr>
        <p:txBody>
          <a:bodyPr lIns="0" tIns="0" rIns="0" bIns="0"/>
          <a:lstStyle>
            <a:defPPr>
              <a:defRPr lang="en-US"/>
            </a:defPPr>
            <a:lvl1pPr marL="0" algn="l" defTabSz="914400" rtl="0" eaLnBrk="1" latinLnBrk="0" hangingPunct="1">
              <a:defRPr sz="1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700" b="0" i="0" dirty="0">
                <a:solidFill>
                  <a:schemeClr val="bg1">
                    <a:lumMod val="50000"/>
                  </a:schemeClr>
                </a:solidFill>
                <a:latin typeface="Aptos Light" panose="020B0004020202020204" pitchFamily="34" charset="0"/>
              </a:rPr>
              <a:t>IIFL Capital Services Limited Formerly Known as IIFL Securities Limited   |   Strictly Private And Confidential – Do Not Reproduce or Distribute Without Consent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700" b="0" i="0" dirty="0">
              <a:solidFill>
                <a:schemeClr val="bg1">
                  <a:lumMod val="50000"/>
                </a:schemeClr>
              </a:solidFill>
              <a:latin typeface="Aptos Light" panose="020B0004020202020204" pitchFamily="34" charset="0"/>
            </a:endParaRPr>
          </a:p>
        </p:txBody>
      </p:sp>
      <p:sp>
        <p:nvSpPr>
          <p:cNvPr id="12" name="Slide Number Placeholder 4">
            <a:extLst>
              <a:ext uri="{FF2B5EF4-FFF2-40B4-BE49-F238E27FC236}">
                <a16:creationId xmlns:a16="http://schemas.microsoft.com/office/drawing/2014/main" id="{6868F611-F388-B69B-6923-AE6BC7699A7C}"/>
              </a:ext>
            </a:extLst>
          </p:cNvPr>
          <p:cNvSpPr txBox="1">
            <a:spLocks/>
          </p:cNvSpPr>
          <p:nvPr userDrawn="1"/>
        </p:nvSpPr>
        <p:spPr>
          <a:xfrm>
            <a:off x="9216780" y="6467844"/>
            <a:ext cx="2743200" cy="226748"/>
          </a:xfrm>
          <a:prstGeom prst="rect">
            <a:avLst/>
          </a:prstGeom>
        </p:spPr>
        <p:txBody>
          <a:bodyPr vert="horz" lIns="0" tIns="0" rIns="0" bIns="0" rtlCol="0" anchor="b"/>
          <a:lstStyle>
            <a:defPPr>
              <a:defRPr lang="en-US"/>
            </a:defPPr>
            <a:lvl1pPr marL="0" algn="r" defTabSz="914400" rtl="0" eaLnBrk="1" latinLnBrk="0" hangingPunct="1">
              <a:defRPr sz="1050" b="0" i="0" kern="1200">
                <a:solidFill>
                  <a:srgbClr val="4C4C92"/>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396CDF3-4848-744E-BF0D-3AA041748586}" type="slidenum">
              <a:rPr lang="en-US" sz="700" b="0" i="0" smtClean="0">
                <a:solidFill>
                  <a:schemeClr val="bg1">
                    <a:lumMod val="50000"/>
                  </a:schemeClr>
                </a:solidFill>
                <a:latin typeface="Aptos Light" panose="020B0004020202020204" pitchFamily="34" charset="0"/>
              </a:rPr>
              <a:pPr/>
              <a:t>‹#›</a:t>
            </a:fld>
            <a:endParaRPr lang="en-US" sz="700" b="0" i="0" dirty="0">
              <a:solidFill>
                <a:schemeClr val="bg1">
                  <a:lumMod val="50000"/>
                </a:schemeClr>
              </a:solidFill>
              <a:latin typeface="Aptos Light" panose="020B0004020202020204" pitchFamily="34" charset="0"/>
            </a:endParaRPr>
          </a:p>
        </p:txBody>
      </p:sp>
      <p:pic>
        <p:nvPicPr>
          <p:cNvPr id="4" name="Picture 3">
            <a:extLst>
              <a:ext uri="{FF2B5EF4-FFF2-40B4-BE49-F238E27FC236}">
                <a16:creationId xmlns:a16="http://schemas.microsoft.com/office/drawing/2014/main" id="{F067F028-9AD0-882F-DC66-BC06F802761D}"/>
              </a:ext>
            </a:extLst>
          </p:cNvPr>
          <p:cNvPicPr>
            <a:picLocks noChangeAspect="1"/>
          </p:cNvPicPr>
          <p:nvPr userDrawn="1"/>
        </p:nvPicPr>
        <p:blipFill>
          <a:blip r:embed="rId4"/>
          <a:srcRect/>
          <a:stretch/>
        </p:blipFill>
        <p:spPr>
          <a:xfrm>
            <a:off x="9658604" y="232939"/>
            <a:ext cx="2451839" cy="783658"/>
          </a:xfrm>
          <a:prstGeom prst="rect">
            <a:avLst/>
          </a:prstGeom>
        </p:spPr>
      </p:pic>
    </p:spTree>
    <p:extLst>
      <p:ext uri="{BB962C8B-B14F-4D97-AF65-F5344CB8AC3E}">
        <p14:creationId xmlns:p14="http://schemas.microsoft.com/office/powerpoint/2010/main" val="29218309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ank - You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690E450-0CF6-9A1B-374A-F8F477AEB423}"/>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829C7A86-09D7-A2D3-93C0-D1D9576497A0}"/>
              </a:ext>
            </a:extLst>
          </p:cNvPr>
          <p:cNvSpPr/>
          <p:nvPr userDrawn="1"/>
        </p:nvSpPr>
        <p:spPr>
          <a:xfrm>
            <a:off x="-1"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DF1AC46-1D73-D3D7-D8FB-224F8B0232DA}"/>
              </a:ext>
            </a:extLst>
          </p:cNvPr>
          <p:cNvSpPr txBox="1"/>
          <p:nvPr userDrawn="1"/>
        </p:nvSpPr>
        <p:spPr>
          <a:xfrm>
            <a:off x="2943446" y="2967335"/>
            <a:ext cx="6305107" cy="923330"/>
          </a:xfrm>
          <a:prstGeom prst="rect">
            <a:avLst/>
          </a:prstGeom>
          <a:noFill/>
        </p:spPr>
        <p:txBody>
          <a:bodyPr wrap="square" rtlCol="0">
            <a:spAutoFit/>
          </a:bodyPr>
          <a:lstStyle/>
          <a:p>
            <a:pPr algn="ctr"/>
            <a:r>
              <a:rPr lang="en-US" sz="5400" dirty="0">
                <a:solidFill>
                  <a:schemeClr val="bg1"/>
                </a:solidFill>
              </a:rPr>
              <a:t>Thank you</a:t>
            </a:r>
          </a:p>
        </p:txBody>
      </p:sp>
    </p:spTree>
    <p:extLst>
      <p:ext uri="{BB962C8B-B14F-4D97-AF65-F5344CB8AC3E}">
        <p14:creationId xmlns:p14="http://schemas.microsoft.com/office/powerpoint/2010/main" val="2227878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image" Target="../media/image3.png"/><Relationship Id="rId5" Type="http://schemas.openxmlformats.org/officeDocument/2006/relationships/slideLayout" Target="../slideLayouts/slideLayout11.xml"/><Relationship Id="rId10" Type="http://schemas.openxmlformats.org/officeDocument/2006/relationships/image" Target="../media/image2.jpg"/><Relationship Id="rId4" Type="http://schemas.openxmlformats.org/officeDocument/2006/relationships/slideLayout" Target="../slideLayouts/slideLayout10.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8ED1F345-8FCF-0993-249F-87EC84D39A95}"/>
              </a:ext>
            </a:extLst>
          </p:cNvPr>
          <p:cNvCxnSpPr>
            <a:cxnSpLocks/>
          </p:cNvCxnSpPr>
          <p:nvPr userDrawn="1"/>
        </p:nvCxnSpPr>
        <p:spPr>
          <a:xfrm>
            <a:off x="339050" y="868029"/>
            <a:ext cx="9259504" cy="0"/>
          </a:xfrm>
          <a:prstGeom prst="line">
            <a:avLst/>
          </a:prstGeom>
          <a:solidFill>
            <a:schemeClr val="accent2"/>
          </a:solidFill>
          <a:ln w="9525">
            <a:solidFill>
              <a:schemeClr val="accent2"/>
            </a:solidFill>
          </a:ln>
        </p:spPr>
        <p:style>
          <a:lnRef idx="1">
            <a:schemeClr val="accent6"/>
          </a:lnRef>
          <a:fillRef idx="0">
            <a:schemeClr val="accent6"/>
          </a:fillRef>
          <a:effectRef idx="0">
            <a:schemeClr val="accent6"/>
          </a:effectRef>
          <a:fontRef idx="minor">
            <a:schemeClr val="tx1"/>
          </a:fontRef>
        </p:style>
      </p:cxnSp>
      <p:sp>
        <p:nvSpPr>
          <p:cNvPr id="2" name="Title Placeholder 1">
            <a:extLst>
              <a:ext uri="{FF2B5EF4-FFF2-40B4-BE49-F238E27FC236}">
                <a16:creationId xmlns:a16="http://schemas.microsoft.com/office/drawing/2014/main" id="{ED353AF3-E6D8-206A-604E-06DD223485A0}"/>
              </a:ext>
            </a:extLst>
          </p:cNvPr>
          <p:cNvSpPr>
            <a:spLocks noGrp="1"/>
          </p:cNvSpPr>
          <p:nvPr>
            <p:ph type="title"/>
          </p:nvPr>
        </p:nvSpPr>
        <p:spPr>
          <a:xfrm>
            <a:off x="339050" y="525420"/>
            <a:ext cx="6574971" cy="334515"/>
          </a:xfrm>
          <a:prstGeom prst="rect">
            <a:avLst/>
          </a:prstGeom>
        </p:spPr>
        <p:txBody>
          <a:bodyPr vert="horz" lIns="0" tIns="0" rIns="0" bIns="0" rtlCol="0" anchor="t">
            <a:spAutoFit/>
          </a:bodyPr>
          <a:lstStyle/>
          <a:p>
            <a:r>
              <a:rPr lang="en-GB"/>
              <a:t>Click to edit Master title style</a:t>
            </a:r>
            <a:endParaRPr lang="en-US"/>
          </a:p>
        </p:txBody>
      </p:sp>
      <p:sp>
        <p:nvSpPr>
          <p:cNvPr id="4" name="Footer Placeholder 3">
            <a:extLst>
              <a:ext uri="{FF2B5EF4-FFF2-40B4-BE49-F238E27FC236}">
                <a16:creationId xmlns:a16="http://schemas.microsoft.com/office/drawing/2014/main" id="{DF482E6A-04B6-69F1-37C5-871FA74FC533}"/>
              </a:ext>
            </a:extLst>
          </p:cNvPr>
          <p:cNvSpPr txBox="1">
            <a:spLocks/>
          </p:cNvSpPr>
          <p:nvPr userDrawn="1"/>
        </p:nvSpPr>
        <p:spPr>
          <a:xfrm>
            <a:off x="134856" y="6669010"/>
            <a:ext cx="8022127" cy="121356"/>
          </a:xfrm>
          <a:prstGeom prst="rect">
            <a:avLst/>
          </a:prstGeom>
        </p:spPr>
        <p:txBody>
          <a:bodyPr lIns="0" tIns="0" rIns="0" bIns="0"/>
          <a:lstStyle>
            <a:defPPr>
              <a:defRPr lang="en-US"/>
            </a:defPPr>
            <a:lvl1pPr marL="0" algn="l" defTabSz="914400" rtl="0" eaLnBrk="1" latinLnBrk="0" hangingPunct="1">
              <a:defRPr sz="1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b="0" i="0">
                <a:solidFill>
                  <a:schemeClr val="bg1">
                    <a:lumMod val="50000"/>
                  </a:schemeClr>
                </a:solidFill>
                <a:latin typeface="Aptos Light" panose="020B0004020202020204" pitchFamily="34" charset="0"/>
              </a:rPr>
              <a:t>IIFL Capital Asset Management Limited (Formerly known as IIFL Securities Alternate Asset Management Limited)</a:t>
            </a:r>
            <a:r>
              <a:rPr lang="en-IN" sz="700" b="0" i="0">
                <a:solidFill>
                  <a:schemeClr val="bg1">
                    <a:lumMod val="50000"/>
                  </a:schemeClr>
                </a:solidFill>
                <a:latin typeface="Aptos Light" panose="020B0004020202020204" pitchFamily="34" charset="0"/>
              </a:rPr>
              <a:t> |   Strictly Private And Confidential – Do Not Reproduce or Distribute Without Consent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700" b="0" i="0">
              <a:solidFill>
                <a:schemeClr val="bg1">
                  <a:lumMod val="50000"/>
                </a:schemeClr>
              </a:solidFill>
              <a:latin typeface="Aptos Light" panose="020B0004020202020204" pitchFamily="34" charset="0"/>
            </a:endParaRPr>
          </a:p>
        </p:txBody>
      </p:sp>
      <p:sp>
        <p:nvSpPr>
          <p:cNvPr id="5" name="Slide Number Placeholder 4">
            <a:extLst>
              <a:ext uri="{FF2B5EF4-FFF2-40B4-BE49-F238E27FC236}">
                <a16:creationId xmlns:a16="http://schemas.microsoft.com/office/drawing/2014/main" id="{B67499BD-C4A0-B1AA-20C9-61A096B01883}"/>
              </a:ext>
            </a:extLst>
          </p:cNvPr>
          <p:cNvSpPr txBox="1">
            <a:spLocks/>
          </p:cNvSpPr>
          <p:nvPr userDrawn="1"/>
        </p:nvSpPr>
        <p:spPr>
          <a:xfrm>
            <a:off x="9216780" y="6528522"/>
            <a:ext cx="2743200" cy="226748"/>
          </a:xfrm>
          <a:prstGeom prst="rect">
            <a:avLst/>
          </a:prstGeom>
        </p:spPr>
        <p:txBody>
          <a:bodyPr vert="horz" lIns="0" tIns="0" rIns="0" bIns="0" rtlCol="0" anchor="b"/>
          <a:lstStyle>
            <a:defPPr>
              <a:defRPr lang="en-US"/>
            </a:defPPr>
            <a:lvl1pPr marL="0" algn="r" defTabSz="914400" rtl="0" eaLnBrk="1" latinLnBrk="0" hangingPunct="1">
              <a:defRPr sz="1050" b="0" i="0" kern="1200">
                <a:solidFill>
                  <a:srgbClr val="4C4C92"/>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396CDF3-4848-744E-BF0D-3AA041748586}" type="slidenum">
              <a:rPr lang="en-US" sz="700" b="0" i="0" smtClean="0">
                <a:solidFill>
                  <a:schemeClr val="bg1">
                    <a:lumMod val="50000"/>
                  </a:schemeClr>
                </a:solidFill>
                <a:latin typeface="Aptos Light" panose="020B0004020202020204" pitchFamily="34" charset="0"/>
              </a:rPr>
              <a:pPr/>
              <a:t>‹#›</a:t>
            </a:fld>
            <a:endParaRPr lang="en-US" sz="700" b="0" i="0">
              <a:solidFill>
                <a:schemeClr val="bg1">
                  <a:lumMod val="50000"/>
                </a:schemeClr>
              </a:solidFill>
              <a:latin typeface="Aptos Light" panose="020B0004020202020204" pitchFamily="34" charset="0"/>
            </a:endParaRPr>
          </a:p>
        </p:txBody>
      </p:sp>
      <p:pic>
        <p:nvPicPr>
          <p:cNvPr id="3" name="Picture 2">
            <a:extLst>
              <a:ext uri="{FF2B5EF4-FFF2-40B4-BE49-F238E27FC236}">
                <a16:creationId xmlns:a16="http://schemas.microsoft.com/office/drawing/2014/main" id="{BF25488C-19DF-1286-183F-08BD419F8D20}"/>
              </a:ext>
            </a:extLst>
          </p:cNvPr>
          <p:cNvPicPr>
            <a:picLocks noChangeAspect="1"/>
          </p:cNvPicPr>
          <p:nvPr userDrawn="1"/>
        </p:nvPicPr>
        <p:blipFill>
          <a:blip r:embed="rId8"/>
          <a:srcRect/>
          <a:stretch/>
        </p:blipFill>
        <p:spPr>
          <a:xfrm>
            <a:off x="9598554" y="81058"/>
            <a:ext cx="2440463" cy="778871"/>
          </a:xfrm>
          <a:prstGeom prst="rect">
            <a:avLst/>
          </a:prstGeom>
        </p:spPr>
      </p:pic>
    </p:spTree>
    <p:extLst>
      <p:ext uri="{BB962C8B-B14F-4D97-AF65-F5344CB8AC3E}">
        <p14:creationId xmlns:p14="http://schemas.microsoft.com/office/powerpoint/2010/main" val="854492155"/>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Lst>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F482E6A-04B6-69F1-37C5-871FA74FC533}"/>
              </a:ext>
            </a:extLst>
          </p:cNvPr>
          <p:cNvSpPr txBox="1">
            <a:spLocks/>
          </p:cNvSpPr>
          <p:nvPr userDrawn="1"/>
        </p:nvSpPr>
        <p:spPr>
          <a:xfrm>
            <a:off x="290431" y="6630910"/>
            <a:ext cx="8022127" cy="121356"/>
          </a:xfrm>
          <a:prstGeom prst="rect">
            <a:avLst/>
          </a:prstGeom>
        </p:spPr>
        <p:txBody>
          <a:bodyPr lIns="0" tIns="0" rIns="0" bIns="0"/>
          <a:lstStyle>
            <a:defPPr>
              <a:defRPr lang="en-US"/>
            </a:defPPr>
            <a:lvl1pPr marL="0" algn="l" defTabSz="914400" rtl="0" eaLnBrk="1" latinLnBrk="0" hangingPunct="1">
              <a:defRPr sz="1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700" b="0" i="0" dirty="0">
                <a:solidFill>
                  <a:schemeClr val="bg1">
                    <a:lumMod val="50000"/>
                  </a:schemeClr>
                </a:solidFill>
                <a:latin typeface="Aptos Light" panose="020B0004020202020204" pitchFamily="34" charset="0"/>
              </a:rPr>
              <a:t>IIFL Capital Services Limited Formerly Known as IIFL Securities Limited   |   Strictly Private And Confidential – Do Not Reproduce or Distribute Without Consent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700" b="0" i="0" dirty="0">
              <a:solidFill>
                <a:schemeClr val="bg1">
                  <a:lumMod val="50000"/>
                </a:schemeClr>
              </a:solidFill>
              <a:latin typeface="Aptos Light" panose="020B0004020202020204" pitchFamily="34" charset="0"/>
            </a:endParaRPr>
          </a:p>
        </p:txBody>
      </p:sp>
      <p:sp>
        <p:nvSpPr>
          <p:cNvPr id="5" name="Slide Number Placeholder 4">
            <a:extLst>
              <a:ext uri="{FF2B5EF4-FFF2-40B4-BE49-F238E27FC236}">
                <a16:creationId xmlns:a16="http://schemas.microsoft.com/office/drawing/2014/main" id="{B67499BD-C4A0-B1AA-20C9-61A096B01883}"/>
              </a:ext>
            </a:extLst>
          </p:cNvPr>
          <p:cNvSpPr txBox="1">
            <a:spLocks/>
          </p:cNvSpPr>
          <p:nvPr userDrawn="1"/>
        </p:nvSpPr>
        <p:spPr>
          <a:xfrm>
            <a:off x="9216780" y="6528522"/>
            <a:ext cx="2743200" cy="226748"/>
          </a:xfrm>
          <a:prstGeom prst="rect">
            <a:avLst/>
          </a:prstGeom>
        </p:spPr>
        <p:txBody>
          <a:bodyPr vert="horz" lIns="0" tIns="0" rIns="0" bIns="0" rtlCol="0" anchor="b"/>
          <a:lstStyle>
            <a:defPPr>
              <a:defRPr lang="en-US"/>
            </a:defPPr>
            <a:lvl1pPr marL="0" algn="r" defTabSz="914400" rtl="0" eaLnBrk="1" latinLnBrk="0" hangingPunct="1">
              <a:defRPr sz="1050" b="0" i="0" kern="1200">
                <a:solidFill>
                  <a:srgbClr val="4C4C92"/>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396CDF3-4848-744E-BF0D-3AA041748586}" type="slidenum">
              <a:rPr lang="en-US" sz="700" b="0" i="0" smtClean="0">
                <a:solidFill>
                  <a:schemeClr val="bg1">
                    <a:lumMod val="50000"/>
                  </a:schemeClr>
                </a:solidFill>
                <a:latin typeface="Aptos Light" panose="020B0004020202020204" pitchFamily="34" charset="0"/>
              </a:rPr>
              <a:pPr/>
              <a:t>‹#›</a:t>
            </a:fld>
            <a:endParaRPr lang="en-US" sz="700" b="0" i="0" dirty="0">
              <a:solidFill>
                <a:schemeClr val="bg1">
                  <a:lumMod val="50000"/>
                </a:schemeClr>
              </a:solidFill>
              <a:latin typeface="Aptos Light" panose="020B0004020202020204" pitchFamily="34" charset="0"/>
            </a:endParaRPr>
          </a:p>
        </p:txBody>
      </p:sp>
      <p:pic>
        <p:nvPicPr>
          <p:cNvPr id="7" name="Picture 6">
            <a:extLst>
              <a:ext uri="{FF2B5EF4-FFF2-40B4-BE49-F238E27FC236}">
                <a16:creationId xmlns:a16="http://schemas.microsoft.com/office/drawing/2014/main" id="{9E354AC6-6049-8893-F9A7-5A0C88972F01}"/>
              </a:ext>
            </a:extLst>
          </p:cNvPr>
          <p:cNvPicPr>
            <a:picLocks noChangeAspect="1"/>
          </p:cNvPicPr>
          <p:nvPr userDrawn="1"/>
        </p:nvPicPr>
        <p:blipFill>
          <a:blip r:embed="rId10"/>
          <a:srcRect/>
          <a:stretch/>
        </p:blipFill>
        <p:spPr>
          <a:xfrm>
            <a:off x="0" y="0"/>
            <a:ext cx="12192000" cy="6858000"/>
          </a:xfrm>
          <a:prstGeom prst="rect">
            <a:avLst/>
          </a:prstGeom>
        </p:spPr>
      </p:pic>
      <p:sp>
        <p:nvSpPr>
          <p:cNvPr id="10" name="Title Placeholder 1">
            <a:extLst>
              <a:ext uri="{FF2B5EF4-FFF2-40B4-BE49-F238E27FC236}">
                <a16:creationId xmlns:a16="http://schemas.microsoft.com/office/drawing/2014/main" id="{2E91CC50-BB4E-E277-28EA-2404135C1A63}"/>
              </a:ext>
            </a:extLst>
          </p:cNvPr>
          <p:cNvSpPr>
            <a:spLocks noGrp="1"/>
          </p:cNvSpPr>
          <p:nvPr>
            <p:ph type="title"/>
          </p:nvPr>
        </p:nvSpPr>
        <p:spPr>
          <a:xfrm>
            <a:off x="339049" y="755332"/>
            <a:ext cx="7777514" cy="306622"/>
          </a:xfrm>
          <a:prstGeom prst="rect">
            <a:avLst/>
          </a:prstGeom>
        </p:spPr>
        <p:txBody>
          <a:bodyPr vert="horz" wrap="square" lIns="0" tIns="0" rIns="0" bIns="0" rtlCol="0" anchor="b">
            <a:spAutoFit/>
          </a:bodyPr>
          <a:lstStyle/>
          <a:p>
            <a:r>
              <a:rPr lang="en-GB" dirty="0"/>
              <a:t> Click to edit Master title style</a:t>
            </a:r>
            <a:endParaRPr lang="en-US" dirty="0"/>
          </a:p>
        </p:txBody>
      </p:sp>
      <p:sp>
        <p:nvSpPr>
          <p:cNvPr id="11" name="Footer Placeholder 3">
            <a:extLst>
              <a:ext uri="{FF2B5EF4-FFF2-40B4-BE49-F238E27FC236}">
                <a16:creationId xmlns:a16="http://schemas.microsoft.com/office/drawing/2014/main" id="{4481FA76-9A77-6AFF-672B-FBA618D77E6E}"/>
              </a:ext>
            </a:extLst>
          </p:cNvPr>
          <p:cNvSpPr txBox="1">
            <a:spLocks/>
          </p:cNvSpPr>
          <p:nvPr userDrawn="1"/>
        </p:nvSpPr>
        <p:spPr>
          <a:xfrm>
            <a:off x="290431" y="6570232"/>
            <a:ext cx="8022127" cy="121356"/>
          </a:xfrm>
          <a:prstGeom prst="rect">
            <a:avLst/>
          </a:prstGeom>
        </p:spPr>
        <p:txBody>
          <a:bodyPr lIns="0" tIns="0" rIns="0" bIns="0"/>
          <a:lstStyle>
            <a:defPPr>
              <a:defRPr lang="en-US"/>
            </a:defPPr>
            <a:lvl1pPr marL="0" algn="l" defTabSz="914400" rtl="0" eaLnBrk="1" latinLnBrk="0" hangingPunct="1">
              <a:defRPr sz="1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700" b="0" i="0" dirty="0">
                <a:solidFill>
                  <a:schemeClr val="bg1">
                    <a:lumMod val="50000"/>
                  </a:schemeClr>
                </a:solidFill>
                <a:latin typeface="Aptos Light" panose="020B0004020202020204" pitchFamily="34" charset="0"/>
              </a:rPr>
              <a:t>IIFL Capital Services Limited Formerly Known as IIFL Securities Limited   |   Strictly Private And Confidential – Do Not Reproduce or Distribute Without Consent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700" b="0" i="0" dirty="0">
              <a:solidFill>
                <a:schemeClr val="bg1">
                  <a:lumMod val="50000"/>
                </a:schemeClr>
              </a:solidFill>
              <a:latin typeface="Aptos Light" panose="020B0004020202020204" pitchFamily="34" charset="0"/>
            </a:endParaRPr>
          </a:p>
        </p:txBody>
      </p:sp>
      <p:sp>
        <p:nvSpPr>
          <p:cNvPr id="12" name="Slide Number Placeholder 4">
            <a:extLst>
              <a:ext uri="{FF2B5EF4-FFF2-40B4-BE49-F238E27FC236}">
                <a16:creationId xmlns:a16="http://schemas.microsoft.com/office/drawing/2014/main" id="{DD0914BD-5C99-0920-35F7-AD1E7C3F94D9}"/>
              </a:ext>
            </a:extLst>
          </p:cNvPr>
          <p:cNvSpPr txBox="1">
            <a:spLocks/>
          </p:cNvSpPr>
          <p:nvPr userDrawn="1"/>
        </p:nvSpPr>
        <p:spPr>
          <a:xfrm>
            <a:off x="9216780" y="6467844"/>
            <a:ext cx="2743200" cy="226748"/>
          </a:xfrm>
          <a:prstGeom prst="rect">
            <a:avLst/>
          </a:prstGeom>
        </p:spPr>
        <p:txBody>
          <a:bodyPr vert="horz" lIns="0" tIns="0" rIns="0" bIns="0" rtlCol="0" anchor="b"/>
          <a:lstStyle>
            <a:defPPr>
              <a:defRPr lang="en-US"/>
            </a:defPPr>
            <a:lvl1pPr marL="0" algn="r" defTabSz="914400" rtl="0" eaLnBrk="1" latinLnBrk="0" hangingPunct="1">
              <a:defRPr sz="1050" b="0" i="0" kern="1200">
                <a:solidFill>
                  <a:srgbClr val="4C4C92"/>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396CDF3-4848-744E-BF0D-3AA041748586}" type="slidenum">
              <a:rPr lang="en-US" sz="700" b="0" i="0" smtClean="0">
                <a:solidFill>
                  <a:schemeClr val="bg1">
                    <a:lumMod val="50000"/>
                  </a:schemeClr>
                </a:solidFill>
                <a:latin typeface="Aptos Light" panose="020B0004020202020204" pitchFamily="34" charset="0"/>
              </a:rPr>
              <a:pPr/>
              <a:t>‹#›</a:t>
            </a:fld>
            <a:endParaRPr lang="en-US" sz="700" b="0" i="0" dirty="0">
              <a:solidFill>
                <a:schemeClr val="bg1">
                  <a:lumMod val="50000"/>
                </a:schemeClr>
              </a:solidFill>
              <a:latin typeface="Aptos Light" panose="020B0004020202020204" pitchFamily="34" charset="0"/>
            </a:endParaRPr>
          </a:p>
        </p:txBody>
      </p:sp>
      <p:pic>
        <p:nvPicPr>
          <p:cNvPr id="2" name="Picture 1">
            <a:extLst>
              <a:ext uri="{FF2B5EF4-FFF2-40B4-BE49-F238E27FC236}">
                <a16:creationId xmlns:a16="http://schemas.microsoft.com/office/drawing/2014/main" id="{1E61B5BD-2A44-46AA-B646-A03F6E8EAD78}"/>
              </a:ext>
            </a:extLst>
          </p:cNvPr>
          <p:cNvPicPr>
            <a:picLocks noChangeAspect="1"/>
          </p:cNvPicPr>
          <p:nvPr userDrawn="1"/>
        </p:nvPicPr>
        <p:blipFill>
          <a:blip r:embed="rId11"/>
          <a:srcRect/>
          <a:stretch/>
        </p:blipFill>
        <p:spPr>
          <a:xfrm>
            <a:off x="9658604" y="232939"/>
            <a:ext cx="2451839" cy="783658"/>
          </a:xfrm>
          <a:prstGeom prst="rect">
            <a:avLst/>
          </a:prstGeom>
        </p:spPr>
      </p:pic>
    </p:spTree>
    <p:extLst>
      <p:ext uri="{BB962C8B-B14F-4D97-AF65-F5344CB8AC3E}">
        <p14:creationId xmlns:p14="http://schemas.microsoft.com/office/powerpoint/2010/main" val="1516902530"/>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Lst>
  <p:txStyles>
    <p:titleStyle>
      <a:lvl1pPr algn="l" defTabSz="914400" rtl="0" eaLnBrk="1" latinLnBrk="0" hangingPunct="1">
        <a:lnSpc>
          <a:spcPct val="90000"/>
        </a:lnSpc>
        <a:spcBef>
          <a:spcPct val="0"/>
        </a:spcBef>
        <a:buNone/>
        <a:defRPr sz="2200" kern="1200">
          <a:solidFill>
            <a:schemeClr val="accent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16D797A-AB8E-CDD5-7169-8D9BC09DE4C1}"/>
              </a:ext>
            </a:extLst>
          </p:cNvPr>
          <p:cNvSpPr txBox="1"/>
          <p:nvPr/>
        </p:nvSpPr>
        <p:spPr>
          <a:xfrm>
            <a:off x="860982" y="3658165"/>
            <a:ext cx="5693228" cy="774636"/>
          </a:xfrm>
          <a:prstGeom prst="rect">
            <a:avLst/>
          </a:prstGeom>
          <a:noFill/>
        </p:spPr>
        <p:txBody>
          <a:bodyPr wrap="square" rtlCol="0">
            <a:spAutoFit/>
          </a:bodyPr>
          <a:lstStyle/>
          <a:p>
            <a:pPr>
              <a:lnSpc>
                <a:spcPts val="5080"/>
              </a:lnSpc>
            </a:pPr>
            <a:r>
              <a:rPr lang="en-US" sz="5400" dirty="0">
                <a:solidFill>
                  <a:schemeClr val="bg1"/>
                </a:solidFill>
              </a:rPr>
              <a:t>IIFL Fintech Fund</a:t>
            </a:r>
          </a:p>
        </p:txBody>
      </p:sp>
      <p:sp>
        <p:nvSpPr>
          <p:cNvPr id="5" name="TextBox 4">
            <a:extLst>
              <a:ext uri="{FF2B5EF4-FFF2-40B4-BE49-F238E27FC236}">
                <a16:creationId xmlns:a16="http://schemas.microsoft.com/office/drawing/2014/main" id="{4EF1C7FB-403B-A131-9465-87B616BCE537}"/>
              </a:ext>
            </a:extLst>
          </p:cNvPr>
          <p:cNvSpPr txBox="1"/>
          <p:nvPr/>
        </p:nvSpPr>
        <p:spPr>
          <a:xfrm>
            <a:off x="903514" y="4220395"/>
            <a:ext cx="10643444" cy="1525289"/>
          </a:xfrm>
          <a:prstGeom prst="rect">
            <a:avLst/>
          </a:prstGeom>
          <a:noFill/>
        </p:spPr>
        <p:txBody>
          <a:bodyPr wrap="square" lIns="91440" tIns="45720" rIns="91440" bIns="45720" rtlCol="0" anchor="t">
            <a:spAutoFit/>
          </a:bodyPr>
          <a:lstStyle/>
          <a:p>
            <a:pPr>
              <a:lnSpc>
                <a:spcPct val="150000"/>
              </a:lnSpc>
            </a:pPr>
            <a:r>
              <a:rPr lang="en-US" sz="1600" dirty="0">
                <a:solidFill>
                  <a:schemeClr val="bg1"/>
                </a:solidFill>
              </a:rPr>
              <a:t>(Formerly known as IIFL Securities Capital Enhancer Fund)</a:t>
            </a:r>
            <a:endParaRPr lang="en-US" sz="2800" dirty="0">
              <a:solidFill>
                <a:schemeClr val="bg1"/>
              </a:solidFill>
            </a:endParaRPr>
          </a:p>
          <a:p>
            <a:pPr>
              <a:lnSpc>
                <a:spcPct val="150000"/>
              </a:lnSpc>
            </a:pPr>
            <a:endParaRPr lang="en-US" sz="2800" b="1" dirty="0">
              <a:solidFill>
                <a:schemeClr val="bg1"/>
              </a:solidFill>
            </a:endParaRPr>
          </a:p>
          <a:p>
            <a:pPr>
              <a:lnSpc>
                <a:spcPct val="150000"/>
              </a:lnSpc>
            </a:pPr>
            <a:r>
              <a:rPr lang="en-US" sz="2000" b="1" dirty="0">
                <a:solidFill>
                  <a:schemeClr val="bg1"/>
                </a:solidFill>
              </a:rPr>
              <a:t>Q4 FY26 Newsletter</a:t>
            </a:r>
          </a:p>
        </p:txBody>
      </p:sp>
      <p:grpSp>
        <p:nvGrpSpPr>
          <p:cNvPr id="9" name="Group 8">
            <a:extLst>
              <a:ext uri="{FF2B5EF4-FFF2-40B4-BE49-F238E27FC236}">
                <a16:creationId xmlns:a16="http://schemas.microsoft.com/office/drawing/2014/main" id="{69EF959C-DA30-84E7-ECD7-3FAF91A1A8A8}"/>
              </a:ext>
            </a:extLst>
          </p:cNvPr>
          <p:cNvGrpSpPr/>
          <p:nvPr/>
        </p:nvGrpSpPr>
        <p:grpSpPr>
          <a:xfrm>
            <a:off x="990600" y="5718170"/>
            <a:ext cx="10210800" cy="178206"/>
            <a:chOff x="903514" y="6030686"/>
            <a:chExt cx="10210800" cy="178206"/>
          </a:xfrm>
        </p:grpSpPr>
        <p:cxnSp>
          <p:nvCxnSpPr>
            <p:cNvPr id="7" name="Straight Connector 6">
              <a:extLst>
                <a:ext uri="{FF2B5EF4-FFF2-40B4-BE49-F238E27FC236}">
                  <a16:creationId xmlns:a16="http://schemas.microsoft.com/office/drawing/2014/main" id="{9E856BF1-E45C-1D89-5821-F4B3C871C137}"/>
                </a:ext>
              </a:extLst>
            </p:cNvPr>
            <p:cNvCxnSpPr/>
            <p:nvPr/>
          </p:nvCxnSpPr>
          <p:spPr>
            <a:xfrm>
              <a:off x="903514" y="6128657"/>
              <a:ext cx="10210800" cy="0"/>
            </a:xfrm>
            <a:prstGeom prst="line">
              <a:avLst/>
            </a:prstGeom>
            <a:ln w="9525"/>
          </p:spPr>
          <p:style>
            <a:lnRef idx="1">
              <a:schemeClr val="accent6"/>
            </a:lnRef>
            <a:fillRef idx="0">
              <a:schemeClr val="accent6"/>
            </a:fillRef>
            <a:effectRef idx="0">
              <a:schemeClr val="accent6"/>
            </a:effectRef>
            <a:fontRef idx="minor">
              <a:schemeClr val="tx1"/>
            </a:fontRef>
          </p:style>
        </p:cxnSp>
        <p:sp>
          <p:nvSpPr>
            <p:cNvPr id="8" name="Rounded Rectangle 7">
              <a:extLst>
                <a:ext uri="{FF2B5EF4-FFF2-40B4-BE49-F238E27FC236}">
                  <a16:creationId xmlns:a16="http://schemas.microsoft.com/office/drawing/2014/main" id="{6DA94B79-75EF-E0F2-39B3-218140CDE590}"/>
                </a:ext>
              </a:extLst>
            </p:cNvPr>
            <p:cNvSpPr/>
            <p:nvPr/>
          </p:nvSpPr>
          <p:spPr>
            <a:xfrm>
              <a:off x="10138611" y="6030686"/>
              <a:ext cx="975703" cy="178206"/>
            </a:xfrm>
            <a:prstGeom prst="roundRect">
              <a:avLst>
                <a:gd name="adj" fmla="val 50000"/>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783264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E9203-20DF-C6F3-78DB-7E244AC7AB12}"/>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252E37A6-9801-92CA-CFA2-E87F8734E2B4}"/>
              </a:ext>
            </a:extLst>
          </p:cNvPr>
          <p:cNvGrpSpPr/>
          <p:nvPr/>
        </p:nvGrpSpPr>
        <p:grpSpPr>
          <a:xfrm>
            <a:off x="871428" y="4821224"/>
            <a:ext cx="8891336" cy="106640"/>
            <a:chOff x="2222978" y="6072151"/>
            <a:chExt cx="8891336" cy="106640"/>
          </a:xfrm>
          <a:solidFill>
            <a:schemeClr val="accent2"/>
          </a:solidFill>
        </p:grpSpPr>
        <p:cxnSp>
          <p:nvCxnSpPr>
            <p:cNvPr id="4" name="Straight Connector 3">
              <a:extLst>
                <a:ext uri="{FF2B5EF4-FFF2-40B4-BE49-F238E27FC236}">
                  <a16:creationId xmlns:a16="http://schemas.microsoft.com/office/drawing/2014/main" id="{64E9358D-6F71-2D79-6034-59D213D5D14B}"/>
                </a:ext>
              </a:extLst>
            </p:cNvPr>
            <p:cNvCxnSpPr>
              <a:cxnSpLocks/>
            </p:cNvCxnSpPr>
            <p:nvPr/>
          </p:nvCxnSpPr>
          <p:spPr>
            <a:xfrm>
              <a:off x="2222978" y="6128657"/>
              <a:ext cx="8891336" cy="0"/>
            </a:xfrm>
            <a:prstGeom prst="line">
              <a:avLst/>
            </a:prstGeom>
            <a:grpFill/>
            <a:ln w="9525">
              <a:solidFill>
                <a:schemeClr val="accent2"/>
              </a:solidFill>
            </a:ln>
          </p:spPr>
          <p:style>
            <a:lnRef idx="1">
              <a:schemeClr val="accent6"/>
            </a:lnRef>
            <a:fillRef idx="0">
              <a:schemeClr val="accent6"/>
            </a:fillRef>
            <a:effectRef idx="0">
              <a:schemeClr val="accent6"/>
            </a:effectRef>
            <a:fontRef idx="minor">
              <a:schemeClr val="tx1"/>
            </a:fontRef>
          </p:style>
        </p:cxnSp>
        <p:sp>
          <p:nvSpPr>
            <p:cNvPr id="5" name="Rounded Rectangle 4">
              <a:extLst>
                <a:ext uri="{FF2B5EF4-FFF2-40B4-BE49-F238E27FC236}">
                  <a16:creationId xmlns:a16="http://schemas.microsoft.com/office/drawing/2014/main" id="{CD6AEC8D-06DD-60C1-D04A-CFA07587166C}"/>
                </a:ext>
              </a:extLst>
            </p:cNvPr>
            <p:cNvSpPr/>
            <p:nvPr/>
          </p:nvSpPr>
          <p:spPr>
            <a:xfrm>
              <a:off x="10358984" y="6072151"/>
              <a:ext cx="755330" cy="106640"/>
            </a:xfrm>
            <a:prstGeom prst="roundRect">
              <a:avLst>
                <a:gd name="adj" fmla="val 50000"/>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grpSp>
      <p:sp>
        <p:nvSpPr>
          <p:cNvPr id="6" name="TextBox 5">
            <a:extLst>
              <a:ext uri="{FF2B5EF4-FFF2-40B4-BE49-F238E27FC236}">
                <a16:creationId xmlns:a16="http://schemas.microsoft.com/office/drawing/2014/main" id="{3F492E6F-7C01-C4F1-1DD5-9E9EA079DA90}"/>
              </a:ext>
            </a:extLst>
          </p:cNvPr>
          <p:cNvSpPr txBox="1"/>
          <p:nvPr/>
        </p:nvSpPr>
        <p:spPr>
          <a:xfrm>
            <a:off x="743092" y="2754348"/>
            <a:ext cx="6880866" cy="1754326"/>
          </a:xfrm>
          <a:prstGeom prst="rect">
            <a:avLst/>
          </a:prstGeom>
          <a:noFill/>
        </p:spPr>
        <p:txBody>
          <a:bodyPr wrap="square" rtlCol="0">
            <a:spAutoFit/>
          </a:bodyPr>
          <a:lstStyle/>
          <a:p>
            <a:r>
              <a:rPr lang="en-IN" sz="5400"/>
              <a:t>Update </a:t>
            </a:r>
            <a:r>
              <a:rPr lang="en-US" sz="5400"/>
              <a:t>-</a:t>
            </a:r>
            <a:r>
              <a:rPr lang="el-GR" sz="5400"/>
              <a:t> </a:t>
            </a:r>
            <a:r>
              <a:rPr lang="en-IN" sz="5400"/>
              <a:t>Portfolio Companies</a:t>
            </a:r>
          </a:p>
        </p:txBody>
      </p:sp>
      <p:sp>
        <p:nvSpPr>
          <p:cNvPr id="15" name="Footer Placeholder 3">
            <a:extLst>
              <a:ext uri="{FF2B5EF4-FFF2-40B4-BE49-F238E27FC236}">
                <a16:creationId xmlns:a16="http://schemas.microsoft.com/office/drawing/2014/main" id="{F3D025E8-74B3-46F7-E454-7381DE260189}"/>
              </a:ext>
            </a:extLst>
          </p:cNvPr>
          <p:cNvSpPr txBox="1">
            <a:spLocks/>
          </p:cNvSpPr>
          <p:nvPr/>
        </p:nvSpPr>
        <p:spPr>
          <a:xfrm>
            <a:off x="290431" y="6630910"/>
            <a:ext cx="8022127" cy="121356"/>
          </a:xfrm>
          <a:prstGeom prst="rect">
            <a:avLst/>
          </a:prstGeom>
        </p:spPr>
        <p:txBody>
          <a:bodyPr lIns="0" tIns="0" rIns="0" bIns="0"/>
          <a:lstStyle>
            <a:defPPr>
              <a:defRPr lang="en-US"/>
            </a:defPPr>
            <a:lvl1pPr marL="0" algn="l" defTabSz="914400" rtl="0" eaLnBrk="1" latinLnBrk="0" hangingPunct="1">
              <a:defRPr sz="1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700" b="0" i="0">
                <a:solidFill>
                  <a:schemeClr val="bg1">
                    <a:lumMod val="50000"/>
                  </a:schemeClr>
                </a:solidFill>
                <a:latin typeface="Aptos Light" panose="020B0004020202020204" pitchFamily="34" charset="0"/>
              </a:rPr>
              <a:t>IIFL Capital Services Limited Formerly Known as IIFL Securities Limited   |   Strictly Private And Confidential – Do Not Reproduce or Distribute Without Consent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700" b="0" i="0">
              <a:solidFill>
                <a:schemeClr val="bg1">
                  <a:lumMod val="50000"/>
                </a:schemeClr>
              </a:solidFill>
              <a:latin typeface="Aptos Light" panose="020B0004020202020204" pitchFamily="34" charset="0"/>
            </a:endParaRPr>
          </a:p>
        </p:txBody>
      </p:sp>
      <p:sp>
        <p:nvSpPr>
          <p:cNvPr id="16" name="Slide Number Placeholder 4">
            <a:extLst>
              <a:ext uri="{FF2B5EF4-FFF2-40B4-BE49-F238E27FC236}">
                <a16:creationId xmlns:a16="http://schemas.microsoft.com/office/drawing/2014/main" id="{8C397AE0-EF6D-AA3E-1127-1AF3FB9C2D8E}"/>
              </a:ext>
            </a:extLst>
          </p:cNvPr>
          <p:cNvSpPr txBox="1">
            <a:spLocks/>
          </p:cNvSpPr>
          <p:nvPr/>
        </p:nvSpPr>
        <p:spPr>
          <a:xfrm>
            <a:off x="9216780" y="6528522"/>
            <a:ext cx="2743200" cy="226748"/>
          </a:xfrm>
          <a:prstGeom prst="rect">
            <a:avLst/>
          </a:prstGeom>
        </p:spPr>
        <p:txBody>
          <a:bodyPr vert="horz" lIns="0" tIns="0" rIns="0" bIns="0" rtlCol="0" anchor="b"/>
          <a:lstStyle>
            <a:defPPr>
              <a:defRPr lang="en-US"/>
            </a:defPPr>
            <a:lvl1pPr marL="0" algn="r" defTabSz="914400" rtl="0" eaLnBrk="1" latinLnBrk="0" hangingPunct="1">
              <a:defRPr sz="1050" b="0" i="0" kern="1200">
                <a:solidFill>
                  <a:srgbClr val="4C4C92"/>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396CDF3-4848-744E-BF0D-3AA041748586}" type="slidenum">
              <a:rPr lang="en-US" sz="700" b="0" i="0" smtClean="0">
                <a:solidFill>
                  <a:schemeClr val="bg1">
                    <a:lumMod val="50000"/>
                  </a:schemeClr>
                </a:solidFill>
                <a:latin typeface="Aptos Light" panose="020B0004020202020204" pitchFamily="34" charset="0"/>
              </a:rPr>
              <a:pPr/>
              <a:t>2</a:t>
            </a:fld>
            <a:endParaRPr lang="en-US" sz="700" b="0" i="0">
              <a:solidFill>
                <a:schemeClr val="bg1">
                  <a:lumMod val="50000"/>
                </a:schemeClr>
              </a:solidFill>
              <a:latin typeface="Aptos Light" panose="020B0004020202020204" pitchFamily="34" charset="0"/>
            </a:endParaRPr>
          </a:p>
        </p:txBody>
      </p:sp>
      <p:sp>
        <p:nvSpPr>
          <p:cNvPr id="10" name="TextBox 9">
            <a:extLst>
              <a:ext uri="{FF2B5EF4-FFF2-40B4-BE49-F238E27FC236}">
                <a16:creationId xmlns:a16="http://schemas.microsoft.com/office/drawing/2014/main" id="{5513D654-9998-56C1-96C8-5F61AB4FE738}"/>
              </a:ext>
            </a:extLst>
          </p:cNvPr>
          <p:cNvSpPr txBox="1"/>
          <p:nvPr/>
        </p:nvSpPr>
        <p:spPr>
          <a:xfrm>
            <a:off x="871428" y="5001248"/>
            <a:ext cx="6100762" cy="307777"/>
          </a:xfrm>
          <a:prstGeom prst="rect">
            <a:avLst/>
          </a:prstGeom>
          <a:noFill/>
        </p:spPr>
        <p:txBody>
          <a:bodyPr wrap="square" lIns="91440" tIns="45720" rIns="91440" bIns="45720" anchor="t">
            <a:spAutoFit/>
          </a:bodyPr>
          <a:lstStyle/>
          <a:p>
            <a:r>
              <a:rPr lang="en-IN" sz="1400"/>
              <a:t>Source: Internal</a:t>
            </a:r>
          </a:p>
        </p:txBody>
      </p:sp>
      <p:sp>
        <p:nvSpPr>
          <p:cNvPr id="2" name="TextBox 1">
            <a:extLst>
              <a:ext uri="{FF2B5EF4-FFF2-40B4-BE49-F238E27FC236}">
                <a16:creationId xmlns:a16="http://schemas.microsoft.com/office/drawing/2014/main" id="{73ECAC75-6646-0F59-F38D-B1C1B115430C}"/>
              </a:ext>
            </a:extLst>
          </p:cNvPr>
          <p:cNvSpPr txBox="1"/>
          <p:nvPr/>
        </p:nvSpPr>
        <p:spPr>
          <a:xfrm>
            <a:off x="871428" y="4436803"/>
            <a:ext cx="6100762" cy="369332"/>
          </a:xfrm>
          <a:prstGeom prst="rect">
            <a:avLst/>
          </a:prstGeom>
          <a:noFill/>
        </p:spPr>
        <p:txBody>
          <a:bodyPr wrap="square" lIns="91440" tIns="45720" rIns="91440" bIns="45720" anchor="t">
            <a:spAutoFit/>
          </a:bodyPr>
          <a:lstStyle/>
          <a:p>
            <a:r>
              <a:rPr lang="en-IN"/>
              <a:t>Twelve stories, Three Patterns</a:t>
            </a:r>
          </a:p>
        </p:txBody>
      </p:sp>
    </p:spTree>
    <p:extLst>
      <p:ext uri="{BB962C8B-B14F-4D97-AF65-F5344CB8AC3E}">
        <p14:creationId xmlns:p14="http://schemas.microsoft.com/office/powerpoint/2010/main" val="15892983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2F5A8-4E59-5D6F-14FE-9E7B36FEE710}"/>
              </a:ext>
            </a:extLst>
          </p:cNvPr>
          <p:cNvSpPr>
            <a:spLocks noGrp="1"/>
          </p:cNvSpPr>
          <p:nvPr>
            <p:ph type="title"/>
          </p:nvPr>
        </p:nvSpPr>
        <p:spPr>
          <a:xfrm>
            <a:off x="371557" y="536026"/>
            <a:ext cx="4789380" cy="320217"/>
          </a:xfrm>
        </p:spPr>
        <p:txBody>
          <a:bodyPr/>
          <a:lstStyle/>
          <a:p>
            <a:r>
              <a:rPr lang="en-US"/>
              <a:t>Grey Swift Private Limited - </a:t>
            </a:r>
            <a:r>
              <a:rPr lang="en-US" err="1"/>
              <a:t>Leegality</a:t>
            </a:r>
            <a:endParaRPr lang="en-US"/>
          </a:p>
        </p:txBody>
      </p:sp>
      <p:sp>
        <p:nvSpPr>
          <p:cNvPr id="3" name="TextBox 2">
            <a:extLst>
              <a:ext uri="{FF2B5EF4-FFF2-40B4-BE49-F238E27FC236}">
                <a16:creationId xmlns:a16="http://schemas.microsoft.com/office/drawing/2014/main" id="{06F83182-3852-71A5-6229-3B9D2798478C}"/>
              </a:ext>
            </a:extLst>
          </p:cNvPr>
          <p:cNvSpPr txBox="1"/>
          <p:nvPr/>
        </p:nvSpPr>
        <p:spPr>
          <a:xfrm>
            <a:off x="499141" y="1387387"/>
            <a:ext cx="3450246" cy="320216"/>
          </a:xfrm>
          <a:prstGeom prst="rect">
            <a:avLst/>
          </a:prstGeom>
          <a:noFill/>
        </p:spPr>
        <p:txBody>
          <a:bodyPr wrap="square" rtlCol="0">
            <a:spAutoFit/>
          </a:bodyPr>
          <a:lstStyle/>
          <a:p>
            <a:r>
              <a:rPr lang="en-IN" sz="1481" b="1">
                <a:solidFill>
                  <a:schemeClr val="tx2"/>
                </a:solidFill>
                <a:ea typeface="Lato Regular" panose="020F0502020204030203" pitchFamily="34" charset="0"/>
                <a:cs typeface="Lato Regular" panose="020F0502020204030203" pitchFamily="34" charset="0"/>
              </a:rPr>
              <a:t>Business Description</a:t>
            </a:r>
          </a:p>
        </p:txBody>
      </p:sp>
      <p:sp>
        <p:nvSpPr>
          <p:cNvPr id="4" name="TextBox 3">
            <a:extLst>
              <a:ext uri="{FF2B5EF4-FFF2-40B4-BE49-F238E27FC236}">
                <a16:creationId xmlns:a16="http://schemas.microsoft.com/office/drawing/2014/main" id="{2C677F9F-C213-7585-9E15-6A60CB0A78B3}"/>
              </a:ext>
            </a:extLst>
          </p:cNvPr>
          <p:cNvSpPr txBox="1"/>
          <p:nvPr/>
        </p:nvSpPr>
        <p:spPr>
          <a:xfrm>
            <a:off x="499141" y="3758945"/>
            <a:ext cx="3450246" cy="320216"/>
          </a:xfrm>
          <a:prstGeom prst="rect">
            <a:avLst/>
          </a:prstGeom>
          <a:noFill/>
        </p:spPr>
        <p:txBody>
          <a:bodyPr wrap="square" rtlCol="0">
            <a:spAutoFit/>
          </a:bodyPr>
          <a:lstStyle/>
          <a:p>
            <a:r>
              <a:rPr lang="en-IN" sz="1481" b="1">
                <a:solidFill>
                  <a:schemeClr val="tx2"/>
                </a:solidFill>
                <a:ea typeface="Lato Regular" panose="020F0502020204030203" pitchFamily="34" charset="0"/>
                <a:cs typeface="Lato Regular" panose="020F0502020204030203" pitchFamily="34" charset="0"/>
              </a:rPr>
              <a:t>Performance Commentary</a:t>
            </a:r>
          </a:p>
        </p:txBody>
      </p:sp>
      <p:sp>
        <p:nvSpPr>
          <p:cNvPr id="5" name="TextBox 4">
            <a:extLst>
              <a:ext uri="{FF2B5EF4-FFF2-40B4-BE49-F238E27FC236}">
                <a16:creationId xmlns:a16="http://schemas.microsoft.com/office/drawing/2014/main" id="{C6AB3D46-2028-E02D-6A92-1E09863BF3C5}"/>
              </a:ext>
            </a:extLst>
          </p:cNvPr>
          <p:cNvSpPr txBox="1"/>
          <p:nvPr/>
        </p:nvSpPr>
        <p:spPr>
          <a:xfrm>
            <a:off x="5539984" y="3805112"/>
            <a:ext cx="3450246" cy="227883"/>
          </a:xfrm>
          <a:prstGeom prst="rect">
            <a:avLst/>
          </a:prstGeom>
          <a:noFill/>
        </p:spPr>
        <p:txBody>
          <a:bodyPr wrap="square" lIns="0" tIns="0" rIns="0" bIns="0" rtlCol="0">
            <a:spAutoFit/>
          </a:bodyPr>
          <a:lstStyle/>
          <a:p>
            <a:r>
              <a:rPr lang="en-IN" sz="1481" b="1">
                <a:solidFill>
                  <a:schemeClr val="tx2"/>
                </a:solidFill>
                <a:ea typeface="Lato Regular" panose="020F0502020204030203" pitchFamily="34" charset="0"/>
                <a:cs typeface="Lato Regular" panose="020F0502020204030203" pitchFamily="34" charset="0"/>
              </a:rPr>
              <a:t>Key Financial Highlights</a:t>
            </a:r>
          </a:p>
        </p:txBody>
      </p:sp>
      <p:sp>
        <p:nvSpPr>
          <p:cNvPr id="6" name="TextBox 5">
            <a:extLst>
              <a:ext uri="{FF2B5EF4-FFF2-40B4-BE49-F238E27FC236}">
                <a16:creationId xmlns:a16="http://schemas.microsoft.com/office/drawing/2014/main" id="{5CEDB9E0-7BA4-896E-5EFC-0E01DEE97A8F}"/>
              </a:ext>
            </a:extLst>
          </p:cNvPr>
          <p:cNvSpPr txBox="1"/>
          <p:nvPr/>
        </p:nvSpPr>
        <p:spPr>
          <a:xfrm>
            <a:off x="5539984" y="1433554"/>
            <a:ext cx="3607078" cy="227883"/>
          </a:xfrm>
          <a:prstGeom prst="rect">
            <a:avLst/>
          </a:prstGeom>
          <a:noFill/>
        </p:spPr>
        <p:txBody>
          <a:bodyPr wrap="square" lIns="0" tIns="0" rIns="0" bIns="0" rtlCol="0">
            <a:spAutoFit/>
          </a:bodyPr>
          <a:lstStyle/>
          <a:p>
            <a:r>
              <a:rPr lang="en-IN" sz="1481" b="1">
                <a:solidFill>
                  <a:schemeClr val="tx2"/>
                </a:solidFill>
                <a:ea typeface="Lato Regular" panose="020F0502020204030203" pitchFamily="34" charset="0"/>
                <a:cs typeface="Lato Regular" panose="020F0502020204030203" pitchFamily="34" charset="0"/>
              </a:rPr>
              <a:t>Key Performance Indicators</a:t>
            </a:r>
          </a:p>
        </p:txBody>
      </p:sp>
      <p:sp>
        <p:nvSpPr>
          <p:cNvPr id="7" name="Rectangle 6">
            <a:extLst>
              <a:ext uri="{FF2B5EF4-FFF2-40B4-BE49-F238E27FC236}">
                <a16:creationId xmlns:a16="http://schemas.microsoft.com/office/drawing/2014/main" id="{116BB3CC-1AB3-8190-3336-4E4F910D7E02}"/>
              </a:ext>
            </a:extLst>
          </p:cNvPr>
          <p:cNvSpPr/>
          <p:nvPr/>
        </p:nvSpPr>
        <p:spPr>
          <a:xfrm>
            <a:off x="562116" y="1815136"/>
            <a:ext cx="4195514" cy="1661993"/>
          </a:xfrm>
          <a:prstGeom prst="rect">
            <a:avLst/>
          </a:prstGeom>
        </p:spPr>
        <p:txBody>
          <a:bodyPr wrap="square" lIns="0" tIns="0" rIns="0" bIns="0">
            <a:spAutoFit/>
          </a:bodyPr>
          <a:lstStyle/>
          <a:p>
            <a:pPr marL="171450" indent="-171450" algn="just">
              <a:buFont typeface="Arial" panose="020B0604020202020204" pitchFamily="34" charset="0"/>
              <a:buChar char="•"/>
            </a:pPr>
            <a:r>
              <a:rPr lang="en-US" sz="1200" err="1">
                <a:solidFill>
                  <a:schemeClr val="bg2">
                    <a:lumMod val="10000"/>
                  </a:schemeClr>
                </a:solidFill>
                <a:ea typeface="Calibri"/>
                <a:cs typeface="Calibri"/>
                <a:sym typeface="Calibri"/>
              </a:rPr>
              <a:t>Leegality</a:t>
            </a:r>
            <a:r>
              <a:rPr lang="en-US" sz="1200">
                <a:solidFill>
                  <a:schemeClr val="bg2">
                    <a:lumMod val="10000"/>
                  </a:schemeClr>
                </a:solidFill>
                <a:ea typeface="Calibri"/>
                <a:cs typeface="Calibri"/>
                <a:sym typeface="Calibri"/>
              </a:rPr>
              <a:t> is a platform for digital business documentation.</a:t>
            </a:r>
          </a:p>
          <a:p>
            <a:pPr marL="171450" indent="-171450" algn="just">
              <a:buFont typeface="Arial" panose="020B0604020202020204" pitchFamily="34" charset="0"/>
              <a:buChar char="•"/>
            </a:pPr>
            <a:r>
              <a:rPr lang="en-US" sz="1200">
                <a:solidFill>
                  <a:schemeClr val="bg2">
                    <a:lumMod val="10000"/>
                  </a:schemeClr>
                </a:solidFill>
                <a:ea typeface="Calibri"/>
                <a:cs typeface="Calibri"/>
                <a:sym typeface="Calibri"/>
              </a:rPr>
              <a:t>They provide secure, legally acceptable, tamper-proof, efficient Aadhaar e-Sign and e-Stamping facilities to businesses. </a:t>
            </a:r>
          </a:p>
          <a:p>
            <a:pPr marL="171450" indent="-171450" algn="just">
              <a:buFont typeface="Arial" panose="020B0604020202020204" pitchFamily="34" charset="0"/>
              <a:buChar char="•"/>
            </a:pPr>
            <a:r>
              <a:rPr lang="en-US" sz="1200">
                <a:solidFill>
                  <a:schemeClr val="bg2">
                    <a:lumMod val="10000"/>
                  </a:schemeClr>
                </a:solidFill>
                <a:ea typeface="Calibri"/>
                <a:cs typeface="Calibri"/>
                <a:sym typeface="Calibri"/>
              </a:rPr>
              <a:t>Company is at the forefront in digital legal documentation processes. </a:t>
            </a:r>
          </a:p>
          <a:p>
            <a:pPr marL="171450" indent="-171450" algn="just">
              <a:buFont typeface="Arial" panose="020B0604020202020204" pitchFamily="34" charset="0"/>
              <a:buChar char="•"/>
            </a:pPr>
            <a:r>
              <a:rPr lang="en-US" sz="1200">
                <a:solidFill>
                  <a:schemeClr val="bg2">
                    <a:lumMod val="10000"/>
                  </a:schemeClr>
                </a:solidFill>
                <a:ea typeface="Calibri"/>
                <a:cs typeface="Calibri"/>
                <a:sym typeface="Calibri"/>
              </a:rPr>
              <a:t>It has ready to use integrations with leading E-KYC, LOS/LMS. </a:t>
            </a:r>
          </a:p>
          <a:p>
            <a:pPr marL="171450" indent="-171450" algn="just">
              <a:buFont typeface="Arial" panose="020B0604020202020204" pitchFamily="34" charset="0"/>
              <a:buChar char="•"/>
            </a:pPr>
            <a:r>
              <a:rPr lang="en-US" sz="1200">
                <a:solidFill>
                  <a:schemeClr val="bg2">
                    <a:lumMod val="10000"/>
                  </a:schemeClr>
                </a:solidFill>
                <a:ea typeface="Calibri"/>
                <a:cs typeface="Calibri"/>
                <a:sym typeface="Calibri"/>
              </a:rPr>
              <a:t>Company has integrated with most fintech's and financial </a:t>
            </a:r>
            <a:br>
              <a:rPr lang="en-US" sz="1200">
                <a:solidFill>
                  <a:schemeClr val="bg2">
                    <a:lumMod val="10000"/>
                  </a:schemeClr>
                </a:solidFill>
                <a:ea typeface="Calibri"/>
                <a:cs typeface="Calibri"/>
                <a:sym typeface="Calibri"/>
              </a:rPr>
            </a:br>
            <a:r>
              <a:rPr lang="en-US" sz="1200">
                <a:solidFill>
                  <a:schemeClr val="bg2">
                    <a:lumMod val="10000"/>
                  </a:schemeClr>
                </a:solidFill>
                <a:ea typeface="Calibri"/>
                <a:cs typeface="Calibri"/>
                <a:sym typeface="Calibri"/>
              </a:rPr>
              <a:t>h company in India. </a:t>
            </a:r>
          </a:p>
        </p:txBody>
      </p:sp>
      <p:pic>
        <p:nvPicPr>
          <p:cNvPr id="8" name="Picture 7">
            <a:extLst>
              <a:ext uri="{FF2B5EF4-FFF2-40B4-BE49-F238E27FC236}">
                <a16:creationId xmlns:a16="http://schemas.microsoft.com/office/drawing/2014/main" id="{8AF51FD4-4CB3-D375-68D2-3ECDE20C69F1}"/>
              </a:ext>
            </a:extLst>
          </p:cNvPr>
          <p:cNvPicPr>
            <a:picLocks noChangeAspect="1"/>
          </p:cNvPicPr>
          <p:nvPr/>
        </p:nvPicPr>
        <p:blipFill>
          <a:blip r:embed="rId3"/>
          <a:stretch>
            <a:fillRect/>
          </a:stretch>
        </p:blipFill>
        <p:spPr>
          <a:xfrm>
            <a:off x="5160937" y="372140"/>
            <a:ext cx="1629042" cy="484103"/>
          </a:xfrm>
          <a:prstGeom prst="rect">
            <a:avLst/>
          </a:prstGeom>
        </p:spPr>
      </p:pic>
      <p:graphicFrame>
        <p:nvGraphicFramePr>
          <p:cNvPr id="13" name="Table 12">
            <a:extLst>
              <a:ext uri="{FF2B5EF4-FFF2-40B4-BE49-F238E27FC236}">
                <a16:creationId xmlns:a16="http://schemas.microsoft.com/office/drawing/2014/main" id="{5C13BCC1-A524-4EF2-F6E6-BCB5C95B59B1}"/>
              </a:ext>
            </a:extLst>
          </p:cNvPr>
          <p:cNvGraphicFramePr>
            <a:graphicFrameLocks noGrp="1"/>
          </p:cNvGraphicFramePr>
          <p:nvPr>
            <p:extLst>
              <p:ext uri="{D42A27DB-BD31-4B8C-83A1-F6EECF244321}">
                <p14:modId xmlns:p14="http://schemas.microsoft.com/office/powerpoint/2010/main" val="3408574358"/>
              </p:ext>
            </p:extLst>
          </p:nvPr>
        </p:nvGraphicFramePr>
        <p:xfrm>
          <a:off x="5539984" y="1815207"/>
          <a:ext cx="5765845" cy="1728932"/>
        </p:xfrm>
        <a:graphic>
          <a:graphicData uri="http://schemas.openxmlformats.org/drawingml/2006/table">
            <a:tbl>
              <a:tblPr firstRow="1" bandRow="1">
                <a:tableStyleId>{69012ECD-51FC-41F1-AA8D-1B2483CD663E}</a:tableStyleId>
              </a:tblPr>
              <a:tblGrid>
                <a:gridCol w="1886155">
                  <a:extLst>
                    <a:ext uri="{9D8B030D-6E8A-4147-A177-3AD203B41FA5}">
                      <a16:colId xmlns:a16="http://schemas.microsoft.com/office/drawing/2014/main" val="3001066899"/>
                    </a:ext>
                  </a:extLst>
                </a:gridCol>
                <a:gridCol w="775938">
                  <a:extLst>
                    <a:ext uri="{9D8B030D-6E8A-4147-A177-3AD203B41FA5}">
                      <a16:colId xmlns:a16="http://schemas.microsoft.com/office/drawing/2014/main" val="700748351"/>
                    </a:ext>
                  </a:extLst>
                </a:gridCol>
                <a:gridCol w="775938">
                  <a:extLst>
                    <a:ext uri="{9D8B030D-6E8A-4147-A177-3AD203B41FA5}">
                      <a16:colId xmlns:a16="http://schemas.microsoft.com/office/drawing/2014/main" val="3274968397"/>
                    </a:ext>
                  </a:extLst>
                </a:gridCol>
                <a:gridCol w="775938">
                  <a:extLst>
                    <a:ext uri="{9D8B030D-6E8A-4147-A177-3AD203B41FA5}">
                      <a16:colId xmlns:a16="http://schemas.microsoft.com/office/drawing/2014/main" val="3607597589"/>
                    </a:ext>
                  </a:extLst>
                </a:gridCol>
                <a:gridCol w="775938">
                  <a:extLst>
                    <a:ext uri="{9D8B030D-6E8A-4147-A177-3AD203B41FA5}">
                      <a16:colId xmlns:a16="http://schemas.microsoft.com/office/drawing/2014/main" val="746035582"/>
                    </a:ext>
                  </a:extLst>
                </a:gridCol>
                <a:gridCol w="775938">
                  <a:extLst>
                    <a:ext uri="{9D8B030D-6E8A-4147-A177-3AD203B41FA5}">
                      <a16:colId xmlns:a16="http://schemas.microsoft.com/office/drawing/2014/main" val="230250461"/>
                    </a:ext>
                  </a:extLst>
                </a:gridCol>
              </a:tblGrid>
              <a:tr h="262575">
                <a:tc>
                  <a:txBody>
                    <a:bodyPr/>
                    <a:lstStyle/>
                    <a:p>
                      <a:pPr algn="l" fontAlgn="b">
                        <a:buNone/>
                      </a:pPr>
                      <a:r>
                        <a:rPr lang="en-US" sz="1050" b="1" u="none" strike="noStrike">
                          <a:solidFill>
                            <a:schemeClr val="bg1"/>
                          </a:solidFill>
                          <a:effectLst/>
                          <a:latin typeface="+mn-lt"/>
                          <a:ea typeface="Lato Regular" panose="020F0502020204030203" pitchFamily="34" charset="0"/>
                          <a:cs typeface="Lato Regular" panose="020F0502020204030203" pitchFamily="34" charset="0"/>
                        </a:rPr>
                        <a:t>KPIs</a:t>
                      </a:r>
                      <a:endParaRPr lang="en-US" sz="1050" b="1" i="0" u="none" strike="noStrike">
                        <a:solidFill>
                          <a:schemeClr val="bg1"/>
                        </a:solidFill>
                        <a:effectLst/>
                        <a:latin typeface="+mn-lt"/>
                        <a:ea typeface="Lato Regular" panose="020F0502020204030203" pitchFamily="34" charset="0"/>
                        <a:cs typeface="Lato Regular" panose="020F0502020204030203" pitchFamily="34" charset="0"/>
                      </a:endParaRPr>
                    </a:p>
                  </a:txBody>
                  <a:tcPr marL="108000" marR="6350" marT="6350" marB="0" anchor="ctr"/>
                </a:tc>
                <a:tc>
                  <a:txBody>
                    <a:bodyPr/>
                    <a:lstStyle/>
                    <a:p>
                      <a:pPr algn="ctr" fontAlgn="b">
                        <a:buNone/>
                      </a:pPr>
                      <a:r>
                        <a:rPr lang="en-US" sz="1050" b="1" u="none" strike="noStrike">
                          <a:solidFill>
                            <a:schemeClr val="bg1"/>
                          </a:solidFill>
                          <a:effectLst/>
                          <a:latin typeface="+mn-lt"/>
                          <a:ea typeface="Lato Regular" panose="020F0502020204030203" pitchFamily="34" charset="0"/>
                          <a:cs typeface="Lato Regular" panose="020F0502020204030203" pitchFamily="34" charset="0"/>
                        </a:rPr>
                        <a:t>FY24</a:t>
                      </a:r>
                      <a:endParaRPr lang="en-US" sz="1050" b="1" i="0" u="none" strike="noStrike">
                        <a:solidFill>
                          <a:schemeClr val="bg1"/>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050" b="1" u="none" strike="noStrike">
                          <a:solidFill>
                            <a:schemeClr val="bg1"/>
                          </a:solidFill>
                          <a:effectLst/>
                          <a:latin typeface="+mn-lt"/>
                          <a:ea typeface="Lato Regular" panose="020F0502020204030203" pitchFamily="34" charset="0"/>
                          <a:cs typeface="Lato Regular" panose="020F0502020204030203" pitchFamily="34" charset="0"/>
                        </a:rPr>
                        <a:t>FY25</a:t>
                      </a:r>
                      <a:endParaRPr lang="en-US" sz="1050" b="1" i="0" u="none" strike="noStrike">
                        <a:solidFill>
                          <a:schemeClr val="bg1"/>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050" b="1" u="none" strike="noStrike">
                          <a:solidFill>
                            <a:schemeClr val="bg1"/>
                          </a:solidFill>
                          <a:effectLst/>
                          <a:latin typeface="+mn-lt"/>
                          <a:ea typeface="Lato Regular"/>
                          <a:cs typeface="Lato Regular"/>
                        </a:rPr>
                        <a:t>FY26</a:t>
                      </a:r>
                      <a:endParaRPr lang="en-US" sz="1050" b="1" i="0" u="none" strike="noStrike">
                        <a:solidFill>
                          <a:schemeClr val="bg1"/>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050" b="1" u="none" strike="noStrike">
                          <a:solidFill>
                            <a:schemeClr val="bg1"/>
                          </a:solidFill>
                          <a:effectLst/>
                          <a:latin typeface="+mn-lt"/>
                          <a:ea typeface="Lato Regular"/>
                          <a:cs typeface="Lato Regular"/>
                        </a:rPr>
                        <a:t>Q4FY25</a:t>
                      </a:r>
                      <a:endParaRPr lang="en-US" sz="1050" b="1" i="0" u="none" strike="noStrike">
                        <a:solidFill>
                          <a:schemeClr val="bg1"/>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100" b="1" u="none" strike="noStrike">
                          <a:solidFill>
                            <a:schemeClr val="bg1"/>
                          </a:solidFill>
                          <a:effectLst/>
                          <a:latin typeface="+mn-lt"/>
                          <a:ea typeface="Lato Regular"/>
                          <a:cs typeface="Lato Regular"/>
                        </a:rPr>
                        <a:t>Q4FY26</a:t>
                      </a:r>
                      <a:endParaRPr lang="en-US" sz="1100" b="1" i="0" u="none" strike="noStrike">
                        <a:solidFill>
                          <a:schemeClr val="bg1"/>
                        </a:solidFill>
                        <a:effectLst/>
                        <a:latin typeface="+mn-lt"/>
                        <a:ea typeface="Lato Regular" panose="020F0502020204030203" pitchFamily="34" charset="0"/>
                        <a:cs typeface="Lato Regular" panose="020F0502020204030203" pitchFamily="34" charset="0"/>
                      </a:endParaRPr>
                    </a:p>
                  </a:txBody>
                  <a:tcPr marL="6350" marR="6350" marT="6350" marB="0" anchor="ctr"/>
                </a:tc>
                <a:extLst>
                  <a:ext uri="{0D108BD9-81ED-4DB2-BD59-A6C34878D82A}">
                    <a16:rowId xmlns:a16="http://schemas.microsoft.com/office/drawing/2014/main" val="3735237806"/>
                  </a:ext>
                </a:extLst>
              </a:tr>
              <a:tr h="262575">
                <a:tc>
                  <a:txBody>
                    <a:bodyPr/>
                    <a:lstStyle/>
                    <a:p>
                      <a:pPr algn="l" fontAlgn="b">
                        <a:buNone/>
                      </a:pPr>
                      <a:r>
                        <a:rPr lang="en-IN" sz="1050" b="1" i="0" u="none" strike="noStrike">
                          <a:solidFill>
                            <a:srgbClr val="000000"/>
                          </a:solidFill>
                          <a:effectLst/>
                          <a:latin typeface="+mn-lt"/>
                          <a:ea typeface="Lato Regular"/>
                          <a:cs typeface="Lato Regular"/>
                        </a:rPr>
                        <a:t>No of e signs</a:t>
                      </a:r>
                    </a:p>
                  </a:txBody>
                  <a:tcPr marL="108000" marR="6350" marT="6350" marB="0" anchor="ctr"/>
                </a:tc>
                <a:tc>
                  <a:txBody>
                    <a:bodyPr/>
                    <a:lstStyle/>
                    <a:p>
                      <a:pPr algn="ctr" fontAlgn="b">
                        <a:buNone/>
                      </a:pPr>
                      <a:r>
                        <a:rPr lang="en-IN" sz="1050" b="1" i="0" u="none" strike="noStrike">
                          <a:solidFill>
                            <a:srgbClr val="000000"/>
                          </a:solidFill>
                          <a:effectLst/>
                          <a:latin typeface="+mn-lt"/>
                          <a:ea typeface="Lato Regular"/>
                          <a:cs typeface="Lato Regular"/>
                        </a:rPr>
                        <a:t>4.15</a:t>
                      </a:r>
                    </a:p>
                  </a:txBody>
                  <a:tcPr marL="6350" marR="6350" marT="6350" marB="0" anchor="ctr"/>
                </a:tc>
                <a:tc>
                  <a:txBody>
                    <a:bodyPr/>
                    <a:lstStyle/>
                    <a:p>
                      <a:pPr algn="ctr" fontAlgn="b">
                        <a:buNone/>
                      </a:pPr>
                      <a:r>
                        <a:rPr lang="en-IN" sz="1050" b="1" i="0" u="none" strike="noStrike">
                          <a:solidFill>
                            <a:srgbClr val="000000"/>
                          </a:solidFill>
                          <a:effectLst/>
                          <a:latin typeface="+mn-lt"/>
                          <a:ea typeface="Lato Regular"/>
                          <a:cs typeface="Lato Regular"/>
                        </a:rPr>
                        <a:t>5.23</a:t>
                      </a:r>
                    </a:p>
                  </a:txBody>
                  <a:tcPr marL="6350" marR="6350" marT="6350" marB="0" anchor="ctr"/>
                </a:tc>
                <a:tc>
                  <a:txBody>
                    <a:bodyPr/>
                    <a:lstStyle/>
                    <a:p>
                      <a:pPr algn="ctr" fontAlgn="t">
                        <a:buNone/>
                      </a:pPr>
                      <a:r>
                        <a:rPr lang="en-IN" sz="1050" b="1" i="0" u="none" strike="noStrike">
                          <a:solidFill>
                            <a:srgbClr val="000000"/>
                          </a:solidFill>
                          <a:effectLst/>
                          <a:latin typeface="+mn-lt"/>
                          <a:ea typeface="Lato Regular"/>
                          <a:cs typeface="Lato Regular"/>
                        </a:rPr>
                        <a:t>6.32</a:t>
                      </a:r>
                    </a:p>
                  </a:txBody>
                  <a:tcPr marL="6350" marR="6350" marT="6350" marB="0" anchor="ctr"/>
                </a:tc>
                <a:tc>
                  <a:txBody>
                    <a:bodyPr/>
                    <a:lstStyle/>
                    <a:p>
                      <a:pPr algn="ctr" fontAlgn="b">
                        <a:buNone/>
                      </a:pPr>
                      <a:r>
                        <a:rPr lang="en-US" sz="1050" b="1" i="0" u="none" strike="noStrike">
                          <a:solidFill>
                            <a:srgbClr val="000000"/>
                          </a:solidFill>
                          <a:effectLst/>
                          <a:latin typeface="+mn-lt"/>
                          <a:ea typeface="Lato Regular"/>
                          <a:cs typeface="Lato Regular"/>
                        </a:rPr>
                        <a:t>1.37</a:t>
                      </a:r>
                    </a:p>
                  </a:txBody>
                  <a:tcPr marL="6350" marR="6350" marT="6350" marB="0" anchor="ctr"/>
                </a:tc>
                <a:tc>
                  <a:txBody>
                    <a:bodyPr/>
                    <a:lstStyle/>
                    <a:p>
                      <a:pPr algn="ctr" fontAlgn="b">
                        <a:buNone/>
                      </a:pPr>
                      <a:r>
                        <a:rPr lang="en-US" sz="1100" b="1" i="0" u="none" strike="noStrike">
                          <a:solidFill>
                            <a:srgbClr val="000000"/>
                          </a:solidFill>
                          <a:effectLst/>
                          <a:latin typeface="+mn-lt"/>
                          <a:ea typeface="Lato Regular"/>
                          <a:cs typeface="Lato Regular"/>
                        </a:rPr>
                        <a:t>1.87</a:t>
                      </a:r>
                    </a:p>
                  </a:txBody>
                  <a:tcPr marL="6350" marR="6350" marT="6350" marB="0" anchor="ctr"/>
                </a:tc>
                <a:extLst>
                  <a:ext uri="{0D108BD9-81ED-4DB2-BD59-A6C34878D82A}">
                    <a16:rowId xmlns:a16="http://schemas.microsoft.com/office/drawing/2014/main" val="2159784742"/>
                  </a:ext>
                </a:extLst>
              </a:tr>
              <a:tr h="262575">
                <a:tc>
                  <a:txBody>
                    <a:bodyPr/>
                    <a:lstStyle/>
                    <a:p>
                      <a:pPr algn="l" fontAlgn="b">
                        <a:buNone/>
                      </a:pPr>
                      <a:r>
                        <a:rPr lang="en-IN" sz="1050" b="0" i="0" u="none" strike="noStrike">
                          <a:solidFill>
                            <a:srgbClr val="000000"/>
                          </a:solidFill>
                          <a:effectLst/>
                          <a:latin typeface="+mn-lt"/>
                          <a:ea typeface="Lato Regular" panose="020F0502020204030203" pitchFamily="34" charset="0"/>
                          <a:cs typeface="Lato Regular" panose="020F0502020204030203" pitchFamily="34" charset="0"/>
                        </a:rPr>
                        <a:t>%Growth YoY</a:t>
                      </a:r>
                    </a:p>
                  </a:txBody>
                  <a:tcPr marL="108000" marR="6350" marT="6350" marB="0" anchor="ctr"/>
                </a:tc>
                <a:tc>
                  <a:txBody>
                    <a:bodyPr/>
                    <a:lstStyle/>
                    <a:p>
                      <a:pPr algn="ctr" fontAlgn="b">
                        <a:buNone/>
                      </a:pPr>
                      <a:r>
                        <a:rPr lang="en-IN" sz="1050" b="0" i="0" u="none" strike="noStrike">
                          <a:solidFill>
                            <a:srgbClr val="000000"/>
                          </a:solidFill>
                          <a:effectLst/>
                          <a:latin typeface="+mn-lt"/>
                          <a:ea typeface="Lato Regular" panose="020F0502020204030203" pitchFamily="34" charset="0"/>
                          <a:cs typeface="Lato Regular" panose="020F0502020204030203" pitchFamily="34" charset="0"/>
                        </a:rPr>
                        <a:t>100%</a:t>
                      </a:r>
                    </a:p>
                  </a:txBody>
                  <a:tcPr marL="6350" marR="6350" marT="6350" marB="0" anchor="ctr"/>
                </a:tc>
                <a:tc>
                  <a:txBody>
                    <a:bodyPr/>
                    <a:lstStyle/>
                    <a:p>
                      <a:pPr algn="ctr" fontAlgn="b">
                        <a:buNone/>
                      </a:pPr>
                      <a:r>
                        <a:rPr lang="en-IN" sz="1050" b="0" i="0" u="none" strike="noStrike">
                          <a:solidFill>
                            <a:srgbClr val="000000"/>
                          </a:solidFill>
                          <a:effectLst/>
                          <a:latin typeface="+mn-lt"/>
                          <a:ea typeface="Lato Regular" panose="020F0502020204030203" pitchFamily="34" charset="0"/>
                          <a:cs typeface="Lato Regular" panose="020F0502020204030203" pitchFamily="34" charset="0"/>
                        </a:rPr>
                        <a:t>26%</a:t>
                      </a:r>
                    </a:p>
                  </a:txBody>
                  <a:tcPr marL="6350" marR="6350" marT="6350" marB="0" anchor="ctr"/>
                </a:tc>
                <a:tc>
                  <a:txBody>
                    <a:bodyPr/>
                    <a:lstStyle/>
                    <a:p>
                      <a:pPr algn="ctr" fontAlgn="t">
                        <a:buNone/>
                      </a:pPr>
                      <a:r>
                        <a:rPr lang="en-US" sz="1050" b="0" i="0" u="none" strike="noStrike">
                          <a:solidFill>
                            <a:srgbClr val="000000"/>
                          </a:solidFill>
                          <a:effectLst/>
                          <a:latin typeface="+mn-lt"/>
                          <a:ea typeface="Lato Regular"/>
                          <a:cs typeface="Lato Regular"/>
                        </a:rPr>
                        <a:t>20.8%</a:t>
                      </a:r>
                    </a:p>
                  </a:txBody>
                  <a:tcPr marL="6350" marR="6350" marT="6350" marB="0" anchor="ctr"/>
                </a:tc>
                <a:tc>
                  <a:txBody>
                    <a:bodyPr/>
                    <a:lstStyle/>
                    <a:p>
                      <a:pPr algn="ctr" fontAlgn="b">
                        <a:buNone/>
                      </a:pPr>
                      <a:r>
                        <a:rPr lang="en-US" sz="1050" b="0" i="0" u="none" strike="noStrike">
                          <a:solidFill>
                            <a:srgbClr val="000000"/>
                          </a:solidFill>
                          <a:effectLst/>
                          <a:latin typeface="+mn-lt"/>
                          <a:ea typeface="Lato Regular"/>
                          <a:cs typeface="Lato Regular"/>
                        </a:rPr>
                        <a:t>8%</a:t>
                      </a:r>
                    </a:p>
                  </a:txBody>
                  <a:tcPr marL="6350" marR="6350" marT="6350" marB="0" anchor="ctr"/>
                </a:tc>
                <a:tc>
                  <a:txBody>
                    <a:bodyPr/>
                    <a:lstStyle/>
                    <a:p>
                      <a:pPr algn="ctr" fontAlgn="b">
                        <a:buNone/>
                      </a:pPr>
                      <a:r>
                        <a:rPr lang="en-US" sz="1100" b="0" i="0" u="none" strike="noStrike">
                          <a:solidFill>
                            <a:srgbClr val="000000"/>
                          </a:solidFill>
                          <a:effectLst/>
                          <a:latin typeface="+mn-lt"/>
                          <a:ea typeface="Lato Regular"/>
                          <a:cs typeface="Lato Regular"/>
                        </a:rPr>
                        <a:t>36.5%</a:t>
                      </a:r>
                    </a:p>
                  </a:txBody>
                  <a:tcPr marL="6350" marR="6350" marT="6350" marB="0" anchor="ctr"/>
                </a:tc>
                <a:extLst>
                  <a:ext uri="{0D108BD9-81ED-4DB2-BD59-A6C34878D82A}">
                    <a16:rowId xmlns:a16="http://schemas.microsoft.com/office/drawing/2014/main" val="2809398452"/>
                  </a:ext>
                </a:extLst>
              </a:tr>
              <a:tr h="262575">
                <a:tc>
                  <a:txBody>
                    <a:bodyPr/>
                    <a:lstStyle/>
                    <a:p>
                      <a:pPr algn="l" fontAlgn="b">
                        <a:buNone/>
                      </a:pPr>
                      <a:r>
                        <a:rPr lang="en-IN" sz="1050" b="1" i="0" u="none" strike="noStrike">
                          <a:solidFill>
                            <a:srgbClr val="000000"/>
                          </a:solidFill>
                          <a:effectLst/>
                          <a:latin typeface="+mn-lt"/>
                          <a:ea typeface="Lato Regular"/>
                          <a:cs typeface="Lato Regular"/>
                        </a:rPr>
                        <a:t>No of stamps</a:t>
                      </a:r>
                    </a:p>
                  </a:txBody>
                  <a:tcPr marL="108000" marR="6350" marT="6350" marB="0" anchor="ctr"/>
                </a:tc>
                <a:tc>
                  <a:txBody>
                    <a:bodyPr/>
                    <a:lstStyle/>
                    <a:p>
                      <a:pPr algn="ctr" fontAlgn="b">
                        <a:buNone/>
                      </a:pPr>
                      <a:r>
                        <a:rPr lang="en-IN" sz="1050" b="1" i="0" u="none" strike="noStrike">
                          <a:solidFill>
                            <a:srgbClr val="000000"/>
                          </a:solidFill>
                          <a:effectLst/>
                          <a:latin typeface="+mn-lt"/>
                          <a:ea typeface="Lato Regular"/>
                          <a:cs typeface="Lato Regular"/>
                        </a:rPr>
                        <a:t>0.44</a:t>
                      </a:r>
                    </a:p>
                  </a:txBody>
                  <a:tcPr marL="6350" marR="6350" marT="6350" marB="0" anchor="ctr"/>
                </a:tc>
                <a:tc>
                  <a:txBody>
                    <a:bodyPr/>
                    <a:lstStyle/>
                    <a:p>
                      <a:pPr algn="ctr" fontAlgn="b">
                        <a:buNone/>
                      </a:pPr>
                      <a:r>
                        <a:rPr lang="en-IN" sz="1050" b="1" i="0" u="none" strike="noStrike">
                          <a:solidFill>
                            <a:srgbClr val="000000"/>
                          </a:solidFill>
                          <a:effectLst/>
                          <a:latin typeface="+mn-lt"/>
                          <a:ea typeface="Lato Regular"/>
                          <a:cs typeface="Lato Regular"/>
                        </a:rPr>
                        <a:t>0.62</a:t>
                      </a:r>
                    </a:p>
                  </a:txBody>
                  <a:tcPr marL="6350" marR="6350" marT="6350" marB="0" anchor="ctr"/>
                </a:tc>
                <a:tc>
                  <a:txBody>
                    <a:bodyPr/>
                    <a:lstStyle/>
                    <a:p>
                      <a:pPr algn="ctr" fontAlgn="t">
                        <a:buNone/>
                      </a:pPr>
                      <a:r>
                        <a:rPr lang="en-US" sz="1050" b="1" i="0" u="none" strike="noStrike">
                          <a:solidFill>
                            <a:srgbClr val="000000"/>
                          </a:solidFill>
                          <a:effectLst/>
                          <a:latin typeface="+mn-lt"/>
                          <a:ea typeface="Lato Regular"/>
                          <a:cs typeface="Lato Regular"/>
                        </a:rPr>
                        <a:t>0.78</a:t>
                      </a:r>
                    </a:p>
                  </a:txBody>
                  <a:tcPr marL="6350" marR="6350" marT="6350" marB="0" anchor="ctr"/>
                </a:tc>
                <a:tc>
                  <a:txBody>
                    <a:bodyPr/>
                    <a:lstStyle/>
                    <a:p>
                      <a:pPr algn="ctr" fontAlgn="b">
                        <a:buNone/>
                      </a:pPr>
                      <a:r>
                        <a:rPr lang="en-US" sz="1050" b="1" i="0" u="none" strike="noStrike">
                          <a:solidFill>
                            <a:srgbClr val="000000"/>
                          </a:solidFill>
                          <a:effectLst/>
                          <a:latin typeface="+mn-lt"/>
                          <a:ea typeface="Lato Regular"/>
                          <a:cs typeface="Lato Regular"/>
                        </a:rPr>
                        <a:t>0.14</a:t>
                      </a:r>
                    </a:p>
                  </a:txBody>
                  <a:tcPr marL="6350" marR="6350" marT="6350" marB="0" anchor="ctr"/>
                </a:tc>
                <a:tc>
                  <a:txBody>
                    <a:bodyPr/>
                    <a:lstStyle/>
                    <a:p>
                      <a:pPr algn="ctr" fontAlgn="b">
                        <a:buNone/>
                      </a:pPr>
                      <a:r>
                        <a:rPr lang="en-US" sz="1100" b="1" i="0" u="none" strike="noStrike">
                          <a:solidFill>
                            <a:srgbClr val="000000"/>
                          </a:solidFill>
                          <a:effectLst/>
                          <a:latin typeface="+mn-lt"/>
                          <a:ea typeface="Lato Regular"/>
                          <a:cs typeface="Lato Regular"/>
                        </a:rPr>
                        <a:t>0.21</a:t>
                      </a:r>
                    </a:p>
                  </a:txBody>
                  <a:tcPr marL="6350" marR="6350" marT="6350" marB="0" anchor="ctr"/>
                </a:tc>
                <a:extLst>
                  <a:ext uri="{0D108BD9-81ED-4DB2-BD59-A6C34878D82A}">
                    <a16:rowId xmlns:a16="http://schemas.microsoft.com/office/drawing/2014/main" val="4076501595"/>
                  </a:ext>
                </a:extLst>
              </a:tr>
              <a:tr h="262575">
                <a:tc>
                  <a:txBody>
                    <a:bodyPr/>
                    <a:lstStyle/>
                    <a:p>
                      <a:pPr algn="l" fontAlgn="b">
                        <a:buNone/>
                      </a:pPr>
                      <a:r>
                        <a:rPr lang="en-IN" sz="1050" b="0" i="0" u="none" strike="noStrike">
                          <a:solidFill>
                            <a:srgbClr val="000000"/>
                          </a:solidFill>
                          <a:effectLst/>
                          <a:latin typeface="+mn-lt"/>
                          <a:ea typeface="Lato Regular" panose="020F0502020204030203" pitchFamily="34" charset="0"/>
                          <a:cs typeface="Lato Regular" panose="020F0502020204030203" pitchFamily="34" charset="0"/>
                        </a:rPr>
                        <a:t>%Growth YoY</a:t>
                      </a:r>
                    </a:p>
                  </a:txBody>
                  <a:tcPr marL="108000" marR="6350" marT="6350" marB="0" anchor="ctr"/>
                </a:tc>
                <a:tc>
                  <a:txBody>
                    <a:bodyPr/>
                    <a:lstStyle/>
                    <a:p>
                      <a:pPr algn="ctr" fontAlgn="b">
                        <a:buNone/>
                      </a:pPr>
                      <a:r>
                        <a:rPr lang="en-IN" sz="1050" b="0" i="0" u="none" strike="noStrike">
                          <a:solidFill>
                            <a:srgbClr val="000000"/>
                          </a:solidFill>
                          <a:effectLst/>
                          <a:latin typeface="+mn-lt"/>
                          <a:ea typeface="Lato Regular" panose="020F0502020204030203" pitchFamily="34" charset="0"/>
                          <a:cs typeface="Lato Regular" panose="020F0502020204030203" pitchFamily="34" charset="0"/>
                        </a:rPr>
                        <a:t>135%</a:t>
                      </a:r>
                    </a:p>
                  </a:txBody>
                  <a:tcPr marL="6350" marR="6350" marT="6350" marB="0" anchor="ctr"/>
                </a:tc>
                <a:tc>
                  <a:txBody>
                    <a:bodyPr/>
                    <a:lstStyle/>
                    <a:p>
                      <a:pPr algn="ctr" fontAlgn="b">
                        <a:buNone/>
                      </a:pPr>
                      <a:r>
                        <a:rPr lang="en-IN" sz="1050" b="0" i="0" u="none" strike="noStrike">
                          <a:solidFill>
                            <a:srgbClr val="000000"/>
                          </a:solidFill>
                          <a:effectLst/>
                          <a:latin typeface="+mn-lt"/>
                          <a:ea typeface="Lato Regular" panose="020F0502020204030203" pitchFamily="34" charset="0"/>
                          <a:cs typeface="Lato Regular" panose="020F0502020204030203" pitchFamily="34" charset="0"/>
                        </a:rPr>
                        <a:t>39%</a:t>
                      </a:r>
                    </a:p>
                  </a:txBody>
                  <a:tcPr marL="6350" marR="6350" marT="6350" marB="0" anchor="ctr"/>
                </a:tc>
                <a:tc>
                  <a:txBody>
                    <a:bodyPr/>
                    <a:lstStyle/>
                    <a:p>
                      <a:pPr algn="ctr" fontAlgn="t">
                        <a:buNone/>
                      </a:pPr>
                      <a:r>
                        <a:rPr lang="en-US" sz="1050" b="0" i="0" u="none" strike="noStrike">
                          <a:solidFill>
                            <a:srgbClr val="000000"/>
                          </a:solidFill>
                          <a:effectLst/>
                          <a:latin typeface="+mn-lt"/>
                          <a:ea typeface="Lato Regular"/>
                          <a:cs typeface="Lato Regular"/>
                        </a:rPr>
                        <a:t>25.8%</a:t>
                      </a:r>
                    </a:p>
                  </a:txBody>
                  <a:tcPr marL="6350" marR="6350" marT="6350" marB="0" anchor="ctr"/>
                </a:tc>
                <a:tc>
                  <a:txBody>
                    <a:bodyPr/>
                    <a:lstStyle/>
                    <a:p>
                      <a:pPr algn="ctr" fontAlgn="b">
                        <a:buNone/>
                      </a:pPr>
                      <a:r>
                        <a:rPr lang="en-US" sz="1050" b="0" i="0" u="none" strike="noStrike">
                          <a:solidFill>
                            <a:srgbClr val="000000"/>
                          </a:solidFill>
                          <a:effectLst/>
                          <a:latin typeface="+mn-lt"/>
                          <a:ea typeface="Lato Regular"/>
                          <a:cs typeface="Lato Regular"/>
                        </a:rPr>
                        <a:t>-1%</a:t>
                      </a:r>
                    </a:p>
                  </a:txBody>
                  <a:tcPr marL="6350" marR="6350" marT="6350" marB="0" anchor="ctr"/>
                </a:tc>
                <a:tc>
                  <a:txBody>
                    <a:bodyPr/>
                    <a:lstStyle/>
                    <a:p>
                      <a:pPr algn="ctr" fontAlgn="b">
                        <a:buNone/>
                      </a:pPr>
                      <a:r>
                        <a:rPr lang="en-US" sz="1100" b="0" i="0" u="none" strike="noStrike">
                          <a:solidFill>
                            <a:srgbClr val="000000"/>
                          </a:solidFill>
                          <a:effectLst/>
                          <a:latin typeface="+mn-lt"/>
                          <a:ea typeface="Lato Regular"/>
                          <a:cs typeface="Lato Regular"/>
                        </a:rPr>
                        <a:t>50.0%</a:t>
                      </a:r>
                    </a:p>
                  </a:txBody>
                  <a:tcPr marL="6350" marR="6350" marT="6350" marB="0" anchor="ctr"/>
                </a:tc>
                <a:extLst>
                  <a:ext uri="{0D108BD9-81ED-4DB2-BD59-A6C34878D82A}">
                    <a16:rowId xmlns:a16="http://schemas.microsoft.com/office/drawing/2014/main" val="3179895044"/>
                  </a:ext>
                </a:extLst>
              </a:tr>
              <a:tr h="416057">
                <a:tc>
                  <a:txBody>
                    <a:bodyPr/>
                    <a:lstStyle/>
                    <a:p>
                      <a:pPr algn="l" fontAlgn="b">
                        <a:buNone/>
                      </a:pPr>
                      <a:r>
                        <a:rPr lang="en-US" sz="1050" b="0" i="0" u="none" strike="noStrike">
                          <a:solidFill>
                            <a:srgbClr val="000000"/>
                          </a:solidFill>
                          <a:effectLst/>
                          <a:latin typeface="+mn-lt"/>
                          <a:ea typeface="Lato Regular"/>
                          <a:cs typeface="Lato Regular"/>
                        </a:rPr>
                        <a:t>No of total subscription accounts</a:t>
                      </a:r>
                    </a:p>
                  </a:txBody>
                  <a:tcPr marL="108000" marR="6350" marT="6350" marB="0" anchor="ctr"/>
                </a:tc>
                <a:tc>
                  <a:txBody>
                    <a:bodyPr/>
                    <a:lstStyle/>
                    <a:p>
                      <a:pPr algn="ctr" fontAlgn="b">
                        <a:buNone/>
                      </a:pPr>
                      <a:r>
                        <a:rPr lang="en-IN" sz="1050" b="0" i="0" u="none" strike="noStrike">
                          <a:solidFill>
                            <a:srgbClr val="000000"/>
                          </a:solidFill>
                          <a:effectLst/>
                          <a:latin typeface="+mn-lt"/>
                          <a:ea typeface="Lato Regular"/>
                          <a:cs typeface="Lato Regular"/>
                        </a:rPr>
                        <a:t>471</a:t>
                      </a:r>
                    </a:p>
                  </a:txBody>
                  <a:tcPr marL="6350" marR="6350" marT="6350" marB="0" anchor="ctr"/>
                </a:tc>
                <a:tc>
                  <a:txBody>
                    <a:bodyPr/>
                    <a:lstStyle/>
                    <a:p>
                      <a:pPr algn="ctr" fontAlgn="b">
                        <a:buNone/>
                      </a:pPr>
                      <a:r>
                        <a:rPr lang="en-IN" sz="1050" b="0" i="0" u="none" strike="noStrike">
                          <a:solidFill>
                            <a:srgbClr val="000000"/>
                          </a:solidFill>
                          <a:effectLst/>
                          <a:latin typeface="+mn-lt"/>
                          <a:ea typeface="Lato Regular"/>
                          <a:cs typeface="Lato Regular"/>
                        </a:rPr>
                        <a:t>524</a:t>
                      </a:r>
                    </a:p>
                  </a:txBody>
                  <a:tcPr marL="6350" marR="6350" marT="6350" marB="0" anchor="ctr"/>
                </a:tc>
                <a:tc>
                  <a:txBody>
                    <a:bodyPr/>
                    <a:lstStyle/>
                    <a:p>
                      <a:pPr algn="ctr" fontAlgn="t">
                        <a:buNone/>
                      </a:pPr>
                      <a:r>
                        <a:rPr lang="en-US" sz="1050" b="0" i="0" u="none" strike="noStrike">
                          <a:solidFill>
                            <a:srgbClr val="000000"/>
                          </a:solidFill>
                          <a:effectLst/>
                          <a:latin typeface="+mn-lt"/>
                          <a:ea typeface="Lato Regular"/>
                          <a:cs typeface="Lato Regular"/>
                        </a:rPr>
                        <a:t>507</a:t>
                      </a:r>
                    </a:p>
                  </a:txBody>
                  <a:tcPr marL="6350" marR="6350" marT="6350" marB="0" anchor="ctr"/>
                </a:tc>
                <a:tc>
                  <a:txBody>
                    <a:bodyPr/>
                    <a:lstStyle/>
                    <a:p>
                      <a:pPr algn="ctr" fontAlgn="b">
                        <a:buNone/>
                      </a:pPr>
                      <a:r>
                        <a:rPr lang="en-US" sz="1050" b="0" i="0" u="none" strike="noStrike">
                          <a:solidFill>
                            <a:srgbClr val="000000"/>
                          </a:solidFill>
                          <a:effectLst/>
                          <a:latin typeface="+mn-lt"/>
                          <a:ea typeface="Lato Regular"/>
                          <a:cs typeface="Lato Regular"/>
                        </a:rPr>
                        <a:t>524</a:t>
                      </a:r>
                    </a:p>
                  </a:txBody>
                  <a:tcPr marL="6350" marR="6350" marT="6350" marB="0" anchor="ctr"/>
                </a:tc>
                <a:tc>
                  <a:txBody>
                    <a:bodyPr/>
                    <a:lstStyle/>
                    <a:p>
                      <a:pPr algn="ctr" fontAlgn="b">
                        <a:buNone/>
                      </a:pPr>
                      <a:r>
                        <a:rPr lang="en-US" sz="1100" b="0" i="0" u="none" strike="noStrike">
                          <a:solidFill>
                            <a:srgbClr val="000000"/>
                          </a:solidFill>
                          <a:effectLst/>
                          <a:latin typeface="+mn-lt"/>
                          <a:ea typeface="Lato Regular"/>
                          <a:cs typeface="Lato Regular"/>
                        </a:rPr>
                        <a:t>507</a:t>
                      </a:r>
                    </a:p>
                  </a:txBody>
                  <a:tcPr marL="6350" marR="6350" marT="6350" marB="0" anchor="ctr"/>
                </a:tc>
                <a:extLst>
                  <a:ext uri="{0D108BD9-81ED-4DB2-BD59-A6C34878D82A}">
                    <a16:rowId xmlns:a16="http://schemas.microsoft.com/office/drawing/2014/main" val="3498926890"/>
                  </a:ext>
                </a:extLst>
              </a:tr>
            </a:tbl>
          </a:graphicData>
        </a:graphic>
      </p:graphicFrame>
      <p:graphicFrame>
        <p:nvGraphicFramePr>
          <p:cNvPr id="14" name="Table 13">
            <a:extLst>
              <a:ext uri="{FF2B5EF4-FFF2-40B4-BE49-F238E27FC236}">
                <a16:creationId xmlns:a16="http://schemas.microsoft.com/office/drawing/2014/main" id="{7B37E349-39A5-B48D-33DC-E4373327668C}"/>
              </a:ext>
            </a:extLst>
          </p:cNvPr>
          <p:cNvGraphicFramePr>
            <a:graphicFrameLocks noGrp="1"/>
          </p:cNvGraphicFramePr>
          <p:nvPr>
            <p:extLst>
              <p:ext uri="{D42A27DB-BD31-4B8C-83A1-F6EECF244321}">
                <p14:modId xmlns:p14="http://schemas.microsoft.com/office/powerpoint/2010/main" val="612134081"/>
              </p:ext>
            </p:extLst>
          </p:nvPr>
        </p:nvGraphicFramePr>
        <p:xfrm>
          <a:off x="5539984" y="4144253"/>
          <a:ext cx="5784891" cy="1969165"/>
        </p:xfrm>
        <a:graphic>
          <a:graphicData uri="http://schemas.openxmlformats.org/drawingml/2006/table">
            <a:tbl>
              <a:tblPr firstRow="1" bandRow="1">
                <a:tableStyleId>{72833802-FEF1-4C79-8D5D-14CF1EAF98D9}</a:tableStyleId>
              </a:tblPr>
              <a:tblGrid>
                <a:gridCol w="1892386">
                  <a:extLst>
                    <a:ext uri="{9D8B030D-6E8A-4147-A177-3AD203B41FA5}">
                      <a16:colId xmlns:a16="http://schemas.microsoft.com/office/drawing/2014/main" val="3001066899"/>
                    </a:ext>
                  </a:extLst>
                </a:gridCol>
                <a:gridCol w="778501">
                  <a:extLst>
                    <a:ext uri="{9D8B030D-6E8A-4147-A177-3AD203B41FA5}">
                      <a16:colId xmlns:a16="http://schemas.microsoft.com/office/drawing/2014/main" val="700748351"/>
                    </a:ext>
                  </a:extLst>
                </a:gridCol>
                <a:gridCol w="778501">
                  <a:extLst>
                    <a:ext uri="{9D8B030D-6E8A-4147-A177-3AD203B41FA5}">
                      <a16:colId xmlns:a16="http://schemas.microsoft.com/office/drawing/2014/main" val="3274968397"/>
                    </a:ext>
                  </a:extLst>
                </a:gridCol>
                <a:gridCol w="778501">
                  <a:extLst>
                    <a:ext uri="{9D8B030D-6E8A-4147-A177-3AD203B41FA5}">
                      <a16:colId xmlns:a16="http://schemas.microsoft.com/office/drawing/2014/main" val="3607597589"/>
                    </a:ext>
                  </a:extLst>
                </a:gridCol>
                <a:gridCol w="778501">
                  <a:extLst>
                    <a:ext uri="{9D8B030D-6E8A-4147-A177-3AD203B41FA5}">
                      <a16:colId xmlns:a16="http://schemas.microsoft.com/office/drawing/2014/main" val="746035582"/>
                    </a:ext>
                  </a:extLst>
                </a:gridCol>
                <a:gridCol w="778501">
                  <a:extLst>
                    <a:ext uri="{9D8B030D-6E8A-4147-A177-3AD203B41FA5}">
                      <a16:colId xmlns:a16="http://schemas.microsoft.com/office/drawing/2014/main" val="3336224203"/>
                    </a:ext>
                  </a:extLst>
                </a:gridCol>
              </a:tblGrid>
              <a:tr h="276035">
                <a:tc>
                  <a:txBody>
                    <a:bodyPr/>
                    <a:lstStyle/>
                    <a:p>
                      <a:pPr algn="l" fontAlgn="b">
                        <a:buNone/>
                      </a:pPr>
                      <a:r>
                        <a:rPr lang="en-US" sz="1050" b="1" u="none" strike="noStrike">
                          <a:solidFill>
                            <a:schemeClr val="bg1"/>
                          </a:solidFill>
                          <a:effectLst/>
                        </a:rPr>
                        <a:t>INR Cr.</a:t>
                      </a:r>
                      <a:endParaRPr lang="en-US" sz="1050" b="1" i="0" u="none" strike="noStrike">
                        <a:solidFill>
                          <a:schemeClr val="bg1"/>
                        </a:solidFill>
                        <a:effectLst/>
                        <a:latin typeface="+mn-lt"/>
                        <a:ea typeface="Lato Regular" panose="020F0502020204030203" pitchFamily="34" charset="0"/>
                        <a:cs typeface="Lato Regular" panose="020F0502020204030203" pitchFamily="34" charset="0"/>
                      </a:endParaRPr>
                    </a:p>
                  </a:txBody>
                  <a:tcPr marL="108000" marR="6350" marT="6350" marB="0" anchor="ctr"/>
                </a:tc>
                <a:tc>
                  <a:txBody>
                    <a:bodyPr/>
                    <a:lstStyle/>
                    <a:p>
                      <a:pPr algn="ctr" fontAlgn="b">
                        <a:buNone/>
                      </a:pPr>
                      <a:r>
                        <a:rPr lang="en-US" sz="1050" b="1" u="none" strike="noStrike">
                          <a:solidFill>
                            <a:schemeClr val="bg1"/>
                          </a:solidFill>
                          <a:effectLst/>
                        </a:rPr>
                        <a:t>FY24</a:t>
                      </a:r>
                      <a:endParaRPr lang="en-US" sz="1050" b="1" i="0" u="none" strike="noStrike">
                        <a:solidFill>
                          <a:schemeClr val="bg1"/>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050" b="1" u="none" strike="noStrike">
                          <a:solidFill>
                            <a:schemeClr val="bg1"/>
                          </a:solidFill>
                          <a:effectLst/>
                        </a:rPr>
                        <a:t>FY25</a:t>
                      </a:r>
                      <a:endParaRPr lang="en-US" sz="1050" b="1" i="0" u="none" strike="noStrike">
                        <a:solidFill>
                          <a:schemeClr val="bg1"/>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050" b="1" u="none" strike="noStrike">
                          <a:solidFill>
                            <a:schemeClr val="bg1"/>
                          </a:solidFill>
                          <a:effectLst/>
                        </a:rPr>
                        <a:t>FY26</a:t>
                      </a:r>
                      <a:endParaRPr lang="en-US" sz="1050" b="1" i="0" u="none" strike="noStrike">
                        <a:solidFill>
                          <a:schemeClr val="bg1"/>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050" b="1" u="none" strike="noStrike">
                          <a:solidFill>
                            <a:schemeClr val="bg1"/>
                          </a:solidFill>
                          <a:effectLst/>
                        </a:rPr>
                        <a:t>Q4FY25</a:t>
                      </a:r>
                      <a:endParaRPr lang="en-US" sz="1050" b="1" i="0" u="none" strike="noStrike">
                        <a:solidFill>
                          <a:schemeClr val="bg1"/>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050" b="1" u="none" strike="noStrike">
                          <a:solidFill>
                            <a:schemeClr val="bg1"/>
                          </a:solidFill>
                          <a:effectLst/>
                        </a:rPr>
                        <a:t>Q4FY26</a:t>
                      </a:r>
                      <a:endParaRPr lang="en-US" sz="1050" b="1" i="0" u="none" strike="noStrike">
                        <a:solidFill>
                          <a:schemeClr val="bg1"/>
                        </a:solidFill>
                        <a:effectLst/>
                        <a:latin typeface="+mn-lt"/>
                        <a:ea typeface="Lato Regular" panose="020F0502020204030203" pitchFamily="34" charset="0"/>
                        <a:cs typeface="Lato Regular" panose="020F0502020204030203" pitchFamily="34" charset="0"/>
                      </a:endParaRPr>
                    </a:p>
                  </a:txBody>
                  <a:tcPr marL="6350" marR="6350" marT="6350" marB="0" anchor="ctr"/>
                </a:tc>
                <a:extLst>
                  <a:ext uri="{0D108BD9-81ED-4DB2-BD59-A6C34878D82A}">
                    <a16:rowId xmlns:a16="http://schemas.microsoft.com/office/drawing/2014/main" val="3735237806"/>
                  </a:ext>
                </a:extLst>
              </a:tr>
              <a:tr h="276035">
                <a:tc>
                  <a:txBody>
                    <a:bodyPr/>
                    <a:lstStyle/>
                    <a:p>
                      <a:pPr algn="l" fontAlgn="b">
                        <a:buNone/>
                      </a:pPr>
                      <a:r>
                        <a:rPr lang="en-IN" sz="1050" b="1" u="none" strike="noStrike">
                          <a:solidFill>
                            <a:srgbClr val="000000"/>
                          </a:solidFill>
                          <a:effectLst/>
                        </a:rPr>
                        <a:t>Net Revenue</a:t>
                      </a:r>
                      <a:endParaRPr lang="en-IN" sz="1050" b="1" i="0" u="none" strike="noStrike">
                        <a:solidFill>
                          <a:srgbClr val="000000"/>
                        </a:solidFill>
                        <a:effectLst/>
                        <a:latin typeface="+mn-lt"/>
                        <a:ea typeface="Lato Regular" panose="020F0502020204030203" pitchFamily="34" charset="0"/>
                        <a:cs typeface="Lato Regular" panose="020F0502020204030203" pitchFamily="34" charset="0"/>
                      </a:endParaRPr>
                    </a:p>
                  </a:txBody>
                  <a:tcPr marL="108000" marR="6350" marT="6350" marB="0" anchor="ctr"/>
                </a:tc>
                <a:tc>
                  <a:txBody>
                    <a:bodyPr/>
                    <a:lstStyle/>
                    <a:p>
                      <a:pPr algn="ctr" fontAlgn="b">
                        <a:buNone/>
                      </a:pPr>
                      <a:r>
                        <a:rPr lang="en-IN" sz="1050" b="1" u="none" strike="noStrike">
                          <a:solidFill>
                            <a:srgbClr val="000000"/>
                          </a:solidFill>
                          <a:effectLst/>
                        </a:rPr>
                        <a:t>62.2</a:t>
                      </a:r>
                      <a:endParaRPr lang="en-IN" sz="1050" b="1" i="0" u="none" strike="noStrike">
                        <a:solidFill>
                          <a:srgbClr val="000000"/>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IN" sz="1050" b="1" u="none" strike="noStrike">
                          <a:solidFill>
                            <a:srgbClr val="000000"/>
                          </a:solidFill>
                          <a:effectLst/>
                        </a:rPr>
                        <a:t>81.1</a:t>
                      </a:r>
                      <a:endParaRPr lang="en-IN" sz="1050" b="1" i="0" u="none" strike="noStrike">
                        <a:solidFill>
                          <a:srgbClr val="000000"/>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050" b="1" i="0" u="none" strike="noStrike">
                          <a:solidFill>
                            <a:srgbClr val="000000"/>
                          </a:solidFill>
                          <a:effectLst/>
                          <a:latin typeface="+mn-lt"/>
                          <a:ea typeface="Lato Regular"/>
                          <a:cs typeface="Lato Regular"/>
                        </a:rPr>
                        <a:t>91.5</a:t>
                      </a:r>
                    </a:p>
                  </a:txBody>
                  <a:tcPr marL="6350" marR="6350" marT="6350" marB="0" anchor="ctr"/>
                </a:tc>
                <a:tc>
                  <a:txBody>
                    <a:bodyPr/>
                    <a:lstStyle/>
                    <a:p>
                      <a:pPr algn="ctr" fontAlgn="b">
                        <a:buNone/>
                      </a:pPr>
                      <a:r>
                        <a:rPr lang="en-US" sz="1050" b="1" i="0" u="none" strike="noStrike">
                          <a:solidFill>
                            <a:srgbClr val="000000"/>
                          </a:solidFill>
                          <a:effectLst/>
                          <a:latin typeface="+mn-lt"/>
                          <a:ea typeface="Lato Regular"/>
                          <a:cs typeface="Lato Regular"/>
                        </a:rPr>
                        <a:t>20.3</a:t>
                      </a:r>
                    </a:p>
                  </a:txBody>
                  <a:tcPr marL="6350" marR="6350" marT="6350" marB="0" anchor="ctr"/>
                </a:tc>
                <a:tc>
                  <a:txBody>
                    <a:bodyPr/>
                    <a:lstStyle/>
                    <a:p>
                      <a:pPr algn="ctr" fontAlgn="b">
                        <a:buNone/>
                      </a:pPr>
                      <a:r>
                        <a:rPr lang="en-US" sz="1050" b="1" i="0" u="none" strike="noStrike">
                          <a:solidFill>
                            <a:srgbClr val="000000"/>
                          </a:solidFill>
                          <a:effectLst/>
                          <a:latin typeface="+mn-lt"/>
                          <a:ea typeface="Lato Regular"/>
                          <a:cs typeface="Lato Regular"/>
                        </a:rPr>
                        <a:t>25.3</a:t>
                      </a:r>
                    </a:p>
                  </a:txBody>
                  <a:tcPr marL="6350" marR="6350" marT="6350" marB="0" anchor="ctr"/>
                </a:tc>
                <a:extLst>
                  <a:ext uri="{0D108BD9-81ED-4DB2-BD59-A6C34878D82A}">
                    <a16:rowId xmlns:a16="http://schemas.microsoft.com/office/drawing/2014/main" val="2159784742"/>
                  </a:ext>
                </a:extLst>
              </a:tr>
              <a:tr h="276035">
                <a:tc>
                  <a:txBody>
                    <a:bodyPr/>
                    <a:lstStyle/>
                    <a:p>
                      <a:pPr algn="l" fontAlgn="b">
                        <a:buNone/>
                      </a:pPr>
                      <a:r>
                        <a:rPr lang="en-IN" sz="1050" b="0" u="none" strike="noStrike">
                          <a:solidFill>
                            <a:srgbClr val="000000"/>
                          </a:solidFill>
                          <a:effectLst/>
                        </a:rPr>
                        <a:t>%Growth YoY</a:t>
                      </a:r>
                      <a:endParaRPr lang="en-IN" sz="1050" b="0" i="0" u="none" strike="noStrike">
                        <a:solidFill>
                          <a:srgbClr val="000000"/>
                        </a:solidFill>
                        <a:effectLst/>
                        <a:latin typeface="+mn-lt"/>
                        <a:ea typeface="Lato Regular" panose="020F0502020204030203" pitchFamily="34" charset="0"/>
                        <a:cs typeface="Lato Regular" panose="020F0502020204030203" pitchFamily="34" charset="0"/>
                      </a:endParaRPr>
                    </a:p>
                  </a:txBody>
                  <a:tcPr marL="108000" marR="6350" marT="6350" marB="0" anchor="ctr"/>
                </a:tc>
                <a:tc>
                  <a:txBody>
                    <a:bodyPr/>
                    <a:lstStyle/>
                    <a:p>
                      <a:pPr algn="ctr" fontAlgn="b">
                        <a:buNone/>
                      </a:pPr>
                      <a:r>
                        <a:rPr lang="en-IN" sz="1050" b="0" u="none" strike="noStrike">
                          <a:solidFill>
                            <a:srgbClr val="000000"/>
                          </a:solidFill>
                          <a:effectLst/>
                        </a:rPr>
                        <a:t>86.0%</a:t>
                      </a:r>
                      <a:endParaRPr lang="en-IN" sz="1050" b="0" i="0" u="none" strike="noStrike">
                        <a:solidFill>
                          <a:srgbClr val="000000"/>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IN" sz="1050" b="0" u="none" strike="noStrike">
                          <a:solidFill>
                            <a:srgbClr val="000000"/>
                          </a:solidFill>
                          <a:effectLst/>
                        </a:rPr>
                        <a:t>30.3%</a:t>
                      </a:r>
                      <a:endParaRPr lang="en-IN" sz="1050" b="0" i="0" u="none" strike="noStrike">
                        <a:solidFill>
                          <a:srgbClr val="000000"/>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050" b="0" i="0" u="none" strike="noStrike">
                          <a:solidFill>
                            <a:srgbClr val="000000"/>
                          </a:solidFill>
                          <a:effectLst/>
                          <a:latin typeface="+mn-lt"/>
                          <a:ea typeface="Lato Regular"/>
                          <a:cs typeface="Lato Regular"/>
                        </a:rPr>
                        <a:t>12.8%</a:t>
                      </a:r>
                    </a:p>
                  </a:txBody>
                  <a:tcPr marL="6350" marR="6350" marT="6350" marB="0" anchor="ctr"/>
                </a:tc>
                <a:tc>
                  <a:txBody>
                    <a:bodyPr/>
                    <a:lstStyle/>
                    <a:p>
                      <a:pPr algn="ctr" fontAlgn="b">
                        <a:buNone/>
                      </a:pPr>
                      <a:r>
                        <a:rPr lang="en-US" sz="1050" b="0" i="0" u="none" strike="noStrike">
                          <a:solidFill>
                            <a:srgbClr val="000000"/>
                          </a:solidFill>
                          <a:effectLst/>
                          <a:latin typeface="+mn-lt"/>
                          <a:ea typeface="Lato Regular"/>
                          <a:cs typeface="Lato Regular"/>
                        </a:rPr>
                        <a:t>5.6%</a:t>
                      </a:r>
                    </a:p>
                  </a:txBody>
                  <a:tcPr marL="6350" marR="6350" marT="6350" marB="0" anchor="ctr"/>
                </a:tc>
                <a:tc>
                  <a:txBody>
                    <a:bodyPr/>
                    <a:lstStyle/>
                    <a:p>
                      <a:pPr algn="ctr" fontAlgn="b">
                        <a:buNone/>
                      </a:pPr>
                      <a:r>
                        <a:rPr lang="en-US" sz="1050" b="0" i="0" u="none" strike="noStrike">
                          <a:solidFill>
                            <a:srgbClr val="000000"/>
                          </a:solidFill>
                          <a:effectLst/>
                          <a:latin typeface="+mn-lt"/>
                          <a:ea typeface="Lato Regular"/>
                          <a:cs typeface="Lato Regular"/>
                        </a:rPr>
                        <a:t>24.6%</a:t>
                      </a:r>
                    </a:p>
                  </a:txBody>
                  <a:tcPr marL="6350" marR="6350" marT="6350" marB="0" anchor="ctr"/>
                </a:tc>
                <a:extLst>
                  <a:ext uri="{0D108BD9-81ED-4DB2-BD59-A6C34878D82A}">
                    <a16:rowId xmlns:a16="http://schemas.microsoft.com/office/drawing/2014/main" val="2809398452"/>
                  </a:ext>
                </a:extLst>
              </a:tr>
              <a:tr h="276035">
                <a:tc>
                  <a:txBody>
                    <a:bodyPr/>
                    <a:lstStyle/>
                    <a:p>
                      <a:pPr algn="l" fontAlgn="b">
                        <a:buNone/>
                      </a:pPr>
                      <a:r>
                        <a:rPr lang="en-IN" sz="1050" b="1" u="none" strike="noStrike">
                          <a:solidFill>
                            <a:srgbClr val="000000"/>
                          </a:solidFill>
                          <a:effectLst/>
                        </a:rPr>
                        <a:t>Gross Margin</a:t>
                      </a:r>
                      <a:endParaRPr lang="en-IN" sz="1050" b="1" i="0" u="none" strike="noStrike">
                        <a:solidFill>
                          <a:srgbClr val="000000"/>
                        </a:solidFill>
                        <a:effectLst/>
                        <a:latin typeface="+mn-lt"/>
                        <a:ea typeface="Lato Regular" panose="020F0502020204030203" pitchFamily="34" charset="0"/>
                        <a:cs typeface="Lato Regular" panose="020F0502020204030203" pitchFamily="34" charset="0"/>
                      </a:endParaRPr>
                    </a:p>
                  </a:txBody>
                  <a:tcPr marL="108000" marR="6350" marT="6350" marB="0" anchor="ctr"/>
                </a:tc>
                <a:tc>
                  <a:txBody>
                    <a:bodyPr/>
                    <a:lstStyle/>
                    <a:p>
                      <a:pPr algn="ctr" fontAlgn="b">
                        <a:buNone/>
                      </a:pPr>
                      <a:r>
                        <a:rPr lang="en-IN" sz="1050" b="1" u="none" strike="noStrike">
                          <a:solidFill>
                            <a:srgbClr val="000000"/>
                          </a:solidFill>
                          <a:effectLst/>
                        </a:rPr>
                        <a:t>42.9</a:t>
                      </a:r>
                      <a:endParaRPr lang="en-IN" sz="1050" b="1" i="0" u="none" strike="noStrike">
                        <a:solidFill>
                          <a:srgbClr val="000000"/>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IN" sz="1050" b="1" u="none" strike="noStrike">
                          <a:solidFill>
                            <a:srgbClr val="000000"/>
                          </a:solidFill>
                          <a:effectLst/>
                        </a:rPr>
                        <a:t>56.2</a:t>
                      </a:r>
                      <a:endParaRPr lang="en-IN" sz="1050" b="1" i="0" u="none" strike="noStrike">
                        <a:solidFill>
                          <a:srgbClr val="000000"/>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050" b="1" i="0" u="none" strike="noStrike">
                          <a:solidFill>
                            <a:srgbClr val="000000"/>
                          </a:solidFill>
                          <a:effectLst/>
                          <a:latin typeface="+mn-lt"/>
                          <a:ea typeface="Lato Regular"/>
                          <a:cs typeface="Lato Regular"/>
                        </a:rPr>
                        <a:t>65.2</a:t>
                      </a:r>
                    </a:p>
                  </a:txBody>
                  <a:tcPr marL="6350" marR="6350" marT="6350" marB="0" anchor="ctr"/>
                </a:tc>
                <a:tc>
                  <a:txBody>
                    <a:bodyPr/>
                    <a:lstStyle/>
                    <a:p>
                      <a:pPr algn="ctr" fontAlgn="b">
                        <a:buNone/>
                      </a:pPr>
                      <a:r>
                        <a:rPr lang="en-US" sz="1050" b="1" i="0" u="none" strike="noStrike">
                          <a:solidFill>
                            <a:srgbClr val="000000"/>
                          </a:solidFill>
                          <a:effectLst/>
                          <a:latin typeface="+mn-lt"/>
                          <a:ea typeface="Lato Regular"/>
                          <a:cs typeface="Lato Regular"/>
                        </a:rPr>
                        <a:t>14.1</a:t>
                      </a:r>
                    </a:p>
                  </a:txBody>
                  <a:tcPr marL="6350" marR="6350" marT="6350" marB="0" anchor="ctr"/>
                </a:tc>
                <a:tc>
                  <a:txBody>
                    <a:bodyPr/>
                    <a:lstStyle/>
                    <a:p>
                      <a:pPr algn="ctr" fontAlgn="b">
                        <a:buNone/>
                      </a:pPr>
                      <a:r>
                        <a:rPr lang="en-US" sz="1050" b="1" i="0" u="none" strike="noStrike">
                          <a:solidFill>
                            <a:srgbClr val="000000"/>
                          </a:solidFill>
                          <a:effectLst/>
                          <a:latin typeface="+mn-lt"/>
                          <a:ea typeface="Lato Regular"/>
                          <a:cs typeface="Lato Regular"/>
                        </a:rPr>
                        <a:t>17.92</a:t>
                      </a:r>
                    </a:p>
                  </a:txBody>
                  <a:tcPr marL="6350" marR="6350" marT="6350" marB="0" anchor="ctr"/>
                </a:tc>
                <a:extLst>
                  <a:ext uri="{0D108BD9-81ED-4DB2-BD59-A6C34878D82A}">
                    <a16:rowId xmlns:a16="http://schemas.microsoft.com/office/drawing/2014/main" val="4076501595"/>
                  </a:ext>
                </a:extLst>
              </a:tr>
              <a:tr h="276035">
                <a:tc>
                  <a:txBody>
                    <a:bodyPr/>
                    <a:lstStyle/>
                    <a:p>
                      <a:pPr algn="l" fontAlgn="b">
                        <a:buNone/>
                      </a:pPr>
                      <a:r>
                        <a:rPr lang="en-IN" sz="1050" b="0" u="none" strike="noStrike">
                          <a:solidFill>
                            <a:srgbClr val="000000"/>
                          </a:solidFill>
                          <a:effectLst/>
                        </a:rPr>
                        <a:t>%Gross Margin</a:t>
                      </a:r>
                      <a:endParaRPr lang="en-IN" sz="1050" b="0" i="0" u="none" strike="noStrike">
                        <a:solidFill>
                          <a:srgbClr val="000000"/>
                        </a:solidFill>
                        <a:effectLst/>
                        <a:latin typeface="+mn-lt"/>
                        <a:ea typeface="Lato Regular" panose="020F0502020204030203" pitchFamily="34" charset="0"/>
                        <a:cs typeface="Lato Regular" panose="020F0502020204030203" pitchFamily="34" charset="0"/>
                      </a:endParaRPr>
                    </a:p>
                  </a:txBody>
                  <a:tcPr marL="108000" marR="6350" marT="6350" marB="0" anchor="ctr"/>
                </a:tc>
                <a:tc>
                  <a:txBody>
                    <a:bodyPr/>
                    <a:lstStyle/>
                    <a:p>
                      <a:pPr algn="ctr" fontAlgn="b">
                        <a:buNone/>
                      </a:pPr>
                      <a:r>
                        <a:rPr lang="en-IN" sz="1050" b="0" u="none" strike="noStrike">
                          <a:solidFill>
                            <a:srgbClr val="000000"/>
                          </a:solidFill>
                          <a:effectLst/>
                        </a:rPr>
                        <a:t>68.9%</a:t>
                      </a:r>
                      <a:endParaRPr lang="en-IN" sz="1050" b="0" i="0" u="none" strike="noStrike">
                        <a:solidFill>
                          <a:srgbClr val="000000"/>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IN" sz="1050" b="0" u="none" strike="noStrike">
                          <a:solidFill>
                            <a:srgbClr val="000000"/>
                          </a:solidFill>
                          <a:effectLst/>
                        </a:rPr>
                        <a:t>69.3%</a:t>
                      </a:r>
                      <a:endParaRPr lang="en-IN" sz="1050" b="0" i="0" u="none" strike="noStrike">
                        <a:solidFill>
                          <a:srgbClr val="000000"/>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050" b="0" i="0" u="none" strike="noStrike">
                          <a:solidFill>
                            <a:srgbClr val="000000"/>
                          </a:solidFill>
                          <a:effectLst/>
                          <a:latin typeface="+mn-lt"/>
                          <a:ea typeface="Lato Regular"/>
                          <a:cs typeface="Lato Regular"/>
                        </a:rPr>
                        <a:t>71.2%</a:t>
                      </a:r>
                    </a:p>
                  </a:txBody>
                  <a:tcPr marL="6350" marR="6350" marT="6350" marB="0" anchor="ctr"/>
                </a:tc>
                <a:tc>
                  <a:txBody>
                    <a:bodyPr/>
                    <a:lstStyle/>
                    <a:p>
                      <a:pPr algn="ctr" fontAlgn="b">
                        <a:buNone/>
                      </a:pPr>
                      <a:r>
                        <a:rPr lang="en-US" sz="1050" b="0" i="0" u="none" strike="noStrike">
                          <a:solidFill>
                            <a:srgbClr val="000000"/>
                          </a:solidFill>
                          <a:effectLst/>
                          <a:latin typeface="+mn-lt"/>
                          <a:ea typeface="Lato Regular"/>
                          <a:cs typeface="Lato Regular"/>
                        </a:rPr>
                        <a:t>69.5%</a:t>
                      </a:r>
                    </a:p>
                  </a:txBody>
                  <a:tcPr marL="6350" marR="6350" marT="6350" marB="0" anchor="ctr"/>
                </a:tc>
                <a:tc>
                  <a:txBody>
                    <a:bodyPr/>
                    <a:lstStyle/>
                    <a:p>
                      <a:pPr algn="ctr" fontAlgn="b">
                        <a:buNone/>
                      </a:pPr>
                      <a:r>
                        <a:rPr lang="en-US" sz="1050" b="0" i="0" u="none" strike="noStrike">
                          <a:solidFill>
                            <a:srgbClr val="000000"/>
                          </a:solidFill>
                          <a:effectLst/>
                          <a:latin typeface="+mn-lt"/>
                          <a:ea typeface="Lato Regular"/>
                          <a:cs typeface="Lato Regular"/>
                        </a:rPr>
                        <a:t>70.83%</a:t>
                      </a:r>
                    </a:p>
                  </a:txBody>
                  <a:tcPr marL="6350" marR="6350" marT="6350" marB="0" anchor="ctr"/>
                </a:tc>
                <a:extLst>
                  <a:ext uri="{0D108BD9-81ED-4DB2-BD59-A6C34878D82A}">
                    <a16:rowId xmlns:a16="http://schemas.microsoft.com/office/drawing/2014/main" val="3179895044"/>
                  </a:ext>
                </a:extLst>
              </a:tr>
              <a:tr h="294495">
                <a:tc>
                  <a:txBody>
                    <a:bodyPr/>
                    <a:lstStyle/>
                    <a:p>
                      <a:pPr algn="l" fontAlgn="b">
                        <a:buNone/>
                      </a:pPr>
                      <a:r>
                        <a:rPr lang="en-IN" sz="1050" b="1" u="none" strike="noStrike">
                          <a:solidFill>
                            <a:srgbClr val="000000"/>
                          </a:solidFill>
                          <a:effectLst/>
                        </a:rPr>
                        <a:t>EBITDA</a:t>
                      </a:r>
                      <a:endParaRPr lang="en-IN" sz="1050" b="1" i="0" u="none" strike="noStrike">
                        <a:solidFill>
                          <a:srgbClr val="000000"/>
                        </a:solidFill>
                        <a:effectLst/>
                        <a:latin typeface="+mn-lt"/>
                        <a:ea typeface="Lato Regular" panose="020F0502020204030203" pitchFamily="34" charset="0"/>
                        <a:cs typeface="Lato Regular" panose="020F0502020204030203" pitchFamily="34" charset="0"/>
                      </a:endParaRPr>
                    </a:p>
                  </a:txBody>
                  <a:tcPr marL="108000" marR="6350" marT="6350" marB="0" anchor="ctr"/>
                </a:tc>
                <a:tc>
                  <a:txBody>
                    <a:bodyPr/>
                    <a:lstStyle/>
                    <a:p>
                      <a:pPr algn="ctr" fontAlgn="b">
                        <a:buNone/>
                      </a:pPr>
                      <a:r>
                        <a:rPr lang="en-IN" sz="1050" b="1" u="none" strike="noStrike">
                          <a:solidFill>
                            <a:srgbClr val="000000"/>
                          </a:solidFill>
                          <a:effectLst/>
                        </a:rPr>
                        <a:t>1.9</a:t>
                      </a:r>
                      <a:endParaRPr lang="en-IN" sz="1050" b="1" i="0" u="none" strike="noStrike">
                        <a:solidFill>
                          <a:srgbClr val="000000"/>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IN" sz="1050" b="1" u="none" strike="noStrike">
                          <a:solidFill>
                            <a:srgbClr val="000000"/>
                          </a:solidFill>
                          <a:effectLst/>
                        </a:rPr>
                        <a:t>2.3</a:t>
                      </a:r>
                      <a:endParaRPr lang="en-IN" sz="1050" b="1" i="0" u="none" strike="noStrike">
                        <a:solidFill>
                          <a:srgbClr val="000000"/>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050" b="1" i="0" u="none" strike="noStrike">
                          <a:solidFill>
                            <a:srgbClr val="000000"/>
                          </a:solidFill>
                          <a:effectLst/>
                          <a:latin typeface="+mn-lt"/>
                          <a:ea typeface="Lato Regular"/>
                          <a:cs typeface="Lato Regular"/>
                        </a:rPr>
                        <a:t>4.89</a:t>
                      </a:r>
                    </a:p>
                  </a:txBody>
                  <a:tcPr marL="6350" marR="6350" marT="6350" marB="0" anchor="ctr"/>
                </a:tc>
                <a:tc>
                  <a:txBody>
                    <a:bodyPr/>
                    <a:lstStyle/>
                    <a:p>
                      <a:pPr algn="ctr" fontAlgn="b">
                        <a:buNone/>
                      </a:pPr>
                      <a:r>
                        <a:rPr lang="en-US" sz="1050" b="1" i="0" u="none" strike="noStrike">
                          <a:solidFill>
                            <a:srgbClr val="000000"/>
                          </a:solidFill>
                          <a:effectLst/>
                          <a:latin typeface="+mn-lt"/>
                          <a:ea typeface="Lato Regular"/>
                          <a:cs typeface="Lato Regular"/>
                        </a:rPr>
                        <a:t>-0.6</a:t>
                      </a:r>
                    </a:p>
                  </a:txBody>
                  <a:tcPr marL="6350" marR="6350" marT="6350" marB="0" anchor="ctr"/>
                </a:tc>
                <a:tc>
                  <a:txBody>
                    <a:bodyPr/>
                    <a:lstStyle/>
                    <a:p>
                      <a:pPr algn="ctr" fontAlgn="b">
                        <a:buNone/>
                      </a:pPr>
                      <a:r>
                        <a:rPr lang="en-US" sz="1050" b="1" i="0" u="none" strike="noStrike">
                          <a:solidFill>
                            <a:srgbClr val="000000"/>
                          </a:solidFill>
                          <a:effectLst/>
                          <a:latin typeface="+mn-lt"/>
                          <a:ea typeface="Lato Regular"/>
                          <a:cs typeface="Lato Regular"/>
                        </a:rPr>
                        <a:t>2.36</a:t>
                      </a:r>
                    </a:p>
                  </a:txBody>
                  <a:tcPr marL="6350" marR="6350" marT="6350" marB="0" anchor="ctr"/>
                </a:tc>
                <a:extLst>
                  <a:ext uri="{0D108BD9-81ED-4DB2-BD59-A6C34878D82A}">
                    <a16:rowId xmlns:a16="http://schemas.microsoft.com/office/drawing/2014/main" val="3498926890"/>
                  </a:ext>
                </a:extLst>
              </a:tr>
              <a:tr h="294495">
                <a:tc>
                  <a:txBody>
                    <a:bodyPr/>
                    <a:lstStyle/>
                    <a:p>
                      <a:pPr algn="l" fontAlgn="b">
                        <a:buNone/>
                      </a:pPr>
                      <a:r>
                        <a:rPr lang="en-IN" sz="1050" b="0" u="none" strike="noStrike">
                          <a:solidFill>
                            <a:srgbClr val="000000"/>
                          </a:solidFill>
                          <a:effectLst/>
                        </a:rPr>
                        <a:t>%EBITDA</a:t>
                      </a:r>
                      <a:endParaRPr lang="en-IN" sz="1050" b="0" i="0" u="none" strike="noStrike">
                        <a:solidFill>
                          <a:srgbClr val="000000"/>
                        </a:solidFill>
                        <a:effectLst/>
                        <a:latin typeface="+mn-lt"/>
                        <a:ea typeface="Lato Regular" panose="020F0502020204030203" pitchFamily="34" charset="0"/>
                        <a:cs typeface="Lato Regular" panose="020F0502020204030203" pitchFamily="34" charset="0"/>
                      </a:endParaRPr>
                    </a:p>
                  </a:txBody>
                  <a:tcPr marL="108000" marR="6350" marT="6350" marB="0" anchor="ctr"/>
                </a:tc>
                <a:tc>
                  <a:txBody>
                    <a:bodyPr/>
                    <a:lstStyle/>
                    <a:p>
                      <a:pPr algn="ctr" fontAlgn="b">
                        <a:buNone/>
                      </a:pPr>
                      <a:r>
                        <a:rPr lang="en-IN" sz="1050" b="0" u="none" strike="noStrike">
                          <a:solidFill>
                            <a:srgbClr val="000000"/>
                          </a:solidFill>
                          <a:effectLst/>
                        </a:rPr>
                        <a:t>3.1%</a:t>
                      </a:r>
                      <a:endParaRPr lang="en-IN" sz="1050" b="0" i="0" u="none" strike="noStrike">
                        <a:solidFill>
                          <a:srgbClr val="000000"/>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IN" sz="1050" b="0" u="none" strike="noStrike">
                          <a:solidFill>
                            <a:srgbClr val="000000"/>
                          </a:solidFill>
                          <a:effectLst/>
                        </a:rPr>
                        <a:t>2.8%</a:t>
                      </a:r>
                      <a:endParaRPr lang="en-IN" sz="1050" b="0" i="0" u="none" strike="noStrike">
                        <a:solidFill>
                          <a:srgbClr val="000000"/>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050" b="0" i="0" u="none" strike="noStrike">
                          <a:solidFill>
                            <a:srgbClr val="000000"/>
                          </a:solidFill>
                          <a:effectLst/>
                          <a:latin typeface="+mn-lt"/>
                          <a:ea typeface="Lato Regular"/>
                          <a:cs typeface="Lato Regular"/>
                        </a:rPr>
                        <a:t>5.3%</a:t>
                      </a:r>
                    </a:p>
                  </a:txBody>
                  <a:tcPr marL="6350" marR="6350" marT="6350" marB="0" anchor="ctr"/>
                </a:tc>
                <a:tc>
                  <a:txBody>
                    <a:bodyPr/>
                    <a:lstStyle/>
                    <a:p>
                      <a:pPr algn="ctr" fontAlgn="b">
                        <a:buNone/>
                      </a:pPr>
                      <a:r>
                        <a:rPr lang="en-US" sz="1050" b="0" i="0" u="none" strike="noStrike">
                          <a:solidFill>
                            <a:srgbClr val="000000"/>
                          </a:solidFill>
                          <a:effectLst/>
                          <a:latin typeface="+mn-lt"/>
                          <a:ea typeface="Lato Regular"/>
                          <a:cs typeface="Lato Regular"/>
                        </a:rPr>
                        <a:t>-3.1%</a:t>
                      </a:r>
                    </a:p>
                  </a:txBody>
                  <a:tcPr marL="6350" marR="6350" marT="6350" marB="0" anchor="ctr"/>
                </a:tc>
                <a:tc>
                  <a:txBody>
                    <a:bodyPr/>
                    <a:lstStyle/>
                    <a:p>
                      <a:pPr algn="ctr" fontAlgn="b">
                        <a:buNone/>
                      </a:pPr>
                      <a:r>
                        <a:rPr lang="en-US" sz="1050" b="0" i="0" u="none" strike="noStrike">
                          <a:solidFill>
                            <a:srgbClr val="000000"/>
                          </a:solidFill>
                          <a:effectLst/>
                          <a:latin typeface="+mn-lt"/>
                          <a:ea typeface="Lato Regular"/>
                          <a:cs typeface="Lato Regular"/>
                        </a:rPr>
                        <a:t>9.33%</a:t>
                      </a:r>
                    </a:p>
                  </a:txBody>
                  <a:tcPr marL="6350" marR="6350" marT="6350" marB="0" anchor="ctr"/>
                </a:tc>
                <a:extLst>
                  <a:ext uri="{0D108BD9-81ED-4DB2-BD59-A6C34878D82A}">
                    <a16:rowId xmlns:a16="http://schemas.microsoft.com/office/drawing/2014/main" val="3759208202"/>
                  </a:ext>
                </a:extLst>
              </a:tr>
            </a:tbl>
          </a:graphicData>
        </a:graphic>
      </p:graphicFrame>
      <p:cxnSp>
        <p:nvCxnSpPr>
          <p:cNvPr id="21" name="Straight Connector 20">
            <a:extLst>
              <a:ext uri="{FF2B5EF4-FFF2-40B4-BE49-F238E27FC236}">
                <a16:creationId xmlns:a16="http://schemas.microsoft.com/office/drawing/2014/main" id="{A6D17347-358D-539D-DCCF-3CE8C1D59C01}"/>
              </a:ext>
            </a:extLst>
          </p:cNvPr>
          <p:cNvCxnSpPr>
            <a:cxnSpLocks/>
          </p:cNvCxnSpPr>
          <p:nvPr/>
        </p:nvCxnSpPr>
        <p:spPr>
          <a:xfrm>
            <a:off x="5082559" y="536026"/>
            <a:ext cx="0" cy="320217"/>
          </a:xfrm>
          <a:prstGeom prst="line">
            <a:avLst/>
          </a:prstGeom>
          <a:ln/>
        </p:spPr>
        <p:style>
          <a:lnRef idx="1">
            <a:schemeClr val="accent1"/>
          </a:lnRef>
          <a:fillRef idx="0">
            <a:schemeClr val="accent1"/>
          </a:fillRef>
          <a:effectRef idx="0">
            <a:schemeClr val="accent1"/>
          </a:effectRef>
          <a:fontRef idx="minor">
            <a:schemeClr val="tx1"/>
          </a:fontRef>
        </p:style>
      </p:cxnSp>
      <p:sp>
        <p:nvSpPr>
          <p:cNvPr id="9" name="TextBox 10">
            <a:extLst>
              <a:ext uri="{FF2B5EF4-FFF2-40B4-BE49-F238E27FC236}">
                <a16:creationId xmlns:a16="http://schemas.microsoft.com/office/drawing/2014/main" id="{9D725536-077D-9BF0-5936-E94E0447D2D5}"/>
              </a:ext>
            </a:extLst>
          </p:cNvPr>
          <p:cNvSpPr txBox="1"/>
          <p:nvPr/>
        </p:nvSpPr>
        <p:spPr>
          <a:xfrm>
            <a:off x="470919" y="4101921"/>
            <a:ext cx="4478817" cy="2845655"/>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gn="just">
              <a:buFont typeface="Arial" panose="020B0604020202020204" pitchFamily="34" charset="0"/>
              <a:buChar char="•"/>
            </a:pPr>
            <a:r>
              <a:rPr lang="en-US" sz="1200" err="1">
                <a:solidFill>
                  <a:schemeClr val="bg2">
                    <a:lumMod val="10000"/>
                  </a:schemeClr>
                </a:solidFill>
                <a:ea typeface="Calibri"/>
                <a:cs typeface="Calibri"/>
              </a:rPr>
              <a:t>Leegality</a:t>
            </a:r>
            <a:r>
              <a:rPr lang="en-US" sz="1200">
                <a:solidFill>
                  <a:schemeClr val="bg2">
                    <a:lumMod val="10000"/>
                  </a:schemeClr>
                </a:solidFill>
                <a:ea typeface="Calibri"/>
                <a:cs typeface="Calibri"/>
              </a:rPr>
              <a:t> is a digital documentation platform — Aadhaar e-Sign, e-Stamping, integrations with leading E-KYC and LOS/LMS systems. It is integrated with most of India's fintechs and financial institutions.</a:t>
            </a:r>
            <a:endParaRPr lang="en-US"/>
          </a:p>
          <a:p>
            <a:pPr marL="171450" indent="-171450" algn="just">
              <a:buFont typeface="Arial" panose="020B0604020202020204" pitchFamily="34" charset="0"/>
              <a:buChar char="•"/>
            </a:pPr>
            <a:r>
              <a:rPr lang="en-US" sz="1200">
                <a:solidFill>
                  <a:schemeClr val="bg2">
                    <a:lumMod val="10000"/>
                  </a:schemeClr>
                </a:solidFill>
                <a:ea typeface="Calibri"/>
                <a:cs typeface="Calibri"/>
              </a:rPr>
              <a:t>Q4 FY26 revenue accelerated to INR 25.3 Cr (+24% YoY). Full-year revenue grew to INR 91.5 Cr. </a:t>
            </a:r>
          </a:p>
          <a:p>
            <a:pPr marL="171450" indent="-171450" algn="just">
              <a:buFont typeface="Arial" panose="020B0604020202020204" pitchFamily="34" charset="0"/>
              <a:buChar char="•"/>
            </a:pPr>
            <a:r>
              <a:rPr lang="en-US" sz="1200">
                <a:solidFill>
                  <a:schemeClr val="bg2">
                    <a:lumMod val="10000"/>
                  </a:schemeClr>
                </a:solidFill>
                <a:ea typeface="Calibri"/>
                <a:cs typeface="Calibri"/>
              </a:rPr>
              <a:t>Gross margins expanded to 71.2%. EBITDA strengthened to INR 4.89 Cr in FY26, more than double FY25.</a:t>
            </a:r>
            <a:endParaRPr lang="en-US">
              <a:solidFill>
                <a:schemeClr val="bg2">
                  <a:lumMod val="10000"/>
                </a:schemeClr>
              </a:solidFill>
            </a:endParaRPr>
          </a:p>
          <a:p>
            <a:pPr marL="171450" indent="-171450" algn="just">
              <a:buFont typeface="Arial" panose="020B0604020202020204" pitchFamily="34" charset="0"/>
              <a:buChar char="•"/>
            </a:pPr>
            <a:r>
              <a:rPr lang="en-US" sz="1200">
                <a:solidFill>
                  <a:schemeClr val="bg2">
                    <a:lumMod val="10000"/>
                  </a:schemeClr>
                </a:solidFill>
                <a:ea typeface="Calibri"/>
                <a:cs typeface="Calibri"/>
              </a:rPr>
              <a:t>It is not the kind of business that generates headlines. It is the kind of business that, in five years, you suddenly notice has become indispensable infrastructure. </a:t>
            </a:r>
          </a:p>
          <a:p>
            <a:pPr marL="171450" indent="-171450" algn="just">
              <a:spcAft>
                <a:spcPts val="600"/>
              </a:spcAft>
              <a:buFont typeface="Arial"/>
              <a:buChar char="•"/>
            </a:pPr>
            <a:endParaRPr lang="en-US" sz="1200">
              <a:solidFill>
                <a:schemeClr val="bg2">
                  <a:lumMod val="10000"/>
                </a:schemeClr>
              </a:solidFill>
              <a:ea typeface="Lato Regular" panose="020F0502020204030203" pitchFamily="34" charset="0"/>
              <a:cs typeface="Lato Regular" panose="020F0502020204030203" pitchFamily="34" charset="0"/>
            </a:endParaRPr>
          </a:p>
          <a:p>
            <a:pPr marL="171450" indent="-171450" algn="just">
              <a:spcAft>
                <a:spcPts val="600"/>
              </a:spcAft>
              <a:buFont typeface="Arial,Sans-Serif"/>
              <a:buChar char="•"/>
            </a:pPr>
            <a:endParaRPr lang="en-US" sz="1200">
              <a:solidFill>
                <a:srgbClr val="2C2B69"/>
              </a:solidFill>
              <a:ea typeface="Lato Regular" panose="020F0502020204030203" pitchFamily="34" charset="0"/>
              <a:cs typeface="Lato Regular" panose="020F0502020204030203" pitchFamily="34" charset="0"/>
            </a:endParaRPr>
          </a:p>
          <a:p>
            <a:pPr marL="171450" indent="-171450" algn="just">
              <a:spcAft>
                <a:spcPts val="600"/>
              </a:spcAft>
              <a:buFont typeface="Arial"/>
              <a:buChar char="•"/>
            </a:pPr>
            <a:endParaRPr lang="en-US" sz="1200">
              <a:solidFill>
                <a:schemeClr val="bg2">
                  <a:lumMod val="10000"/>
                </a:schemeClr>
              </a:solidFill>
              <a:ea typeface="Lato Regular" panose="020F0502020204030203" pitchFamily="34" charset="0"/>
              <a:cs typeface="Lato Regular" panose="020F0502020204030203" pitchFamily="34" charset="0"/>
            </a:endParaRPr>
          </a:p>
        </p:txBody>
      </p:sp>
    </p:spTree>
    <p:extLst>
      <p:ext uri="{BB962C8B-B14F-4D97-AF65-F5344CB8AC3E}">
        <p14:creationId xmlns:p14="http://schemas.microsoft.com/office/powerpoint/2010/main" val="3238566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A5BE1-3F40-DB89-BE70-C3D53273F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C80F29-E04A-D429-B1D9-B320D57CC151}"/>
              </a:ext>
            </a:extLst>
          </p:cNvPr>
          <p:cNvSpPr>
            <a:spLocks noGrp="1"/>
          </p:cNvSpPr>
          <p:nvPr>
            <p:ph type="title"/>
          </p:nvPr>
        </p:nvSpPr>
        <p:spPr>
          <a:xfrm>
            <a:off x="371557" y="525420"/>
            <a:ext cx="5785508" cy="334515"/>
          </a:xfrm>
        </p:spPr>
        <p:txBody>
          <a:bodyPr/>
          <a:lstStyle/>
          <a:p>
            <a:r>
              <a:rPr lang="en-US" err="1"/>
              <a:t>Giskard</a:t>
            </a:r>
            <a:r>
              <a:rPr lang="en-US"/>
              <a:t> Datatech Private Limited - </a:t>
            </a:r>
            <a:r>
              <a:rPr lang="en-US" err="1"/>
              <a:t>Trendlyne</a:t>
            </a:r>
            <a:endParaRPr lang="en-US"/>
          </a:p>
        </p:txBody>
      </p:sp>
      <p:sp>
        <p:nvSpPr>
          <p:cNvPr id="3" name="TextBox 2">
            <a:extLst>
              <a:ext uri="{FF2B5EF4-FFF2-40B4-BE49-F238E27FC236}">
                <a16:creationId xmlns:a16="http://schemas.microsoft.com/office/drawing/2014/main" id="{AE5A08D8-AE38-3266-1605-8F6314F5EBCA}"/>
              </a:ext>
            </a:extLst>
          </p:cNvPr>
          <p:cNvSpPr txBox="1"/>
          <p:nvPr/>
        </p:nvSpPr>
        <p:spPr>
          <a:xfrm>
            <a:off x="499141" y="1387387"/>
            <a:ext cx="3450246" cy="320216"/>
          </a:xfrm>
          <a:prstGeom prst="rect">
            <a:avLst/>
          </a:prstGeom>
          <a:noFill/>
        </p:spPr>
        <p:txBody>
          <a:bodyPr wrap="square" rtlCol="0">
            <a:spAutoFit/>
          </a:bodyPr>
          <a:lstStyle/>
          <a:p>
            <a:r>
              <a:rPr lang="en-IN" sz="1481" b="1">
                <a:solidFill>
                  <a:schemeClr val="tx2"/>
                </a:solidFill>
                <a:ea typeface="Lato Regular" panose="020F0502020204030203" pitchFamily="34" charset="0"/>
                <a:cs typeface="Lato Regular" panose="020F0502020204030203" pitchFamily="34" charset="0"/>
              </a:rPr>
              <a:t>Business Description</a:t>
            </a:r>
          </a:p>
        </p:txBody>
      </p:sp>
      <p:sp>
        <p:nvSpPr>
          <p:cNvPr id="4" name="TextBox 3">
            <a:extLst>
              <a:ext uri="{FF2B5EF4-FFF2-40B4-BE49-F238E27FC236}">
                <a16:creationId xmlns:a16="http://schemas.microsoft.com/office/drawing/2014/main" id="{3D1DC7AB-36C1-F16C-C1C9-542F5E7773E0}"/>
              </a:ext>
            </a:extLst>
          </p:cNvPr>
          <p:cNvSpPr txBox="1"/>
          <p:nvPr/>
        </p:nvSpPr>
        <p:spPr>
          <a:xfrm>
            <a:off x="426679" y="3758220"/>
            <a:ext cx="3450246" cy="320216"/>
          </a:xfrm>
          <a:prstGeom prst="rect">
            <a:avLst/>
          </a:prstGeom>
          <a:noFill/>
        </p:spPr>
        <p:txBody>
          <a:bodyPr wrap="square" rtlCol="0">
            <a:spAutoFit/>
          </a:bodyPr>
          <a:lstStyle/>
          <a:p>
            <a:r>
              <a:rPr lang="en-IN" sz="1481" b="1">
                <a:solidFill>
                  <a:schemeClr val="tx2"/>
                </a:solidFill>
                <a:ea typeface="Lato Regular" panose="020F0502020204030203" pitchFamily="34" charset="0"/>
                <a:cs typeface="Lato Regular" panose="020F0502020204030203" pitchFamily="34" charset="0"/>
              </a:rPr>
              <a:t>Performance Commentary</a:t>
            </a:r>
          </a:p>
        </p:txBody>
      </p:sp>
      <p:sp>
        <p:nvSpPr>
          <p:cNvPr id="5" name="TextBox 4">
            <a:extLst>
              <a:ext uri="{FF2B5EF4-FFF2-40B4-BE49-F238E27FC236}">
                <a16:creationId xmlns:a16="http://schemas.microsoft.com/office/drawing/2014/main" id="{11880987-0212-3F4C-31D1-4A3CD6FE3B21}"/>
              </a:ext>
            </a:extLst>
          </p:cNvPr>
          <p:cNvSpPr txBox="1"/>
          <p:nvPr/>
        </p:nvSpPr>
        <p:spPr>
          <a:xfrm>
            <a:off x="5539984" y="3805112"/>
            <a:ext cx="3450246" cy="227883"/>
          </a:xfrm>
          <a:prstGeom prst="rect">
            <a:avLst/>
          </a:prstGeom>
          <a:noFill/>
        </p:spPr>
        <p:txBody>
          <a:bodyPr wrap="square" lIns="0" tIns="0" rIns="0" bIns="0" rtlCol="0">
            <a:spAutoFit/>
          </a:bodyPr>
          <a:lstStyle/>
          <a:p>
            <a:r>
              <a:rPr lang="en-IN" sz="1481" b="1">
                <a:solidFill>
                  <a:schemeClr val="tx2"/>
                </a:solidFill>
                <a:ea typeface="Lato Regular" panose="020F0502020204030203" pitchFamily="34" charset="0"/>
                <a:cs typeface="Lato Regular" panose="020F0502020204030203" pitchFamily="34" charset="0"/>
              </a:rPr>
              <a:t>Key Financial Highlights</a:t>
            </a:r>
          </a:p>
        </p:txBody>
      </p:sp>
      <p:sp>
        <p:nvSpPr>
          <p:cNvPr id="6" name="Rectangle 5">
            <a:extLst>
              <a:ext uri="{FF2B5EF4-FFF2-40B4-BE49-F238E27FC236}">
                <a16:creationId xmlns:a16="http://schemas.microsoft.com/office/drawing/2014/main" id="{3A4749E8-2636-B674-38AA-A33D74D3F0FD}"/>
              </a:ext>
            </a:extLst>
          </p:cNvPr>
          <p:cNvSpPr/>
          <p:nvPr/>
        </p:nvSpPr>
        <p:spPr>
          <a:xfrm>
            <a:off x="562116" y="1815136"/>
            <a:ext cx="4322513" cy="1969770"/>
          </a:xfrm>
          <a:prstGeom prst="rect">
            <a:avLst/>
          </a:prstGeom>
        </p:spPr>
        <p:txBody>
          <a:bodyPr wrap="square" lIns="0" tIns="0" rIns="0" bIns="0" anchor="t">
            <a:spAutoFit/>
          </a:bodyPr>
          <a:lstStyle/>
          <a:p>
            <a:pPr marL="171450" indent="-171450" algn="just">
              <a:spcAft>
                <a:spcPts val="600"/>
              </a:spcAft>
              <a:buFont typeface="Arial" panose="020B0604020202020204" pitchFamily="34" charset="0"/>
              <a:buChar char="•"/>
            </a:pPr>
            <a:r>
              <a:rPr lang="en-US" sz="1200">
                <a:solidFill>
                  <a:schemeClr val="bg2">
                    <a:lumMod val="10000"/>
                  </a:schemeClr>
                </a:solidFill>
                <a:ea typeface="Calibri"/>
                <a:cs typeface="Calibri"/>
                <a:sym typeface="Calibri"/>
              </a:rPr>
              <a:t>It is a data analytics  API platform for stock brokers, financial institutions and business news websites like </a:t>
            </a:r>
            <a:r>
              <a:rPr lang="en-US" sz="1200" err="1">
                <a:solidFill>
                  <a:schemeClr val="bg2">
                    <a:lumMod val="10000"/>
                  </a:schemeClr>
                </a:solidFill>
                <a:ea typeface="Calibri"/>
                <a:cs typeface="Calibri"/>
                <a:sym typeface="Calibri"/>
              </a:rPr>
              <a:t>moneycontrol</a:t>
            </a:r>
            <a:r>
              <a:rPr lang="en-US" sz="1200">
                <a:solidFill>
                  <a:schemeClr val="bg2">
                    <a:lumMod val="10000"/>
                  </a:schemeClr>
                </a:solidFill>
                <a:ea typeface="Calibri"/>
                <a:cs typeface="Calibri"/>
                <a:sym typeface="Calibri"/>
              </a:rPr>
              <a:t>. </a:t>
            </a:r>
          </a:p>
          <a:p>
            <a:pPr marL="171450" indent="-171450" algn="just">
              <a:spcAft>
                <a:spcPts val="600"/>
              </a:spcAft>
              <a:buFont typeface="Arial" panose="020B0604020202020204" pitchFamily="34" charset="0"/>
              <a:buChar char="•"/>
            </a:pPr>
            <a:r>
              <a:rPr lang="en-US" sz="1200">
                <a:solidFill>
                  <a:schemeClr val="bg2">
                    <a:lumMod val="10000"/>
                  </a:schemeClr>
                </a:solidFill>
                <a:ea typeface="Calibri"/>
                <a:cs typeface="Calibri"/>
                <a:sym typeface="Calibri"/>
              </a:rPr>
              <a:t>The platform provides tools for managing portfolios, </a:t>
            </a:r>
            <a:r>
              <a:rPr lang="en-US" sz="1200" err="1">
                <a:solidFill>
                  <a:schemeClr val="bg2">
                    <a:lumMod val="10000"/>
                  </a:schemeClr>
                </a:solidFill>
                <a:ea typeface="Calibri"/>
                <a:cs typeface="Calibri"/>
                <a:sym typeface="Calibri"/>
              </a:rPr>
              <a:t>analysing</a:t>
            </a:r>
            <a:r>
              <a:rPr lang="en-US" sz="1200">
                <a:solidFill>
                  <a:schemeClr val="bg2">
                    <a:lumMod val="10000"/>
                  </a:schemeClr>
                </a:solidFill>
                <a:ea typeface="Calibri"/>
                <a:cs typeface="Calibri"/>
                <a:sym typeface="Calibri"/>
              </a:rPr>
              <a:t> trade strategies etc. </a:t>
            </a:r>
          </a:p>
          <a:p>
            <a:pPr marL="171450" indent="-171450" algn="just">
              <a:spcAft>
                <a:spcPts val="600"/>
              </a:spcAft>
              <a:buFont typeface="Arial" panose="020B0604020202020204" pitchFamily="34" charset="0"/>
              <a:buChar char="•"/>
            </a:pPr>
            <a:r>
              <a:rPr lang="en-US" sz="1200">
                <a:solidFill>
                  <a:schemeClr val="bg2">
                    <a:lumMod val="10000"/>
                  </a:schemeClr>
                </a:solidFill>
                <a:ea typeface="Calibri"/>
                <a:cs typeface="Calibri"/>
                <a:sym typeface="Calibri"/>
              </a:rPr>
              <a:t>It charges customers on the basis of features that they would enable. </a:t>
            </a:r>
            <a:endParaRPr lang="en-US" sz="1200">
              <a:solidFill>
                <a:schemeClr val="bg2">
                  <a:lumMod val="10000"/>
                </a:schemeClr>
              </a:solidFill>
              <a:ea typeface="Calibri"/>
              <a:cs typeface="Calibri"/>
            </a:endParaRPr>
          </a:p>
          <a:p>
            <a:pPr marL="171450" indent="-171450" algn="just">
              <a:spcAft>
                <a:spcPts val="600"/>
              </a:spcAft>
              <a:buFont typeface="Arial" panose="020B0604020202020204" pitchFamily="34" charset="0"/>
              <a:buChar char="•"/>
            </a:pPr>
            <a:r>
              <a:rPr lang="en-US" sz="1200" err="1">
                <a:solidFill>
                  <a:schemeClr val="bg2">
                    <a:lumMod val="10000"/>
                  </a:schemeClr>
                </a:solidFill>
                <a:ea typeface="Calibri"/>
                <a:cs typeface="Calibri"/>
              </a:rPr>
              <a:t>Starfolio</a:t>
            </a:r>
            <a:r>
              <a:rPr lang="en-US" sz="1200">
                <a:solidFill>
                  <a:schemeClr val="bg2">
                    <a:lumMod val="10000"/>
                  </a:schemeClr>
                </a:solidFill>
                <a:ea typeface="Calibri"/>
                <a:cs typeface="Calibri"/>
              </a:rPr>
              <a:t>, </a:t>
            </a:r>
            <a:r>
              <a:rPr lang="en-US" sz="1200" err="1">
                <a:solidFill>
                  <a:schemeClr val="bg2">
                    <a:lumMod val="10000"/>
                  </a:schemeClr>
                </a:solidFill>
                <a:ea typeface="Calibri"/>
                <a:cs typeface="Calibri"/>
              </a:rPr>
              <a:t>Smartoptions</a:t>
            </a:r>
            <a:r>
              <a:rPr lang="en-US" sz="1200">
                <a:solidFill>
                  <a:schemeClr val="bg2">
                    <a:lumMod val="10000"/>
                  </a:schemeClr>
                </a:solidFill>
                <a:ea typeface="Calibri"/>
                <a:cs typeface="Calibri"/>
              </a:rPr>
              <a:t>, </a:t>
            </a:r>
            <a:r>
              <a:rPr lang="en-US" sz="1200" err="1">
                <a:solidFill>
                  <a:schemeClr val="bg2">
                    <a:lumMod val="10000"/>
                  </a:schemeClr>
                </a:solidFill>
                <a:ea typeface="Calibri"/>
                <a:cs typeface="Calibri"/>
              </a:rPr>
              <a:t>MarketMind</a:t>
            </a:r>
            <a:r>
              <a:rPr lang="en-US" sz="1200">
                <a:solidFill>
                  <a:schemeClr val="bg2">
                    <a:lumMod val="10000"/>
                  </a:schemeClr>
                </a:solidFill>
                <a:ea typeface="Calibri"/>
                <a:cs typeface="Calibri"/>
              </a:rPr>
              <a:t> AI  are one of the  recent products launched by the company.</a:t>
            </a:r>
          </a:p>
          <a:p>
            <a:pPr marL="171450" indent="-171450" algn="just">
              <a:spcAft>
                <a:spcPts val="600"/>
              </a:spcAft>
              <a:buFont typeface="Arial" panose="020B0604020202020204" pitchFamily="34" charset="0"/>
              <a:buChar char="•"/>
            </a:pPr>
            <a:endParaRPr lang="en-US" sz="1200">
              <a:solidFill>
                <a:schemeClr val="bg2">
                  <a:lumMod val="10000"/>
                </a:schemeClr>
              </a:solidFill>
              <a:ea typeface="Calibri"/>
              <a:cs typeface="Calibri"/>
            </a:endParaRPr>
          </a:p>
        </p:txBody>
      </p:sp>
      <p:sp>
        <p:nvSpPr>
          <p:cNvPr id="7" name="TextBox 6">
            <a:extLst>
              <a:ext uri="{FF2B5EF4-FFF2-40B4-BE49-F238E27FC236}">
                <a16:creationId xmlns:a16="http://schemas.microsoft.com/office/drawing/2014/main" id="{E2838656-C0A3-0EC9-2147-0F7C441E7B8D}"/>
              </a:ext>
            </a:extLst>
          </p:cNvPr>
          <p:cNvSpPr txBox="1"/>
          <p:nvPr/>
        </p:nvSpPr>
        <p:spPr>
          <a:xfrm>
            <a:off x="381110" y="4005592"/>
            <a:ext cx="4703509" cy="3354765"/>
          </a:xfrm>
          <a:prstGeom prst="rect">
            <a:avLst/>
          </a:prstGeom>
          <a:noFill/>
        </p:spPr>
        <p:txBody>
          <a:bodyPr wrap="square" lIns="91440" tIns="45720" rIns="91440" bIns="45720" rtlCol="0" anchor="t">
            <a:spAutoFit/>
          </a:bodyPr>
          <a:lstStyle/>
          <a:p>
            <a:pPr marL="171450" indent="-171450" algn="just">
              <a:spcAft>
                <a:spcPts val="600"/>
              </a:spcAft>
              <a:buFont typeface="Arial" panose="020B0604020202020204" pitchFamily="34" charset="0"/>
              <a:buChar char="•"/>
            </a:pPr>
            <a:r>
              <a:rPr lang="en-GB" sz="1200">
                <a:solidFill>
                  <a:schemeClr val="bg2">
                    <a:lumMod val="10000"/>
                  </a:schemeClr>
                </a:solidFill>
                <a:ea typeface="Calibri"/>
                <a:cs typeface="Calibri"/>
              </a:rPr>
              <a:t>A textbook case in why second-level thinking matters. Headline revenue growth moderated to 7% in FY26 (from 52% in FY25), and a casual reader would call it deceleration. The fuller picture: B2C traffic was intercepted by Google's AI summaries for casual stock queries — a structural blow — while the company simultaneously pivoted to higher-ARPU B2B and AI-driven monetisation. Q4 revenue rebounded </a:t>
            </a:r>
            <a:r>
              <a:rPr lang="en-GB" sz="1200" b="1">
                <a:solidFill>
                  <a:schemeClr val="bg2">
                    <a:lumMod val="10000"/>
                  </a:schemeClr>
                </a:solidFill>
                <a:ea typeface="Calibri"/>
                <a:cs typeface="Calibri"/>
              </a:rPr>
              <a:t>+15% YoY</a:t>
            </a:r>
            <a:r>
              <a:rPr lang="en-GB" sz="1200">
                <a:solidFill>
                  <a:schemeClr val="bg2">
                    <a:lumMod val="10000"/>
                  </a:schemeClr>
                </a:solidFill>
                <a:ea typeface="Calibri"/>
                <a:cs typeface="Calibri"/>
              </a:rPr>
              <a:t> with B2B API usage exceeding 1 billion calls/month. </a:t>
            </a:r>
            <a:r>
              <a:rPr lang="en-GB" sz="1200" b="1">
                <a:solidFill>
                  <a:schemeClr val="bg2">
                    <a:lumMod val="10000"/>
                  </a:schemeClr>
                </a:solidFill>
                <a:ea typeface="Calibri"/>
                <a:cs typeface="Calibri"/>
              </a:rPr>
              <a:t>Retention ratio</a:t>
            </a:r>
            <a:r>
              <a:rPr lang="en-GB" sz="1200">
                <a:solidFill>
                  <a:schemeClr val="bg2">
                    <a:lumMod val="10000"/>
                  </a:schemeClr>
                </a:solidFill>
                <a:ea typeface="Calibri"/>
                <a:cs typeface="Calibri"/>
              </a:rPr>
              <a:t> climbed to</a:t>
            </a:r>
            <a:r>
              <a:rPr lang="en-GB" sz="1200" b="1">
                <a:solidFill>
                  <a:schemeClr val="bg2">
                    <a:lumMod val="10000"/>
                  </a:schemeClr>
                </a:solidFill>
                <a:ea typeface="Calibri"/>
                <a:cs typeface="Calibri"/>
              </a:rPr>
              <a:t> 95.2%</a:t>
            </a:r>
            <a:r>
              <a:rPr lang="en-GB" sz="1200">
                <a:solidFill>
                  <a:schemeClr val="bg2">
                    <a:lumMod val="10000"/>
                  </a:schemeClr>
                </a:solidFill>
                <a:ea typeface="Calibri"/>
                <a:cs typeface="Calibri"/>
              </a:rPr>
              <a:t>. </a:t>
            </a:r>
            <a:r>
              <a:rPr lang="en-GB" sz="1200" b="1">
                <a:solidFill>
                  <a:schemeClr val="bg2">
                    <a:lumMod val="10000"/>
                  </a:schemeClr>
                </a:solidFill>
                <a:ea typeface="Calibri"/>
                <a:cs typeface="Calibri"/>
              </a:rPr>
              <a:t>EBITDA margin:</a:t>
            </a:r>
            <a:r>
              <a:rPr lang="en-GB" sz="1200">
                <a:solidFill>
                  <a:schemeClr val="bg2">
                    <a:lumMod val="10000"/>
                  </a:schemeClr>
                </a:solidFill>
                <a:ea typeface="Calibri"/>
                <a:cs typeface="Calibri"/>
              </a:rPr>
              <a:t> </a:t>
            </a:r>
            <a:r>
              <a:rPr lang="en-GB" sz="1200" b="1">
                <a:solidFill>
                  <a:schemeClr val="bg2">
                    <a:lumMod val="10000"/>
                  </a:schemeClr>
                </a:solidFill>
                <a:ea typeface="Calibri"/>
                <a:cs typeface="Calibri"/>
              </a:rPr>
              <a:t>35.4%</a:t>
            </a:r>
            <a:r>
              <a:rPr lang="en-GB" sz="1200">
                <a:solidFill>
                  <a:schemeClr val="bg2">
                    <a:lumMod val="10000"/>
                  </a:schemeClr>
                </a:solidFill>
                <a:ea typeface="Calibri"/>
                <a:cs typeface="Calibri"/>
              </a:rPr>
              <a:t>.</a:t>
            </a:r>
            <a:endParaRPr lang="en-US" sz="1200">
              <a:solidFill>
                <a:schemeClr val="bg2">
                  <a:lumMod val="10000"/>
                </a:schemeClr>
              </a:solidFill>
              <a:ea typeface="Calibri"/>
              <a:cs typeface="Calibri"/>
            </a:endParaRPr>
          </a:p>
          <a:p>
            <a:pPr marL="171450" indent="-171450" algn="just">
              <a:spcAft>
                <a:spcPts val="600"/>
              </a:spcAft>
              <a:buFont typeface="Arial" panose="020B0604020202020204" pitchFamily="34" charset="0"/>
              <a:buChar char="•"/>
            </a:pPr>
            <a:r>
              <a:rPr lang="en-GB" sz="1200">
                <a:solidFill>
                  <a:schemeClr val="bg2">
                    <a:lumMod val="10000"/>
                  </a:schemeClr>
                </a:solidFill>
                <a:ea typeface="Calibri"/>
                <a:cs typeface="Calibri"/>
              </a:rPr>
              <a:t>What this looks like from the outside is a slowdown. What it actually is, is a mix shift. Mix shifts are how durable franchises are built — provided management has the patience to absorb the optics. So far, they have.</a:t>
            </a:r>
            <a:endParaRPr lang="en-US" sz="1200">
              <a:solidFill>
                <a:schemeClr val="bg2">
                  <a:lumMod val="10000"/>
                </a:schemeClr>
              </a:solidFill>
              <a:ea typeface="Calibri"/>
              <a:cs typeface="Calibri"/>
            </a:endParaRPr>
          </a:p>
          <a:p>
            <a:pPr marL="171450" indent="-171450" algn="just">
              <a:spcAft>
                <a:spcPts val="600"/>
              </a:spcAft>
              <a:buFont typeface="Arial" panose="020B0604020202020204" pitchFamily="34" charset="0"/>
              <a:buChar char="•"/>
            </a:pPr>
            <a:endParaRPr lang="en-GB" sz="1200">
              <a:solidFill>
                <a:schemeClr val="bg2">
                  <a:lumMod val="10000"/>
                </a:schemeClr>
              </a:solidFill>
              <a:latin typeface="Aptos"/>
              <a:ea typeface="Lato Regular"/>
              <a:cs typeface="Segoe UI"/>
            </a:endParaRPr>
          </a:p>
          <a:p>
            <a:pPr marL="171450" indent="-171450" algn="just">
              <a:spcAft>
                <a:spcPts val="600"/>
              </a:spcAft>
              <a:buFont typeface="Arial" panose="020B0604020202020204" pitchFamily="34" charset="0"/>
              <a:buChar char="•"/>
            </a:pPr>
            <a:endParaRPr lang="en-GB" sz="1200">
              <a:solidFill>
                <a:schemeClr val="bg2">
                  <a:lumMod val="10000"/>
                </a:schemeClr>
              </a:solidFill>
              <a:latin typeface="Aptos"/>
              <a:ea typeface="Lato Regular"/>
              <a:cs typeface="Lato Regular"/>
            </a:endParaRPr>
          </a:p>
          <a:p>
            <a:pPr marL="171450" indent="-171450" algn="just">
              <a:spcAft>
                <a:spcPts val="600"/>
              </a:spcAft>
              <a:buFont typeface="Arial" panose="020B0604020202020204" pitchFamily="34" charset="0"/>
              <a:buChar char="•"/>
            </a:pPr>
            <a:endParaRPr lang="en-GB" sz="1200">
              <a:solidFill>
                <a:schemeClr val="bg2">
                  <a:lumMod val="10000"/>
                </a:schemeClr>
              </a:solidFill>
              <a:latin typeface="Aptos"/>
              <a:ea typeface="Lato Regular" panose="020F0502020204030203" pitchFamily="34" charset="0"/>
              <a:cs typeface="Lato Regular" panose="020F0502020204030203" pitchFamily="34" charset="0"/>
            </a:endParaRPr>
          </a:p>
        </p:txBody>
      </p:sp>
      <p:cxnSp>
        <p:nvCxnSpPr>
          <p:cNvPr id="10" name="Straight Connector 9">
            <a:extLst>
              <a:ext uri="{FF2B5EF4-FFF2-40B4-BE49-F238E27FC236}">
                <a16:creationId xmlns:a16="http://schemas.microsoft.com/office/drawing/2014/main" id="{47C8D8C5-1DA0-15E9-31AA-5C08F2BA4EAC}"/>
              </a:ext>
            </a:extLst>
          </p:cNvPr>
          <p:cNvCxnSpPr>
            <a:cxnSpLocks/>
          </p:cNvCxnSpPr>
          <p:nvPr/>
        </p:nvCxnSpPr>
        <p:spPr>
          <a:xfrm>
            <a:off x="5961909" y="536026"/>
            <a:ext cx="0" cy="320217"/>
          </a:xfrm>
          <a:prstGeom prst="line">
            <a:avLst/>
          </a:prstGeom>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DE2D6A8-1CB6-BDDB-9347-44A341F781B3}"/>
              </a:ext>
            </a:extLst>
          </p:cNvPr>
          <p:cNvSpPr txBox="1"/>
          <p:nvPr/>
        </p:nvSpPr>
        <p:spPr>
          <a:xfrm>
            <a:off x="5539984" y="1433554"/>
            <a:ext cx="3607078" cy="227883"/>
          </a:xfrm>
          <a:prstGeom prst="rect">
            <a:avLst/>
          </a:prstGeom>
          <a:noFill/>
        </p:spPr>
        <p:txBody>
          <a:bodyPr wrap="square" lIns="0" tIns="0" rIns="0" bIns="0" rtlCol="0">
            <a:spAutoFit/>
          </a:bodyPr>
          <a:lstStyle/>
          <a:p>
            <a:r>
              <a:rPr lang="en-IN" sz="1481" b="1">
                <a:solidFill>
                  <a:schemeClr val="tx2"/>
                </a:solidFill>
                <a:ea typeface="Lato Regular" panose="020F0502020204030203" pitchFamily="34" charset="0"/>
                <a:cs typeface="Lato Regular" panose="020F0502020204030203" pitchFamily="34" charset="0"/>
              </a:rPr>
              <a:t>Key Performance Indicators</a:t>
            </a:r>
          </a:p>
        </p:txBody>
      </p:sp>
      <p:pic>
        <p:nvPicPr>
          <p:cNvPr id="12" name="Picture 2" descr="Trendlyne - Products, Competitors, Financials, Employees, Headquarters  Locations">
            <a:extLst>
              <a:ext uri="{FF2B5EF4-FFF2-40B4-BE49-F238E27FC236}">
                <a16:creationId xmlns:a16="http://schemas.microsoft.com/office/drawing/2014/main" id="{C717699C-01B5-D4BC-BF1C-B72D6D312F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6425" y="549113"/>
            <a:ext cx="1026050" cy="31842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3" name="Table 12">
            <a:extLst>
              <a:ext uri="{FF2B5EF4-FFF2-40B4-BE49-F238E27FC236}">
                <a16:creationId xmlns:a16="http://schemas.microsoft.com/office/drawing/2014/main" id="{D4F4763D-7F3F-6D0D-FF99-31F5770C6A8A}"/>
              </a:ext>
            </a:extLst>
          </p:cNvPr>
          <p:cNvGraphicFramePr>
            <a:graphicFrameLocks noGrp="1"/>
          </p:cNvGraphicFramePr>
          <p:nvPr>
            <p:extLst>
              <p:ext uri="{D42A27DB-BD31-4B8C-83A1-F6EECF244321}">
                <p14:modId xmlns:p14="http://schemas.microsoft.com/office/powerpoint/2010/main" val="2039429413"/>
              </p:ext>
            </p:extLst>
          </p:nvPr>
        </p:nvGraphicFramePr>
        <p:xfrm>
          <a:off x="5539984" y="1840227"/>
          <a:ext cx="5833725" cy="1374267"/>
        </p:xfrm>
        <a:graphic>
          <a:graphicData uri="http://schemas.openxmlformats.org/drawingml/2006/table">
            <a:tbl>
              <a:tblPr firstRow="1" bandRow="1">
                <a:tableStyleId>{69012ECD-51FC-41F1-AA8D-1B2483CD663E}</a:tableStyleId>
              </a:tblPr>
              <a:tblGrid>
                <a:gridCol w="2032635">
                  <a:extLst>
                    <a:ext uri="{9D8B030D-6E8A-4147-A177-3AD203B41FA5}">
                      <a16:colId xmlns:a16="http://schemas.microsoft.com/office/drawing/2014/main" val="3001066899"/>
                    </a:ext>
                  </a:extLst>
                </a:gridCol>
                <a:gridCol w="911806">
                  <a:extLst>
                    <a:ext uri="{9D8B030D-6E8A-4147-A177-3AD203B41FA5}">
                      <a16:colId xmlns:a16="http://schemas.microsoft.com/office/drawing/2014/main" val="700748351"/>
                    </a:ext>
                  </a:extLst>
                </a:gridCol>
                <a:gridCol w="722321">
                  <a:extLst>
                    <a:ext uri="{9D8B030D-6E8A-4147-A177-3AD203B41FA5}">
                      <a16:colId xmlns:a16="http://schemas.microsoft.com/office/drawing/2014/main" val="3274968397"/>
                    </a:ext>
                  </a:extLst>
                </a:gridCol>
                <a:gridCol w="722321">
                  <a:extLst>
                    <a:ext uri="{9D8B030D-6E8A-4147-A177-3AD203B41FA5}">
                      <a16:colId xmlns:a16="http://schemas.microsoft.com/office/drawing/2014/main" val="3623532732"/>
                    </a:ext>
                  </a:extLst>
                </a:gridCol>
                <a:gridCol w="722321">
                  <a:extLst>
                    <a:ext uri="{9D8B030D-6E8A-4147-A177-3AD203B41FA5}">
                      <a16:colId xmlns:a16="http://schemas.microsoft.com/office/drawing/2014/main" val="746035582"/>
                    </a:ext>
                  </a:extLst>
                </a:gridCol>
                <a:gridCol w="722321">
                  <a:extLst>
                    <a:ext uri="{9D8B030D-6E8A-4147-A177-3AD203B41FA5}">
                      <a16:colId xmlns:a16="http://schemas.microsoft.com/office/drawing/2014/main" val="2799431461"/>
                    </a:ext>
                  </a:extLst>
                </a:gridCol>
              </a:tblGrid>
              <a:tr h="262575">
                <a:tc>
                  <a:txBody>
                    <a:bodyPr/>
                    <a:lstStyle/>
                    <a:p>
                      <a:pPr algn="l" fontAlgn="b">
                        <a:buNone/>
                      </a:pPr>
                      <a:r>
                        <a:rPr lang="en-US" sz="1050" b="1" i="0" u="none" strike="noStrike">
                          <a:solidFill>
                            <a:schemeClr val="bg1"/>
                          </a:solidFill>
                          <a:effectLst/>
                          <a:latin typeface="+mj-lt"/>
                          <a:ea typeface="Lato Regular" panose="020F0502020204030203" pitchFamily="34" charset="0"/>
                          <a:cs typeface="Lato Regular" panose="020F0502020204030203" pitchFamily="34" charset="0"/>
                        </a:rPr>
                        <a:t>KPIs</a:t>
                      </a:r>
                    </a:p>
                  </a:txBody>
                  <a:tcPr marL="72000" marR="6350" marT="6350" marB="0" anchor="ctr"/>
                </a:tc>
                <a:tc>
                  <a:txBody>
                    <a:bodyPr/>
                    <a:lstStyle/>
                    <a:p>
                      <a:pPr algn="ctr" rtl="0" fontAlgn="base"/>
                      <a:r>
                        <a:rPr lang="en-US" sz="1050" b="1" i="0" u="none" strike="noStrike" kern="1200">
                          <a:solidFill>
                            <a:schemeClr val="bg1"/>
                          </a:solidFill>
                          <a:effectLst/>
                          <a:latin typeface="+mj-lt"/>
                          <a:ea typeface="+mn-ea"/>
                          <a:cs typeface="+mn-cs"/>
                        </a:rPr>
                        <a:t>FY24</a:t>
                      </a:r>
                    </a:p>
                  </a:txBody>
                  <a:tcPr anchor="ctr"/>
                </a:tc>
                <a:tc>
                  <a:txBody>
                    <a:bodyPr/>
                    <a:lstStyle/>
                    <a:p>
                      <a:pPr algn="ctr" rtl="0" fontAlgn="base"/>
                      <a:r>
                        <a:rPr lang="en-US" sz="1050" b="1" i="0" u="none" strike="noStrike">
                          <a:solidFill>
                            <a:schemeClr val="bg1"/>
                          </a:solidFill>
                          <a:effectLst/>
                          <a:latin typeface="+mj-lt"/>
                        </a:rPr>
                        <a:t>FY25</a:t>
                      </a:r>
                      <a:r>
                        <a:rPr lang="en-US" sz="1050" b="1" i="0">
                          <a:solidFill>
                            <a:schemeClr val="bg1"/>
                          </a:solidFill>
                          <a:effectLst/>
                          <a:latin typeface="+mj-lt"/>
                        </a:rPr>
                        <a:t>​</a:t>
                      </a:r>
                    </a:p>
                  </a:txBody>
                  <a:tcPr anchor="ctr"/>
                </a:tc>
                <a:tc>
                  <a:txBody>
                    <a:bodyPr/>
                    <a:lstStyle/>
                    <a:p>
                      <a:pPr algn="ctr" rtl="0" fontAlgn="base"/>
                      <a:r>
                        <a:rPr lang="en-US" sz="1050" b="1" i="0" u="none" strike="noStrike">
                          <a:solidFill>
                            <a:schemeClr val="bg1"/>
                          </a:solidFill>
                          <a:effectLst/>
                          <a:latin typeface="+mj-lt"/>
                        </a:rPr>
                        <a:t>FY26</a:t>
                      </a:r>
                      <a:r>
                        <a:rPr lang="en-US" sz="1050" b="1" i="0">
                          <a:solidFill>
                            <a:schemeClr val="bg1"/>
                          </a:solidFill>
                          <a:effectLst/>
                          <a:latin typeface="+mj-lt"/>
                        </a:rPr>
                        <a:t>​</a:t>
                      </a:r>
                    </a:p>
                  </a:txBody>
                  <a:tcPr anchor="ctr"/>
                </a:tc>
                <a:tc>
                  <a:txBody>
                    <a:bodyPr/>
                    <a:lstStyle/>
                    <a:p>
                      <a:pPr algn="ctr" rtl="0" fontAlgn="base"/>
                      <a:r>
                        <a:rPr lang="en-IN" sz="1050" b="1" i="0" u="none" strike="noStrike">
                          <a:solidFill>
                            <a:schemeClr val="bg1"/>
                          </a:solidFill>
                          <a:effectLst/>
                          <a:latin typeface="+mj-lt"/>
                        </a:rPr>
                        <a:t>Q4FY25</a:t>
                      </a:r>
                      <a:r>
                        <a:rPr lang="en-IN" sz="1050" b="1" i="0">
                          <a:solidFill>
                            <a:schemeClr val="bg1"/>
                          </a:solidFill>
                          <a:effectLst/>
                          <a:latin typeface="+mj-lt"/>
                        </a:rPr>
                        <a:t>​</a:t>
                      </a:r>
                    </a:p>
                  </a:txBody>
                  <a:tcPr anchor="ctr"/>
                </a:tc>
                <a:tc>
                  <a:txBody>
                    <a:bodyPr/>
                    <a:lstStyle/>
                    <a:p>
                      <a:pPr algn="ctr" rtl="0" fontAlgn="base"/>
                      <a:r>
                        <a:rPr lang="en-IN" sz="1050" b="1" i="0" u="none" strike="noStrike">
                          <a:solidFill>
                            <a:schemeClr val="bg1"/>
                          </a:solidFill>
                          <a:effectLst/>
                          <a:latin typeface="+mj-lt"/>
                        </a:rPr>
                        <a:t>Q4FY26</a:t>
                      </a:r>
                      <a:r>
                        <a:rPr lang="en-IN" sz="1050" b="1" i="0">
                          <a:solidFill>
                            <a:schemeClr val="bg1"/>
                          </a:solidFill>
                          <a:effectLst/>
                          <a:latin typeface="+mj-lt"/>
                        </a:rPr>
                        <a:t>​</a:t>
                      </a:r>
                    </a:p>
                  </a:txBody>
                  <a:tcPr anchor="ctr"/>
                </a:tc>
                <a:extLst>
                  <a:ext uri="{0D108BD9-81ED-4DB2-BD59-A6C34878D82A}">
                    <a16:rowId xmlns:a16="http://schemas.microsoft.com/office/drawing/2014/main" val="3735237806"/>
                  </a:ext>
                </a:extLst>
              </a:tr>
              <a:tr h="262575">
                <a:tc>
                  <a:txBody>
                    <a:bodyPr/>
                    <a:lstStyle/>
                    <a:p>
                      <a:pPr algn="l" fontAlgn="b"/>
                      <a:r>
                        <a:rPr lang="en-US" sz="1050" b="1" u="none" strike="noStrike">
                          <a:solidFill>
                            <a:srgbClr val="000000"/>
                          </a:solidFill>
                          <a:effectLst/>
                          <a:latin typeface="+mj-lt"/>
                          <a:ea typeface="Lato Regular" panose="020F0502020204030203" pitchFamily="34" charset="0"/>
                          <a:cs typeface="Lato Regular" panose="020F0502020204030203" pitchFamily="34" charset="0"/>
                        </a:rPr>
                        <a:t>Total subscriptions</a:t>
                      </a:r>
                      <a:endParaRPr lang="en-US" sz="1050" b="1" i="0" u="none" strike="noStrike">
                        <a:solidFill>
                          <a:srgbClr val="000000"/>
                        </a:solidFill>
                        <a:effectLst/>
                        <a:latin typeface="+mj-lt"/>
                        <a:ea typeface="Lato Regular" panose="020F0502020204030203" pitchFamily="34" charset="0"/>
                        <a:cs typeface="Lato Regular" panose="020F0502020204030203" pitchFamily="34" charset="0"/>
                      </a:endParaRPr>
                    </a:p>
                  </a:txBody>
                  <a:tcPr marL="72000" marR="6350" marT="6350" marB="0" anchor="ctr"/>
                </a:tc>
                <a:tc>
                  <a:txBody>
                    <a:bodyPr/>
                    <a:lstStyle/>
                    <a:p>
                      <a:pPr algn="ctr" fontAlgn="b"/>
                      <a:r>
                        <a:rPr lang="en-IN" sz="1050" b="1" i="0" u="none" strike="noStrike">
                          <a:solidFill>
                            <a:srgbClr val="000000"/>
                          </a:solidFill>
                          <a:effectLst/>
                          <a:latin typeface="+mj-lt"/>
                        </a:rPr>
                        <a:t>26,416 </a:t>
                      </a:r>
                    </a:p>
                  </a:txBody>
                  <a:tcPr marL="9525" marR="9525" marT="9525" marB="0" anchor="ctr"/>
                </a:tc>
                <a:tc>
                  <a:txBody>
                    <a:bodyPr/>
                    <a:lstStyle/>
                    <a:p>
                      <a:pPr algn="ctr" fontAlgn="b"/>
                      <a:r>
                        <a:rPr lang="en-IN" sz="1050" b="1" i="0" u="none" strike="noStrike" kern="1200">
                          <a:solidFill>
                            <a:srgbClr val="000000"/>
                          </a:solidFill>
                          <a:effectLst/>
                          <a:latin typeface="+mj-lt"/>
                          <a:ea typeface="Lato Regular"/>
                          <a:cs typeface="Lato Regular"/>
                        </a:rPr>
                        <a:t>24,559 </a:t>
                      </a:r>
                    </a:p>
                  </a:txBody>
                  <a:tcPr marL="6350" marR="6350" marT="6350" marB="0" anchor="ctr"/>
                </a:tc>
                <a:tc>
                  <a:txBody>
                    <a:bodyPr/>
                    <a:lstStyle/>
                    <a:p>
                      <a:pPr algn="ctr" fontAlgn="b"/>
                      <a:r>
                        <a:rPr lang="en-IN" sz="1050" b="1" i="0" u="none" strike="noStrike" kern="1200">
                          <a:solidFill>
                            <a:srgbClr val="000000"/>
                          </a:solidFill>
                          <a:effectLst/>
                          <a:latin typeface="+mj-lt"/>
                          <a:ea typeface="Lato Regular"/>
                          <a:cs typeface="Lato Regular"/>
                        </a:rPr>
                        <a:t>18,360</a:t>
                      </a:r>
                    </a:p>
                  </a:txBody>
                  <a:tcPr marL="6350" marR="6350" marT="6350" marB="0" anchor="ctr"/>
                </a:tc>
                <a:tc>
                  <a:txBody>
                    <a:bodyPr/>
                    <a:lstStyle/>
                    <a:p>
                      <a:pPr algn="ctr" fontAlgn="b"/>
                      <a:r>
                        <a:rPr lang="en-IN" sz="1050" b="1" i="0" u="none" strike="noStrike" kern="1200">
                          <a:solidFill>
                            <a:srgbClr val="000000"/>
                          </a:solidFill>
                          <a:effectLst/>
                          <a:latin typeface="+mj-lt"/>
                          <a:ea typeface="Lato Regular"/>
                          <a:cs typeface="Lato Regular"/>
                        </a:rPr>
                        <a:t>24,550</a:t>
                      </a:r>
                    </a:p>
                  </a:txBody>
                  <a:tcPr marL="6350" marR="6350" marT="6350" marB="0" anchor="ctr"/>
                </a:tc>
                <a:tc>
                  <a:txBody>
                    <a:bodyPr/>
                    <a:lstStyle/>
                    <a:p>
                      <a:pPr algn="ctr" fontAlgn="b"/>
                      <a:r>
                        <a:rPr lang="en-IN" sz="1050" b="1" i="0" u="none" strike="noStrike" kern="1200">
                          <a:solidFill>
                            <a:srgbClr val="000000"/>
                          </a:solidFill>
                          <a:effectLst/>
                          <a:latin typeface="+mj-lt"/>
                          <a:ea typeface="Lato Regular"/>
                          <a:cs typeface="Lato Regular"/>
                        </a:rPr>
                        <a:t>18,360</a:t>
                      </a:r>
                    </a:p>
                  </a:txBody>
                  <a:tcPr marL="6350" marR="6350" marT="6350" marB="0" anchor="ctr"/>
                </a:tc>
                <a:extLst>
                  <a:ext uri="{0D108BD9-81ED-4DB2-BD59-A6C34878D82A}">
                    <a16:rowId xmlns:a16="http://schemas.microsoft.com/office/drawing/2014/main" val="930605583"/>
                  </a:ext>
                </a:extLst>
              </a:tr>
              <a:tr h="262575">
                <a:tc>
                  <a:txBody>
                    <a:bodyPr/>
                    <a:lstStyle/>
                    <a:p>
                      <a:pPr algn="l" fontAlgn="b"/>
                      <a:r>
                        <a:rPr lang="en-US" sz="1050" u="none" strike="noStrike">
                          <a:solidFill>
                            <a:srgbClr val="000000"/>
                          </a:solidFill>
                          <a:effectLst/>
                          <a:latin typeface="+mj-lt"/>
                          <a:ea typeface="Lato Regular" panose="020F0502020204030203" pitchFamily="34" charset="0"/>
                          <a:cs typeface="Lato Regular" panose="020F0502020204030203" pitchFamily="34" charset="0"/>
                        </a:rPr>
                        <a:t>% Growth YoY</a:t>
                      </a:r>
                      <a:endParaRPr lang="en-US" sz="1050" b="0" i="0" u="none" strike="noStrike">
                        <a:solidFill>
                          <a:srgbClr val="000000"/>
                        </a:solidFill>
                        <a:effectLst/>
                        <a:latin typeface="+mj-lt"/>
                        <a:ea typeface="Lato Regular" panose="020F0502020204030203" pitchFamily="34" charset="0"/>
                        <a:cs typeface="Lato Regular" panose="020F0502020204030203" pitchFamily="34" charset="0"/>
                      </a:endParaRPr>
                    </a:p>
                  </a:txBody>
                  <a:tcPr marL="72000" marR="6350" marT="6350" marB="0" anchor="ctr"/>
                </a:tc>
                <a:tc>
                  <a:txBody>
                    <a:bodyPr/>
                    <a:lstStyle/>
                    <a:p>
                      <a:pPr algn="ctr" fontAlgn="b"/>
                      <a:r>
                        <a:rPr lang="en-IN" sz="1050" b="0" i="0" u="none" strike="noStrike">
                          <a:solidFill>
                            <a:srgbClr val="000000"/>
                          </a:solidFill>
                          <a:effectLst/>
                          <a:latin typeface="+mj-lt"/>
                        </a:rPr>
                        <a:t>83.3%</a:t>
                      </a:r>
                    </a:p>
                  </a:txBody>
                  <a:tcPr marL="9525" marR="9525" marT="9525" marB="0" anchor="ctr"/>
                </a:tc>
                <a:tc>
                  <a:txBody>
                    <a:bodyPr/>
                    <a:lstStyle/>
                    <a:p>
                      <a:pPr algn="ctr" fontAlgn="b"/>
                      <a:r>
                        <a:rPr lang="en-IN" sz="1050" b="0" i="0" u="none" strike="noStrike" kern="1200">
                          <a:solidFill>
                            <a:srgbClr val="000000"/>
                          </a:solidFill>
                          <a:effectLst/>
                          <a:latin typeface="+mj-lt"/>
                          <a:ea typeface="Lato Regular" panose="020F0502020204030203" pitchFamily="34" charset="0"/>
                          <a:cs typeface="Lato Regular" panose="020F0502020204030203" pitchFamily="34" charset="0"/>
                        </a:rPr>
                        <a:t>-8.1%</a:t>
                      </a:r>
                    </a:p>
                  </a:txBody>
                  <a:tcPr marL="6350" marR="6350" marT="6350" marB="0" anchor="ctr"/>
                </a:tc>
                <a:tc>
                  <a:txBody>
                    <a:bodyPr/>
                    <a:lstStyle/>
                    <a:p>
                      <a:pPr algn="ctr" fontAlgn="b"/>
                      <a:r>
                        <a:rPr lang="en-IN" sz="1050" b="0" i="0" u="none" strike="noStrike" kern="1200">
                          <a:solidFill>
                            <a:srgbClr val="000000"/>
                          </a:solidFill>
                          <a:effectLst/>
                          <a:latin typeface="+mn-lt"/>
                          <a:ea typeface="Lato Regular" panose="020F0502020204030203" pitchFamily="34" charset="0"/>
                          <a:cs typeface="Lato Regular" panose="020F0502020204030203" pitchFamily="34" charset="0"/>
                        </a:rPr>
                        <a:t>-26.7%</a:t>
                      </a:r>
                      <a:endParaRPr lang="en-IN" sz="1050" b="0" i="0" u="none" strike="noStrike" kern="1200">
                        <a:solidFill>
                          <a:srgbClr val="000000"/>
                        </a:solidFill>
                        <a:effectLst/>
                        <a:latin typeface="+mj-lt"/>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r>
                        <a:rPr lang="en-IN" sz="1050" b="0" i="0" u="none" strike="noStrike" kern="1200">
                          <a:solidFill>
                            <a:srgbClr val="000000"/>
                          </a:solidFill>
                          <a:effectLst/>
                          <a:latin typeface="+mj-lt"/>
                          <a:ea typeface="Lato Regular"/>
                          <a:cs typeface="Lato Regular"/>
                        </a:rPr>
                        <a:t>-8.10%</a:t>
                      </a:r>
                    </a:p>
                  </a:txBody>
                  <a:tcPr marL="6350" marR="6350" marT="6350" marB="0" anchor="ctr"/>
                </a:tc>
                <a:tc>
                  <a:txBody>
                    <a:bodyPr/>
                    <a:lstStyle/>
                    <a:p>
                      <a:pPr algn="ctr" fontAlgn="b"/>
                      <a:r>
                        <a:rPr lang="en-IN" sz="1050" b="0" i="0" u="none" strike="noStrike" kern="1200">
                          <a:solidFill>
                            <a:srgbClr val="000000"/>
                          </a:solidFill>
                          <a:effectLst/>
                          <a:latin typeface="+mn-lt"/>
                          <a:ea typeface="Lato Regular" panose="020F0502020204030203" pitchFamily="34" charset="0"/>
                          <a:cs typeface="Lato Regular" panose="020F0502020204030203" pitchFamily="34" charset="0"/>
                        </a:rPr>
                        <a:t>-26.7%</a:t>
                      </a:r>
                      <a:endParaRPr lang="en-IN" sz="1050" b="0" i="0" u="none" strike="noStrike" kern="1200">
                        <a:solidFill>
                          <a:srgbClr val="000000"/>
                        </a:solidFill>
                        <a:effectLst/>
                        <a:latin typeface="+mj-lt"/>
                        <a:ea typeface="Lato Regular" panose="020F0502020204030203" pitchFamily="34" charset="0"/>
                        <a:cs typeface="Lato Regular" panose="020F0502020204030203" pitchFamily="34" charset="0"/>
                      </a:endParaRPr>
                    </a:p>
                  </a:txBody>
                  <a:tcPr marL="6350" marR="6350" marT="6350" marB="0" anchor="ctr"/>
                </a:tc>
                <a:extLst>
                  <a:ext uri="{0D108BD9-81ED-4DB2-BD59-A6C34878D82A}">
                    <a16:rowId xmlns:a16="http://schemas.microsoft.com/office/drawing/2014/main" val="3872373918"/>
                  </a:ext>
                </a:extLst>
              </a:tr>
              <a:tr h="293271">
                <a:tc>
                  <a:txBody>
                    <a:bodyPr/>
                    <a:lstStyle/>
                    <a:p>
                      <a:pPr algn="l" fontAlgn="b"/>
                      <a:r>
                        <a:rPr lang="en-US" sz="1050" b="0" u="none" strike="noStrike">
                          <a:solidFill>
                            <a:srgbClr val="000000"/>
                          </a:solidFill>
                          <a:effectLst/>
                          <a:latin typeface="+mj-lt"/>
                          <a:ea typeface="Lato Regular" panose="020F0502020204030203" pitchFamily="34" charset="0"/>
                          <a:cs typeface="Lato Regular" panose="020F0502020204030203" pitchFamily="34" charset="0"/>
                        </a:rPr>
                        <a:t>Downloads (000’)</a:t>
                      </a:r>
                      <a:endParaRPr lang="en-US" sz="1050" b="0" i="0" u="none" strike="noStrike">
                        <a:solidFill>
                          <a:srgbClr val="000000"/>
                        </a:solidFill>
                        <a:effectLst/>
                        <a:latin typeface="+mj-lt"/>
                        <a:ea typeface="Lato Regular" panose="020F0502020204030203" pitchFamily="34" charset="0"/>
                        <a:cs typeface="Lato Regular" panose="020F0502020204030203" pitchFamily="34" charset="0"/>
                      </a:endParaRPr>
                    </a:p>
                  </a:txBody>
                  <a:tcPr marL="72000" marR="6350" marT="6350" marB="0" anchor="ctr"/>
                </a:tc>
                <a:tc>
                  <a:txBody>
                    <a:bodyPr/>
                    <a:lstStyle/>
                    <a:p>
                      <a:pPr algn="ctr" fontAlgn="b"/>
                      <a:r>
                        <a:rPr lang="en-IN" sz="1050" b="0" i="0" u="none" strike="noStrike">
                          <a:solidFill>
                            <a:srgbClr val="000000"/>
                          </a:solidFill>
                          <a:effectLst/>
                          <a:latin typeface="+mj-lt"/>
                        </a:rPr>
                        <a:t> 1,088</a:t>
                      </a:r>
                    </a:p>
                  </a:txBody>
                  <a:tcPr marL="9525" marR="9525" marT="9525" marB="0" anchor="ctr"/>
                </a:tc>
                <a:tc>
                  <a:txBody>
                    <a:bodyPr/>
                    <a:lstStyle/>
                    <a:p>
                      <a:pPr algn="ctr" fontAlgn="b"/>
                      <a:r>
                        <a:rPr lang="en-US" sz="1050" b="0" i="0" u="none" strike="noStrike" kern="1200">
                          <a:solidFill>
                            <a:srgbClr val="000000"/>
                          </a:solidFill>
                          <a:effectLst/>
                          <a:latin typeface="+mj-lt"/>
                          <a:ea typeface="Lato Regular"/>
                          <a:cs typeface="Lato Regular"/>
                        </a:rPr>
                        <a:t>1,437</a:t>
                      </a:r>
                      <a:endParaRPr lang="en-IN" sz="1050" b="0" i="0" u="none" strike="noStrike" kern="1200">
                        <a:solidFill>
                          <a:srgbClr val="000000"/>
                        </a:solidFill>
                        <a:effectLst/>
                        <a:latin typeface="+mj-lt"/>
                        <a:ea typeface="Lato Regular"/>
                        <a:cs typeface="Lato Regular"/>
                      </a:endParaRPr>
                    </a:p>
                  </a:txBody>
                  <a:tcPr marL="6350" marR="6350" marT="6350" marB="0" anchor="ctr"/>
                </a:tc>
                <a:tc>
                  <a:txBody>
                    <a:bodyPr/>
                    <a:lstStyle/>
                    <a:p>
                      <a:pPr algn="ctr" fontAlgn="b"/>
                      <a:r>
                        <a:rPr lang="en-IN" sz="1050" b="0" i="0" u="none" strike="noStrike" kern="1200">
                          <a:solidFill>
                            <a:srgbClr val="000000"/>
                          </a:solidFill>
                          <a:effectLst/>
                          <a:latin typeface="+mj-lt"/>
                          <a:ea typeface="Lato Regular"/>
                          <a:cs typeface="Lato Regular"/>
                        </a:rPr>
                        <a:t>1,660</a:t>
                      </a:r>
                    </a:p>
                  </a:txBody>
                  <a:tcPr marL="6350" marR="6350" marT="6350" marB="0" anchor="ctr"/>
                </a:tc>
                <a:tc>
                  <a:txBody>
                    <a:bodyPr/>
                    <a:lstStyle/>
                    <a:p>
                      <a:pPr algn="ctr" fontAlgn="b"/>
                      <a:r>
                        <a:rPr lang="en-IN" sz="1050" b="0" i="0" u="none" strike="noStrike" kern="1200">
                          <a:solidFill>
                            <a:srgbClr val="000000"/>
                          </a:solidFill>
                          <a:effectLst/>
                          <a:latin typeface="+mj-lt"/>
                          <a:ea typeface="Lato Regular"/>
                          <a:cs typeface="Lato Regular"/>
                        </a:rPr>
                        <a:t>1,437</a:t>
                      </a:r>
                    </a:p>
                  </a:txBody>
                  <a:tcPr marL="6350" marR="6350" marT="6350" marB="0" anchor="ctr"/>
                </a:tc>
                <a:tc>
                  <a:txBody>
                    <a:bodyPr/>
                    <a:lstStyle/>
                    <a:p>
                      <a:pPr algn="ctr" fontAlgn="b"/>
                      <a:r>
                        <a:rPr lang="en-IN" sz="1050" b="0" i="0" u="none" strike="noStrike" kern="1200">
                          <a:solidFill>
                            <a:srgbClr val="000000"/>
                          </a:solidFill>
                          <a:effectLst/>
                          <a:latin typeface="+mj-lt"/>
                          <a:ea typeface="Lato Regular"/>
                          <a:cs typeface="Lato Regular"/>
                        </a:rPr>
                        <a:t>1,660</a:t>
                      </a:r>
                    </a:p>
                  </a:txBody>
                  <a:tcPr marL="6350" marR="6350" marT="6350" marB="0" anchor="ctr"/>
                </a:tc>
                <a:extLst>
                  <a:ext uri="{0D108BD9-81ED-4DB2-BD59-A6C34878D82A}">
                    <a16:rowId xmlns:a16="http://schemas.microsoft.com/office/drawing/2014/main" val="2159784742"/>
                  </a:ext>
                </a:extLst>
              </a:tr>
              <a:tr h="293271">
                <a:tc>
                  <a:txBody>
                    <a:bodyPr/>
                    <a:lstStyle/>
                    <a:p>
                      <a:pPr algn="l" fontAlgn="b"/>
                      <a:r>
                        <a:rPr lang="en-US" sz="1050" u="none" strike="noStrike">
                          <a:solidFill>
                            <a:srgbClr val="000000"/>
                          </a:solidFill>
                          <a:effectLst/>
                          <a:latin typeface="+mj-lt"/>
                          <a:ea typeface="Lato Regular" panose="020F0502020204030203" pitchFamily="34" charset="0"/>
                          <a:cs typeface="Lato Regular" panose="020F0502020204030203" pitchFamily="34" charset="0"/>
                        </a:rPr>
                        <a:t>Retention ratio</a:t>
                      </a:r>
                      <a:endParaRPr lang="en-US" sz="1050" b="0" i="0" u="none" strike="noStrike">
                        <a:solidFill>
                          <a:srgbClr val="000000"/>
                        </a:solidFill>
                        <a:effectLst/>
                        <a:latin typeface="+mj-lt"/>
                        <a:ea typeface="Lato Regular" panose="020F0502020204030203" pitchFamily="34" charset="0"/>
                        <a:cs typeface="Lato Regular" panose="020F0502020204030203" pitchFamily="34" charset="0"/>
                      </a:endParaRPr>
                    </a:p>
                  </a:txBody>
                  <a:tcPr marL="72000" marR="6350" marT="6350" marB="0" anchor="ctr"/>
                </a:tc>
                <a:tc>
                  <a:txBody>
                    <a:bodyPr/>
                    <a:lstStyle/>
                    <a:p>
                      <a:pPr algn="ctr" fontAlgn="b"/>
                      <a:r>
                        <a:rPr lang="en-IN" sz="1050" b="0" i="0" u="none" strike="noStrike">
                          <a:solidFill>
                            <a:srgbClr val="000000"/>
                          </a:solidFill>
                          <a:effectLst/>
                          <a:latin typeface="+mj-lt"/>
                        </a:rPr>
                        <a:t>90.3%</a:t>
                      </a:r>
                    </a:p>
                  </a:txBody>
                  <a:tcPr marL="9525" marR="9525" marT="9525" marB="0" anchor="ctr"/>
                </a:tc>
                <a:tc>
                  <a:txBody>
                    <a:bodyPr/>
                    <a:lstStyle/>
                    <a:p>
                      <a:pPr algn="ctr" fontAlgn="b"/>
                      <a:r>
                        <a:rPr lang="en-IN" sz="1050" b="0" i="0" u="none" strike="noStrike" kern="1200">
                          <a:solidFill>
                            <a:srgbClr val="000000"/>
                          </a:solidFill>
                          <a:effectLst/>
                          <a:latin typeface="+mj-lt"/>
                          <a:ea typeface="Lato Regular"/>
                          <a:cs typeface="Lato Regular"/>
                        </a:rPr>
                        <a:t>92.8%</a:t>
                      </a:r>
                    </a:p>
                  </a:txBody>
                  <a:tcPr marL="6350" marR="6350" marT="6350" marB="0" anchor="ctr"/>
                </a:tc>
                <a:tc>
                  <a:txBody>
                    <a:bodyPr/>
                    <a:lstStyle/>
                    <a:p>
                      <a:pPr algn="ctr" fontAlgn="b"/>
                      <a:r>
                        <a:rPr lang="en-IN" sz="1050" b="0" i="0" u="none" strike="noStrike" kern="1200">
                          <a:solidFill>
                            <a:srgbClr val="000000"/>
                          </a:solidFill>
                          <a:effectLst/>
                          <a:latin typeface="+mj-lt"/>
                          <a:ea typeface="Lato Regular"/>
                          <a:cs typeface="Lato Regular"/>
                        </a:rPr>
                        <a:t>95.2%</a:t>
                      </a:r>
                    </a:p>
                  </a:txBody>
                  <a:tcPr marL="6350" marR="6350" marT="6350" marB="0" anchor="ctr"/>
                </a:tc>
                <a:tc>
                  <a:txBody>
                    <a:bodyPr/>
                    <a:lstStyle/>
                    <a:p>
                      <a:pPr algn="ctr" fontAlgn="b"/>
                      <a:r>
                        <a:rPr lang="en-IN" sz="1050" b="0" i="0" u="none" strike="noStrike" kern="1200">
                          <a:solidFill>
                            <a:srgbClr val="000000"/>
                          </a:solidFill>
                          <a:effectLst/>
                          <a:latin typeface="+mj-lt"/>
                          <a:ea typeface="Lato Regular"/>
                          <a:cs typeface="Lato Regular"/>
                        </a:rPr>
                        <a:t>92.8%</a:t>
                      </a:r>
                    </a:p>
                  </a:txBody>
                  <a:tcPr marL="6350" marR="6350" marT="6350" marB="0" anchor="ctr"/>
                </a:tc>
                <a:tc>
                  <a:txBody>
                    <a:bodyPr/>
                    <a:lstStyle/>
                    <a:p>
                      <a:pPr algn="ctr" fontAlgn="b"/>
                      <a:r>
                        <a:rPr lang="en-IN" sz="1050" b="0" i="0" u="none" strike="noStrike" kern="1200">
                          <a:solidFill>
                            <a:srgbClr val="000000"/>
                          </a:solidFill>
                          <a:effectLst/>
                          <a:latin typeface="+mj-lt"/>
                          <a:ea typeface="Lato Regular"/>
                          <a:cs typeface="Lato Regular"/>
                        </a:rPr>
                        <a:t>95.2%</a:t>
                      </a:r>
                    </a:p>
                  </a:txBody>
                  <a:tcPr marL="6350" marR="6350" marT="6350" marB="0" anchor="ctr"/>
                </a:tc>
                <a:extLst>
                  <a:ext uri="{0D108BD9-81ED-4DB2-BD59-A6C34878D82A}">
                    <a16:rowId xmlns:a16="http://schemas.microsoft.com/office/drawing/2014/main" val="2809398452"/>
                  </a:ext>
                </a:extLst>
              </a:tr>
            </a:tbl>
          </a:graphicData>
        </a:graphic>
      </p:graphicFrame>
      <p:graphicFrame>
        <p:nvGraphicFramePr>
          <p:cNvPr id="14" name="Table 13">
            <a:extLst>
              <a:ext uri="{FF2B5EF4-FFF2-40B4-BE49-F238E27FC236}">
                <a16:creationId xmlns:a16="http://schemas.microsoft.com/office/drawing/2014/main" id="{15A8ADF0-126C-CEE6-7C81-709A708A4642}"/>
              </a:ext>
            </a:extLst>
          </p:cNvPr>
          <p:cNvGraphicFramePr>
            <a:graphicFrameLocks noGrp="1"/>
          </p:cNvGraphicFramePr>
          <p:nvPr>
            <p:extLst>
              <p:ext uri="{D42A27DB-BD31-4B8C-83A1-F6EECF244321}">
                <p14:modId xmlns:p14="http://schemas.microsoft.com/office/powerpoint/2010/main" val="1443710545"/>
              </p:ext>
            </p:extLst>
          </p:nvPr>
        </p:nvGraphicFramePr>
        <p:xfrm>
          <a:off x="5539984" y="4144254"/>
          <a:ext cx="5842026" cy="2084314"/>
        </p:xfrm>
        <a:graphic>
          <a:graphicData uri="http://schemas.openxmlformats.org/drawingml/2006/table">
            <a:tbl>
              <a:tblPr firstRow="1" bandRow="1">
                <a:tableStyleId>{72833802-FEF1-4C79-8D5D-14CF1EAF98D9}</a:tableStyleId>
              </a:tblPr>
              <a:tblGrid>
                <a:gridCol w="1911076">
                  <a:extLst>
                    <a:ext uri="{9D8B030D-6E8A-4147-A177-3AD203B41FA5}">
                      <a16:colId xmlns:a16="http://schemas.microsoft.com/office/drawing/2014/main" val="3001066899"/>
                    </a:ext>
                  </a:extLst>
                </a:gridCol>
                <a:gridCol w="786190">
                  <a:extLst>
                    <a:ext uri="{9D8B030D-6E8A-4147-A177-3AD203B41FA5}">
                      <a16:colId xmlns:a16="http://schemas.microsoft.com/office/drawing/2014/main" val="700748351"/>
                    </a:ext>
                  </a:extLst>
                </a:gridCol>
                <a:gridCol w="786190">
                  <a:extLst>
                    <a:ext uri="{9D8B030D-6E8A-4147-A177-3AD203B41FA5}">
                      <a16:colId xmlns:a16="http://schemas.microsoft.com/office/drawing/2014/main" val="3274968397"/>
                    </a:ext>
                  </a:extLst>
                </a:gridCol>
                <a:gridCol w="786190">
                  <a:extLst>
                    <a:ext uri="{9D8B030D-6E8A-4147-A177-3AD203B41FA5}">
                      <a16:colId xmlns:a16="http://schemas.microsoft.com/office/drawing/2014/main" val="3623532732"/>
                    </a:ext>
                  </a:extLst>
                </a:gridCol>
                <a:gridCol w="786190">
                  <a:extLst>
                    <a:ext uri="{9D8B030D-6E8A-4147-A177-3AD203B41FA5}">
                      <a16:colId xmlns:a16="http://schemas.microsoft.com/office/drawing/2014/main" val="746035582"/>
                    </a:ext>
                  </a:extLst>
                </a:gridCol>
                <a:gridCol w="786190">
                  <a:extLst>
                    <a:ext uri="{9D8B030D-6E8A-4147-A177-3AD203B41FA5}">
                      <a16:colId xmlns:a16="http://schemas.microsoft.com/office/drawing/2014/main" val="3336224203"/>
                    </a:ext>
                  </a:extLst>
                </a:gridCol>
              </a:tblGrid>
              <a:tr h="255952">
                <a:tc>
                  <a:txBody>
                    <a:bodyPr/>
                    <a:lstStyle/>
                    <a:p>
                      <a:pPr algn="l" fontAlgn="b">
                        <a:buNone/>
                      </a:pPr>
                      <a:r>
                        <a:rPr lang="en-US" sz="1050" b="1" u="none" strike="noStrike">
                          <a:solidFill>
                            <a:schemeClr val="bg1"/>
                          </a:solidFill>
                          <a:effectLst/>
                          <a:latin typeface="+mj-lt"/>
                          <a:ea typeface="Lato Regular" panose="020F0502020204030203" pitchFamily="34" charset="0"/>
                          <a:cs typeface="Lato Regular" panose="020F0502020204030203" pitchFamily="34" charset="0"/>
                        </a:rPr>
                        <a:t>INR Cr.</a:t>
                      </a:r>
                      <a:endParaRPr lang="en-US" sz="1050" b="1" i="0" u="none" strike="noStrike">
                        <a:solidFill>
                          <a:schemeClr val="bg1"/>
                        </a:solidFill>
                        <a:effectLst/>
                        <a:latin typeface="+mj-lt"/>
                        <a:ea typeface="Lato Regular" panose="020F0502020204030203" pitchFamily="34" charset="0"/>
                        <a:cs typeface="Lato Regular" panose="020F0502020204030203" pitchFamily="34" charset="0"/>
                      </a:endParaRPr>
                    </a:p>
                  </a:txBody>
                  <a:tcPr marL="108000" marR="6350" marT="6350" marB="0" anchor="ctr"/>
                </a:tc>
                <a:tc>
                  <a:txBody>
                    <a:bodyPr/>
                    <a:lstStyle/>
                    <a:p>
                      <a:pPr algn="ctr" rtl="0" fontAlgn="base"/>
                      <a:r>
                        <a:rPr lang="en-US" sz="1050" b="1" i="0" u="none" strike="noStrike" kern="1200">
                          <a:solidFill>
                            <a:srgbClr val="FFFFFF"/>
                          </a:solidFill>
                          <a:effectLst/>
                          <a:latin typeface="+mj-lt"/>
                          <a:ea typeface="+mn-ea"/>
                          <a:cs typeface="+mn-cs"/>
                        </a:rPr>
                        <a:t>FY24</a:t>
                      </a:r>
                    </a:p>
                  </a:txBody>
                  <a:tcPr anchor="ctr"/>
                </a:tc>
                <a:tc>
                  <a:txBody>
                    <a:bodyPr/>
                    <a:lstStyle/>
                    <a:p>
                      <a:pPr algn="ctr" rtl="0" fontAlgn="base"/>
                      <a:r>
                        <a:rPr lang="en-US" sz="1050" b="1" i="0" u="none" strike="noStrike">
                          <a:solidFill>
                            <a:srgbClr val="FFFFFF"/>
                          </a:solidFill>
                          <a:effectLst/>
                          <a:latin typeface="+mj-lt"/>
                        </a:rPr>
                        <a:t>FY25</a:t>
                      </a:r>
                      <a:r>
                        <a:rPr lang="en-US" sz="1050" b="1" i="0">
                          <a:solidFill>
                            <a:srgbClr val="FFFFFF"/>
                          </a:solidFill>
                          <a:effectLst/>
                          <a:latin typeface="+mj-lt"/>
                        </a:rPr>
                        <a:t>​</a:t>
                      </a:r>
                    </a:p>
                  </a:txBody>
                  <a:tcPr anchor="ctr"/>
                </a:tc>
                <a:tc>
                  <a:txBody>
                    <a:bodyPr/>
                    <a:lstStyle/>
                    <a:p>
                      <a:pPr algn="ctr" rtl="0" fontAlgn="base"/>
                      <a:r>
                        <a:rPr lang="en-US" sz="1050" b="1" i="0" u="none" strike="noStrike">
                          <a:solidFill>
                            <a:srgbClr val="FFFFFF"/>
                          </a:solidFill>
                          <a:effectLst/>
                          <a:latin typeface="+mj-lt"/>
                        </a:rPr>
                        <a:t>FY26</a:t>
                      </a:r>
                      <a:r>
                        <a:rPr lang="en-US" sz="1050" b="1" i="0">
                          <a:solidFill>
                            <a:srgbClr val="FFFFFF"/>
                          </a:solidFill>
                          <a:effectLst/>
                          <a:latin typeface="+mj-lt"/>
                        </a:rPr>
                        <a:t>​</a:t>
                      </a:r>
                    </a:p>
                  </a:txBody>
                  <a:tcPr anchor="ctr"/>
                </a:tc>
                <a:tc>
                  <a:txBody>
                    <a:bodyPr/>
                    <a:lstStyle/>
                    <a:p>
                      <a:pPr algn="ctr" rtl="0" fontAlgn="base"/>
                      <a:r>
                        <a:rPr lang="en-IN" sz="1050" b="1" i="0" u="none" strike="noStrike">
                          <a:solidFill>
                            <a:srgbClr val="FFFFFF"/>
                          </a:solidFill>
                          <a:effectLst/>
                          <a:latin typeface="+mj-lt"/>
                        </a:rPr>
                        <a:t>Q4FY25</a:t>
                      </a:r>
                      <a:r>
                        <a:rPr lang="en-IN" sz="1050" b="1" i="0">
                          <a:solidFill>
                            <a:srgbClr val="FFFFFF"/>
                          </a:solidFill>
                          <a:effectLst/>
                          <a:latin typeface="+mj-lt"/>
                        </a:rPr>
                        <a:t>​</a:t>
                      </a:r>
                    </a:p>
                  </a:txBody>
                  <a:tcPr anchor="ctr"/>
                </a:tc>
                <a:tc>
                  <a:txBody>
                    <a:bodyPr/>
                    <a:lstStyle/>
                    <a:p>
                      <a:pPr algn="ctr" rtl="0" fontAlgn="base"/>
                      <a:r>
                        <a:rPr lang="en-IN" sz="1050" b="1" i="0" u="none" strike="noStrike">
                          <a:solidFill>
                            <a:srgbClr val="FFFFFF"/>
                          </a:solidFill>
                          <a:effectLst/>
                          <a:latin typeface="+mj-lt"/>
                        </a:rPr>
                        <a:t>Q4FY26</a:t>
                      </a:r>
                      <a:r>
                        <a:rPr lang="en-IN" sz="1050" b="1" i="0">
                          <a:solidFill>
                            <a:srgbClr val="FFFFFF"/>
                          </a:solidFill>
                          <a:effectLst/>
                          <a:latin typeface="+mj-lt"/>
                        </a:rPr>
                        <a:t>​</a:t>
                      </a:r>
                    </a:p>
                  </a:txBody>
                  <a:tcPr anchor="ctr"/>
                </a:tc>
                <a:extLst>
                  <a:ext uri="{0D108BD9-81ED-4DB2-BD59-A6C34878D82A}">
                    <a16:rowId xmlns:a16="http://schemas.microsoft.com/office/drawing/2014/main" val="3735237806"/>
                  </a:ext>
                </a:extLst>
              </a:tr>
              <a:tr h="304727">
                <a:tc>
                  <a:txBody>
                    <a:bodyPr/>
                    <a:lstStyle/>
                    <a:p>
                      <a:pPr algn="l" fontAlgn="b">
                        <a:buNone/>
                      </a:pPr>
                      <a:r>
                        <a:rPr lang="en-IN" sz="1050" b="1" i="0" u="none" strike="noStrike">
                          <a:solidFill>
                            <a:srgbClr val="000000"/>
                          </a:solidFill>
                          <a:effectLst/>
                          <a:latin typeface="+mj-lt"/>
                          <a:ea typeface="Lato Regular" panose="020F0502020204030203" pitchFamily="34" charset="0"/>
                          <a:cs typeface="Lato Regular" panose="020F0502020204030203" pitchFamily="34" charset="0"/>
                        </a:rPr>
                        <a:t>Net Revenue</a:t>
                      </a:r>
                    </a:p>
                  </a:txBody>
                  <a:tcPr marL="108000" marR="0" marT="0" marB="0" anchor="ctr"/>
                </a:tc>
                <a:tc>
                  <a:txBody>
                    <a:bodyPr/>
                    <a:lstStyle/>
                    <a:p>
                      <a:pPr algn="ctr" fontAlgn="b"/>
                      <a:r>
                        <a:rPr lang="en-IN" sz="1050" b="1" i="0" u="none" strike="noStrike">
                          <a:solidFill>
                            <a:srgbClr val="000000"/>
                          </a:solidFill>
                          <a:effectLst/>
                          <a:latin typeface="+mj-lt"/>
                        </a:rPr>
                        <a:t>12.1</a:t>
                      </a:r>
                    </a:p>
                  </a:txBody>
                  <a:tcPr marL="9525" marR="9525" marT="9525" marB="0" anchor="ctr"/>
                </a:tc>
                <a:tc>
                  <a:txBody>
                    <a:bodyPr/>
                    <a:lstStyle/>
                    <a:p>
                      <a:pPr algn="ctr" fontAlgn="b"/>
                      <a:r>
                        <a:rPr lang="en-IN" sz="1050" b="1" i="0" u="none" strike="noStrike">
                          <a:solidFill>
                            <a:srgbClr val="000000"/>
                          </a:solidFill>
                          <a:effectLst/>
                          <a:latin typeface="+mj-lt"/>
                          <a:ea typeface="Lato Regular" panose="020F0502020204030203" pitchFamily="34" charset="0"/>
                          <a:cs typeface="Lato Regular" panose="020F0502020204030203" pitchFamily="34" charset="0"/>
                        </a:rPr>
                        <a:t>18.4</a:t>
                      </a:r>
                    </a:p>
                  </a:txBody>
                  <a:tcPr marL="6350" marR="6350" marT="6350" marB="0" anchor="ctr"/>
                </a:tc>
                <a:tc>
                  <a:txBody>
                    <a:bodyPr/>
                    <a:lstStyle/>
                    <a:p>
                      <a:pPr algn="ctr" fontAlgn="b"/>
                      <a:r>
                        <a:rPr lang="en-IN" sz="1050" b="1" i="0" u="none" strike="noStrike">
                          <a:solidFill>
                            <a:srgbClr val="000000"/>
                          </a:solidFill>
                          <a:effectLst/>
                          <a:latin typeface="+mj-lt"/>
                        </a:rPr>
                        <a:t>19.72                    </a:t>
                      </a:r>
                    </a:p>
                  </a:txBody>
                  <a:tcPr marL="9525" marR="9525" marT="9525" marB="0" anchor="ctr"/>
                </a:tc>
                <a:tc>
                  <a:txBody>
                    <a:bodyPr/>
                    <a:lstStyle/>
                    <a:p>
                      <a:pPr algn="ctr" fontAlgn="b"/>
                      <a:r>
                        <a:rPr lang="en-IN" sz="1050" b="1" i="0" u="none" strike="noStrike">
                          <a:solidFill>
                            <a:srgbClr val="000000"/>
                          </a:solidFill>
                          <a:effectLst/>
                          <a:latin typeface="+mj-lt"/>
                        </a:rPr>
                        <a:t>6.0</a:t>
                      </a:r>
                    </a:p>
                  </a:txBody>
                  <a:tcPr marL="6350" marR="6350" marT="6350" marB="0" anchor="ctr"/>
                </a:tc>
                <a:tc>
                  <a:txBody>
                    <a:bodyPr/>
                    <a:lstStyle/>
                    <a:p>
                      <a:pPr algn="ctr" fontAlgn="b"/>
                      <a:r>
                        <a:rPr lang="en-IN" sz="1050" b="1" i="0" u="none" strike="noStrike">
                          <a:solidFill>
                            <a:srgbClr val="000000"/>
                          </a:solidFill>
                          <a:effectLst/>
                          <a:latin typeface="+mj-lt"/>
                        </a:rPr>
                        <a:t>6.9</a:t>
                      </a:r>
                    </a:p>
                  </a:txBody>
                  <a:tcPr marL="9525" marR="9525" marT="9525" marB="0" anchor="ctr"/>
                </a:tc>
                <a:extLst>
                  <a:ext uri="{0D108BD9-81ED-4DB2-BD59-A6C34878D82A}">
                    <a16:rowId xmlns:a16="http://schemas.microsoft.com/office/drawing/2014/main" val="2159784742"/>
                  </a:ext>
                </a:extLst>
              </a:tr>
              <a:tr h="304727">
                <a:tc>
                  <a:txBody>
                    <a:bodyPr/>
                    <a:lstStyle/>
                    <a:p>
                      <a:pPr algn="l" fontAlgn="b">
                        <a:buNone/>
                      </a:pPr>
                      <a:r>
                        <a:rPr lang="en-IN" sz="1050" b="0" i="0" u="none" strike="noStrike">
                          <a:solidFill>
                            <a:srgbClr val="000000"/>
                          </a:solidFill>
                          <a:effectLst/>
                          <a:latin typeface="+mj-lt"/>
                          <a:ea typeface="Lato Regular" panose="020F0502020204030203" pitchFamily="34" charset="0"/>
                          <a:cs typeface="Lato Regular" panose="020F0502020204030203" pitchFamily="34" charset="0"/>
                        </a:rPr>
                        <a:t>% Growth </a:t>
                      </a:r>
                    </a:p>
                  </a:txBody>
                  <a:tcPr marL="108000" marR="0" marT="0" marB="0" anchor="ctr"/>
                </a:tc>
                <a:tc>
                  <a:txBody>
                    <a:bodyPr/>
                    <a:lstStyle/>
                    <a:p>
                      <a:pPr algn="ctr" fontAlgn="b"/>
                      <a:r>
                        <a:rPr lang="en-IN" sz="1050" b="0" i="0" u="none" strike="noStrike">
                          <a:solidFill>
                            <a:srgbClr val="000000"/>
                          </a:solidFill>
                          <a:effectLst/>
                          <a:latin typeface="+mj-lt"/>
                        </a:rPr>
                        <a:t>58%</a:t>
                      </a:r>
                    </a:p>
                  </a:txBody>
                  <a:tcPr marL="9525" marR="9525" marT="9525" marB="0" anchor="ctr"/>
                </a:tc>
                <a:tc>
                  <a:txBody>
                    <a:bodyPr/>
                    <a:lstStyle/>
                    <a:p>
                      <a:pPr algn="ctr" fontAlgn="b"/>
                      <a:r>
                        <a:rPr lang="en-IN" sz="1050" b="0" i="0" u="none" strike="noStrike">
                          <a:solidFill>
                            <a:srgbClr val="000000"/>
                          </a:solidFill>
                          <a:effectLst/>
                          <a:latin typeface="+mj-lt"/>
                          <a:ea typeface="Lato Regular" panose="020F0502020204030203" pitchFamily="34" charset="0"/>
                          <a:cs typeface="Lato Regular" panose="020F0502020204030203" pitchFamily="34" charset="0"/>
                        </a:rPr>
                        <a:t>52.4%</a:t>
                      </a:r>
                    </a:p>
                  </a:txBody>
                  <a:tcPr marL="6350" marR="6350" marT="6350" marB="0" anchor="ctr"/>
                </a:tc>
                <a:tc>
                  <a:txBody>
                    <a:bodyPr/>
                    <a:lstStyle/>
                    <a:p>
                      <a:pPr algn="ctr" fontAlgn="b"/>
                      <a:r>
                        <a:rPr lang="en-IN" sz="1050" b="0" i="0" u="none" strike="noStrike">
                          <a:solidFill>
                            <a:srgbClr val="000000"/>
                          </a:solidFill>
                          <a:effectLst/>
                          <a:latin typeface="+mj-lt"/>
                        </a:rPr>
                        <a:t>7%</a:t>
                      </a:r>
                    </a:p>
                  </a:txBody>
                  <a:tcPr marL="9525" marR="9525" marT="9525" marB="0" anchor="ctr"/>
                </a:tc>
                <a:tc>
                  <a:txBody>
                    <a:bodyPr/>
                    <a:lstStyle/>
                    <a:p>
                      <a:pPr algn="ctr" fontAlgn="b"/>
                      <a:r>
                        <a:rPr lang="en-IN" sz="1050" b="0" i="0" u="none" strike="noStrike">
                          <a:solidFill>
                            <a:srgbClr val="000000"/>
                          </a:solidFill>
                          <a:effectLst/>
                          <a:latin typeface="+mj-lt"/>
                        </a:rPr>
                        <a:t>52.0%</a:t>
                      </a:r>
                    </a:p>
                  </a:txBody>
                  <a:tcPr marL="6350" marR="6350" marT="6350" marB="0" anchor="ctr"/>
                </a:tc>
                <a:tc>
                  <a:txBody>
                    <a:bodyPr/>
                    <a:lstStyle/>
                    <a:p>
                      <a:pPr algn="ctr" fontAlgn="b"/>
                      <a:r>
                        <a:rPr lang="en-IN" sz="1050" b="0" i="0" u="none" strike="noStrike">
                          <a:solidFill>
                            <a:srgbClr val="000000"/>
                          </a:solidFill>
                          <a:effectLst/>
                          <a:latin typeface="+mj-lt"/>
                        </a:rPr>
                        <a:t>15%</a:t>
                      </a:r>
                    </a:p>
                  </a:txBody>
                  <a:tcPr marL="9525" marR="9525" marT="9525" marB="0" anchor="ctr"/>
                </a:tc>
                <a:extLst>
                  <a:ext uri="{0D108BD9-81ED-4DB2-BD59-A6C34878D82A}">
                    <a16:rowId xmlns:a16="http://schemas.microsoft.com/office/drawing/2014/main" val="2809398452"/>
                  </a:ext>
                </a:extLst>
              </a:tr>
              <a:tr h="304727">
                <a:tc>
                  <a:txBody>
                    <a:bodyPr/>
                    <a:lstStyle/>
                    <a:p>
                      <a:pPr algn="l" fontAlgn="t">
                        <a:buNone/>
                      </a:pPr>
                      <a:r>
                        <a:rPr lang="en-IN" sz="1050" b="1" i="0" u="none" strike="noStrike">
                          <a:solidFill>
                            <a:srgbClr val="000000"/>
                          </a:solidFill>
                          <a:effectLst/>
                          <a:latin typeface="+mj-lt"/>
                          <a:ea typeface="Lato Regular" panose="020F0502020204030203" pitchFamily="34" charset="0"/>
                          <a:cs typeface="Lato Regular" panose="020F0502020204030203" pitchFamily="34" charset="0"/>
                        </a:rPr>
                        <a:t>Gross Profit</a:t>
                      </a:r>
                    </a:p>
                  </a:txBody>
                  <a:tcPr marL="108000" marR="0" marT="0" marB="0" anchor="ctr"/>
                </a:tc>
                <a:tc>
                  <a:txBody>
                    <a:bodyPr/>
                    <a:lstStyle/>
                    <a:p>
                      <a:pPr algn="ctr" fontAlgn="b"/>
                      <a:r>
                        <a:rPr lang="en-IN" sz="1050" b="1" i="0" u="none" strike="noStrike">
                          <a:solidFill>
                            <a:srgbClr val="000000"/>
                          </a:solidFill>
                          <a:effectLst/>
                          <a:latin typeface="+mj-lt"/>
                        </a:rPr>
                        <a:t>10.1</a:t>
                      </a:r>
                    </a:p>
                  </a:txBody>
                  <a:tcPr marL="9525" marR="9525" marT="9525" marB="0" anchor="ctr"/>
                </a:tc>
                <a:tc>
                  <a:txBody>
                    <a:bodyPr/>
                    <a:lstStyle/>
                    <a:p>
                      <a:pPr algn="ctr" fontAlgn="b"/>
                      <a:r>
                        <a:rPr lang="en-IN" sz="1050" b="1" i="0" u="none" strike="noStrike">
                          <a:solidFill>
                            <a:srgbClr val="000000"/>
                          </a:solidFill>
                          <a:effectLst/>
                          <a:latin typeface="+mj-lt"/>
                          <a:ea typeface="Lato Regular" panose="020F0502020204030203" pitchFamily="34" charset="0"/>
                          <a:cs typeface="Lato Regular" panose="020F0502020204030203" pitchFamily="34" charset="0"/>
                        </a:rPr>
                        <a:t>15.9</a:t>
                      </a:r>
                    </a:p>
                  </a:txBody>
                  <a:tcPr marL="6350" marR="6350" marT="6350" marB="0" anchor="ctr"/>
                </a:tc>
                <a:tc>
                  <a:txBody>
                    <a:bodyPr/>
                    <a:lstStyle/>
                    <a:p>
                      <a:pPr algn="ctr" fontAlgn="b"/>
                      <a:r>
                        <a:rPr lang="en-IN" sz="1050" b="1" i="0" u="none" strike="noStrike">
                          <a:solidFill>
                            <a:srgbClr val="000000"/>
                          </a:solidFill>
                          <a:effectLst/>
                          <a:latin typeface="+mj-lt"/>
                        </a:rPr>
                        <a:t>17.15</a:t>
                      </a:r>
                    </a:p>
                  </a:txBody>
                  <a:tcPr marL="9525" marR="9525" marT="9525" marB="0" anchor="ctr"/>
                </a:tc>
                <a:tc>
                  <a:txBody>
                    <a:bodyPr/>
                    <a:lstStyle/>
                    <a:p>
                      <a:pPr algn="ctr" fontAlgn="b"/>
                      <a:r>
                        <a:rPr lang="en-IN" sz="1050" b="1" i="0" u="none" strike="noStrike">
                          <a:solidFill>
                            <a:srgbClr val="000000"/>
                          </a:solidFill>
                          <a:effectLst/>
                          <a:latin typeface="+mj-lt"/>
                        </a:rPr>
                        <a:t>5.3</a:t>
                      </a:r>
                    </a:p>
                  </a:txBody>
                  <a:tcPr marL="6350" marR="6350" marT="6350" marB="0" anchor="ctr"/>
                </a:tc>
                <a:tc>
                  <a:txBody>
                    <a:bodyPr/>
                    <a:lstStyle/>
                    <a:p>
                      <a:pPr algn="ctr" fontAlgn="b"/>
                      <a:r>
                        <a:rPr lang="en-IN" sz="1050" b="1" i="0" u="none" strike="noStrike">
                          <a:solidFill>
                            <a:srgbClr val="000000"/>
                          </a:solidFill>
                          <a:effectLst/>
                          <a:latin typeface="+mj-lt"/>
                        </a:rPr>
                        <a:t>6.16                     </a:t>
                      </a:r>
                    </a:p>
                  </a:txBody>
                  <a:tcPr marL="9525" marR="9525" marT="9525" marB="0" anchor="ctr"/>
                </a:tc>
                <a:extLst>
                  <a:ext uri="{0D108BD9-81ED-4DB2-BD59-A6C34878D82A}">
                    <a16:rowId xmlns:a16="http://schemas.microsoft.com/office/drawing/2014/main" val="4076501595"/>
                  </a:ext>
                </a:extLst>
              </a:tr>
              <a:tr h="304727">
                <a:tc>
                  <a:txBody>
                    <a:bodyPr/>
                    <a:lstStyle/>
                    <a:p>
                      <a:pPr algn="l" fontAlgn="t">
                        <a:buNone/>
                      </a:pPr>
                      <a:r>
                        <a:rPr lang="en-IN" sz="1050" b="0" i="0" u="none" strike="noStrike">
                          <a:solidFill>
                            <a:srgbClr val="000000"/>
                          </a:solidFill>
                          <a:effectLst/>
                          <a:latin typeface="+mj-lt"/>
                          <a:ea typeface="Lato Regular" panose="020F0502020204030203" pitchFamily="34" charset="0"/>
                          <a:cs typeface="Lato Regular" panose="020F0502020204030203" pitchFamily="34" charset="0"/>
                        </a:rPr>
                        <a:t>% Gross Margin</a:t>
                      </a:r>
                    </a:p>
                  </a:txBody>
                  <a:tcPr marL="108000" marR="0" marT="0" marB="0" anchor="ctr"/>
                </a:tc>
                <a:tc>
                  <a:txBody>
                    <a:bodyPr/>
                    <a:lstStyle/>
                    <a:p>
                      <a:pPr algn="ctr" fontAlgn="b"/>
                      <a:r>
                        <a:rPr lang="en-IN" sz="1050" b="0" i="0" u="none" strike="noStrike">
                          <a:solidFill>
                            <a:srgbClr val="000000"/>
                          </a:solidFill>
                          <a:effectLst/>
                          <a:latin typeface="+mj-lt"/>
                        </a:rPr>
                        <a:t>83.6%</a:t>
                      </a:r>
                    </a:p>
                  </a:txBody>
                  <a:tcPr marL="9525" marR="9525" marT="9525" marB="0" anchor="ctr"/>
                </a:tc>
                <a:tc>
                  <a:txBody>
                    <a:bodyPr/>
                    <a:lstStyle/>
                    <a:p>
                      <a:pPr algn="ctr" fontAlgn="b"/>
                      <a:r>
                        <a:rPr lang="en-IN" sz="1050" b="0" i="0" u="none" strike="noStrike">
                          <a:solidFill>
                            <a:srgbClr val="000000"/>
                          </a:solidFill>
                          <a:effectLst/>
                          <a:latin typeface="+mj-lt"/>
                          <a:ea typeface="Lato Regular" panose="020F0502020204030203" pitchFamily="34" charset="0"/>
                          <a:cs typeface="Lato Regular" panose="020F0502020204030203" pitchFamily="34" charset="0"/>
                        </a:rPr>
                        <a:t>86.2%</a:t>
                      </a:r>
                    </a:p>
                  </a:txBody>
                  <a:tcPr marL="6350" marR="6350" marT="6350" marB="0" anchor="ctr"/>
                </a:tc>
                <a:tc>
                  <a:txBody>
                    <a:bodyPr/>
                    <a:lstStyle/>
                    <a:p>
                      <a:pPr algn="ctr" fontAlgn="b"/>
                      <a:r>
                        <a:rPr lang="en-IN" sz="1050" b="0" i="0" u="none" strike="noStrike">
                          <a:solidFill>
                            <a:srgbClr val="000000"/>
                          </a:solidFill>
                          <a:effectLst/>
                          <a:latin typeface="+mj-lt"/>
                        </a:rPr>
                        <a:t>87.0%</a:t>
                      </a:r>
                    </a:p>
                  </a:txBody>
                  <a:tcPr marL="9525" marR="9525" marT="9525" marB="0" anchor="ctr"/>
                </a:tc>
                <a:tc>
                  <a:txBody>
                    <a:bodyPr/>
                    <a:lstStyle/>
                    <a:p>
                      <a:pPr algn="ctr" fontAlgn="b"/>
                      <a:r>
                        <a:rPr lang="en-IN" sz="1050" b="0" i="0" u="none" strike="noStrike">
                          <a:solidFill>
                            <a:srgbClr val="000000"/>
                          </a:solidFill>
                          <a:effectLst/>
                          <a:latin typeface="+mj-lt"/>
                        </a:rPr>
                        <a:t>89.3%</a:t>
                      </a:r>
                    </a:p>
                  </a:txBody>
                  <a:tcPr marL="6350" marR="6350" marT="6350" marB="0" anchor="ctr"/>
                </a:tc>
                <a:tc>
                  <a:txBody>
                    <a:bodyPr/>
                    <a:lstStyle/>
                    <a:p>
                      <a:pPr algn="ctr" fontAlgn="b"/>
                      <a:r>
                        <a:rPr lang="en-IN" sz="1050" b="0" i="0" u="none" strike="noStrike">
                          <a:solidFill>
                            <a:srgbClr val="000000"/>
                          </a:solidFill>
                          <a:effectLst/>
                          <a:latin typeface="+mj-lt"/>
                        </a:rPr>
                        <a:t>89.3%</a:t>
                      </a:r>
                    </a:p>
                  </a:txBody>
                  <a:tcPr marL="9525" marR="9525" marT="9525" marB="0" anchor="ctr"/>
                </a:tc>
                <a:extLst>
                  <a:ext uri="{0D108BD9-81ED-4DB2-BD59-A6C34878D82A}">
                    <a16:rowId xmlns:a16="http://schemas.microsoft.com/office/drawing/2014/main" val="3179895044"/>
                  </a:ext>
                </a:extLst>
              </a:tr>
              <a:tr h="304727">
                <a:tc>
                  <a:txBody>
                    <a:bodyPr/>
                    <a:lstStyle/>
                    <a:p>
                      <a:pPr algn="l" fontAlgn="t">
                        <a:buNone/>
                      </a:pPr>
                      <a:r>
                        <a:rPr lang="en-IN" sz="1050" b="1" i="0" u="none" strike="noStrike">
                          <a:solidFill>
                            <a:srgbClr val="000000"/>
                          </a:solidFill>
                          <a:effectLst/>
                          <a:latin typeface="+mj-lt"/>
                          <a:ea typeface="Lato Regular" panose="020F0502020204030203" pitchFamily="34" charset="0"/>
                          <a:cs typeface="Lato Regular" panose="020F0502020204030203" pitchFamily="34" charset="0"/>
                        </a:rPr>
                        <a:t>EBITDA</a:t>
                      </a:r>
                    </a:p>
                  </a:txBody>
                  <a:tcPr marL="108000" marR="0" marT="0" marB="0" anchor="ctr"/>
                </a:tc>
                <a:tc>
                  <a:txBody>
                    <a:bodyPr/>
                    <a:lstStyle/>
                    <a:p>
                      <a:pPr algn="ctr" fontAlgn="b"/>
                      <a:r>
                        <a:rPr lang="en-IN" sz="1050" b="1" i="0" u="none" strike="noStrike">
                          <a:solidFill>
                            <a:srgbClr val="000000"/>
                          </a:solidFill>
                          <a:effectLst/>
                          <a:latin typeface="+mj-lt"/>
                        </a:rPr>
                        <a:t>1.6</a:t>
                      </a:r>
                    </a:p>
                  </a:txBody>
                  <a:tcPr marL="9525" marR="9525" marT="9525" marB="0" anchor="ctr"/>
                </a:tc>
                <a:tc>
                  <a:txBody>
                    <a:bodyPr/>
                    <a:lstStyle/>
                    <a:p>
                      <a:pPr algn="ctr" fontAlgn="b"/>
                      <a:r>
                        <a:rPr lang="en-IN" sz="1050" b="1" i="0" u="none" strike="noStrike">
                          <a:solidFill>
                            <a:srgbClr val="000000"/>
                          </a:solidFill>
                          <a:effectLst/>
                          <a:latin typeface="+mj-lt"/>
                          <a:ea typeface="Lato Regular" panose="020F0502020204030203" pitchFamily="34" charset="0"/>
                          <a:cs typeface="Lato Regular" panose="020F0502020204030203" pitchFamily="34" charset="0"/>
                        </a:rPr>
                        <a:t>7.4</a:t>
                      </a:r>
                    </a:p>
                  </a:txBody>
                  <a:tcPr marL="6350" marR="6350" marT="6350" marB="0" anchor="ctr"/>
                </a:tc>
                <a:tc>
                  <a:txBody>
                    <a:bodyPr/>
                    <a:lstStyle/>
                    <a:p>
                      <a:pPr algn="ctr" fontAlgn="b"/>
                      <a:r>
                        <a:rPr lang="en-IN" sz="1050" b="1" i="0" u="none" strike="noStrike">
                          <a:solidFill>
                            <a:srgbClr val="000000"/>
                          </a:solidFill>
                          <a:effectLst/>
                          <a:latin typeface="+mj-lt"/>
                        </a:rPr>
                        <a:t>6.98         </a:t>
                      </a:r>
                    </a:p>
                  </a:txBody>
                  <a:tcPr marL="9525" marR="9525" marT="9525" marB="0" anchor="ctr"/>
                </a:tc>
                <a:tc>
                  <a:txBody>
                    <a:bodyPr/>
                    <a:lstStyle/>
                    <a:p>
                      <a:pPr algn="ctr" fontAlgn="b"/>
                      <a:r>
                        <a:rPr lang="en-IN" sz="1050" b="1" i="0" u="none" strike="noStrike">
                          <a:solidFill>
                            <a:srgbClr val="000000"/>
                          </a:solidFill>
                          <a:effectLst/>
                          <a:latin typeface="+mj-lt"/>
                        </a:rPr>
                        <a:t>3.1</a:t>
                      </a:r>
                    </a:p>
                  </a:txBody>
                  <a:tcPr marL="6350" marR="6350" marT="6350" marB="0" anchor="ctr"/>
                </a:tc>
                <a:tc>
                  <a:txBody>
                    <a:bodyPr/>
                    <a:lstStyle/>
                    <a:p>
                      <a:pPr algn="ctr" fontAlgn="b"/>
                      <a:r>
                        <a:rPr lang="en-IN" sz="1050" b="1" i="0" u="none" strike="noStrike">
                          <a:solidFill>
                            <a:srgbClr val="000000"/>
                          </a:solidFill>
                          <a:effectLst/>
                          <a:latin typeface="+mj-lt"/>
                        </a:rPr>
                        <a:t>3.72</a:t>
                      </a:r>
                    </a:p>
                  </a:txBody>
                  <a:tcPr marL="9525" marR="9525" marT="9525" marB="0" anchor="ctr"/>
                </a:tc>
                <a:extLst>
                  <a:ext uri="{0D108BD9-81ED-4DB2-BD59-A6C34878D82A}">
                    <a16:rowId xmlns:a16="http://schemas.microsoft.com/office/drawing/2014/main" val="3498926890"/>
                  </a:ext>
                </a:extLst>
              </a:tr>
              <a:tr h="304727">
                <a:tc>
                  <a:txBody>
                    <a:bodyPr/>
                    <a:lstStyle/>
                    <a:p>
                      <a:pPr algn="l" fontAlgn="b">
                        <a:buNone/>
                      </a:pPr>
                      <a:r>
                        <a:rPr lang="en-IN" sz="1050" b="0" i="0" u="none" strike="noStrike">
                          <a:solidFill>
                            <a:srgbClr val="000000"/>
                          </a:solidFill>
                          <a:effectLst/>
                          <a:latin typeface="+mj-lt"/>
                          <a:ea typeface="Lato Regular" panose="020F0502020204030203" pitchFamily="34" charset="0"/>
                          <a:cs typeface="Lato Regular" panose="020F0502020204030203" pitchFamily="34" charset="0"/>
                        </a:rPr>
                        <a:t>% EBITDA</a:t>
                      </a:r>
                    </a:p>
                  </a:txBody>
                  <a:tcPr marL="108000" marR="0" marT="0" marB="0" anchor="ctr"/>
                </a:tc>
                <a:tc>
                  <a:txBody>
                    <a:bodyPr/>
                    <a:lstStyle/>
                    <a:p>
                      <a:pPr algn="ctr" fontAlgn="b"/>
                      <a:r>
                        <a:rPr lang="en-IN" sz="1050" b="0" i="0" u="none" strike="noStrike">
                          <a:solidFill>
                            <a:srgbClr val="000000"/>
                          </a:solidFill>
                          <a:effectLst/>
                          <a:latin typeface="+mj-lt"/>
                        </a:rPr>
                        <a:t>13.2%</a:t>
                      </a:r>
                    </a:p>
                  </a:txBody>
                  <a:tcPr marL="9525" marR="9525" marT="9525" marB="0" anchor="ctr"/>
                </a:tc>
                <a:tc>
                  <a:txBody>
                    <a:bodyPr/>
                    <a:lstStyle/>
                    <a:p>
                      <a:pPr algn="ctr" fontAlgn="b"/>
                      <a:r>
                        <a:rPr lang="en-IN" sz="1050" b="0" i="0" u="none" strike="noStrike">
                          <a:solidFill>
                            <a:srgbClr val="000000"/>
                          </a:solidFill>
                          <a:effectLst/>
                          <a:latin typeface="+mj-lt"/>
                          <a:ea typeface="Lato Regular" panose="020F0502020204030203" pitchFamily="34" charset="0"/>
                          <a:cs typeface="Lato Regular" panose="020F0502020204030203" pitchFamily="34" charset="0"/>
                        </a:rPr>
                        <a:t>40.3%</a:t>
                      </a:r>
                    </a:p>
                  </a:txBody>
                  <a:tcPr marL="6350" marR="6350" marT="6350" marB="0" anchor="ctr"/>
                </a:tc>
                <a:tc>
                  <a:txBody>
                    <a:bodyPr/>
                    <a:lstStyle/>
                    <a:p>
                      <a:pPr algn="ctr" fontAlgn="b"/>
                      <a:r>
                        <a:rPr lang="en-IN" sz="1050" b="0" i="0" u="none" strike="noStrike">
                          <a:solidFill>
                            <a:srgbClr val="000000"/>
                          </a:solidFill>
                          <a:effectLst/>
                          <a:latin typeface="+mj-lt"/>
                        </a:rPr>
                        <a:t>35.4%</a:t>
                      </a:r>
                    </a:p>
                  </a:txBody>
                  <a:tcPr marL="9525" marR="9525" marT="9525" marB="0" anchor="ctr"/>
                </a:tc>
                <a:tc>
                  <a:txBody>
                    <a:bodyPr/>
                    <a:lstStyle/>
                    <a:p>
                      <a:pPr algn="ctr" fontAlgn="b"/>
                      <a:r>
                        <a:rPr lang="en-IN" sz="1050" b="0" i="0" u="none" strike="noStrike">
                          <a:solidFill>
                            <a:srgbClr val="000000"/>
                          </a:solidFill>
                          <a:effectLst/>
                          <a:latin typeface="+mj-lt"/>
                        </a:rPr>
                        <a:t>52.2%</a:t>
                      </a:r>
                    </a:p>
                  </a:txBody>
                  <a:tcPr marL="6350" marR="6350" marT="6350" marB="0" anchor="ctr"/>
                </a:tc>
                <a:tc>
                  <a:txBody>
                    <a:bodyPr/>
                    <a:lstStyle/>
                    <a:p>
                      <a:pPr algn="ctr" fontAlgn="b"/>
                      <a:r>
                        <a:rPr lang="en-IN" sz="1050" b="0" i="0" u="none" strike="noStrike">
                          <a:solidFill>
                            <a:srgbClr val="000000"/>
                          </a:solidFill>
                          <a:effectLst/>
                          <a:latin typeface="+mj-lt"/>
                        </a:rPr>
                        <a:t>53.9%</a:t>
                      </a:r>
                    </a:p>
                  </a:txBody>
                  <a:tcPr marL="9525" marR="9525" marT="9525" marB="0" anchor="ctr"/>
                </a:tc>
                <a:extLst>
                  <a:ext uri="{0D108BD9-81ED-4DB2-BD59-A6C34878D82A}">
                    <a16:rowId xmlns:a16="http://schemas.microsoft.com/office/drawing/2014/main" val="3759208202"/>
                  </a:ext>
                </a:extLst>
              </a:tr>
            </a:tbl>
          </a:graphicData>
        </a:graphic>
      </p:graphicFrame>
    </p:spTree>
    <p:extLst>
      <p:ext uri="{BB962C8B-B14F-4D97-AF65-F5344CB8AC3E}">
        <p14:creationId xmlns:p14="http://schemas.microsoft.com/office/powerpoint/2010/main" val="17976124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73F69-4F6B-DA6C-4111-3C2A6A3427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370D04-4E7D-3AE4-2C35-D332092DF5E8}"/>
              </a:ext>
            </a:extLst>
          </p:cNvPr>
          <p:cNvSpPr>
            <a:spLocks noGrp="1"/>
          </p:cNvSpPr>
          <p:nvPr>
            <p:ph type="title"/>
          </p:nvPr>
        </p:nvSpPr>
        <p:spPr>
          <a:xfrm>
            <a:off x="371556" y="525420"/>
            <a:ext cx="8262481" cy="334515"/>
          </a:xfrm>
        </p:spPr>
        <p:txBody>
          <a:bodyPr/>
          <a:lstStyle/>
          <a:p>
            <a:r>
              <a:rPr lang="en-US" err="1"/>
              <a:t>Moshpit</a:t>
            </a:r>
            <a:r>
              <a:rPr lang="en-US"/>
              <a:t> Technologies Private Limited - </a:t>
            </a:r>
            <a:r>
              <a:rPr lang="en-US" err="1"/>
              <a:t>Finbox</a:t>
            </a:r>
          </a:p>
        </p:txBody>
      </p:sp>
      <p:sp>
        <p:nvSpPr>
          <p:cNvPr id="3" name="TextBox 2">
            <a:extLst>
              <a:ext uri="{FF2B5EF4-FFF2-40B4-BE49-F238E27FC236}">
                <a16:creationId xmlns:a16="http://schemas.microsoft.com/office/drawing/2014/main" id="{D5B1D62C-DD6D-2C25-62BD-99028B30ADD9}"/>
              </a:ext>
            </a:extLst>
          </p:cNvPr>
          <p:cNvSpPr txBox="1"/>
          <p:nvPr/>
        </p:nvSpPr>
        <p:spPr>
          <a:xfrm>
            <a:off x="499141" y="1387387"/>
            <a:ext cx="3450246" cy="320216"/>
          </a:xfrm>
          <a:prstGeom prst="rect">
            <a:avLst/>
          </a:prstGeom>
          <a:noFill/>
        </p:spPr>
        <p:txBody>
          <a:bodyPr wrap="square" rtlCol="0">
            <a:spAutoFit/>
          </a:bodyPr>
          <a:lstStyle/>
          <a:p>
            <a:r>
              <a:rPr lang="en-IN" sz="1481" b="1">
                <a:solidFill>
                  <a:schemeClr val="tx2"/>
                </a:solidFill>
                <a:ea typeface="Lato Regular" panose="020F0502020204030203" pitchFamily="34" charset="0"/>
                <a:cs typeface="Lato Regular" panose="020F0502020204030203" pitchFamily="34" charset="0"/>
              </a:rPr>
              <a:t>Business Description</a:t>
            </a:r>
          </a:p>
        </p:txBody>
      </p:sp>
      <p:sp>
        <p:nvSpPr>
          <p:cNvPr id="4" name="TextBox 3">
            <a:extLst>
              <a:ext uri="{FF2B5EF4-FFF2-40B4-BE49-F238E27FC236}">
                <a16:creationId xmlns:a16="http://schemas.microsoft.com/office/drawing/2014/main" id="{44232CFE-531F-BA3C-5069-A65F5ADAA01D}"/>
              </a:ext>
            </a:extLst>
          </p:cNvPr>
          <p:cNvSpPr txBox="1"/>
          <p:nvPr/>
        </p:nvSpPr>
        <p:spPr>
          <a:xfrm>
            <a:off x="499141" y="3805112"/>
            <a:ext cx="3450246" cy="320216"/>
          </a:xfrm>
          <a:prstGeom prst="rect">
            <a:avLst/>
          </a:prstGeom>
          <a:noFill/>
        </p:spPr>
        <p:txBody>
          <a:bodyPr wrap="square" rtlCol="0">
            <a:spAutoFit/>
          </a:bodyPr>
          <a:lstStyle/>
          <a:p>
            <a:r>
              <a:rPr lang="en-IN" sz="1481" b="1">
                <a:solidFill>
                  <a:schemeClr val="tx2"/>
                </a:solidFill>
                <a:ea typeface="Lato Regular" panose="020F0502020204030203" pitchFamily="34" charset="0"/>
                <a:cs typeface="Lato Regular" panose="020F0502020204030203" pitchFamily="34" charset="0"/>
              </a:rPr>
              <a:t>Performance Commentary</a:t>
            </a:r>
          </a:p>
        </p:txBody>
      </p:sp>
      <p:sp>
        <p:nvSpPr>
          <p:cNvPr id="5" name="TextBox 4">
            <a:extLst>
              <a:ext uri="{FF2B5EF4-FFF2-40B4-BE49-F238E27FC236}">
                <a16:creationId xmlns:a16="http://schemas.microsoft.com/office/drawing/2014/main" id="{2E19B049-591A-FB82-2FB7-D1340FBEC78A}"/>
              </a:ext>
            </a:extLst>
          </p:cNvPr>
          <p:cNvSpPr txBox="1"/>
          <p:nvPr/>
        </p:nvSpPr>
        <p:spPr>
          <a:xfrm>
            <a:off x="5539984" y="3805112"/>
            <a:ext cx="3450246" cy="227883"/>
          </a:xfrm>
          <a:prstGeom prst="rect">
            <a:avLst/>
          </a:prstGeom>
          <a:noFill/>
        </p:spPr>
        <p:txBody>
          <a:bodyPr wrap="square" lIns="0" tIns="0" rIns="0" bIns="0" rtlCol="0">
            <a:spAutoFit/>
          </a:bodyPr>
          <a:lstStyle/>
          <a:p>
            <a:r>
              <a:rPr lang="en-IN" sz="1481" b="1">
                <a:solidFill>
                  <a:schemeClr val="tx2"/>
                </a:solidFill>
                <a:ea typeface="Lato Regular" panose="020F0502020204030203" pitchFamily="34" charset="0"/>
                <a:cs typeface="Lato Regular" panose="020F0502020204030203" pitchFamily="34" charset="0"/>
              </a:rPr>
              <a:t>Key Financial Highlights</a:t>
            </a:r>
          </a:p>
        </p:txBody>
      </p:sp>
      <p:sp>
        <p:nvSpPr>
          <p:cNvPr id="6" name="Rectangle 5">
            <a:extLst>
              <a:ext uri="{FF2B5EF4-FFF2-40B4-BE49-F238E27FC236}">
                <a16:creationId xmlns:a16="http://schemas.microsoft.com/office/drawing/2014/main" id="{BE9BB00F-F485-4963-60FD-3A975C5A7BB8}"/>
              </a:ext>
            </a:extLst>
          </p:cNvPr>
          <p:cNvSpPr/>
          <p:nvPr/>
        </p:nvSpPr>
        <p:spPr>
          <a:xfrm>
            <a:off x="562116" y="1738936"/>
            <a:ext cx="4195514" cy="2031325"/>
          </a:xfrm>
          <a:prstGeom prst="rect">
            <a:avLst/>
          </a:prstGeom>
        </p:spPr>
        <p:txBody>
          <a:bodyPr wrap="square" lIns="0" tIns="0" rIns="0" bIns="0" anchor="t">
            <a:spAutoFit/>
          </a:bodyPr>
          <a:lstStyle/>
          <a:p>
            <a:pPr marL="171450" indent="-171450" algn="just">
              <a:buFont typeface="Arial,Sans-Serif" panose="020B0604020202020204" pitchFamily="34" charset="0"/>
              <a:buChar char="•"/>
            </a:pPr>
            <a:r>
              <a:rPr lang="en-US" sz="1200" err="1">
                <a:solidFill>
                  <a:schemeClr val="bg2">
                    <a:lumMod val="10000"/>
                  </a:schemeClr>
                </a:solidFill>
                <a:latin typeface="Aptos"/>
                <a:ea typeface="Calibri"/>
                <a:cs typeface="Calibri"/>
                <a:sym typeface="Calibri"/>
              </a:rPr>
              <a:t>Finbox</a:t>
            </a:r>
            <a:r>
              <a:rPr lang="en-US" sz="1200">
                <a:solidFill>
                  <a:schemeClr val="bg2">
                    <a:lumMod val="10000"/>
                  </a:schemeClr>
                </a:solidFill>
                <a:ea typeface="Calibri"/>
                <a:cs typeface="Calibri"/>
                <a:sym typeface="Calibri"/>
              </a:rPr>
              <a:t> is an API first platform that helps companies embed lending journey. Credit infrastructure &amp; risk intelligence is provided as a service</a:t>
            </a:r>
            <a:endParaRPr lang="en-US" sz="1200">
              <a:solidFill>
                <a:schemeClr val="bg2">
                  <a:lumMod val="10000"/>
                </a:schemeClr>
              </a:solidFill>
            </a:endParaRPr>
          </a:p>
          <a:p>
            <a:pPr marL="171450" indent="-171450" algn="just">
              <a:buFont typeface="Arial,Sans-Serif" panose="020B0604020202020204" pitchFamily="34" charset="0"/>
              <a:buChar char="•"/>
            </a:pPr>
            <a:r>
              <a:rPr lang="en-US" sz="1200">
                <a:solidFill>
                  <a:schemeClr val="bg2">
                    <a:lumMod val="10000"/>
                  </a:schemeClr>
                </a:solidFill>
                <a:ea typeface="Calibri"/>
                <a:cs typeface="Calibri"/>
                <a:sym typeface="Calibri"/>
              </a:rPr>
              <a:t>They have built a low code SDK built to enable credit workflow into any consumer facing app in the form of drop-down widget. </a:t>
            </a:r>
            <a:endParaRPr lang="en-US" sz="1200">
              <a:solidFill>
                <a:schemeClr val="bg2">
                  <a:lumMod val="10000"/>
                </a:schemeClr>
              </a:solidFill>
              <a:ea typeface="Calibri"/>
              <a:cs typeface="Calibri"/>
            </a:endParaRPr>
          </a:p>
          <a:p>
            <a:pPr marL="171450" indent="-171450" algn="just">
              <a:buFont typeface="Arial,Sans-Serif" panose="020B0604020202020204" pitchFamily="34" charset="0"/>
              <a:buChar char="•"/>
            </a:pPr>
            <a:r>
              <a:rPr lang="en-US" sz="1200">
                <a:solidFill>
                  <a:schemeClr val="bg2">
                    <a:lumMod val="10000"/>
                  </a:schemeClr>
                </a:solidFill>
                <a:ea typeface="Calibri"/>
                <a:cs typeface="Calibri"/>
                <a:sym typeface="Calibri"/>
              </a:rPr>
              <a:t>Another product of theirs device connect is used by lenders to </a:t>
            </a:r>
            <a:r>
              <a:rPr lang="en-US" sz="1200" err="1">
                <a:solidFill>
                  <a:schemeClr val="bg2">
                    <a:lumMod val="10000"/>
                  </a:schemeClr>
                </a:solidFill>
                <a:ea typeface="Calibri"/>
                <a:cs typeface="Calibri"/>
                <a:sym typeface="Calibri"/>
              </a:rPr>
              <a:t>analyse</a:t>
            </a:r>
            <a:r>
              <a:rPr lang="en-US" sz="1200">
                <a:solidFill>
                  <a:schemeClr val="bg2">
                    <a:lumMod val="10000"/>
                  </a:schemeClr>
                </a:solidFill>
                <a:ea typeface="Calibri"/>
                <a:cs typeface="Calibri"/>
                <a:sym typeface="Calibri"/>
              </a:rPr>
              <a:t> alternate data</a:t>
            </a:r>
            <a:endParaRPr lang="en-US" sz="1200">
              <a:solidFill>
                <a:schemeClr val="bg2">
                  <a:lumMod val="10000"/>
                </a:schemeClr>
              </a:solidFill>
              <a:ea typeface="Calibri"/>
              <a:cs typeface="Calibri"/>
            </a:endParaRPr>
          </a:p>
          <a:p>
            <a:pPr marL="171450" indent="-171450" algn="just">
              <a:buFont typeface="Arial,Sans-Serif" panose="020B0604020202020204" pitchFamily="34" charset="0"/>
              <a:buChar char="•"/>
            </a:pPr>
            <a:r>
              <a:rPr lang="en-US" sz="1200">
                <a:solidFill>
                  <a:schemeClr val="bg2">
                    <a:lumMod val="10000"/>
                  </a:schemeClr>
                </a:solidFill>
                <a:ea typeface="Calibri"/>
                <a:cs typeface="Calibri"/>
                <a:sym typeface="Calibri"/>
              </a:rPr>
              <a:t>Underwriting, collections and rule engine Aps are their top used products.</a:t>
            </a:r>
            <a:endParaRPr lang="en-US" sz="1200">
              <a:solidFill>
                <a:schemeClr val="bg2">
                  <a:lumMod val="10000"/>
                </a:schemeClr>
              </a:solidFill>
              <a:ea typeface="Calibri"/>
              <a:cs typeface="Calibri"/>
            </a:endParaRPr>
          </a:p>
          <a:p>
            <a:pPr marL="171450" indent="-171450" algn="just">
              <a:spcAft>
                <a:spcPts val="600"/>
              </a:spcAft>
              <a:buFont typeface="Arial" panose="020B0604020202020204" pitchFamily="34" charset="0"/>
              <a:buChar char="•"/>
            </a:pPr>
            <a:endParaRPr lang="en-US" sz="1200">
              <a:solidFill>
                <a:schemeClr val="bg2">
                  <a:lumMod val="10000"/>
                </a:schemeClr>
              </a:solidFill>
              <a:ea typeface="Calibri"/>
              <a:cs typeface="Calibri"/>
            </a:endParaRPr>
          </a:p>
        </p:txBody>
      </p:sp>
      <p:sp>
        <p:nvSpPr>
          <p:cNvPr id="7" name="TextBox 6">
            <a:extLst>
              <a:ext uri="{FF2B5EF4-FFF2-40B4-BE49-F238E27FC236}">
                <a16:creationId xmlns:a16="http://schemas.microsoft.com/office/drawing/2014/main" id="{12A132D5-6779-2392-5AD0-B67B76F4EC97}"/>
              </a:ext>
            </a:extLst>
          </p:cNvPr>
          <p:cNvSpPr txBox="1"/>
          <p:nvPr/>
        </p:nvSpPr>
        <p:spPr>
          <a:xfrm>
            <a:off x="499141" y="4088820"/>
            <a:ext cx="4408262" cy="2616101"/>
          </a:xfrm>
          <a:prstGeom prst="rect">
            <a:avLst/>
          </a:prstGeom>
          <a:noFill/>
        </p:spPr>
        <p:txBody>
          <a:bodyPr wrap="square" lIns="91440" tIns="45720" rIns="91440" bIns="45720" rtlCol="0" anchor="t">
            <a:spAutoFit/>
          </a:bodyPr>
          <a:lstStyle/>
          <a:p>
            <a:pPr marL="171450" indent="-171450" algn="just">
              <a:spcAft>
                <a:spcPts val="600"/>
              </a:spcAft>
              <a:buFont typeface="Arial,Sans-Serif" panose="020B0604020202020204" pitchFamily="34" charset="0"/>
              <a:buChar char="•"/>
            </a:pPr>
            <a:r>
              <a:rPr lang="en-GB" sz="1200">
                <a:solidFill>
                  <a:srgbClr val="242424"/>
                </a:solidFill>
                <a:highlight>
                  <a:srgbClr val="FFFFFF"/>
                </a:highlight>
                <a:ea typeface="Lato Regular"/>
                <a:cs typeface="Lato Regular"/>
              </a:rPr>
              <a:t>The most efficient capital we have ever put to work. </a:t>
            </a:r>
            <a:r>
              <a:rPr lang="en-GB" sz="1200" b="1">
                <a:solidFill>
                  <a:srgbClr val="242424"/>
                </a:solidFill>
                <a:highlight>
                  <a:srgbClr val="FFFFFF"/>
                </a:highlight>
                <a:ea typeface="Lato Regular"/>
                <a:cs typeface="Lato Regular"/>
              </a:rPr>
              <a:t>₹4.49 Cr in, ₹106.7 Cr in revenue (+42.3% YoY), the third consecutive year of strong growth</a:t>
            </a:r>
            <a:r>
              <a:rPr lang="en-GB" sz="1200">
                <a:solidFill>
                  <a:srgbClr val="242424"/>
                </a:solidFill>
                <a:highlight>
                  <a:srgbClr val="FFFFFF"/>
                </a:highlight>
                <a:ea typeface="Lato Regular"/>
                <a:cs typeface="Lato Regular"/>
              </a:rPr>
              <a:t>, gross margin expanded to </a:t>
            </a:r>
            <a:r>
              <a:rPr lang="en-GB" sz="1200" b="1">
                <a:solidFill>
                  <a:srgbClr val="242424"/>
                </a:solidFill>
                <a:highlight>
                  <a:srgbClr val="FFFFFF"/>
                </a:highlight>
                <a:ea typeface="Lato Regular"/>
                <a:cs typeface="Lato Regular"/>
              </a:rPr>
              <a:t>67.3%</a:t>
            </a:r>
            <a:r>
              <a:rPr lang="en-GB" sz="1200">
                <a:solidFill>
                  <a:srgbClr val="242424"/>
                </a:solidFill>
                <a:highlight>
                  <a:srgbClr val="FFFFFF"/>
                </a:highlight>
                <a:ea typeface="Lato Regular"/>
                <a:cs typeface="Lato Regular"/>
              </a:rPr>
              <a:t>, and EBITDA loss narrowed for the second year running. </a:t>
            </a:r>
            <a:endParaRPr lang="en-US" sz="1200">
              <a:solidFill>
                <a:srgbClr val="2C2B69"/>
              </a:solidFill>
              <a:ea typeface="Lato Regular" panose="020F0502020204030203" pitchFamily="34" charset="0"/>
              <a:cs typeface="Lato Regular" panose="020F0502020204030203" pitchFamily="34" charset="0"/>
            </a:endParaRPr>
          </a:p>
          <a:p>
            <a:pPr marL="171450" indent="-171450" algn="just">
              <a:spcAft>
                <a:spcPts val="600"/>
              </a:spcAft>
              <a:buFont typeface="Arial,Sans-Serif" panose="020B0604020202020204" pitchFamily="34" charset="0"/>
              <a:buChar char="•"/>
            </a:pPr>
            <a:r>
              <a:rPr lang="en-GB" sz="1200">
                <a:solidFill>
                  <a:srgbClr val="242424"/>
                </a:solidFill>
                <a:highlight>
                  <a:srgbClr val="FFFFFF"/>
                </a:highlight>
                <a:ea typeface="Lato Regular"/>
                <a:cs typeface="Lato Regular"/>
              </a:rPr>
              <a:t>The product mix is also evolving in the right direction — from one-time SDK integrations toward recurring, higher-margin embedded lending APIs.</a:t>
            </a:r>
            <a:endParaRPr lang="en-US" sz="1200">
              <a:solidFill>
                <a:srgbClr val="2C2B69"/>
              </a:solidFill>
              <a:ea typeface="Lato Regular" panose="020F0502020204030203" pitchFamily="34" charset="0"/>
              <a:cs typeface="Lato Regular" panose="020F0502020204030203" pitchFamily="34" charset="0"/>
            </a:endParaRPr>
          </a:p>
          <a:p>
            <a:pPr marL="171450" indent="-171450" algn="just">
              <a:spcAft>
                <a:spcPts val="600"/>
              </a:spcAft>
              <a:buFont typeface="Arial,Sans-Serif" panose="020B0604020202020204" pitchFamily="34" charset="0"/>
              <a:buChar char="•"/>
            </a:pPr>
            <a:r>
              <a:rPr lang="en-GB" sz="1200">
                <a:solidFill>
                  <a:srgbClr val="242424"/>
                </a:solidFill>
                <a:highlight>
                  <a:srgbClr val="FFFFFF"/>
                </a:highlight>
                <a:ea typeface="Lato Regular"/>
                <a:cs typeface="Lato Regular"/>
              </a:rPr>
              <a:t> Path to EBITDA-positive </a:t>
            </a:r>
            <a:r>
              <a:rPr lang="en-GB" sz="1200" b="1">
                <a:solidFill>
                  <a:srgbClr val="242424"/>
                </a:solidFill>
                <a:highlight>
                  <a:srgbClr val="FFFFFF"/>
                </a:highlight>
                <a:ea typeface="Lato Regular"/>
                <a:cs typeface="Lato Regular"/>
              </a:rPr>
              <a:t>by FY27</a:t>
            </a:r>
            <a:r>
              <a:rPr lang="en-GB" sz="1200">
                <a:solidFill>
                  <a:srgbClr val="242424"/>
                </a:solidFill>
                <a:highlight>
                  <a:srgbClr val="FFFFFF"/>
                </a:highlight>
                <a:ea typeface="Lato Regular"/>
                <a:cs typeface="Lato Regular"/>
              </a:rPr>
              <a:t> is credible. We have done less to deserve this outcome than we will likely admit.</a:t>
            </a:r>
            <a:endParaRPr lang="en-US" sz="1200">
              <a:solidFill>
                <a:srgbClr val="2C2B69"/>
              </a:solidFill>
              <a:ea typeface="Lato Regular" panose="020F0502020204030203" pitchFamily="34" charset="0"/>
              <a:cs typeface="Lato Regular" panose="020F0502020204030203" pitchFamily="34" charset="0"/>
            </a:endParaRPr>
          </a:p>
          <a:p>
            <a:pPr marL="171450" indent="-171450" algn="just">
              <a:spcAft>
                <a:spcPts val="600"/>
              </a:spcAft>
              <a:buFont typeface="Arial,Sans-Serif" panose="020B0604020202020204" pitchFamily="34" charset="0"/>
              <a:buChar char="•"/>
            </a:pPr>
            <a:endParaRPr lang="en-GB" sz="1200" b="1">
              <a:solidFill>
                <a:schemeClr val="bg2">
                  <a:lumMod val="10000"/>
                </a:schemeClr>
              </a:solidFill>
              <a:ea typeface="Lato Regular"/>
              <a:cs typeface="Lato Regular"/>
            </a:endParaRPr>
          </a:p>
          <a:p>
            <a:pPr marL="171450" indent="-171450" algn="just">
              <a:spcAft>
                <a:spcPts val="600"/>
              </a:spcAft>
              <a:buFont typeface="Arial" panose="020B0604020202020204" pitchFamily="34" charset="0"/>
              <a:buChar char="•"/>
            </a:pPr>
            <a:endParaRPr lang="en-GB" sz="1200">
              <a:solidFill>
                <a:schemeClr val="bg2">
                  <a:lumMod val="10000"/>
                </a:schemeClr>
              </a:solidFill>
              <a:ea typeface="Lato Regular"/>
              <a:cs typeface="Lato Regular"/>
            </a:endParaRPr>
          </a:p>
        </p:txBody>
      </p:sp>
      <p:cxnSp>
        <p:nvCxnSpPr>
          <p:cNvPr id="10" name="Straight Connector 9">
            <a:extLst>
              <a:ext uri="{FF2B5EF4-FFF2-40B4-BE49-F238E27FC236}">
                <a16:creationId xmlns:a16="http://schemas.microsoft.com/office/drawing/2014/main" id="{E563074E-0AAF-94AF-563F-27028E9E90B4}"/>
              </a:ext>
            </a:extLst>
          </p:cNvPr>
          <p:cNvCxnSpPr>
            <a:cxnSpLocks/>
          </p:cNvCxnSpPr>
          <p:nvPr/>
        </p:nvCxnSpPr>
        <p:spPr>
          <a:xfrm>
            <a:off x="6189126" y="536026"/>
            <a:ext cx="0" cy="320217"/>
          </a:xfrm>
          <a:prstGeom prst="line">
            <a:avLst/>
          </a:prstGeom>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8C78DB8-51F8-3272-F44D-42B0801FF252}"/>
              </a:ext>
            </a:extLst>
          </p:cNvPr>
          <p:cNvSpPr txBox="1"/>
          <p:nvPr/>
        </p:nvSpPr>
        <p:spPr>
          <a:xfrm>
            <a:off x="5539984" y="1433554"/>
            <a:ext cx="3607078" cy="227883"/>
          </a:xfrm>
          <a:prstGeom prst="rect">
            <a:avLst/>
          </a:prstGeom>
          <a:noFill/>
        </p:spPr>
        <p:txBody>
          <a:bodyPr wrap="square" lIns="0" tIns="0" rIns="0" bIns="0" rtlCol="0">
            <a:spAutoFit/>
          </a:bodyPr>
          <a:lstStyle/>
          <a:p>
            <a:r>
              <a:rPr lang="en-IN" sz="1481" b="1">
                <a:solidFill>
                  <a:schemeClr val="tx2"/>
                </a:solidFill>
                <a:ea typeface="Lato Regular" panose="020F0502020204030203" pitchFamily="34" charset="0"/>
                <a:cs typeface="Lato Regular" panose="020F0502020204030203" pitchFamily="34" charset="0"/>
              </a:rPr>
              <a:t>Key Performance Indicators</a:t>
            </a:r>
          </a:p>
        </p:txBody>
      </p:sp>
      <p:graphicFrame>
        <p:nvGraphicFramePr>
          <p:cNvPr id="15" name="Table 14">
            <a:extLst>
              <a:ext uri="{FF2B5EF4-FFF2-40B4-BE49-F238E27FC236}">
                <a16:creationId xmlns:a16="http://schemas.microsoft.com/office/drawing/2014/main" id="{689084FE-ECB5-A2B7-907B-8604832121A2}"/>
              </a:ext>
            </a:extLst>
          </p:cNvPr>
          <p:cNvGraphicFramePr>
            <a:graphicFrameLocks noGrp="1"/>
          </p:cNvGraphicFramePr>
          <p:nvPr>
            <p:extLst>
              <p:ext uri="{D42A27DB-BD31-4B8C-83A1-F6EECF244321}">
                <p14:modId xmlns:p14="http://schemas.microsoft.com/office/powerpoint/2010/main" val="915471829"/>
              </p:ext>
            </p:extLst>
          </p:nvPr>
        </p:nvGraphicFramePr>
        <p:xfrm>
          <a:off x="5539984" y="4144254"/>
          <a:ext cx="5842026" cy="2084312"/>
        </p:xfrm>
        <a:graphic>
          <a:graphicData uri="http://schemas.openxmlformats.org/drawingml/2006/table">
            <a:tbl>
              <a:tblPr firstRow="1" bandRow="1">
                <a:tableStyleId>{72833802-FEF1-4C79-8D5D-14CF1EAF98D9}</a:tableStyleId>
              </a:tblPr>
              <a:tblGrid>
                <a:gridCol w="1911076">
                  <a:extLst>
                    <a:ext uri="{9D8B030D-6E8A-4147-A177-3AD203B41FA5}">
                      <a16:colId xmlns:a16="http://schemas.microsoft.com/office/drawing/2014/main" val="3001066899"/>
                    </a:ext>
                  </a:extLst>
                </a:gridCol>
                <a:gridCol w="786190">
                  <a:extLst>
                    <a:ext uri="{9D8B030D-6E8A-4147-A177-3AD203B41FA5}">
                      <a16:colId xmlns:a16="http://schemas.microsoft.com/office/drawing/2014/main" val="700748351"/>
                    </a:ext>
                  </a:extLst>
                </a:gridCol>
                <a:gridCol w="786190">
                  <a:extLst>
                    <a:ext uri="{9D8B030D-6E8A-4147-A177-3AD203B41FA5}">
                      <a16:colId xmlns:a16="http://schemas.microsoft.com/office/drawing/2014/main" val="3274968397"/>
                    </a:ext>
                  </a:extLst>
                </a:gridCol>
                <a:gridCol w="786190">
                  <a:extLst>
                    <a:ext uri="{9D8B030D-6E8A-4147-A177-3AD203B41FA5}">
                      <a16:colId xmlns:a16="http://schemas.microsoft.com/office/drawing/2014/main" val="3623532732"/>
                    </a:ext>
                  </a:extLst>
                </a:gridCol>
                <a:gridCol w="786190">
                  <a:extLst>
                    <a:ext uri="{9D8B030D-6E8A-4147-A177-3AD203B41FA5}">
                      <a16:colId xmlns:a16="http://schemas.microsoft.com/office/drawing/2014/main" val="746035582"/>
                    </a:ext>
                  </a:extLst>
                </a:gridCol>
                <a:gridCol w="786190">
                  <a:extLst>
                    <a:ext uri="{9D8B030D-6E8A-4147-A177-3AD203B41FA5}">
                      <a16:colId xmlns:a16="http://schemas.microsoft.com/office/drawing/2014/main" val="3336224203"/>
                    </a:ext>
                  </a:extLst>
                </a:gridCol>
              </a:tblGrid>
              <a:tr h="255952">
                <a:tc>
                  <a:txBody>
                    <a:bodyPr/>
                    <a:lstStyle/>
                    <a:p>
                      <a:pPr lvl="0" algn="l" rtl="0">
                        <a:buNone/>
                      </a:pPr>
                      <a:r>
                        <a:rPr lang="en-IN" sz="1050" u="none" strike="noStrike">
                          <a:effectLst/>
                          <a:latin typeface="Aptos"/>
                          <a:ea typeface="Lato Regular"/>
                          <a:cs typeface="Lato Regular"/>
                        </a:rPr>
                        <a:t>INR Cr.</a:t>
                      </a:r>
                      <a:endParaRPr lang="en-IN" sz="1050" b="1" i="0" u="none" strike="noStrike">
                        <a:solidFill>
                          <a:srgbClr val="FFFFFF"/>
                        </a:solidFill>
                        <a:effectLst/>
                        <a:latin typeface="Aptos"/>
                        <a:ea typeface="Lato Regular"/>
                        <a:cs typeface="Lato Regular"/>
                      </a:endParaRPr>
                    </a:p>
                  </a:txBody>
                  <a:tcPr marL="72000" marR="6350" marT="6350" marB="0" anchor="ctr"/>
                </a:tc>
                <a:tc>
                  <a:txBody>
                    <a:bodyPr/>
                    <a:lstStyle/>
                    <a:p>
                      <a:pPr lvl="0" algn="ctr">
                        <a:buNone/>
                      </a:pPr>
                      <a:r>
                        <a:rPr lang="en-US" sz="1050" b="1" i="0" u="none" strike="noStrike">
                          <a:solidFill>
                            <a:schemeClr val="bg1"/>
                          </a:solidFill>
                          <a:effectLst/>
                          <a:latin typeface="Aptos"/>
                          <a:ea typeface="Lato Regular"/>
                          <a:cs typeface="Lato Regular"/>
                        </a:rPr>
                        <a:t>FY24</a:t>
                      </a:r>
                      <a:endParaRPr lang="en-US"/>
                    </a:p>
                  </a:txBody>
                  <a:tcPr marL="6350" marR="6350" marT="6350" marB="0" anchor="ctr"/>
                </a:tc>
                <a:tc>
                  <a:txBody>
                    <a:bodyPr/>
                    <a:lstStyle/>
                    <a:p>
                      <a:pPr lvl="0" algn="ctr">
                        <a:buNone/>
                      </a:pPr>
                      <a:r>
                        <a:rPr lang="en-US" sz="1050" b="1" i="0" u="none" strike="noStrike">
                          <a:solidFill>
                            <a:schemeClr val="bg1"/>
                          </a:solidFill>
                          <a:effectLst/>
                          <a:latin typeface="Aptos"/>
                          <a:ea typeface="Lato Regular"/>
                          <a:cs typeface="Lato Regular"/>
                        </a:rPr>
                        <a:t>FY25</a:t>
                      </a:r>
                      <a:endParaRPr lang="en-US"/>
                    </a:p>
                  </a:txBody>
                  <a:tcPr marL="6350" marR="6350" marT="6350" marB="0" anchor="ctr"/>
                </a:tc>
                <a:tc>
                  <a:txBody>
                    <a:bodyPr/>
                    <a:lstStyle/>
                    <a:p>
                      <a:pPr lvl="0" algn="ctr">
                        <a:buNone/>
                      </a:pPr>
                      <a:r>
                        <a:rPr lang="en-US" sz="1050" b="1" i="0" u="none" strike="noStrike">
                          <a:solidFill>
                            <a:schemeClr val="bg1"/>
                          </a:solidFill>
                          <a:effectLst/>
                          <a:latin typeface="Aptos"/>
                          <a:ea typeface="Lato Regular"/>
                          <a:cs typeface="Lato Regular"/>
                        </a:rPr>
                        <a:t>FY26</a:t>
                      </a:r>
                      <a:endParaRPr lang="en-US"/>
                    </a:p>
                  </a:txBody>
                  <a:tcPr marL="6350" marR="6350" marT="6350" marB="0" anchor="ctr"/>
                </a:tc>
                <a:tc>
                  <a:txBody>
                    <a:bodyPr/>
                    <a:lstStyle/>
                    <a:p>
                      <a:pPr lvl="0" algn="ctr">
                        <a:buNone/>
                      </a:pPr>
                      <a:r>
                        <a:rPr lang="en-US" sz="1050" b="1" i="0" u="none" strike="noStrike">
                          <a:solidFill>
                            <a:schemeClr val="bg1"/>
                          </a:solidFill>
                          <a:effectLst/>
                          <a:latin typeface="Aptos"/>
                          <a:ea typeface="Lato Regular"/>
                          <a:cs typeface="Lato Regular"/>
                        </a:rPr>
                        <a:t>Q4FY25</a:t>
                      </a:r>
                      <a:endParaRPr lang="en-US"/>
                    </a:p>
                  </a:txBody>
                  <a:tcPr marL="6350" marR="6350" marT="6350" marB="0" anchor="ctr"/>
                </a:tc>
                <a:tc>
                  <a:txBody>
                    <a:bodyPr/>
                    <a:lstStyle/>
                    <a:p>
                      <a:pPr lvl="0" algn="ctr">
                        <a:buNone/>
                      </a:pPr>
                      <a:r>
                        <a:rPr lang="en-US" sz="1050" b="1" i="0" u="none" strike="noStrike">
                          <a:solidFill>
                            <a:schemeClr val="bg1"/>
                          </a:solidFill>
                          <a:effectLst/>
                          <a:latin typeface="Aptos"/>
                          <a:ea typeface="Lato Regular"/>
                          <a:cs typeface="Lato Regular"/>
                        </a:rPr>
                        <a:t>Q4FY26</a:t>
                      </a:r>
                      <a:endParaRPr lang="en-US"/>
                    </a:p>
                  </a:txBody>
                  <a:tcPr marL="6350" marR="6350" marT="6350" marB="0" anchor="ctr"/>
                </a:tc>
                <a:extLst>
                  <a:ext uri="{0D108BD9-81ED-4DB2-BD59-A6C34878D82A}">
                    <a16:rowId xmlns:a16="http://schemas.microsoft.com/office/drawing/2014/main" val="3735237806"/>
                  </a:ext>
                </a:extLst>
              </a:tr>
              <a:tr h="304727">
                <a:tc>
                  <a:txBody>
                    <a:bodyPr/>
                    <a:lstStyle/>
                    <a:p>
                      <a:pPr lvl="0" algn="l" rtl="0">
                        <a:buNone/>
                      </a:pPr>
                      <a:r>
                        <a:rPr lang="en-IN" sz="1050" b="1" u="none" strike="noStrike">
                          <a:solidFill>
                            <a:schemeClr val="bg2">
                              <a:lumMod val="10000"/>
                            </a:schemeClr>
                          </a:solidFill>
                          <a:effectLst/>
                          <a:latin typeface="Aptos"/>
                          <a:ea typeface="Lato Regular"/>
                          <a:cs typeface="Lato Regular"/>
                        </a:rPr>
                        <a:t>Net Revenue</a:t>
                      </a:r>
                      <a:endParaRPr lang="en-IN" sz="1050" b="1" i="0" u="none" strike="noStrike">
                        <a:solidFill>
                          <a:schemeClr val="bg2">
                            <a:lumMod val="10000"/>
                          </a:schemeClr>
                        </a:solidFill>
                        <a:effectLst/>
                        <a:latin typeface="Aptos"/>
                        <a:ea typeface="Lato Regular"/>
                        <a:cs typeface="Lato Regular"/>
                      </a:endParaRPr>
                    </a:p>
                  </a:txBody>
                  <a:tcPr marL="72000" marR="6350" marT="6350" marB="0" anchor="ctr"/>
                </a:tc>
                <a:tc>
                  <a:txBody>
                    <a:bodyPr/>
                    <a:lstStyle/>
                    <a:p>
                      <a:pPr lvl="0" algn="ctr">
                        <a:buNone/>
                      </a:pPr>
                      <a:r>
                        <a:rPr lang="en-IN" sz="1050" b="1" i="0" u="none" strike="noStrike">
                          <a:solidFill>
                            <a:srgbClr val="000000"/>
                          </a:solidFill>
                          <a:effectLst/>
                          <a:latin typeface="+mj-lt"/>
                        </a:rPr>
                        <a:t>48.5</a:t>
                      </a:r>
                      <a:endParaRPr lang="en-US" sz="1050" b="1">
                        <a:latin typeface="+mj-lt"/>
                      </a:endParaRPr>
                    </a:p>
                  </a:txBody>
                  <a:tcPr marL="6350" marR="6350" marT="6350" marB="0" anchor="ctr"/>
                </a:tc>
                <a:tc>
                  <a:txBody>
                    <a:bodyPr/>
                    <a:lstStyle/>
                    <a:p>
                      <a:pPr lvl="0" algn="ctr">
                        <a:buNone/>
                      </a:pPr>
                      <a:r>
                        <a:rPr lang="en-IN" sz="1050" b="1" i="0" u="none" strike="noStrike">
                          <a:solidFill>
                            <a:srgbClr val="000000"/>
                          </a:solidFill>
                          <a:effectLst/>
                          <a:latin typeface="+mj-lt"/>
                        </a:rPr>
                        <a:t>74.9</a:t>
                      </a:r>
                      <a:endParaRPr lang="en-US" sz="1050" b="1">
                        <a:latin typeface="+mj-lt"/>
                      </a:endParaRPr>
                    </a:p>
                  </a:txBody>
                  <a:tcPr marL="6350" marR="6350" marT="6350" marB="0" anchor="ctr"/>
                </a:tc>
                <a:tc>
                  <a:txBody>
                    <a:bodyPr/>
                    <a:lstStyle/>
                    <a:p>
                      <a:pPr lvl="0" algn="ctr">
                        <a:buNone/>
                      </a:pPr>
                      <a:r>
                        <a:rPr lang="en-IN" sz="1050" b="1" i="0" u="none" strike="noStrike">
                          <a:solidFill>
                            <a:srgbClr val="000000"/>
                          </a:solidFill>
                          <a:effectLst/>
                          <a:latin typeface="+mj-lt"/>
                        </a:rPr>
                        <a:t>106.7</a:t>
                      </a:r>
                      <a:endParaRPr lang="en-US" sz="1050" b="1">
                        <a:latin typeface="+mj-lt"/>
                      </a:endParaRPr>
                    </a:p>
                  </a:txBody>
                  <a:tcPr marL="6350" marR="6350" marT="6350" marB="0" anchor="ctr"/>
                </a:tc>
                <a:tc>
                  <a:txBody>
                    <a:bodyPr/>
                    <a:lstStyle/>
                    <a:p>
                      <a:pPr lvl="0" algn="ctr">
                        <a:buNone/>
                      </a:pPr>
                      <a:r>
                        <a:rPr lang="en-IN" sz="1050" b="1" i="0" u="none" strike="noStrike">
                          <a:solidFill>
                            <a:srgbClr val="000000"/>
                          </a:solidFill>
                          <a:effectLst/>
                          <a:latin typeface="+mj-lt"/>
                        </a:rPr>
                        <a:t>20.2</a:t>
                      </a:r>
                      <a:endParaRPr lang="en-US" sz="1050" b="1">
                        <a:latin typeface="+mj-lt"/>
                      </a:endParaRPr>
                    </a:p>
                  </a:txBody>
                  <a:tcPr marL="6350" marR="6350" marT="6350" marB="0" anchor="ctr"/>
                </a:tc>
                <a:tc>
                  <a:txBody>
                    <a:bodyPr/>
                    <a:lstStyle/>
                    <a:p>
                      <a:pPr lvl="0" algn="ctr">
                        <a:buNone/>
                      </a:pPr>
                      <a:r>
                        <a:rPr lang="en-IN" sz="1050" b="1" i="0" u="none" strike="noStrike">
                          <a:solidFill>
                            <a:srgbClr val="000000"/>
                          </a:solidFill>
                          <a:effectLst/>
                          <a:latin typeface="+mj-lt"/>
                        </a:rPr>
                        <a:t>26.2</a:t>
                      </a:r>
                      <a:endParaRPr lang="en-US" sz="1050" b="1">
                        <a:latin typeface="+mj-lt"/>
                      </a:endParaRPr>
                    </a:p>
                  </a:txBody>
                  <a:tcPr marL="6350" marR="6350" marT="6350" marB="0" anchor="ctr"/>
                </a:tc>
                <a:extLst>
                  <a:ext uri="{0D108BD9-81ED-4DB2-BD59-A6C34878D82A}">
                    <a16:rowId xmlns:a16="http://schemas.microsoft.com/office/drawing/2014/main" val="2159784742"/>
                  </a:ext>
                </a:extLst>
              </a:tr>
              <a:tr h="304727">
                <a:tc>
                  <a:txBody>
                    <a:bodyPr/>
                    <a:lstStyle/>
                    <a:p>
                      <a:pPr lvl="0" algn="l" rtl="0">
                        <a:buNone/>
                      </a:pPr>
                      <a:r>
                        <a:rPr lang="en-IN" sz="1050" u="none" strike="noStrike">
                          <a:solidFill>
                            <a:schemeClr val="bg2">
                              <a:lumMod val="10000"/>
                            </a:schemeClr>
                          </a:solidFill>
                          <a:effectLst/>
                          <a:latin typeface="Aptos"/>
                          <a:ea typeface="Lato Regular"/>
                          <a:cs typeface="Lato Regular"/>
                        </a:rPr>
                        <a:t>% Growth YoY</a:t>
                      </a:r>
                      <a:endParaRPr lang="en-IN" sz="1050" b="0" i="0" u="none" strike="noStrike">
                        <a:solidFill>
                          <a:schemeClr val="bg2">
                            <a:lumMod val="10000"/>
                          </a:schemeClr>
                        </a:solidFill>
                        <a:effectLst/>
                        <a:latin typeface="Aptos"/>
                        <a:ea typeface="Lato Regular"/>
                        <a:cs typeface="Lato Regular"/>
                      </a:endParaRPr>
                    </a:p>
                  </a:txBody>
                  <a:tcPr marL="72000" marR="6350" marT="6350" marB="0" anchor="ctr"/>
                </a:tc>
                <a:tc>
                  <a:txBody>
                    <a:bodyPr/>
                    <a:lstStyle/>
                    <a:p>
                      <a:pPr lvl="0" algn="ctr">
                        <a:buNone/>
                      </a:pPr>
                      <a:r>
                        <a:rPr lang="en-IN" sz="1050" b="0" i="0" u="none" strike="noStrike">
                          <a:solidFill>
                            <a:srgbClr val="000000"/>
                          </a:solidFill>
                          <a:effectLst/>
                          <a:latin typeface="+mj-lt"/>
                        </a:rPr>
                        <a:t>46.8%</a:t>
                      </a:r>
                      <a:endParaRPr lang="en-US" sz="1050">
                        <a:latin typeface="+mj-lt"/>
                      </a:endParaRPr>
                    </a:p>
                  </a:txBody>
                  <a:tcPr marL="6350" marR="6350" marT="6350" marB="0" anchor="ctr"/>
                </a:tc>
                <a:tc>
                  <a:txBody>
                    <a:bodyPr/>
                    <a:lstStyle/>
                    <a:p>
                      <a:pPr lvl="0" algn="ctr">
                        <a:buNone/>
                      </a:pPr>
                      <a:r>
                        <a:rPr lang="en-IN" sz="1050" b="0" i="0" u="none" strike="noStrike">
                          <a:solidFill>
                            <a:srgbClr val="000000"/>
                          </a:solidFill>
                          <a:effectLst/>
                          <a:latin typeface="+mj-lt"/>
                        </a:rPr>
                        <a:t>54.6%</a:t>
                      </a:r>
                      <a:endParaRPr lang="en-US" sz="1050">
                        <a:latin typeface="+mj-lt"/>
                      </a:endParaRPr>
                    </a:p>
                  </a:txBody>
                  <a:tcPr marL="6350" marR="6350" marT="6350" marB="0" anchor="ctr"/>
                </a:tc>
                <a:tc>
                  <a:txBody>
                    <a:bodyPr/>
                    <a:lstStyle/>
                    <a:p>
                      <a:pPr lvl="0" algn="ctr">
                        <a:buNone/>
                      </a:pPr>
                      <a:r>
                        <a:rPr lang="en-IN" sz="1050" b="0" i="0" u="none" strike="noStrike">
                          <a:solidFill>
                            <a:srgbClr val="000000"/>
                          </a:solidFill>
                          <a:effectLst/>
                          <a:latin typeface="+mj-lt"/>
                        </a:rPr>
                        <a:t>42.3%</a:t>
                      </a:r>
                      <a:endParaRPr lang="en-US" sz="1050">
                        <a:latin typeface="+mj-lt"/>
                      </a:endParaRPr>
                    </a:p>
                  </a:txBody>
                  <a:tcPr marL="6350" marR="6350" marT="6350" marB="0" anchor="ctr"/>
                </a:tc>
                <a:tc>
                  <a:txBody>
                    <a:bodyPr/>
                    <a:lstStyle/>
                    <a:p>
                      <a:pPr lvl="0" algn="ctr">
                        <a:buNone/>
                      </a:pPr>
                      <a:r>
                        <a:rPr lang="en-IN" sz="1050" b="0" i="0" u="none" strike="noStrike">
                          <a:solidFill>
                            <a:srgbClr val="000000"/>
                          </a:solidFill>
                          <a:effectLst/>
                          <a:latin typeface="+mj-lt"/>
                        </a:rPr>
                        <a:t>214.3%</a:t>
                      </a:r>
                      <a:endParaRPr lang="en-US" sz="1050">
                        <a:latin typeface="+mj-lt"/>
                      </a:endParaRPr>
                    </a:p>
                  </a:txBody>
                  <a:tcPr marL="6350" marR="6350" marT="6350" marB="0" anchor="ctr"/>
                </a:tc>
                <a:tc>
                  <a:txBody>
                    <a:bodyPr/>
                    <a:lstStyle/>
                    <a:p>
                      <a:pPr lvl="0" algn="ctr">
                        <a:buNone/>
                      </a:pPr>
                      <a:r>
                        <a:rPr lang="en-IN" sz="1050" b="0" i="0" u="none" strike="noStrike">
                          <a:solidFill>
                            <a:srgbClr val="000000"/>
                          </a:solidFill>
                          <a:effectLst/>
                          <a:latin typeface="+mj-lt"/>
                        </a:rPr>
                        <a:t>29.7%</a:t>
                      </a:r>
                      <a:endParaRPr lang="en-US" sz="1050">
                        <a:latin typeface="+mj-lt"/>
                      </a:endParaRPr>
                    </a:p>
                  </a:txBody>
                  <a:tcPr marL="6350" marR="6350" marT="6350" marB="0" anchor="ctr"/>
                </a:tc>
                <a:extLst>
                  <a:ext uri="{0D108BD9-81ED-4DB2-BD59-A6C34878D82A}">
                    <a16:rowId xmlns:a16="http://schemas.microsoft.com/office/drawing/2014/main" val="2809398452"/>
                  </a:ext>
                </a:extLst>
              </a:tr>
              <a:tr h="304727">
                <a:tc>
                  <a:txBody>
                    <a:bodyPr/>
                    <a:lstStyle/>
                    <a:p>
                      <a:pPr lvl="0" algn="l" rtl="0">
                        <a:buNone/>
                      </a:pPr>
                      <a:r>
                        <a:rPr lang="en-IN" sz="1050" b="1" u="none" strike="noStrike">
                          <a:solidFill>
                            <a:schemeClr val="bg2">
                              <a:lumMod val="10000"/>
                            </a:schemeClr>
                          </a:solidFill>
                          <a:effectLst/>
                          <a:latin typeface="Aptos"/>
                          <a:ea typeface="Lato Regular"/>
                          <a:cs typeface="Lato Regular"/>
                        </a:rPr>
                        <a:t>Gross Profit</a:t>
                      </a:r>
                      <a:endParaRPr lang="en-IN" sz="1050" b="1" i="0" u="none" strike="noStrike">
                        <a:solidFill>
                          <a:schemeClr val="bg2">
                            <a:lumMod val="10000"/>
                          </a:schemeClr>
                        </a:solidFill>
                        <a:effectLst/>
                        <a:latin typeface="Aptos"/>
                        <a:ea typeface="Lato Regular"/>
                        <a:cs typeface="Lato Regular"/>
                      </a:endParaRPr>
                    </a:p>
                  </a:txBody>
                  <a:tcPr marL="72000" marR="6350" marT="6350" marB="0" anchor="ctr"/>
                </a:tc>
                <a:tc>
                  <a:txBody>
                    <a:bodyPr/>
                    <a:lstStyle/>
                    <a:p>
                      <a:pPr lvl="0" algn="ctr">
                        <a:buNone/>
                      </a:pPr>
                      <a:r>
                        <a:rPr lang="en-IN" sz="1050" b="1" i="0" u="none" strike="noStrike">
                          <a:solidFill>
                            <a:srgbClr val="000000"/>
                          </a:solidFill>
                          <a:effectLst/>
                          <a:latin typeface="+mj-lt"/>
                        </a:rPr>
                        <a:t>23.9</a:t>
                      </a:r>
                      <a:endParaRPr lang="en-US" sz="1050" b="1">
                        <a:latin typeface="+mj-lt"/>
                      </a:endParaRPr>
                    </a:p>
                  </a:txBody>
                  <a:tcPr marL="6350" marR="6350" marT="6350" marB="0" anchor="ctr"/>
                </a:tc>
                <a:tc>
                  <a:txBody>
                    <a:bodyPr/>
                    <a:lstStyle/>
                    <a:p>
                      <a:pPr lvl="0" algn="ctr">
                        <a:buNone/>
                      </a:pPr>
                      <a:r>
                        <a:rPr lang="en-IN" sz="1050" b="1" i="0" u="none" strike="noStrike">
                          <a:solidFill>
                            <a:srgbClr val="000000"/>
                          </a:solidFill>
                          <a:effectLst/>
                          <a:latin typeface="+mj-lt"/>
                        </a:rPr>
                        <a:t>47.3</a:t>
                      </a:r>
                      <a:endParaRPr lang="en-US" sz="1050" b="1">
                        <a:latin typeface="+mj-lt"/>
                      </a:endParaRPr>
                    </a:p>
                  </a:txBody>
                  <a:tcPr marL="6350" marR="6350" marT="6350" marB="0" anchor="ctr"/>
                </a:tc>
                <a:tc>
                  <a:txBody>
                    <a:bodyPr/>
                    <a:lstStyle/>
                    <a:p>
                      <a:pPr lvl="0" algn="ctr">
                        <a:buNone/>
                      </a:pPr>
                      <a:r>
                        <a:rPr lang="en-IN" sz="1050" b="1" i="0" u="none" strike="noStrike">
                          <a:solidFill>
                            <a:srgbClr val="000000"/>
                          </a:solidFill>
                          <a:effectLst/>
                          <a:latin typeface="+mj-lt"/>
                        </a:rPr>
                        <a:t>71.8</a:t>
                      </a:r>
                      <a:endParaRPr lang="en-US" sz="1050" b="1">
                        <a:latin typeface="+mj-lt"/>
                      </a:endParaRPr>
                    </a:p>
                  </a:txBody>
                  <a:tcPr marL="6350" marR="6350" marT="6350" marB="0" anchor="ctr"/>
                </a:tc>
                <a:tc>
                  <a:txBody>
                    <a:bodyPr/>
                    <a:lstStyle/>
                    <a:p>
                      <a:pPr lvl="0" algn="ctr">
                        <a:buNone/>
                      </a:pPr>
                      <a:r>
                        <a:rPr lang="en-IN" sz="1050" b="1" i="0" u="none" strike="noStrike">
                          <a:solidFill>
                            <a:srgbClr val="000000"/>
                          </a:solidFill>
                          <a:effectLst/>
                          <a:latin typeface="+mj-lt"/>
                        </a:rPr>
                        <a:t>12.9</a:t>
                      </a:r>
                      <a:endParaRPr lang="en-US" sz="1050" b="1">
                        <a:latin typeface="+mj-lt"/>
                      </a:endParaRPr>
                    </a:p>
                  </a:txBody>
                  <a:tcPr marL="6350" marR="6350" marT="6350" marB="0" anchor="ctr"/>
                </a:tc>
                <a:tc>
                  <a:txBody>
                    <a:bodyPr/>
                    <a:lstStyle/>
                    <a:p>
                      <a:pPr lvl="0" algn="ctr">
                        <a:buNone/>
                      </a:pPr>
                      <a:r>
                        <a:rPr lang="en-IN" sz="1050" b="1" i="0" u="none" strike="noStrike">
                          <a:solidFill>
                            <a:srgbClr val="000000"/>
                          </a:solidFill>
                          <a:effectLst/>
                          <a:latin typeface="+mj-lt"/>
                        </a:rPr>
                        <a:t>16.5</a:t>
                      </a:r>
                      <a:endParaRPr lang="en-US" sz="1050" b="1">
                        <a:latin typeface="+mj-lt"/>
                      </a:endParaRPr>
                    </a:p>
                  </a:txBody>
                  <a:tcPr marL="6350" marR="6350" marT="6350" marB="0" anchor="ctr"/>
                </a:tc>
                <a:extLst>
                  <a:ext uri="{0D108BD9-81ED-4DB2-BD59-A6C34878D82A}">
                    <a16:rowId xmlns:a16="http://schemas.microsoft.com/office/drawing/2014/main" val="4076501595"/>
                  </a:ext>
                </a:extLst>
              </a:tr>
              <a:tr h="304726">
                <a:tc>
                  <a:txBody>
                    <a:bodyPr/>
                    <a:lstStyle/>
                    <a:p>
                      <a:pPr lvl="0" algn="l" rtl="0">
                        <a:buNone/>
                      </a:pPr>
                      <a:r>
                        <a:rPr lang="en-IN" sz="1050" u="none" strike="noStrike">
                          <a:solidFill>
                            <a:schemeClr val="bg2">
                              <a:lumMod val="10000"/>
                            </a:schemeClr>
                          </a:solidFill>
                          <a:effectLst/>
                          <a:latin typeface="Aptos"/>
                          <a:ea typeface="Lato Regular"/>
                          <a:cs typeface="Lato Regular"/>
                        </a:rPr>
                        <a:t>% Gross Margin</a:t>
                      </a:r>
                      <a:endParaRPr lang="en-IN" sz="1050" b="0" i="0" u="none" strike="noStrike">
                        <a:solidFill>
                          <a:schemeClr val="bg2">
                            <a:lumMod val="10000"/>
                          </a:schemeClr>
                        </a:solidFill>
                        <a:effectLst/>
                        <a:latin typeface="Aptos"/>
                        <a:ea typeface="Lato Regular"/>
                        <a:cs typeface="Lato Regular"/>
                      </a:endParaRPr>
                    </a:p>
                  </a:txBody>
                  <a:tcPr marL="72000" marR="6350" marT="6350" marB="0" anchor="ctr"/>
                </a:tc>
                <a:tc>
                  <a:txBody>
                    <a:bodyPr/>
                    <a:lstStyle/>
                    <a:p>
                      <a:pPr lvl="0" algn="ctr">
                        <a:buNone/>
                      </a:pPr>
                      <a:r>
                        <a:rPr lang="en-IN" sz="1050" b="0" i="0" u="none" strike="noStrike">
                          <a:solidFill>
                            <a:srgbClr val="000000"/>
                          </a:solidFill>
                          <a:effectLst/>
                          <a:latin typeface="+mj-lt"/>
                        </a:rPr>
                        <a:t>49.3%</a:t>
                      </a:r>
                      <a:endParaRPr lang="en-US" sz="1050">
                        <a:latin typeface="+mj-lt"/>
                      </a:endParaRPr>
                    </a:p>
                  </a:txBody>
                  <a:tcPr marL="6350" marR="6350" marT="6350" marB="0" anchor="ctr"/>
                </a:tc>
                <a:tc>
                  <a:txBody>
                    <a:bodyPr/>
                    <a:lstStyle/>
                    <a:p>
                      <a:pPr lvl="0" algn="ctr">
                        <a:buNone/>
                      </a:pPr>
                      <a:r>
                        <a:rPr lang="en-IN" sz="1050" b="0" i="0" u="none" strike="noStrike">
                          <a:solidFill>
                            <a:srgbClr val="000000"/>
                          </a:solidFill>
                          <a:effectLst/>
                          <a:latin typeface="+mj-lt"/>
                        </a:rPr>
                        <a:t>63.1%</a:t>
                      </a:r>
                      <a:endParaRPr lang="en-US" sz="1050">
                        <a:latin typeface="+mj-lt"/>
                      </a:endParaRPr>
                    </a:p>
                  </a:txBody>
                  <a:tcPr marL="6350" marR="6350" marT="6350" marB="0" anchor="ctr"/>
                </a:tc>
                <a:tc>
                  <a:txBody>
                    <a:bodyPr/>
                    <a:lstStyle/>
                    <a:p>
                      <a:pPr lvl="0" algn="ctr">
                        <a:buNone/>
                      </a:pPr>
                      <a:r>
                        <a:rPr lang="en-IN" sz="1050" b="0" i="0" u="none" strike="noStrike">
                          <a:solidFill>
                            <a:srgbClr val="000000"/>
                          </a:solidFill>
                          <a:effectLst/>
                          <a:latin typeface="+mj-lt"/>
                        </a:rPr>
                        <a:t>67.3%</a:t>
                      </a:r>
                      <a:endParaRPr lang="en-US" sz="1050">
                        <a:latin typeface="+mj-lt"/>
                      </a:endParaRPr>
                    </a:p>
                  </a:txBody>
                  <a:tcPr marL="6350" marR="6350" marT="6350" marB="0" anchor="ctr"/>
                </a:tc>
                <a:tc>
                  <a:txBody>
                    <a:bodyPr/>
                    <a:lstStyle/>
                    <a:p>
                      <a:pPr lvl="0" algn="ctr">
                        <a:buNone/>
                      </a:pPr>
                      <a:r>
                        <a:rPr lang="en-IN" sz="1050" b="0" i="0" u="none" strike="noStrike">
                          <a:solidFill>
                            <a:srgbClr val="000000"/>
                          </a:solidFill>
                          <a:effectLst/>
                          <a:latin typeface="+mj-lt"/>
                        </a:rPr>
                        <a:t>63.8%</a:t>
                      </a:r>
                      <a:endParaRPr lang="en-US" sz="1050">
                        <a:latin typeface="+mj-lt"/>
                      </a:endParaRPr>
                    </a:p>
                  </a:txBody>
                  <a:tcPr marL="6350" marR="6350" marT="6350" marB="0" anchor="ctr"/>
                </a:tc>
                <a:tc>
                  <a:txBody>
                    <a:bodyPr/>
                    <a:lstStyle/>
                    <a:p>
                      <a:pPr lvl="0" algn="ctr">
                        <a:buNone/>
                      </a:pPr>
                      <a:r>
                        <a:rPr lang="en-IN" sz="1050" b="0" i="0" u="none" strike="noStrike">
                          <a:solidFill>
                            <a:srgbClr val="000000"/>
                          </a:solidFill>
                          <a:effectLst/>
                          <a:latin typeface="+mj-lt"/>
                        </a:rPr>
                        <a:t>62.9%</a:t>
                      </a:r>
                      <a:endParaRPr lang="en-US" sz="1050">
                        <a:latin typeface="+mj-lt"/>
                      </a:endParaRPr>
                    </a:p>
                  </a:txBody>
                  <a:tcPr marL="6350" marR="6350" marT="6350" marB="0" anchor="ctr"/>
                </a:tc>
                <a:extLst>
                  <a:ext uri="{0D108BD9-81ED-4DB2-BD59-A6C34878D82A}">
                    <a16:rowId xmlns:a16="http://schemas.microsoft.com/office/drawing/2014/main" val="4177061433"/>
                  </a:ext>
                </a:extLst>
              </a:tr>
              <a:tr h="304726">
                <a:tc>
                  <a:txBody>
                    <a:bodyPr/>
                    <a:lstStyle/>
                    <a:p>
                      <a:pPr lvl="0" algn="l" rtl="0">
                        <a:buNone/>
                      </a:pPr>
                      <a:r>
                        <a:rPr lang="en-IN" sz="1050" b="1" u="none" strike="noStrike">
                          <a:solidFill>
                            <a:schemeClr val="bg2">
                              <a:lumMod val="10000"/>
                            </a:schemeClr>
                          </a:solidFill>
                          <a:effectLst/>
                          <a:latin typeface="Aptos"/>
                          <a:ea typeface="Lato Regular"/>
                          <a:cs typeface="Lato Regular"/>
                        </a:rPr>
                        <a:t>EBITDA</a:t>
                      </a:r>
                      <a:endParaRPr lang="en-IN" sz="1050" b="1" i="0" u="none" strike="noStrike">
                        <a:solidFill>
                          <a:schemeClr val="bg2">
                            <a:lumMod val="10000"/>
                          </a:schemeClr>
                        </a:solidFill>
                        <a:effectLst/>
                        <a:latin typeface="Aptos"/>
                        <a:ea typeface="Lato Regular"/>
                        <a:cs typeface="Lato Regular"/>
                      </a:endParaRPr>
                    </a:p>
                  </a:txBody>
                  <a:tcPr marL="72000" marR="6350" marT="6350" marB="0" anchor="ctr"/>
                </a:tc>
                <a:tc>
                  <a:txBody>
                    <a:bodyPr/>
                    <a:lstStyle/>
                    <a:p>
                      <a:pPr lvl="0" algn="ctr">
                        <a:buNone/>
                      </a:pPr>
                      <a:r>
                        <a:rPr lang="en-IN" sz="1050" b="1" i="0" u="none" strike="noStrike">
                          <a:solidFill>
                            <a:srgbClr val="000000"/>
                          </a:solidFill>
                          <a:effectLst/>
                          <a:latin typeface="+mj-lt"/>
                        </a:rPr>
                        <a:t>-36.4</a:t>
                      </a:r>
                      <a:endParaRPr lang="en-US" sz="1050" b="1">
                        <a:latin typeface="+mj-lt"/>
                      </a:endParaRPr>
                    </a:p>
                  </a:txBody>
                  <a:tcPr marL="6350" marR="6350" marT="6350" marB="0" anchor="ctr"/>
                </a:tc>
                <a:tc>
                  <a:txBody>
                    <a:bodyPr/>
                    <a:lstStyle/>
                    <a:p>
                      <a:pPr lvl="0" algn="ctr">
                        <a:buNone/>
                      </a:pPr>
                      <a:r>
                        <a:rPr lang="en-IN" sz="1050" b="1" i="0" u="none" strike="noStrike">
                          <a:solidFill>
                            <a:srgbClr val="000000"/>
                          </a:solidFill>
                          <a:effectLst/>
                          <a:latin typeface="+mj-lt"/>
                        </a:rPr>
                        <a:t>-30.2</a:t>
                      </a:r>
                      <a:endParaRPr lang="en-US" sz="1050" b="1">
                        <a:latin typeface="+mj-lt"/>
                      </a:endParaRPr>
                    </a:p>
                  </a:txBody>
                  <a:tcPr marL="6350" marR="6350" marT="6350" marB="0" anchor="ctr"/>
                </a:tc>
                <a:tc>
                  <a:txBody>
                    <a:bodyPr/>
                    <a:lstStyle/>
                    <a:p>
                      <a:pPr lvl="0" algn="ctr">
                        <a:buNone/>
                      </a:pPr>
                      <a:r>
                        <a:rPr lang="en-IN" sz="1050" b="1" i="0" u="none" strike="noStrike">
                          <a:solidFill>
                            <a:srgbClr val="000000"/>
                          </a:solidFill>
                          <a:effectLst/>
                          <a:latin typeface="+mj-lt"/>
                        </a:rPr>
                        <a:t>-24.1</a:t>
                      </a:r>
                      <a:endParaRPr lang="en-US" sz="1050" b="1">
                        <a:latin typeface="+mj-lt"/>
                      </a:endParaRPr>
                    </a:p>
                  </a:txBody>
                  <a:tcPr marL="6350" marR="6350" marT="6350" marB="0" anchor="ctr"/>
                </a:tc>
                <a:tc>
                  <a:txBody>
                    <a:bodyPr/>
                    <a:lstStyle/>
                    <a:p>
                      <a:pPr lvl="0" algn="ctr">
                        <a:buNone/>
                      </a:pPr>
                      <a:r>
                        <a:rPr lang="en-IN" sz="1050" b="1" i="0" u="none" strike="noStrike">
                          <a:solidFill>
                            <a:srgbClr val="000000"/>
                          </a:solidFill>
                          <a:effectLst/>
                          <a:latin typeface="+mj-lt"/>
                        </a:rPr>
                        <a:t>-16.6</a:t>
                      </a:r>
                      <a:endParaRPr lang="en-US" sz="1050" b="1">
                        <a:latin typeface="+mj-lt"/>
                      </a:endParaRPr>
                    </a:p>
                  </a:txBody>
                  <a:tcPr marL="6350" marR="6350" marT="6350" marB="0" anchor="ctr"/>
                </a:tc>
                <a:tc>
                  <a:txBody>
                    <a:bodyPr/>
                    <a:lstStyle/>
                    <a:p>
                      <a:pPr lvl="0" algn="ctr">
                        <a:buNone/>
                      </a:pPr>
                      <a:r>
                        <a:rPr lang="en-IN" sz="1050" b="1" i="0" u="none" strike="noStrike">
                          <a:solidFill>
                            <a:srgbClr val="000000"/>
                          </a:solidFill>
                          <a:effectLst/>
                          <a:latin typeface="+mj-lt"/>
                        </a:rPr>
                        <a:t>-12.2</a:t>
                      </a:r>
                      <a:endParaRPr lang="en-US" sz="1050" b="1">
                        <a:latin typeface="+mj-lt"/>
                      </a:endParaRPr>
                    </a:p>
                  </a:txBody>
                  <a:tcPr marL="6350" marR="6350" marT="6350" marB="0" anchor="ctr"/>
                </a:tc>
                <a:extLst>
                  <a:ext uri="{0D108BD9-81ED-4DB2-BD59-A6C34878D82A}">
                    <a16:rowId xmlns:a16="http://schemas.microsoft.com/office/drawing/2014/main" val="2112436015"/>
                  </a:ext>
                </a:extLst>
              </a:tr>
              <a:tr h="304727">
                <a:tc>
                  <a:txBody>
                    <a:bodyPr/>
                    <a:lstStyle/>
                    <a:p>
                      <a:pPr lvl="0" algn="l" rtl="0">
                        <a:buNone/>
                      </a:pPr>
                      <a:r>
                        <a:rPr lang="en-IN" sz="1050" u="none" strike="noStrike">
                          <a:solidFill>
                            <a:schemeClr val="bg2">
                              <a:lumMod val="10000"/>
                            </a:schemeClr>
                          </a:solidFill>
                          <a:effectLst/>
                          <a:latin typeface="Aptos"/>
                          <a:ea typeface="Lato Regular"/>
                          <a:cs typeface="Lato Regular"/>
                        </a:rPr>
                        <a:t>% EBITDA</a:t>
                      </a:r>
                      <a:endParaRPr lang="en-IN" sz="1050" b="0" i="0" u="none" strike="noStrike">
                        <a:solidFill>
                          <a:schemeClr val="bg2">
                            <a:lumMod val="10000"/>
                          </a:schemeClr>
                        </a:solidFill>
                        <a:effectLst/>
                        <a:latin typeface="Aptos"/>
                        <a:ea typeface="Lato Regular"/>
                        <a:cs typeface="Lato Regular"/>
                      </a:endParaRPr>
                    </a:p>
                  </a:txBody>
                  <a:tcPr marL="72000" marR="6350" marT="6350" marB="0" anchor="ctr"/>
                </a:tc>
                <a:tc>
                  <a:txBody>
                    <a:bodyPr/>
                    <a:lstStyle/>
                    <a:p>
                      <a:pPr lvl="0" algn="ctr">
                        <a:buNone/>
                      </a:pPr>
                      <a:r>
                        <a:rPr lang="en-IN" sz="1050" b="0" i="0" u="none" strike="noStrike">
                          <a:solidFill>
                            <a:srgbClr val="000000"/>
                          </a:solidFill>
                          <a:effectLst/>
                          <a:latin typeface="+mj-lt"/>
                        </a:rPr>
                        <a:t>-75.0%</a:t>
                      </a:r>
                      <a:endParaRPr lang="en-US" sz="1050">
                        <a:latin typeface="+mj-lt"/>
                      </a:endParaRPr>
                    </a:p>
                  </a:txBody>
                  <a:tcPr marL="6350" marR="6350" marT="6350" marB="0" anchor="ctr"/>
                </a:tc>
                <a:tc>
                  <a:txBody>
                    <a:bodyPr/>
                    <a:lstStyle/>
                    <a:p>
                      <a:pPr lvl="0" algn="ctr">
                        <a:buNone/>
                      </a:pPr>
                      <a:r>
                        <a:rPr lang="en-IN" sz="1050" b="0" i="0" u="none" strike="noStrike">
                          <a:solidFill>
                            <a:srgbClr val="000000"/>
                          </a:solidFill>
                          <a:effectLst/>
                          <a:latin typeface="+mj-lt"/>
                        </a:rPr>
                        <a:t>-40.3%</a:t>
                      </a:r>
                      <a:endParaRPr lang="en-US" sz="1050">
                        <a:latin typeface="+mj-lt"/>
                      </a:endParaRPr>
                    </a:p>
                  </a:txBody>
                  <a:tcPr marL="6350" marR="6350" marT="6350" marB="0" anchor="ctr"/>
                </a:tc>
                <a:tc>
                  <a:txBody>
                    <a:bodyPr/>
                    <a:lstStyle/>
                    <a:p>
                      <a:pPr lvl="0" algn="ctr">
                        <a:buNone/>
                      </a:pPr>
                      <a:r>
                        <a:rPr lang="en-IN" sz="1050" b="0" i="0" u="none" strike="noStrike">
                          <a:solidFill>
                            <a:srgbClr val="000000"/>
                          </a:solidFill>
                          <a:effectLst/>
                          <a:latin typeface="+mj-lt"/>
                        </a:rPr>
                        <a:t>-22.6%</a:t>
                      </a:r>
                      <a:endParaRPr lang="en-US" sz="1050">
                        <a:latin typeface="+mj-lt"/>
                      </a:endParaRPr>
                    </a:p>
                  </a:txBody>
                  <a:tcPr marL="6350" marR="6350" marT="6350" marB="0" anchor="ctr"/>
                </a:tc>
                <a:tc>
                  <a:txBody>
                    <a:bodyPr/>
                    <a:lstStyle/>
                    <a:p>
                      <a:pPr lvl="0" algn="ctr">
                        <a:buNone/>
                      </a:pPr>
                      <a:r>
                        <a:rPr lang="en-IN" sz="1050" b="0" i="0" u="none" strike="noStrike">
                          <a:solidFill>
                            <a:srgbClr val="000000"/>
                          </a:solidFill>
                          <a:effectLst/>
                          <a:latin typeface="+mj-lt"/>
                        </a:rPr>
                        <a:t>-82.3%</a:t>
                      </a:r>
                      <a:endParaRPr lang="en-US" sz="1050">
                        <a:latin typeface="+mj-lt"/>
                      </a:endParaRPr>
                    </a:p>
                  </a:txBody>
                  <a:tcPr marL="6350" marR="6350" marT="6350" marB="0" anchor="ctr"/>
                </a:tc>
                <a:tc>
                  <a:txBody>
                    <a:bodyPr/>
                    <a:lstStyle/>
                    <a:p>
                      <a:pPr lvl="0" algn="ctr">
                        <a:buNone/>
                      </a:pPr>
                      <a:r>
                        <a:rPr lang="en-IN" sz="1050" b="0" i="0" u="none" strike="noStrike">
                          <a:solidFill>
                            <a:srgbClr val="000000"/>
                          </a:solidFill>
                          <a:effectLst/>
                          <a:latin typeface="+mj-lt"/>
                        </a:rPr>
                        <a:t>-46.7%</a:t>
                      </a:r>
                      <a:endParaRPr lang="en-US" sz="1050">
                        <a:latin typeface="+mj-lt"/>
                      </a:endParaRPr>
                    </a:p>
                  </a:txBody>
                  <a:tcPr marL="6350" marR="6350" marT="6350" marB="0" anchor="ctr"/>
                </a:tc>
                <a:extLst>
                  <a:ext uri="{0D108BD9-81ED-4DB2-BD59-A6C34878D82A}">
                    <a16:rowId xmlns:a16="http://schemas.microsoft.com/office/drawing/2014/main" val="3179895044"/>
                  </a:ext>
                </a:extLst>
              </a:tr>
            </a:tbl>
          </a:graphicData>
        </a:graphic>
      </p:graphicFrame>
      <p:pic>
        <p:nvPicPr>
          <p:cNvPr id="8" name="Picture 7" descr="A blue and white logo&#10;&#10;AI-generated content may be incorrect.">
            <a:extLst>
              <a:ext uri="{FF2B5EF4-FFF2-40B4-BE49-F238E27FC236}">
                <a16:creationId xmlns:a16="http://schemas.microsoft.com/office/drawing/2014/main" id="{58F0CB8F-3FC4-FA41-B251-D7967606381D}"/>
              </a:ext>
            </a:extLst>
          </p:cNvPr>
          <p:cNvPicPr>
            <a:picLocks noChangeAspect="1"/>
          </p:cNvPicPr>
          <p:nvPr/>
        </p:nvPicPr>
        <p:blipFill>
          <a:blip r:embed="rId3"/>
          <a:stretch>
            <a:fillRect/>
          </a:stretch>
        </p:blipFill>
        <p:spPr>
          <a:xfrm>
            <a:off x="6332577" y="525420"/>
            <a:ext cx="1061076" cy="320217"/>
          </a:xfrm>
          <a:prstGeom prst="rect">
            <a:avLst/>
          </a:prstGeom>
        </p:spPr>
      </p:pic>
      <p:graphicFrame>
        <p:nvGraphicFramePr>
          <p:cNvPr id="12" name="Table 11">
            <a:extLst>
              <a:ext uri="{FF2B5EF4-FFF2-40B4-BE49-F238E27FC236}">
                <a16:creationId xmlns:a16="http://schemas.microsoft.com/office/drawing/2014/main" id="{DEA42412-54B3-9EB5-E480-F751F71E1D14}"/>
              </a:ext>
            </a:extLst>
          </p:cNvPr>
          <p:cNvGraphicFramePr>
            <a:graphicFrameLocks noGrp="1"/>
          </p:cNvGraphicFramePr>
          <p:nvPr>
            <p:extLst>
              <p:ext uri="{D42A27DB-BD31-4B8C-83A1-F6EECF244321}">
                <p14:modId xmlns:p14="http://schemas.microsoft.com/office/powerpoint/2010/main" val="3555496750"/>
              </p:ext>
            </p:extLst>
          </p:nvPr>
        </p:nvGraphicFramePr>
        <p:xfrm>
          <a:off x="5539984" y="1840227"/>
          <a:ext cx="5833725" cy="1667538"/>
        </p:xfrm>
        <a:graphic>
          <a:graphicData uri="http://schemas.openxmlformats.org/drawingml/2006/table">
            <a:tbl>
              <a:tblPr firstRow="1" bandRow="1">
                <a:tableStyleId>{69012ECD-51FC-41F1-AA8D-1B2483CD663E}</a:tableStyleId>
              </a:tblPr>
              <a:tblGrid>
                <a:gridCol w="2032635">
                  <a:extLst>
                    <a:ext uri="{9D8B030D-6E8A-4147-A177-3AD203B41FA5}">
                      <a16:colId xmlns:a16="http://schemas.microsoft.com/office/drawing/2014/main" val="3001066899"/>
                    </a:ext>
                  </a:extLst>
                </a:gridCol>
                <a:gridCol w="911806">
                  <a:extLst>
                    <a:ext uri="{9D8B030D-6E8A-4147-A177-3AD203B41FA5}">
                      <a16:colId xmlns:a16="http://schemas.microsoft.com/office/drawing/2014/main" val="700748351"/>
                    </a:ext>
                  </a:extLst>
                </a:gridCol>
                <a:gridCol w="722321">
                  <a:extLst>
                    <a:ext uri="{9D8B030D-6E8A-4147-A177-3AD203B41FA5}">
                      <a16:colId xmlns:a16="http://schemas.microsoft.com/office/drawing/2014/main" val="3274968397"/>
                    </a:ext>
                  </a:extLst>
                </a:gridCol>
                <a:gridCol w="722321">
                  <a:extLst>
                    <a:ext uri="{9D8B030D-6E8A-4147-A177-3AD203B41FA5}">
                      <a16:colId xmlns:a16="http://schemas.microsoft.com/office/drawing/2014/main" val="3623532732"/>
                    </a:ext>
                  </a:extLst>
                </a:gridCol>
                <a:gridCol w="722321">
                  <a:extLst>
                    <a:ext uri="{9D8B030D-6E8A-4147-A177-3AD203B41FA5}">
                      <a16:colId xmlns:a16="http://schemas.microsoft.com/office/drawing/2014/main" val="746035582"/>
                    </a:ext>
                  </a:extLst>
                </a:gridCol>
                <a:gridCol w="722321">
                  <a:extLst>
                    <a:ext uri="{9D8B030D-6E8A-4147-A177-3AD203B41FA5}">
                      <a16:colId xmlns:a16="http://schemas.microsoft.com/office/drawing/2014/main" val="2799431461"/>
                    </a:ext>
                  </a:extLst>
                </a:gridCol>
              </a:tblGrid>
              <a:tr h="262575">
                <a:tc>
                  <a:txBody>
                    <a:bodyPr/>
                    <a:lstStyle/>
                    <a:p>
                      <a:pPr lvl="0" algn="l">
                        <a:buNone/>
                      </a:pPr>
                      <a:r>
                        <a:rPr lang="en-US" sz="1050" b="1" u="none" strike="noStrike">
                          <a:solidFill>
                            <a:schemeClr val="bg1"/>
                          </a:solidFill>
                          <a:effectLst/>
                          <a:latin typeface="+mj-lt"/>
                          <a:ea typeface="Lato Regular"/>
                          <a:cs typeface="Lato Regular"/>
                        </a:rPr>
                        <a:t>KPIs</a:t>
                      </a:r>
                    </a:p>
                  </a:txBody>
                  <a:tcPr marL="108000" marR="6350" marT="6350" marB="0" anchor="ctr"/>
                </a:tc>
                <a:tc>
                  <a:txBody>
                    <a:bodyPr/>
                    <a:lstStyle/>
                    <a:p>
                      <a:pPr lvl="0" algn="ctr">
                        <a:buNone/>
                      </a:pPr>
                      <a:r>
                        <a:rPr lang="en-US" sz="1050" b="1" i="0" u="none" strike="noStrike">
                          <a:solidFill>
                            <a:schemeClr val="bg1"/>
                          </a:solidFill>
                          <a:effectLst/>
                          <a:latin typeface="+mj-lt"/>
                          <a:ea typeface="Lato Regular"/>
                          <a:cs typeface="Lato Regular"/>
                        </a:rPr>
                        <a:t>FY24</a:t>
                      </a:r>
                    </a:p>
                  </a:txBody>
                  <a:tcPr marL="6350" marR="6350" marT="6350" marB="0" anchor="ctr"/>
                </a:tc>
                <a:tc>
                  <a:txBody>
                    <a:bodyPr/>
                    <a:lstStyle/>
                    <a:p>
                      <a:pPr lvl="0" algn="ctr">
                        <a:buNone/>
                      </a:pPr>
                      <a:r>
                        <a:rPr lang="en-US" sz="1050" b="1" i="0" u="none" strike="noStrike">
                          <a:solidFill>
                            <a:schemeClr val="bg1"/>
                          </a:solidFill>
                          <a:effectLst/>
                          <a:latin typeface="+mj-lt"/>
                          <a:ea typeface="Lato Regular"/>
                          <a:cs typeface="Lato Regular"/>
                        </a:rPr>
                        <a:t>FY25</a:t>
                      </a:r>
                      <a:endParaRPr lang="en-US" sz="1050" b="1" i="0">
                        <a:solidFill>
                          <a:schemeClr val="bg1"/>
                        </a:solidFill>
                        <a:effectLst/>
                        <a:latin typeface="+mj-lt"/>
                        <a:ea typeface="Lato Regular"/>
                        <a:cs typeface="Lato Regular"/>
                      </a:endParaRPr>
                    </a:p>
                  </a:txBody>
                  <a:tcPr marL="6350" marR="6350" marT="6350" marB="0" anchor="ctr"/>
                </a:tc>
                <a:tc>
                  <a:txBody>
                    <a:bodyPr/>
                    <a:lstStyle/>
                    <a:p>
                      <a:pPr lvl="0" algn="ctr">
                        <a:buNone/>
                      </a:pPr>
                      <a:r>
                        <a:rPr lang="en-US" sz="1050" b="1" i="0" u="none" strike="noStrike">
                          <a:solidFill>
                            <a:schemeClr val="bg1"/>
                          </a:solidFill>
                          <a:effectLst/>
                          <a:latin typeface="+mj-lt"/>
                          <a:ea typeface="Lato Regular"/>
                          <a:cs typeface="Lato Regular"/>
                        </a:rPr>
                        <a:t>FY26</a:t>
                      </a:r>
                      <a:endParaRPr lang="en-US" sz="1050" b="1" i="0">
                        <a:solidFill>
                          <a:schemeClr val="bg1"/>
                        </a:solidFill>
                        <a:effectLst/>
                        <a:latin typeface="+mj-lt"/>
                        <a:ea typeface="Lato Regular"/>
                        <a:cs typeface="Lato Regular"/>
                      </a:endParaRPr>
                    </a:p>
                  </a:txBody>
                  <a:tcPr marL="6350" marR="6350" marT="6350" marB="0" anchor="ctr"/>
                </a:tc>
                <a:tc>
                  <a:txBody>
                    <a:bodyPr/>
                    <a:lstStyle/>
                    <a:p>
                      <a:pPr lvl="0" algn="ctr">
                        <a:buNone/>
                      </a:pPr>
                      <a:r>
                        <a:rPr lang="en-US" sz="1050" b="1" i="0" u="none" strike="noStrike">
                          <a:solidFill>
                            <a:schemeClr val="bg1"/>
                          </a:solidFill>
                          <a:effectLst/>
                          <a:latin typeface="+mj-lt"/>
                          <a:ea typeface="Lato Regular"/>
                          <a:cs typeface="Lato Regular"/>
                        </a:rPr>
                        <a:t>Q4FY25</a:t>
                      </a:r>
                      <a:endParaRPr lang="en-IN" sz="1050" b="1" i="0">
                        <a:solidFill>
                          <a:srgbClr val="FFFFFF"/>
                        </a:solidFill>
                        <a:effectLst/>
                        <a:latin typeface="+mj-lt"/>
                      </a:endParaRPr>
                    </a:p>
                  </a:txBody>
                  <a:tcPr marL="6350" marR="6350" marT="6350" marB="0" anchor="ctr"/>
                </a:tc>
                <a:tc>
                  <a:txBody>
                    <a:bodyPr/>
                    <a:lstStyle/>
                    <a:p>
                      <a:pPr lvl="0" algn="ctr">
                        <a:buNone/>
                      </a:pPr>
                      <a:r>
                        <a:rPr lang="en-US" sz="1050" b="1" i="0" u="none" strike="noStrike">
                          <a:solidFill>
                            <a:schemeClr val="bg1"/>
                          </a:solidFill>
                          <a:effectLst/>
                          <a:latin typeface="+mj-lt"/>
                          <a:ea typeface="Lato Regular"/>
                          <a:cs typeface="Lato Regular"/>
                        </a:rPr>
                        <a:t>Q4FY26</a:t>
                      </a:r>
                      <a:endParaRPr lang="en-US" sz="1050" b="1" i="0">
                        <a:solidFill>
                          <a:schemeClr val="bg1"/>
                        </a:solidFill>
                        <a:effectLst/>
                        <a:latin typeface="+mj-lt"/>
                        <a:ea typeface="Lato Regular"/>
                        <a:cs typeface="Lato Regular"/>
                      </a:endParaRPr>
                    </a:p>
                  </a:txBody>
                  <a:tcPr marL="6350" marR="6350" marT="6350" marB="0" anchor="ctr"/>
                </a:tc>
                <a:extLst>
                  <a:ext uri="{0D108BD9-81ED-4DB2-BD59-A6C34878D82A}">
                    <a16:rowId xmlns:a16="http://schemas.microsoft.com/office/drawing/2014/main" val="3735237806"/>
                  </a:ext>
                </a:extLst>
              </a:tr>
              <a:tr h="262575">
                <a:tc>
                  <a:txBody>
                    <a:bodyPr/>
                    <a:lstStyle/>
                    <a:p>
                      <a:pPr lvl="0" algn="l">
                        <a:buNone/>
                      </a:pPr>
                      <a:r>
                        <a:rPr lang="en-IN" sz="1050" b="0" i="0" u="none" strike="noStrike">
                          <a:solidFill>
                            <a:srgbClr val="000000"/>
                          </a:solidFill>
                          <a:effectLst/>
                          <a:latin typeface="+mj-lt"/>
                        </a:rPr>
                        <a:t>  Embedded Finance %</a:t>
                      </a:r>
                      <a:endParaRPr lang="en-US" sz="1050">
                        <a:latin typeface="+mj-lt"/>
                      </a:endParaRPr>
                    </a:p>
                  </a:txBody>
                  <a:tcPr marL="6350" marR="6350" marT="6350" marB="0" anchor="ctr"/>
                </a:tc>
                <a:tc>
                  <a:txBody>
                    <a:bodyPr/>
                    <a:lstStyle/>
                    <a:p>
                      <a:pPr lvl="0" algn="ctr">
                        <a:buNone/>
                      </a:pPr>
                      <a:r>
                        <a:rPr lang="en-IN" sz="1050" b="0" i="0" u="none" strike="noStrike">
                          <a:solidFill>
                            <a:srgbClr val="000000"/>
                          </a:solidFill>
                          <a:effectLst/>
                          <a:latin typeface="+mj-lt"/>
                        </a:rPr>
                        <a:t>45.9%</a:t>
                      </a:r>
                    </a:p>
                  </a:txBody>
                  <a:tcPr marL="6350" marR="6350" marT="6350" marB="0" anchor="ctr"/>
                </a:tc>
                <a:tc>
                  <a:txBody>
                    <a:bodyPr/>
                    <a:lstStyle/>
                    <a:p>
                      <a:pPr lvl="0" algn="ctr">
                        <a:buNone/>
                      </a:pPr>
                      <a:r>
                        <a:rPr lang="en-IN" sz="1050" b="0" i="0" u="none" strike="noStrike">
                          <a:solidFill>
                            <a:srgbClr val="000000"/>
                          </a:solidFill>
                          <a:effectLst/>
                          <a:latin typeface="+mj-lt"/>
                        </a:rPr>
                        <a:t>45.4%</a:t>
                      </a:r>
                      <a:endParaRPr lang="en-IN" sz="1050" b="1" i="0" u="none" strike="noStrike" kern="1200">
                        <a:solidFill>
                          <a:srgbClr val="000000"/>
                        </a:solidFill>
                        <a:effectLst/>
                        <a:latin typeface="+mj-lt"/>
                        <a:ea typeface="Lato Regular" panose="020F0502020204030203" pitchFamily="34" charset="0"/>
                        <a:cs typeface="Lato Regular" panose="020F0502020204030203" pitchFamily="34" charset="0"/>
                      </a:endParaRPr>
                    </a:p>
                  </a:txBody>
                  <a:tcPr marL="6350" marR="6350" marT="6350" marB="0" anchor="ctr"/>
                </a:tc>
                <a:tc>
                  <a:txBody>
                    <a:bodyPr/>
                    <a:lstStyle/>
                    <a:p>
                      <a:pPr lvl="0" algn="ctr">
                        <a:buNone/>
                      </a:pPr>
                      <a:r>
                        <a:rPr lang="en-IN" sz="1050" b="0" i="0" u="none" strike="noStrike">
                          <a:solidFill>
                            <a:srgbClr val="000000"/>
                          </a:solidFill>
                          <a:effectLst/>
                          <a:latin typeface="+mj-lt"/>
                        </a:rPr>
                        <a:t>57.4%</a:t>
                      </a:r>
                      <a:endParaRPr lang="en-US" sz="1050">
                        <a:latin typeface="+mj-lt"/>
                      </a:endParaRPr>
                    </a:p>
                  </a:txBody>
                  <a:tcPr marL="6350" marR="6350" marT="6350" marB="0" anchor="ctr"/>
                </a:tc>
                <a:tc>
                  <a:txBody>
                    <a:bodyPr/>
                    <a:lstStyle/>
                    <a:p>
                      <a:pPr lvl="0" algn="ctr">
                        <a:buNone/>
                      </a:pPr>
                      <a:r>
                        <a:rPr lang="en-IN" sz="1050" b="0" i="0" u="none" strike="noStrike">
                          <a:solidFill>
                            <a:srgbClr val="000000"/>
                          </a:solidFill>
                          <a:effectLst/>
                          <a:latin typeface="+mj-lt"/>
                        </a:rPr>
                        <a:t>43.2%</a:t>
                      </a:r>
                      <a:endParaRPr lang="en-IN" sz="1050" b="1" i="0" u="none" strike="noStrike" kern="1200">
                        <a:solidFill>
                          <a:srgbClr val="000000"/>
                        </a:solidFill>
                        <a:effectLst/>
                        <a:latin typeface="+mj-lt"/>
                        <a:ea typeface="Lato Regular" panose="020F0502020204030203" pitchFamily="34" charset="0"/>
                        <a:cs typeface="Lato Regular" panose="020F0502020204030203" pitchFamily="34" charset="0"/>
                      </a:endParaRPr>
                    </a:p>
                  </a:txBody>
                  <a:tcPr marL="6350" marR="6350" marT="6350" marB="0" anchor="ctr"/>
                </a:tc>
                <a:tc>
                  <a:txBody>
                    <a:bodyPr/>
                    <a:lstStyle/>
                    <a:p>
                      <a:pPr lvl="0" algn="ctr">
                        <a:buNone/>
                      </a:pPr>
                      <a:r>
                        <a:rPr lang="en-IN" sz="1050" b="0" i="0" u="none" strike="noStrike">
                          <a:solidFill>
                            <a:srgbClr val="000000"/>
                          </a:solidFill>
                          <a:effectLst/>
                          <a:latin typeface="+mj-lt"/>
                        </a:rPr>
                        <a:t>64.4%</a:t>
                      </a:r>
                      <a:endParaRPr lang="en-US" sz="1050">
                        <a:latin typeface="+mj-lt"/>
                      </a:endParaRPr>
                    </a:p>
                  </a:txBody>
                  <a:tcPr marL="6350" marR="6350" marT="6350" marB="0" anchor="ctr"/>
                </a:tc>
                <a:extLst>
                  <a:ext uri="{0D108BD9-81ED-4DB2-BD59-A6C34878D82A}">
                    <a16:rowId xmlns:a16="http://schemas.microsoft.com/office/drawing/2014/main" val="930605583"/>
                  </a:ext>
                </a:extLst>
              </a:tr>
              <a:tr h="262575">
                <a:tc>
                  <a:txBody>
                    <a:bodyPr/>
                    <a:lstStyle/>
                    <a:p>
                      <a:pPr lvl="0" algn="l">
                        <a:buNone/>
                      </a:pPr>
                      <a:r>
                        <a:rPr lang="en-IN" sz="1050" b="0" i="0" u="none" strike="noStrike">
                          <a:solidFill>
                            <a:srgbClr val="000000"/>
                          </a:solidFill>
                          <a:effectLst/>
                          <a:latin typeface="+mj-lt"/>
                        </a:rPr>
                        <a:t>  Device connect %</a:t>
                      </a:r>
                      <a:endParaRPr lang="en-IN" sz="1050" b="0" i="0">
                        <a:solidFill>
                          <a:srgbClr val="000000"/>
                        </a:solidFill>
                        <a:latin typeface="+mj-lt"/>
                      </a:endParaRPr>
                    </a:p>
                  </a:txBody>
                  <a:tcPr marL="6350" marR="6350" marT="6350" marB="0" anchor="ctr"/>
                </a:tc>
                <a:tc>
                  <a:txBody>
                    <a:bodyPr/>
                    <a:lstStyle/>
                    <a:p>
                      <a:pPr lvl="0" algn="ctr">
                        <a:buNone/>
                      </a:pPr>
                      <a:r>
                        <a:rPr lang="en-IN" sz="1050" b="0" i="0" u="none" strike="noStrike">
                          <a:solidFill>
                            <a:srgbClr val="000000"/>
                          </a:solidFill>
                          <a:effectLst/>
                          <a:latin typeface="+mj-lt"/>
                        </a:rPr>
                        <a:t>39.0%</a:t>
                      </a:r>
                    </a:p>
                  </a:txBody>
                  <a:tcPr marL="6350" marR="6350" marT="6350" marB="0" anchor="ctr"/>
                </a:tc>
                <a:tc>
                  <a:txBody>
                    <a:bodyPr/>
                    <a:lstStyle/>
                    <a:p>
                      <a:pPr lvl="0" algn="ctr">
                        <a:buNone/>
                      </a:pPr>
                      <a:r>
                        <a:rPr lang="en-IN" sz="1050" b="0" i="0" u="none" strike="noStrike">
                          <a:solidFill>
                            <a:srgbClr val="000000"/>
                          </a:solidFill>
                          <a:effectLst/>
                          <a:latin typeface="+mj-lt"/>
                        </a:rPr>
                        <a:t>32.2%</a:t>
                      </a:r>
                    </a:p>
                  </a:txBody>
                  <a:tcPr marL="6350" marR="6350" marT="6350" marB="0" anchor="ctr"/>
                </a:tc>
                <a:tc>
                  <a:txBody>
                    <a:bodyPr/>
                    <a:lstStyle/>
                    <a:p>
                      <a:pPr lvl="0" algn="ctr">
                        <a:buNone/>
                      </a:pPr>
                      <a:r>
                        <a:rPr lang="en-IN" sz="1050" b="0" i="0" u="none" strike="noStrike">
                          <a:solidFill>
                            <a:srgbClr val="000000"/>
                          </a:solidFill>
                          <a:effectLst/>
                          <a:latin typeface="+mj-lt"/>
                        </a:rPr>
                        <a:t>19.0%</a:t>
                      </a:r>
                      <a:endParaRPr lang="en-US" sz="1050">
                        <a:latin typeface="+mj-lt"/>
                      </a:endParaRPr>
                    </a:p>
                  </a:txBody>
                  <a:tcPr marL="6350" marR="6350" marT="6350" marB="0" anchor="ctr"/>
                </a:tc>
                <a:tc>
                  <a:txBody>
                    <a:bodyPr/>
                    <a:lstStyle/>
                    <a:p>
                      <a:pPr lvl="0" algn="ctr">
                        <a:buNone/>
                      </a:pPr>
                      <a:r>
                        <a:rPr lang="en-IN" sz="1050" b="0" i="0" u="none" strike="noStrike">
                          <a:solidFill>
                            <a:srgbClr val="000000"/>
                          </a:solidFill>
                          <a:effectLst/>
                          <a:latin typeface="+mj-lt"/>
                        </a:rPr>
                        <a:t>33.7%</a:t>
                      </a:r>
                    </a:p>
                  </a:txBody>
                  <a:tcPr marL="6350" marR="6350" marT="6350" marB="0" anchor="ctr"/>
                </a:tc>
                <a:tc>
                  <a:txBody>
                    <a:bodyPr/>
                    <a:lstStyle/>
                    <a:p>
                      <a:pPr lvl="0" algn="ctr">
                        <a:buNone/>
                      </a:pPr>
                      <a:r>
                        <a:rPr lang="en-IN" sz="1050" b="0" i="0" u="none" strike="noStrike">
                          <a:solidFill>
                            <a:srgbClr val="000000"/>
                          </a:solidFill>
                          <a:effectLst/>
                          <a:latin typeface="+mj-lt"/>
                        </a:rPr>
                        <a:t>10.8%</a:t>
                      </a:r>
                      <a:endParaRPr lang="en-US" sz="1050">
                        <a:latin typeface="+mj-lt"/>
                      </a:endParaRPr>
                    </a:p>
                  </a:txBody>
                  <a:tcPr marL="6350" marR="6350" marT="6350" marB="0" anchor="ctr"/>
                </a:tc>
                <a:extLst>
                  <a:ext uri="{0D108BD9-81ED-4DB2-BD59-A6C34878D82A}">
                    <a16:rowId xmlns:a16="http://schemas.microsoft.com/office/drawing/2014/main" val="3872373918"/>
                  </a:ext>
                </a:extLst>
              </a:tr>
              <a:tr h="293271">
                <a:tc>
                  <a:txBody>
                    <a:bodyPr/>
                    <a:lstStyle/>
                    <a:p>
                      <a:pPr lvl="0" algn="l">
                        <a:buNone/>
                      </a:pPr>
                      <a:r>
                        <a:rPr lang="en-IN" sz="1050" b="0" i="0" u="none" strike="noStrike">
                          <a:solidFill>
                            <a:srgbClr val="000000"/>
                          </a:solidFill>
                          <a:effectLst/>
                          <a:latin typeface="+mj-lt"/>
                        </a:rPr>
                        <a:t>  Bank C</a:t>
                      </a:r>
                      <a:r>
                        <a:rPr lang="en-IN" sz="1050" u="none" strike="noStrike" kern="1200">
                          <a:solidFill>
                            <a:schemeClr val="bg2">
                              <a:lumMod val="10000"/>
                            </a:schemeClr>
                          </a:solidFill>
                          <a:effectLst/>
                          <a:latin typeface="+mj-lt"/>
                          <a:ea typeface="Lato Regular"/>
                          <a:cs typeface="Lato Regular"/>
                        </a:rPr>
                        <a:t>onne</a:t>
                      </a:r>
                      <a:r>
                        <a:rPr lang="en-IN" sz="1050" b="0" i="0" u="none" strike="noStrike">
                          <a:solidFill>
                            <a:srgbClr val="000000"/>
                          </a:solidFill>
                          <a:effectLst/>
                          <a:latin typeface="+mj-lt"/>
                        </a:rPr>
                        <a:t>ct %</a:t>
                      </a:r>
                      <a:endParaRPr lang="en-US" sz="1050">
                        <a:latin typeface="+mj-lt"/>
                      </a:endParaRPr>
                    </a:p>
                  </a:txBody>
                  <a:tcPr marL="6350" marR="6350" marT="6350" marB="0" anchor="ctr"/>
                </a:tc>
                <a:tc>
                  <a:txBody>
                    <a:bodyPr/>
                    <a:lstStyle/>
                    <a:p>
                      <a:pPr lvl="0" algn="ctr">
                        <a:buNone/>
                      </a:pPr>
                      <a:r>
                        <a:rPr lang="en-IN" sz="1050" b="0" i="0" u="none" strike="noStrike">
                          <a:solidFill>
                            <a:srgbClr val="000000"/>
                          </a:solidFill>
                          <a:effectLst/>
                          <a:latin typeface="+mj-lt"/>
                        </a:rPr>
                        <a:t>12.1%</a:t>
                      </a:r>
                    </a:p>
                  </a:txBody>
                  <a:tcPr marL="6350" marR="6350" marT="6350" marB="0" anchor="ctr"/>
                </a:tc>
                <a:tc>
                  <a:txBody>
                    <a:bodyPr/>
                    <a:lstStyle/>
                    <a:p>
                      <a:pPr lvl="0" algn="ctr">
                        <a:buNone/>
                      </a:pPr>
                      <a:r>
                        <a:rPr lang="en-IN" sz="1050" b="0" i="0" u="none" strike="noStrike">
                          <a:solidFill>
                            <a:srgbClr val="000000"/>
                          </a:solidFill>
                          <a:effectLst/>
                          <a:latin typeface="+mj-lt"/>
                        </a:rPr>
                        <a:t>13.5%</a:t>
                      </a:r>
                      <a:endParaRPr lang="en-US" sz="1050">
                        <a:latin typeface="+mj-lt"/>
                      </a:endParaRPr>
                    </a:p>
                  </a:txBody>
                  <a:tcPr marL="6350" marR="6350" marT="6350" marB="0" anchor="ctr"/>
                </a:tc>
                <a:tc>
                  <a:txBody>
                    <a:bodyPr/>
                    <a:lstStyle/>
                    <a:p>
                      <a:pPr lvl="0" algn="ctr">
                        <a:buNone/>
                      </a:pPr>
                      <a:r>
                        <a:rPr lang="en-IN" sz="1050" b="0" i="0" u="none" strike="noStrike">
                          <a:solidFill>
                            <a:srgbClr val="000000"/>
                          </a:solidFill>
                          <a:effectLst/>
                          <a:latin typeface="+mj-lt"/>
                        </a:rPr>
                        <a:t>11.8%</a:t>
                      </a:r>
                      <a:endParaRPr lang="en-US" sz="1050">
                        <a:latin typeface="+mj-lt"/>
                      </a:endParaRPr>
                    </a:p>
                  </a:txBody>
                  <a:tcPr marL="6350" marR="6350" marT="6350" marB="0" anchor="ctr"/>
                </a:tc>
                <a:tc>
                  <a:txBody>
                    <a:bodyPr/>
                    <a:lstStyle/>
                    <a:p>
                      <a:pPr lvl="0" algn="ctr">
                        <a:buNone/>
                      </a:pPr>
                      <a:r>
                        <a:rPr lang="en-IN" sz="1050" b="0" i="0" u="none" strike="noStrike">
                          <a:solidFill>
                            <a:srgbClr val="000000"/>
                          </a:solidFill>
                          <a:effectLst/>
                          <a:latin typeface="+mj-lt"/>
                        </a:rPr>
                        <a:t>13.5%</a:t>
                      </a:r>
                      <a:endParaRPr lang="en-IN" sz="1050" b="1" i="0" u="none" strike="noStrike" kern="1200">
                        <a:solidFill>
                          <a:srgbClr val="000000"/>
                        </a:solidFill>
                        <a:effectLst/>
                        <a:latin typeface="+mj-lt"/>
                        <a:ea typeface="Lato Regular" panose="020F0502020204030203" pitchFamily="34" charset="0"/>
                        <a:cs typeface="Lato Regular" panose="020F0502020204030203" pitchFamily="34" charset="0"/>
                      </a:endParaRPr>
                    </a:p>
                  </a:txBody>
                  <a:tcPr marL="6350" marR="6350" marT="6350" marB="0" anchor="ctr"/>
                </a:tc>
                <a:tc>
                  <a:txBody>
                    <a:bodyPr/>
                    <a:lstStyle/>
                    <a:p>
                      <a:pPr lvl="0" algn="ctr">
                        <a:buNone/>
                      </a:pPr>
                      <a:r>
                        <a:rPr lang="en-IN" sz="1050" b="0" i="0" u="none" strike="noStrike">
                          <a:solidFill>
                            <a:srgbClr val="000000"/>
                          </a:solidFill>
                          <a:effectLst/>
                          <a:latin typeface="+mj-lt"/>
                        </a:rPr>
                        <a:t>11.1%</a:t>
                      </a:r>
                      <a:endParaRPr lang="en-US" sz="1050">
                        <a:latin typeface="+mj-lt"/>
                      </a:endParaRPr>
                    </a:p>
                  </a:txBody>
                  <a:tcPr marL="6350" marR="6350" marT="6350" marB="0" anchor="ctr"/>
                </a:tc>
                <a:extLst>
                  <a:ext uri="{0D108BD9-81ED-4DB2-BD59-A6C34878D82A}">
                    <a16:rowId xmlns:a16="http://schemas.microsoft.com/office/drawing/2014/main" val="2159784742"/>
                  </a:ext>
                </a:extLst>
              </a:tr>
              <a:tr h="293271">
                <a:tc>
                  <a:txBody>
                    <a:bodyPr/>
                    <a:lstStyle/>
                    <a:p>
                      <a:pPr lvl="0" algn="l">
                        <a:buNone/>
                      </a:pPr>
                      <a:r>
                        <a:rPr lang="en-IN" sz="1050" b="0" i="0" u="none" strike="noStrike">
                          <a:solidFill>
                            <a:srgbClr val="000000"/>
                          </a:solidFill>
                          <a:effectLst/>
                          <a:latin typeface="+mj-lt"/>
                        </a:rPr>
                        <a:t>  Bureau Connect %</a:t>
                      </a:r>
                      <a:endParaRPr lang="en-US" sz="1050">
                        <a:latin typeface="+mj-lt"/>
                      </a:endParaRPr>
                    </a:p>
                  </a:txBody>
                  <a:tcPr marL="6350" marR="6350" marT="6350" marB="0" anchor="ctr"/>
                </a:tc>
                <a:tc>
                  <a:txBody>
                    <a:bodyPr/>
                    <a:lstStyle/>
                    <a:p>
                      <a:pPr lvl="0" algn="ctr">
                        <a:buNone/>
                      </a:pPr>
                      <a:r>
                        <a:rPr lang="en-IN" sz="1050" b="0" i="0" u="none" strike="noStrike">
                          <a:solidFill>
                            <a:srgbClr val="000000"/>
                          </a:solidFill>
                          <a:effectLst/>
                          <a:latin typeface="+mj-lt"/>
                        </a:rPr>
                        <a:t>0.1%</a:t>
                      </a:r>
                    </a:p>
                  </a:txBody>
                  <a:tcPr marL="6350" marR="6350" marT="6350" marB="0" anchor="ctr"/>
                </a:tc>
                <a:tc>
                  <a:txBody>
                    <a:bodyPr/>
                    <a:lstStyle/>
                    <a:p>
                      <a:pPr lvl="0" algn="ctr">
                        <a:buNone/>
                      </a:pPr>
                      <a:r>
                        <a:rPr lang="en-IN" sz="1050" b="0" i="0" u="none" strike="noStrike">
                          <a:solidFill>
                            <a:srgbClr val="000000"/>
                          </a:solidFill>
                          <a:effectLst/>
                          <a:latin typeface="+mj-lt"/>
                        </a:rPr>
                        <a:t>0.8%</a:t>
                      </a:r>
                    </a:p>
                  </a:txBody>
                  <a:tcPr marL="6350" marR="6350" marT="6350" marB="0" anchor="ctr"/>
                </a:tc>
                <a:tc>
                  <a:txBody>
                    <a:bodyPr/>
                    <a:lstStyle/>
                    <a:p>
                      <a:pPr lvl="0" algn="ctr">
                        <a:buNone/>
                      </a:pPr>
                      <a:r>
                        <a:rPr lang="en-IN" sz="1050" b="0" i="0" u="none" strike="noStrike">
                          <a:solidFill>
                            <a:srgbClr val="000000"/>
                          </a:solidFill>
                          <a:effectLst/>
                          <a:latin typeface="+mj-lt"/>
                        </a:rPr>
                        <a:t>0.3%</a:t>
                      </a:r>
                      <a:endParaRPr lang="en-US" sz="1050">
                        <a:latin typeface="+mj-lt"/>
                      </a:endParaRPr>
                    </a:p>
                  </a:txBody>
                  <a:tcPr marL="6350" marR="6350" marT="6350" marB="0" anchor="ctr"/>
                </a:tc>
                <a:tc>
                  <a:txBody>
                    <a:bodyPr/>
                    <a:lstStyle/>
                    <a:p>
                      <a:pPr lvl="0" algn="ctr">
                        <a:buNone/>
                      </a:pPr>
                      <a:r>
                        <a:rPr lang="en-IN" sz="1050" b="0" i="0" u="none" strike="noStrike">
                          <a:solidFill>
                            <a:srgbClr val="000000"/>
                          </a:solidFill>
                          <a:effectLst/>
                          <a:latin typeface="+mj-lt"/>
                        </a:rPr>
                        <a:t>0.8%</a:t>
                      </a:r>
                    </a:p>
                  </a:txBody>
                  <a:tcPr marL="6350" marR="6350" marT="6350" marB="0" anchor="ctr"/>
                </a:tc>
                <a:tc>
                  <a:txBody>
                    <a:bodyPr/>
                    <a:lstStyle/>
                    <a:p>
                      <a:pPr lvl="0" algn="ctr">
                        <a:buNone/>
                      </a:pPr>
                      <a:r>
                        <a:rPr lang="en-IN" sz="1050" b="0" i="0" u="none" strike="noStrike">
                          <a:solidFill>
                            <a:srgbClr val="000000"/>
                          </a:solidFill>
                          <a:effectLst/>
                          <a:latin typeface="+mj-lt"/>
                        </a:rPr>
                        <a:t>0.5%</a:t>
                      </a:r>
                      <a:endParaRPr lang="en-US" sz="1050">
                        <a:latin typeface="+mj-lt"/>
                      </a:endParaRPr>
                    </a:p>
                  </a:txBody>
                  <a:tcPr marL="6350" marR="6350" marT="6350" marB="0" anchor="ctr"/>
                </a:tc>
                <a:extLst>
                  <a:ext uri="{0D108BD9-81ED-4DB2-BD59-A6C34878D82A}">
                    <a16:rowId xmlns:a16="http://schemas.microsoft.com/office/drawing/2014/main" val="2809398452"/>
                  </a:ext>
                </a:extLst>
              </a:tr>
              <a:tr h="293271">
                <a:tc>
                  <a:txBody>
                    <a:bodyPr/>
                    <a:lstStyle/>
                    <a:p>
                      <a:pPr lvl="0" algn="l">
                        <a:buNone/>
                      </a:pPr>
                      <a:r>
                        <a:rPr lang="en-IN" sz="1050" b="0" i="0" u="none" strike="noStrike" err="1">
                          <a:solidFill>
                            <a:srgbClr val="000000"/>
                          </a:solidFill>
                          <a:effectLst/>
                          <a:latin typeface="+mj-lt"/>
                        </a:rPr>
                        <a:t>MarketX</a:t>
                      </a:r>
                      <a:r>
                        <a:rPr lang="en-IN" sz="1050" b="0" i="0" u="none" strike="noStrike">
                          <a:solidFill>
                            <a:srgbClr val="000000"/>
                          </a:solidFill>
                          <a:effectLst/>
                          <a:latin typeface="+mj-lt"/>
                        </a:rPr>
                        <a:t>/Sentinel %</a:t>
                      </a:r>
                      <a:endParaRPr lang="en-US" sz="1050">
                        <a:latin typeface="+mj-lt"/>
                      </a:endParaRPr>
                    </a:p>
                  </a:txBody>
                  <a:tcPr marL="72000" marR="6350" marT="6350" marB="0" anchor="ctr"/>
                </a:tc>
                <a:tc>
                  <a:txBody>
                    <a:bodyPr/>
                    <a:lstStyle/>
                    <a:p>
                      <a:pPr lvl="0" algn="ctr">
                        <a:buNone/>
                      </a:pPr>
                      <a:r>
                        <a:rPr lang="en-IN" sz="1050" b="0" i="0" u="none" strike="noStrike">
                          <a:solidFill>
                            <a:srgbClr val="000000"/>
                          </a:solidFill>
                          <a:effectLst/>
                          <a:latin typeface="+mj-lt"/>
                        </a:rPr>
                        <a:t>2.8%</a:t>
                      </a:r>
                      <a:endParaRPr lang="en-US" sz="1050">
                        <a:latin typeface="+mj-lt"/>
                      </a:endParaRPr>
                    </a:p>
                  </a:txBody>
                  <a:tcPr marL="9524" marR="9524" marT="9524" marB="0" anchor="ctr"/>
                </a:tc>
                <a:tc>
                  <a:txBody>
                    <a:bodyPr/>
                    <a:lstStyle/>
                    <a:p>
                      <a:pPr lvl="0" algn="ctr">
                        <a:buNone/>
                      </a:pPr>
                      <a:r>
                        <a:rPr lang="en-IN" sz="1050" b="0" i="0" u="none" strike="noStrike">
                          <a:solidFill>
                            <a:srgbClr val="000000"/>
                          </a:solidFill>
                          <a:effectLst/>
                          <a:latin typeface="+mj-lt"/>
                        </a:rPr>
                        <a:t>8.1%</a:t>
                      </a:r>
                      <a:endParaRPr lang="en-US" sz="1050">
                        <a:latin typeface="+mj-lt"/>
                      </a:endParaRPr>
                    </a:p>
                  </a:txBody>
                  <a:tcPr marL="6350" marR="6350" marT="6350" marB="0" anchor="ctr"/>
                </a:tc>
                <a:tc>
                  <a:txBody>
                    <a:bodyPr/>
                    <a:lstStyle/>
                    <a:p>
                      <a:pPr lvl="0" algn="ctr">
                        <a:buNone/>
                      </a:pPr>
                      <a:r>
                        <a:rPr lang="en-IN" sz="1050" b="0" i="0" u="none" strike="noStrike">
                          <a:solidFill>
                            <a:srgbClr val="000000"/>
                          </a:solidFill>
                          <a:effectLst/>
                          <a:latin typeface="+mj-lt"/>
                        </a:rPr>
                        <a:t>11.4%</a:t>
                      </a:r>
                      <a:endParaRPr lang="en-US" sz="1050">
                        <a:latin typeface="+mj-lt"/>
                      </a:endParaRPr>
                    </a:p>
                  </a:txBody>
                  <a:tcPr marL="6350" marR="6350" marT="6350" marB="0" anchor="ctr"/>
                </a:tc>
                <a:tc>
                  <a:txBody>
                    <a:bodyPr/>
                    <a:lstStyle/>
                    <a:p>
                      <a:pPr lvl="0" algn="ctr">
                        <a:buNone/>
                      </a:pPr>
                      <a:r>
                        <a:rPr lang="en-IN" sz="1050" b="0" i="0" u="none" strike="noStrike">
                          <a:solidFill>
                            <a:srgbClr val="000000"/>
                          </a:solidFill>
                          <a:effectLst/>
                          <a:latin typeface="+mj-lt"/>
                        </a:rPr>
                        <a:t>8.9%</a:t>
                      </a:r>
                      <a:endParaRPr lang="en-US" sz="1050">
                        <a:latin typeface="+mj-lt"/>
                      </a:endParaRPr>
                    </a:p>
                  </a:txBody>
                  <a:tcPr marL="6350" marR="6350" marT="6350" marB="0" anchor="ctr"/>
                </a:tc>
                <a:tc>
                  <a:txBody>
                    <a:bodyPr/>
                    <a:lstStyle/>
                    <a:p>
                      <a:pPr lvl="0" algn="ctr">
                        <a:buNone/>
                      </a:pPr>
                      <a:r>
                        <a:rPr lang="en-IN" sz="1050" b="0" i="0" u="none" strike="noStrike">
                          <a:solidFill>
                            <a:srgbClr val="000000"/>
                          </a:solidFill>
                          <a:effectLst/>
                          <a:latin typeface="+mj-lt"/>
                        </a:rPr>
                        <a:t>13.1%</a:t>
                      </a:r>
                      <a:endParaRPr lang="en-US" sz="1050">
                        <a:latin typeface="+mj-lt"/>
                      </a:endParaRPr>
                    </a:p>
                  </a:txBody>
                  <a:tcPr marL="6350" marR="6350" marT="6350" marB="0" anchor="ctr"/>
                </a:tc>
                <a:extLst>
                  <a:ext uri="{0D108BD9-81ED-4DB2-BD59-A6C34878D82A}">
                    <a16:rowId xmlns:a16="http://schemas.microsoft.com/office/drawing/2014/main" val="3861903429"/>
                  </a:ext>
                </a:extLst>
              </a:tr>
            </a:tbl>
          </a:graphicData>
        </a:graphic>
      </p:graphicFrame>
    </p:spTree>
    <p:extLst>
      <p:ext uri="{BB962C8B-B14F-4D97-AF65-F5344CB8AC3E}">
        <p14:creationId xmlns:p14="http://schemas.microsoft.com/office/powerpoint/2010/main" val="1414287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6E05F-5849-E37C-D2C3-6F6426499472}"/>
              </a:ext>
            </a:extLst>
          </p:cNvPr>
          <p:cNvSpPr>
            <a:spLocks noGrp="1"/>
          </p:cNvSpPr>
          <p:nvPr>
            <p:ph type="title"/>
          </p:nvPr>
        </p:nvSpPr>
        <p:spPr>
          <a:xfrm>
            <a:off x="371557" y="525420"/>
            <a:ext cx="7490398" cy="334515"/>
          </a:xfrm>
        </p:spPr>
        <p:txBody>
          <a:bodyPr/>
          <a:lstStyle/>
          <a:p>
            <a:r>
              <a:rPr lang="en-US" err="1"/>
              <a:t>Finfactor</a:t>
            </a:r>
            <a:r>
              <a:rPr lang="en-US"/>
              <a:t> Technologies Private Limited - Finvu</a:t>
            </a:r>
          </a:p>
        </p:txBody>
      </p:sp>
      <p:sp>
        <p:nvSpPr>
          <p:cNvPr id="3" name="TextBox 2">
            <a:extLst>
              <a:ext uri="{FF2B5EF4-FFF2-40B4-BE49-F238E27FC236}">
                <a16:creationId xmlns:a16="http://schemas.microsoft.com/office/drawing/2014/main" id="{E4BD1389-9FDB-DC53-8B7D-F64B345C7E4E}"/>
              </a:ext>
            </a:extLst>
          </p:cNvPr>
          <p:cNvSpPr txBox="1"/>
          <p:nvPr/>
        </p:nvSpPr>
        <p:spPr>
          <a:xfrm>
            <a:off x="499141" y="1387387"/>
            <a:ext cx="3450246" cy="320216"/>
          </a:xfrm>
          <a:prstGeom prst="rect">
            <a:avLst/>
          </a:prstGeom>
          <a:noFill/>
        </p:spPr>
        <p:txBody>
          <a:bodyPr wrap="square" rtlCol="0">
            <a:spAutoFit/>
          </a:bodyPr>
          <a:lstStyle/>
          <a:p>
            <a:r>
              <a:rPr lang="en-IN" sz="1481" b="1">
                <a:solidFill>
                  <a:schemeClr val="tx2"/>
                </a:solidFill>
                <a:ea typeface="Lato Regular" panose="020F0502020204030203" pitchFamily="34" charset="0"/>
                <a:cs typeface="Lato Regular" panose="020F0502020204030203" pitchFamily="34" charset="0"/>
              </a:rPr>
              <a:t>Business Description</a:t>
            </a:r>
          </a:p>
        </p:txBody>
      </p:sp>
      <p:sp>
        <p:nvSpPr>
          <p:cNvPr id="4" name="TextBox 3">
            <a:extLst>
              <a:ext uri="{FF2B5EF4-FFF2-40B4-BE49-F238E27FC236}">
                <a16:creationId xmlns:a16="http://schemas.microsoft.com/office/drawing/2014/main" id="{E6649E4B-E64F-6183-6251-2D09D20C7798}"/>
              </a:ext>
            </a:extLst>
          </p:cNvPr>
          <p:cNvSpPr txBox="1"/>
          <p:nvPr/>
        </p:nvSpPr>
        <p:spPr>
          <a:xfrm>
            <a:off x="499141" y="3758945"/>
            <a:ext cx="3450246" cy="320216"/>
          </a:xfrm>
          <a:prstGeom prst="rect">
            <a:avLst/>
          </a:prstGeom>
          <a:noFill/>
        </p:spPr>
        <p:txBody>
          <a:bodyPr wrap="square" rtlCol="0">
            <a:spAutoFit/>
          </a:bodyPr>
          <a:lstStyle/>
          <a:p>
            <a:r>
              <a:rPr lang="en-IN" sz="1481" b="1">
                <a:solidFill>
                  <a:schemeClr val="tx2"/>
                </a:solidFill>
                <a:ea typeface="Lato Regular" panose="020F0502020204030203" pitchFamily="34" charset="0"/>
                <a:cs typeface="Lato Regular" panose="020F0502020204030203" pitchFamily="34" charset="0"/>
              </a:rPr>
              <a:t>Performance Commentary</a:t>
            </a:r>
          </a:p>
        </p:txBody>
      </p:sp>
      <p:sp>
        <p:nvSpPr>
          <p:cNvPr id="5" name="TextBox 4">
            <a:extLst>
              <a:ext uri="{FF2B5EF4-FFF2-40B4-BE49-F238E27FC236}">
                <a16:creationId xmlns:a16="http://schemas.microsoft.com/office/drawing/2014/main" id="{2E739D66-AC0F-E9B6-B6D0-EF1B457DF5FE}"/>
              </a:ext>
            </a:extLst>
          </p:cNvPr>
          <p:cNvSpPr txBox="1"/>
          <p:nvPr/>
        </p:nvSpPr>
        <p:spPr>
          <a:xfrm>
            <a:off x="5539984" y="3805112"/>
            <a:ext cx="3450246" cy="227883"/>
          </a:xfrm>
          <a:prstGeom prst="rect">
            <a:avLst/>
          </a:prstGeom>
          <a:noFill/>
        </p:spPr>
        <p:txBody>
          <a:bodyPr wrap="square" lIns="0" tIns="0" rIns="0" bIns="0" rtlCol="0">
            <a:spAutoFit/>
          </a:bodyPr>
          <a:lstStyle/>
          <a:p>
            <a:r>
              <a:rPr lang="en-IN" sz="1481" b="1">
                <a:solidFill>
                  <a:schemeClr val="tx2"/>
                </a:solidFill>
                <a:ea typeface="Lato Regular" panose="020F0502020204030203" pitchFamily="34" charset="0"/>
                <a:cs typeface="Lato Regular" panose="020F0502020204030203" pitchFamily="34" charset="0"/>
              </a:rPr>
              <a:t>Key Financial Highlights</a:t>
            </a:r>
          </a:p>
        </p:txBody>
      </p:sp>
      <p:sp>
        <p:nvSpPr>
          <p:cNvPr id="6" name="Rectangle 5">
            <a:extLst>
              <a:ext uri="{FF2B5EF4-FFF2-40B4-BE49-F238E27FC236}">
                <a16:creationId xmlns:a16="http://schemas.microsoft.com/office/drawing/2014/main" id="{ACE7D337-E743-BED5-6156-A96E34E6D66A}"/>
              </a:ext>
            </a:extLst>
          </p:cNvPr>
          <p:cNvSpPr/>
          <p:nvPr/>
        </p:nvSpPr>
        <p:spPr>
          <a:xfrm>
            <a:off x="562116" y="1815136"/>
            <a:ext cx="4195514" cy="1631216"/>
          </a:xfrm>
          <a:prstGeom prst="rect">
            <a:avLst/>
          </a:prstGeom>
        </p:spPr>
        <p:txBody>
          <a:bodyPr wrap="square" lIns="0" tIns="0" rIns="0" bIns="0">
            <a:spAutoFit/>
          </a:bodyPr>
          <a:lstStyle/>
          <a:p>
            <a:pPr marL="171450" indent="-171450" algn="just">
              <a:spcAft>
                <a:spcPts val="600"/>
              </a:spcAft>
              <a:buFont typeface="Arial" panose="020B0604020202020204" pitchFamily="34" charset="0"/>
              <a:buChar char="•"/>
            </a:pPr>
            <a:r>
              <a:rPr lang="en-US" sz="1200" err="1">
                <a:solidFill>
                  <a:schemeClr val="bg2">
                    <a:lumMod val="10000"/>
                  </a:schemeClr>
                </a:solidFill>
                <a:ea typeface="Calibri"/>
                <a:cs typeface="Calibri"/>
                <a:sym typeface="Calibri"/>
              </a:rPr>
              <a:t>Finvu</a:t>
            </a:r>
            <a:r>
              <a:rPr lang="en-US" sz="1200">
                <a:solidFill>
                  <a:schemeClr val="bg2">
                    <a:lumMod val="10000"/>
                  </a:schemeClr>
                </a:solidFill>
                <a:ea typeface="Calibri"/>
                <a:cs typeface="Calibri"/>
                <a:sym typeface="Calibri"/>
              </a:rPr>
              <a:t> is an account aggregator that enables secure sharing of data between financial institutions</a:t>
            </a:r>
          </a:p>
          <a:p>
            <a:pPr marL="171450" indent="-171450" algn="just">
              <a:spcAft>
                <a:spcPts val="600"/>
              </a:spcAft>
              <a:buFont typeface="Arial" panose="020B0604020202020204" pitchFamily="34" charset="0"/>
              <a:buChar char="•"/>
            </a:pPr>
            <a:r>
              <a:rPr lang="en-US" sz="1200">
                <a:solidFill>
                  <a:schemeClr val="bg2">
                    <a:lumMod val="10000"/>
                  </a:schemeClr>
                </a:solidFill>
                <a:ea typeface="Calibri"/>
                <a:cs typeface="Calibri"/>
                <a:sym typeface="Calibri"/>
              </a:rPr>
              <a:t>It also offers data analytics solutions for saving, investment, cross-selling, and loan assistance to lenders, financial institutions, wealth managers, and investment advisors.</a:t>
            </a:r>
          </a:p>
          <a:p>
            <a:pPr marL="171450" indent="-171450" algn="just">
              <a:spcAft>
                <a:spcPts val="600"/>
              </a:spcAft>
              <a:buFont typeface="Arial" panose="020B0604020202020204" pitchFamily="34" charset="0"/>
              <a:buChar char="•"/>
            </a:pPr>
            <a:r>
              <a:rPr lang="en-US" sz="1200">
                <a:solidFill>
                  <a:schemeClr val="bg2">
                    <a:lumMod val="10000"/>
                  </a:schemeClr>
                </a:solidFill>
                <a:ea typeface="Calibri"/>
                <a:cs typeface="Calibri"/>
                <a:sym typeface="Calibri"/>
              </a:rPr>
              <a:t>They are providing an API driven infrastructure for financial data sharing which will be the core building block for digital economy.</a:t>
            </a:r>
          </a:p>
        </p:txBody>
      </p:sp>
      <p:graphicFrame>
        <p:nvGraphicFramePr>
          <p:cNvPr id="8" name="Table 7">
            <a:extLst>
              <a:ext uri="{FF2B5EF4-FFF2-40B4-BE49-F238E27FC236}">
                <a16:creationId xmlns:a16="http://schemas.microsoft.com/office/drawing/2014/main" id="{802DFC96-C399-62CE-566F-A543B483BFB4}"/>
              </a:ext>
            </a:extLst>
          </p:cNvPr>
          <p:cNvGraphicFramePr>
            <a:graphicFrameLocks noGrp="1"/>
          </p:cNvGraphicFramePr>
          <p:nvPr/>
        </p:nvGraphicFramePr>
        <p:xfrm>
          <a:off x="5539984" y="4144253"/>
          <a:ext cx="5765846" cy="1969165"/>
        </p:xfrm>
        <a:graphic>
          <a:graphicData uri="http://schemas.openxmlformats.org/drawingml/2006/table">
            <a:tbl>
              <a:tblPr firstRow="1" bandRow="1">
                <a:tableStyleId>{72833802-FEF1-4C79-8D5D-14CF1EAF98D9}</a:tableStyleId>
              </a:tblPr>
              <a:tblGrid>
                <a:gridCol w="1886156">
                  <a:extLst>
                    <a:ext uri="{9D8B030D-6E8A-4147-A177-3AD203B41FA5}">
                      <a16:colId xmlns:a16="http://schemas.microsoft.com/office/drawing/2014/main" val="3001066899"/>
                    </a:ext>
                  </a:extLst>
                </a:gridCol>
                <a:gridCol w="775938">
                  <a:extLst>
                    <a:ext uri="{9D8B030D-6E8A-4147-A177-3AD203B41FA5}">
                      <a16:colId xmlns:a16="http://schemas.microsoft.com/office/drawing/2014/main" val="700748351"/>
                    </a:ext>
                  </a:extLst>
                </a:gridCol>
                <a:gridCol w="775938">
                  <a:extLst>
                    <a:ext uri="{9D8B030D-6E8A-4147-A177-3AD203B41FA5}">
                      <a16:colId xmlns:a16="http://schemas.microsoft.com/office/drawing/2014/main" val="3274968397"/>
                    </a:ext>
                  </a:extLst>
                </a:gridCol>
                <a:gridCol w="775938">
                  <a:extLst>
                    <a:ext uri="{9D8B030D-6E8A-4147-A177-3AD203B41FA5}">
                      <a16:colId xmlns:a16="http://schemas.microsoft.com/office/drawing/2014/main" val="3607597589"/>
                    </a:ext>
                  </a:extLst>
                </a:gridCol>
                <a:gridCol w="775938">
                  <a:extLst>
                    <a:ext uri="{9D8B030D-6E8A-4147-A177-3AD203B41FA5}">
                      <a16:colId xmlns:a16="http://schemas.microsoft.com/office/drawing/2014/main" val="746035582"/>
                    </a:ext>
                  </a:extLst>
                </a:gridCol>
                <a:gridCol w="775938">
                  <a:extLst>
                    <a:ext uri="{9D8B030D-6E8A-4147-A177-3AD203B41FA5}">
                      <a16:colId xmlns:a16="http://schemas.microsoft.com/office/drawing/2014/main" val="3336224203"/>
                    </a:ext>
                  </a:extLst>
                </a:gridCol>
              </a:tblGrid>
              <a:tr h="276035">
                <a:tc>
                  <a:txBody>
                    <a:bodyPr/>
                    <a:lstStyle/>
                    <a:p>
                      <a:pPr algn="l" fontAlgn="b">
                        <a:buNone/>
                      </a:pPr>
                      <a:r>
                        <a:rPr lang="en-US" sz="1100" b="1"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rPr>
                        <a:t>INR Cr.</a:t>
                      </a:r>
                      <a:endParaRPr lang="en-US" sz="110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endParaRPr>
                    </a:p>
                  </a:txBody>
                  <a:tcPr marL="108000" marR="6350" marT="6350" marB="0" anchor="ctr"/>
                </a:tc>
                <a:tc>
                  <a:txBody>
                    <a:bodyPr/>
                    <a:lstStyle/>
                    <a:p>
                      <a:pPr algn="ctr" fontAlgn="b">
                        <a:buNone/>
                      </a:pPr>
                      <a:r>
                        <a:rPr lang="en-US" sz="1100" b="1"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rPr>
                        <a:t>FY24</a:t>
                      </a:r>
                      <a:endParaRPr lang="en-US" sz="110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100" b="1"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rPr>
                        <a:t>FY25</a:t>
                      </a:r>
                      <a:endParaRPr lang="en-US" sz="110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100" b="1" u="none" strike="noStrike">
                          <a:solidFill>
                            <a:schemeClr val="bg1"/>
                          </a:solidFill>
                          <a:effectLst/>
                          <a:latin typeface="Aptos"/>
                          <a:ea typeface="Lato Regular"/>
                          <a:cs typeface="Lato Regular"/>
                        </a:rPr>
                        <a:t>FY26</a:t>
                      </a:r>
                      <a:endParaRPr lang="en-US" sz="110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100" b="1" u="none" strike="noStrike">
                          <a:solidFill>
                            <a:schemeClr val="bg1"/>
                          </a:solidFill>
                          <a:effectLst/>
                          <a:latin typeface="Aptos"/>
                          <a:ea typeface="Lato Regular"/>
                          <a:cs typeface="Lato Regular"/>
                        </a:rPr>
                        <a:t>Q4FY25</a:t>
                      </a:r>
                      <a:endParaRPr lang="en-US" sz="110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100" b="1" u="none" strike="noStrike">
                          <a:solidFill>
                            <a:schemeClr val="bg1"/>
                          </a:solidFill>
                          <a:effectLst/>
                          <a:latin typeface="Aptos"/>
                          <a:ea typeface="Lato Regular"/>
                          <a:cs typeface="Lato Regular"/>
                        </a:rPr>
                        <a:t>Q4FY26</a:t>
                      </a:r>
                      <a:endParaRPr lang="en-US" sz="110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extLst>
                  <a:ext uri="{0D108BD9-81ED-4DB2-BD59-A6C34878D82A}">
                    <a16:rowId xmlns:a16="http://schemas.microsoft.com/office/drawing/2014/main" val="3735237806"/>
                  </a:ext>
                </a:extLst>
              </a:tr>
              <a:tr h="276035">
                <a:tc>
                  <a:txBody>
                    <a:bodyPr/>
                    <a:lstStyle/>
                    <a:p>
                      <a:pPr algn="l" fontAlgn="b">
                        <a:buNone/>
                      </a:pPr>
                      <a:r>
                        <a:rPr lang="en-US" sz="1100" b="1"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Net Revenue</a:t>
                      </a:r>
                      <a:endParaRPr lang="en-US" sz="1100" b="1"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endParaRPr>
                    </a:p>
                  </a:txBody>
                  <a:tcPr marL="108000" marR="6350" marT="6350" marB="0" anchor="ctr"/>
                </a:tc>
                <a:tc>
                  <a:txBody>
                    <a:bodyPr/>
                    <a:lstStyle/>
                    <a:p>
                      <a:pPr algn="ctr" fontAlgn="b">
                        <a:buNone/>
                      </a:pPr>
                      <a:r>
                        <a:rPr lang="en-US" sz="1100" b="1"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9.5</a:t>
                      </a:r>
                      <a:endParaRPr lang="en-US" sz="1100" b="1"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100" b="1"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15.9</a:t>
                      </a:r>
                      <a:endParaRPr lang="en-US" sz="1100" b="1"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100" b="1" i="0" u="none" strike="noStrike">
                          <a:solidFill>
                            <a:srgbClr val="000000"/>
                          </a:solidFill>
                          <a:effectLst/>
                          <a:latin typeface="+mn-lt"/>
                        </a:rPr>
                        <a:t>30.4</a:t>
                      </a:r>
                    </a:p>
                  </a:txBody>
                  <a:tcPr marL="6350" marR="6350" marT="6350" marB="0" anchor="ctr"/>
                </a:tc>
                <a:tc>
                  <a:txBody>
                    <a:bodyPr/>
                    <a:lstStyle/>
                    <a:p>
                      <a:pPr algn="ctr" fontAlgn="b">
                        <a:buNone/>
                      </a:pPr>
                      <a:r>
                        <a:rPr lang="en-US" sz="1100" b="1" i="0" u="none" strike="noStrike">
                          <a:solidFill>
                            <a:srgbClr val="000000"/>
                          </a:solidFill>
                          <a:effectLst/>
                          <a:latin typeface="+mn-lt"/>
                        </a:rPr>
                        <a:t>5.8</a:t>
                      </a:r>
                    </a:p>
                  </a:txBody>
                  <a:tcPr marL="6350" marR="6350" marT="6350" marB="0" anchor="ctr"/>
                </a:tc>
                <a:tc>
                  <a:txBody>
                    <a:bodyPr/>
                    <a:lstStyle/>
                    <a:p>
                      <a:pPr algn="ctr" fontAlgn="b">
                        <a:buNone/>
                      </a:pPr>
                      <a:r>
                        <a:rPr lang="en-US" sz="1100" b="1" i="0" u="none" strike="noStrike">
                          <a:solidFill>
                            <a:srgbClr val="000000"/>
                          </a:solidFill>
                          <a:effectLst/>
                          <a:latin typeface="+mn-lt"/>
                        </a:rPr>
                        <a:t>6.89</a:t>
                      </a:r>
                    </a:p>
                  </a:txBody>
                  <a:tcPr marL="6350" marR="6350" marT="6350" marB="0" anchor="ctr"/>
                </a:tc>
                <a:extLst>
                  <a:ext uri="{0D108BD9-81ED-4DB2-BD59-A6C34878D82A}">
                    <a16:rowId xmlns:a16="http://schemas.microsoft.com/office/drawing/2014/main" val="2159784742"/>
                  </a:ext>
                </a:extLst>
              </a:tr>
              <a:tr h="276035">
                <a:tc>
                  <a:txBody>
                    <a:bodyPr/>
                    <a:lstStyle/>
                    <a:p>
                      <a:pPr algn="l" fontAlgn="b">
                        <a:buNone/>
                      </a:pPr>
                      <a:r>
                        <a:rPr lang="en-US" sz="1100" b="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 Growth YoY</a:t>
                      </a:r>
                      <a:endParaRPr lang="en-US" sz="1100" b="0"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endParaRPr>
                    </a:p>
                  </a:txBody>
                  <a:tcPr marL="108000" marR="6350" marT="6350" marB="0" anchor="ctr"/>
                </a:tc>
                <a:tc>
                  <a:txBody>
                    <a:bodyPr/>
                    <a:lstStyle/>
                    <a:p>
                      <a:pPr algn="ctr" fontAlgn="b">
                        <a:buNone/>
                      </a:pPr>
                      <a:r>
                        <a:rPr lang="en-US" sz="110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400.0%</a:t>
                      </a:r>
                      <a:endParaRPr lang="en-US" sz="1100" b="0"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10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67.2%</a:t>
                      </a:r>
                      <a:endParaRPr lang="en-US" sz="1100" b="0"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100" b="0" i="0" u="none" strike="noStrike">
                          <a:solidFill>
                            <a:srgbClr val="000000"/>
                          </a:solidFill>
                          <a:effectLst/>
                          <a:latin typeface="+mn-lt"/>
                        </a:rPr>
                        <a:t>91.7%</a:t>
                      </a:r>
                    </a:p>
                  </a:txBody>
                  <a:tcPr marL="6350" marR="6350" marT="6350" marB="0" anchor="ctr"/>
                </a:tc>
                <a:tc>
                  <a:txBody>
                    <a:bodyPr/>
                    <a:lstStyle/>
                    <a:p>
                      <a:pPr algn="ctr" fontAlgn="b">
                        <a:buNone/>
                      </a:pPr>
                      <a:r>
                        <a:rPr lang="en-US" sz="1100" b="0" i="0" u="none" strike="noStrike">
                          <a:solidFill>
                            <a:srgbClr val="000000"/>
                          </a:solidFill>
                          <a:effectLst/>
                          <a:latin typeface="+mn-lt"/>
                        </a:rPr>
                        <a:t>122.33%</a:t>
                      </a:r>
                    </a:p>
                  </a:txBody>
                  <a:tcPr marL="6350" marR="6350" marT="6350" marB="0" anchor="ctr"/>
                </a:tc>
                <a:tc>
                  <a:txBody>
                    <a:bodyPr/>
                    <a:lstStyle/>
                    <a:p>
                      <a:pPr algn="ctr" fontAlgn="b">
                        <a:buNone/>
                      </a:pPr>
                      <a:r>
                        <a:rPr lang="en-US" sz="1100" b="0" i="0" u="none" strike="noStrike">
                          <a:solidFill>
                            <a:srgbClr val="000000"/>
                          </a:solidFill>
                          <a:effectLst/>
                          <a:latin typeface="+mn-lt"/>
                        </a:rPr>
                        <a:t>18.7%</a:t>
                      </a:r>
                    </a:p>
                  </a:txBody>
                  <a:tcPr marL="6350" marR="6350" marT="6350" marB="0" anchor="ctr"/>
                </a:tc>
                <a:extLst>
                  <a:ext uri="{0D108BD9-81ED-4DB2-BD59-A6C34878D82A}">
                    <a16:rowId xmlns:a16="http://schemas.microsoft.com/office/drawing/2014/main" val="2809398452"/>
                  </a:ext>
                </a:extLst>
              </a:tr>
              <a:tr h="276035">
                <a:tc>
                  <a:txBody>
                    <a:bodyPr/>
                    <a:lstStyle/>
                    <a:p>
                      <a:pPr algn="l" fontAlgn="t">
                        <a:buNone/>
                      </a:pPr>
                      <a:r>
                        <a:rPr lang="en-US" sz="1100" b="1"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Gross Profit</a:t>
                      </a:r>
                      <a:endParaRPr lang="en-US" sz="1100" b="1"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endParaRPr>
                    </a:p>
                  </a:txBody>
                  <a:tcPr marL="108000" marR="6350" marT="6350" marB="0" anchor="ctr"/>
                </a:tc>
                <a:tc>
                  <a:txBody>
                    <a:bodyPr/>
                    <a:lstStyle/>
                    <a:p>
                      <a:pPr algn="ctr" fontAlgn="b">
                        <a:buNone/>
                      </a:pPr>
                      <a:r>
                        <a:rPr lang="en-US" sz="1100" b="1"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6.1</a:t>
                      </a:r>
                      <a:endParaRPr lang="en-US" sz="1100" b="1"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100" b="1"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11.2</a:t>
                      </a:r>
                      <a:endParaRPr lang="en-US" sz="1100" b="1"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100" b="1" i="0" u="none" strike="noStrike">
                          <a:solidFill>
                            <a:srgbClr val="000000"/>
                          </a:solidFill>
                          <a:effectLst/>
                          <a:latin typeface="+mn-lt"/>
                        </a:rPr>
                        <a:t>14.2</a:t>
                      </a:r>
                    </a:p>
                  </a:txBody>
                  <a:tcPr marL="6350" marR="6350" marT="6350" marB="0" anchor="ctr"/>
                </a:tc>
                <a:tc>
                  <a:txBody>
                    <a:bodyPr/>
                    <a:lstStyle/>
                    <a:p>
                      <a:pPr algn="ctr" fontAlgn="b">
                        <a:buNone/>
                      </a:pPr>
                      <a:r>
                        <a:rPr lang="en-US" sz="1100" b="1" i="0" u="none" strike="noStrike">
                          <a:solidFill>
                            <a:srgbClr val="000000"/>
                          </a:solidFill>
                          <a:effectLst/>
                          <a:latin typeface="+mn-lt"/>
                        </a:rPr>
                        <a:t>4.2</a:t>
                      </a:r>
                    </a:p>
                  </a:txBody>
                  <a:tcPr marL="6350" marR="6350" marT="6350" marB="0" anchor="ctr"/>
                </a:tc>
                <a:tc>
                  <a:txBody>
                    <a:bodyPr/>
                    <a:lstStyle/>
                    <a:p>
                      <a:pPr algn="ctr" fontAlgn="b">
                        <a:buNone/>
                      </a:pPr>
                      <a:r>
                        <a:rPr lang="en-US" sz="1100" b="1" i="0" u="none" strike="noStrike">
                          <a:solidFill>
                            <a:srgbClr val="000000"/>
                          </a:solidFill>
                          <a:effectLst/>
                          <a:latin typeface="+mn-lt"/>
                        </a:rPr>
                        <a:t>4.4</a:t>
                      </a:r>
                    </a:p>
                  </a:txBody>
                  <a:tcPr marL="6350" marR="6350" marT="6350" marB="0" anchor="ctr"/>
                </a:tc>
                <a:extLst>
                  <a:ext uri="{0D108BD9-81ED-4DB2-BD59-A6C34878D82A}">
                    <a16:rowId xmlns:a16="http://schemas.microsoft.com/office/drawing/2014/main" val="4076501595"/>
                  </a:ext>
                </a:extLst>
              </a:tr>
              <a:tr h="276035">
                <a:tc>
                  <a:txBody>
                    <a:bodyPr/>
                    <a:lstStyle/>
                    <a:p>
                      <a:pPr algn="l" fontAlgn="t">
                        <a:buNone/>
                      </a:pPr>
                      <a:r>
                        <a:rPr lang="en-US" sz="1100" b="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 Gross Margin</a:t>
                      </a:r>
                      <a:endParaRPr lang="en-US" sz="1100" b="0"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endParaRPr>
                    </a:p>
                  </a:txBody>
                  <a:tcPr marL="108000" marR="6350" marT="6350" marB="0" anchor="ctr"/>
                </a:tc>
                <a:tc>
                  <a:txBody>
                    <a:bodyPr/>
                    <a:lstStyle/>
                    <a:p>
                      <a:pPr algn="ctr" fontAlgn="b">
                        <a:buNone/>
                      </a:pPr>
                      <a:r>
                        <a:rPr lang="en-US" sz="110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64.1%</a:t>
                      </a:r>
                      <a:endParaRPr lang="en-US" sz="1100" b="0"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10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71.0%</a:t>
                      </a:r>
                      <a:endParaRPr lang="en-US" sz="1100" b="0"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100" b="0" i="0" u="none" strike="noStrike">
                          <a:solidFill>
                            <a:srgbClr val="000000"/>
                          </a:solidFill>
                          <a:effectLst/>
                          <a:latin typeface="+mn-lt"/>
                        </a:rPr>
                        <a:t>46.6%</a:t>
                      </a:r>
                    </a:p>
                  </a:txBody>
                  <a:tcPr marL="6350" marR="6350" marT="6350" marB="0" anchor="ctr"/>
                </a:tc>
                <a:tc>
                  <a:txBody>
                    <a:bodyPr/>
                    <a:lstStyle/>
                    <a:p>
                      <a:pPr algn="ctr" fontAlgn="b">
                        <a:buNone/>
                      </a:pPr>
                      <a:r>
                        <a:rPr lang="en-US" sz="1100" b="0" i="0" u="none" strike="noStrike">
                          <a:solidFill>
                            <a:srgbClr val="000000"/>
                          </a:solidFill>
                          <a:effectLst/>
                          <a:latin typeface="+mn-lt"/>
                        </a:rPr>
                        <a:t>72.8%</a:t>
                      </a:r>
                    </a:p>
                  </a:txBody>
                  <a:tcPr marL="6350" marR="6350" marT="6350" marB="0" anchor="ctr"/>
                </a:tc>
                <a:tc>
                  <a:txBody>
                    <a:bodyPr/>
                    <a:lstStyle/>
                    <a:p>
                      <a:pPr algn="ctr" fontAlgn="b">
                        <a:buNone/>
                      </a:pPr>
                      <a:r>
                        <a:rPr lang="en-US" sz="1100" b="0" i="0" u="none" strike="noStrike">
                          <a:solidFill>
                            <a:srgbClr val="000000"/>
                          </a:solidFill>
                          <a:effectLst/>
                          <a:latin typeface="+mn-lt"/>
                        </a:rPr>
                        <a:t>64.4%</a:t>
                      </a:r>
                    </a:p>
                  </a:txBody>
                  <a:tcPr marL="6350" marR="6350" marT="6350" marB="0" anchor="ctr"/>
                </a:tc>
                <a:extLst>
                  <a:ext uri="{0D108BD9-81ED-4DB2-BD59-A6C34878D82A}">
                    <a16:rowId xmlns:a16="http://schemas.microsoft.com/office/drawing/2014/main" val="3179895044"/>
                  </a:ext>
                </a:extLst>
              </a:tr>
              <a:tr h="294495">
                <a:tc>
                  <a:txBody>
                    <a:bodyPr/>
                    <a:lstStyle/>
                    <a:p>
                      <a:pPr algn="l" fontAlgn="t">
                        <a:buNone/>
                      </a:pPr>
                      <a:r>
                        <a:rPr lang="en-US" sz="1100" b="1"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EBITDA</a:t>
                      </a:r>
                      <a:endParaRPr lang="en-US" sz="1100" b="1"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endParaRPr>
                    </a:p>
                  </a:txBody>
                  <a:tcPr marL="108000" marR="6350" marT="6350" marB="0" anchor="ctr"/>
                </a:tc>
                <a:tc>
                  <a:txBody>
                    <a:bodyPr/>
                    <a:lstStyle/>
                    <a:p>
                      <a:pPr algn="ctr" fontAlgn="b">
                        <a:buNone/>
                      </a:pPr>
                      <a:r>
                        <a:rPr lang="en-US" sz="1100" b="1"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1.1</a:t>
                      </a:r>
                      <a:endParaRPr lang="en-US" sz="1100" b="1"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100" b="1"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-7.0</a:t>
                      </a:r>
                      <a:endParaRPr lang="en-US" sz="1100" b="1"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100" b="1" i="0" u="none" strike="noStrike">
                          <a:solidFill>
                            <a:srgbClr val="000000"/>
                          </a:solidFill>
                          <a:effectLst/>
                          <a:latin typeface="+mn-lt"/>
                        </a:rPr>
                        <a:t>-48.5</a:t>
                      </a:r>
                    </a:p>
                  </a:txBody>
                  <a:tcPr marL="6350" marR="6350" marT="6350" marB="0" anchor="ctr"/>
                </a:tc>
                <a:tc>
                  <a:txBody>
                    <a:bodyPr/>
                    <a:lstStyle/>
                    <a:p>
                      <a:pPr algn="ctr" fontAlgn="b">
                        <a:buNone/>
                      </a:pPr>
                      <a:r>
                        <a:rPr lang="en-US" sz="1100" b="1" i="0" u="none" strike="noStrike">
                          <a:solidFill>
                            <a:srgbClr val="000000"/>
                          </a:solidFill>
                          <a:effectLst/>
                          <a:latin typeface="+mn-lt"/>
                        </a:rPr>
                        <a:t>-1.8</a:t>
                      </a:r>
                    </a:p>
                  </a:txBody>
                  <a:tcPr marL="6350" marR="6350" marT="6350" marB="0" anchor="ctr"/>
                </a:tc>
                <a:tc>
                  <a:txBody>
                    <a:bodyPr/>
                    <a:lstStyle/>
                    <a:p>
                      <a:pPr algn="ctr" fontAlgn="b">
                        <a:buNone/>
                      </a:pPr>
                      <a:r>
                        <a:rPr lang="en-US" sz="1100" b="1" i="0" u="none" strike="noStrike">
                          <a:solidFill>
                            <a:srgbClr val="000000"/>
                          </a:solidFill>
                          <a:effectLst/>
                          <a:latin typeface="+mn-lt"/>
                        </a:rPr>
                        <a:t>-15.8</a:t>
                      </a:r>
                    </a:p>
                  </a:txBody>
                  <a:tcPr marL="6350" marR="6350" marT="6350" marB="0" anchor="ctr"/>
                </a:tc>
                <a:extLst>
                  <a:ext uri="{0D108BD9-81ED-4DB2-BD59-A6C34878D82A}">
                    <a16:rowId xmlns:a16="http://schemas.microsoft.com/office/drawing/2014/main" val="3498926890"/>
                  </a:ext>
                </a:extLst>
              </a:tr>
              <a:tr h="294495">
                <a:tc>
                  <a:txBody>
                    <a:bodyPr/>
                    <a:lstStyle/>
                    <a:p>
                      <a:pPr algn="l" fontAlgn="b">
                        <a:buNone/>
                      </a:pPr>
                      <a:r>
                        <a:rPr lang="en-US" sz="1100" b="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 EBITDA</a:t>
                      </a:r>
                      <a:endParaRPr lang="en-US" sz="1100" b="0"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endParaRPr>
                    </a:p>
                  </a:txBody>
                  <a:tcPr marL="108000" marR="6350" marT="6350" marB="0" anchor="ctr"/>
                </a:tc>
                <a:tc>
                  <a:txBody>
                    <a:bodyPr/>
                    <a:lstStyle/>
                    <a:p>
                      <a:pPr algn="ctr" fontAlgn="b">
                        <a:buNone/>
                      </a:pPr>
                      <a:r>
                        <a:rPr lang="en-US" sz="110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11.7%</a:t>
                      </a:r>
                      <a:endParaRPr lang="en-US" sz="1100" b="0"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10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-21.0%</a:t>
                      </a:r>
                      <a:endParaRPr lang="en-US" sz="1100" b="0"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100" b="0" i="0" u="none" strike="noStrike">
                          <a:solidFill>
                            <a:srgbClr val="000000"/>
                          </a:solidFill>
                          <a:effectLst/>
                          <a:latin typeface="+mn-lt"/>
                        </a:rPr>
                        <a:t>-341.5%</a:t>
                      </a:r>
                    </a:p>
                  </a:txBody>
                  <a:tcPr marL="6350" marR="6350" marT="6350" marB="0" anchor="ctr"/>
                </a:tc>
                <a:tc>
                  <a:txBody>
                    <a:bodyPr/>
                    <a:lstStyle/>
                    <a:p>
                      <a:pPr algn="ctr" fontAlgn="b">
                        <a:buNone/>
                      </a:pPr>
                      <a:r>
                        <a:rPr lang="en-US" sz="1100" b="0" i="0" u="none" strike="noStrike">
                          <a:solidFill>
                            <a:srgbClr val="000000"/>
                          </a:solidFill>
                          <a:effectLst/>
                          <a:latin typeface="+mn-lt"/>
                        </a:rPr>
                        <a:t>-30.8%</a:t>
                      </a:r>
                    </a:p>
                  </a:txBody>
                  <a:tcPr marL="6350" marR="6350" marT="6350" marB="0" anchor="ctr"/>
                </a:tc>
                <a:tc>
                  <a:txBody>
                    <a:bodyPr/>
                    <a:lstStyle/>
                    <a:p>
                      <a:pPr algn="ctr" fontAlgn="b">
                        <a:buNone/>
                      </a:pPr>
                      <a:r>
                        <a:rPr lang="en-US" sz="1100" b="0" i="0" u="none" strike="noStrike">
                          <a:solidFill>
                            <a:srgbClr val="000000"/>
                          </a:solidFill>
                          <a:effectLst/>
                          <a:latin typeface="+mn-lt"/>
                        </a:rPr>
                        <a:t>-230.1%</a:t>
                      </a:r>
                    </a:p>
                  </a:txBody>
                  <a:tcPr marL="6350" marR="6350" marT="6350" marB="0" anchor="ctr"/>
                </a:tc>
                <a:extLst>
                  <a:ext uri="{0D108BD9-81ED-4DB2-BD59-A6C34878D82A}">
                    <a16:rowId xmlns:a16="http://schemas.microsoft.com/office/drawing/2014/main" val="3759208202"/>
                  </a:ext>
                </a:extLst>
              </a:tr>
            </a:tbl>
          </a:graphicData>
        </a:graphic>
      </p:graphicFrame>
      <p:pic>
        <p:nvPicPr>
          <p:cNvPr id="9" name="Picture 2" descr="Finvu">
            <a:extLst>
              <a:ext uri="{FF2B5EF4-FFF2-40B4-BE49-F238E27FC236}">
                <a16:creationId xmlns:a16="http://schemas.microsoft.com/office/drawing/2014/main" id="{B3829576-67C8-0349-B437-120918E3FB81}"/>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6142789" y="414162"/>
            <a:ext cx="779068" cy="389534"/>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Connector 9">
            <a:extLst>
              <a:ext uri="{FF2B5EF4-FFF2-40B4-BE49-F238E27FC236}">
                <a16:creationId xmlns:a16="http://schemas.microsoft.com/office/drawing/2014/main" id="{C5AEAD8F-3DB0-94C2-D467-544BA35D547F}"/>
              </a:ext>
            </a:extLst>
          </p:cNvPr>
          <p:cNvCxnSpPr>
            <a:cxnSpLocks/>
          </p:cNvCxnSpPr>
          <p:nvPr/>
        </p:nvCxnSpPr>
        <p:spPr>
          <a:xfrm>
            <a:off x="5981758" y="536026"/>
            <a:ext cx="0" cy="320217"/>
          </a:xfrm>
          <a:prstGeom prst="line">
            <a:avLst/>
          </a:prstGeom>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2613F02-025F-94AE-3372-3492329C870C}"/>
              </a:ext>
            </a:extLst>
          </p:cNvPr>
          <p:cNvSpPr txBox="1"/>
          <p:nvPr/>
        </p:nvSpPr>
        <p:spPr>
          <a:xfrm>
            <a:off x="5539984" y="1433554"/>
            <a:ext cx="3607078" cy="227883"/>
          </a:xfrm>
          <a:prstGeom prst="rect">
            <a:avLst/>
          </a:prstGeom>
          <a:noFill/>
        </p:spPr>
        <p:txBody>
          <a:bodyPr wrap="square" lIns="0" tIns="0" rIns="0" bIns="0" rtlCol="0">
            <a:spAutoFit/>
          </a:bodyPr>
          <a:lstStyle/>
          <a:p>
            <a:r>
              <a:rPr lang="en-IN" sz="1481" b="1">
                <a:solidFill>
                  <a:schemeClr val="tx2"/>
                </a:solidFill>
                <a:ea typeface="Lato Regular" panose="020F0502020204030203" pitchFamily="34" charset="0"/>
                <a:cs typeface="Lato Regular" panose="020F0502020204030203" pitchFamily="34" charset="0"/>
              </a:rPr>
              <a:t>Key Performance Indicators</a:t>
            </a:r>
          </a:p>
        </p:txBody>
      </p:sp>
      <p:graphicFrame>
        <p:nvGraphicFramePr>
          <p:cNvPr id="12" name="Table 11">
            <a:extLst>
              <a:ext uri="{FF2B5EF4-FFF2-40B4-BE49-F238E27FC236}">
                <a16:creationId xmlns:a16="http://schemas.microsoft.com/office/drawing/2014/main" id="{828C6FA8-A0C2-E81E-79EB-212647A21088}"/>
              </a:ext>
            </a:extLst>
          </p:cNvPr>
          <p:cNvGraphicFramePr>
            <a:graphicFrameLocks noGrp="1"/>
          </p:cNvGraphicFramePr>
          <p:nvPr>
            <p:extLst>
              <p:ext uri="{D42A27DB-BD31-4B8C-83A1-F6EECF244321}">
                <p14:modId xmlns:p14="http://schemas.microsoft.com/office/powerpoint/2010/main" val="2663302581"/>
              </p:ext>
            </p:extLst>
          </p:nvPr>
        </p:nvGraphicFramePr>
        <p:xfrm>
          <a:off x="5539984" y="1815207"/>
          <a:ext cx="5765845" cy="1623908"/>
        </p:xfrm>
        <a:graphic>
          <a:graphicData uri="http://schemas.openxmlformats.org/drawingml/2006/table">
            <a:tbl>
              <a:tblPr firstRow="1" bandRow="1">
                <a:tableStyleId>{69012ECD-51FC-41F1-AA8D-1B2483CD663E}</a:tableStyleId>
              </a:tblPr>
              <a:tblGrid>
                <a:gridCol w="1886155">
                  <a:extLst>
                    <a:ext uri="{9D8B030D-6E8A-4147-A177-3AD203B41FA5}">
                      <a16:colId xmlns:a16="http://schemas.microsoft.com/office/drawing/2014/main" val="3001066899"/>
                    </a:ext>
                  </a:extLst>
                </a:gridCol>
                <a:gridCol w="775938">
                  <a:extLst>
                    <a:ext uri="{9D8B030D-6E8A-4147-A177-3AD203B41FA5}">
                      <a16:colId xmlns:a16="http://schemas.microsoft.com/office/drawing/2014/main" val="700748351"/>
                    </a:ext>
                  </a:extLst>
                </a:gridCol>
                <a:gridCol w="775938">
                  <a:extLst>
                    <a:ext uri="{9D8B030D-6E8A-4147-A177-3AD203B41FA5}">
                      <a16:colId xmlns:a16="http://schemas.microsoft.com/office/drawing/2014/main" val="3274968397"/>
                    </a:ext>
                  </a:extLst>
                </a:gridCol>
                <a:gridCol w="775938">
                  <a:extLst>
                    <a:ext uri="{9D8B030D-6E8A-4147-A177-3AD203B41FA5}">
                      <a16:colId xmlns:a16="http://schemas.microsoft.com/office/drawing/2014/main" val="3607597589"/>
                    </a:ext>
                  </a:extLst>
                </a:gridCol>
                <a:gridCol w="775938">
                  <a:extLst>
                    <a:ext uri="{9D8B030D-6E8A-4147-A177-3AD203B41FA5}">
                      <a16:colId xmlns:a16="http://schemas.microsoft.com/office/drawing/2014/main" val="746035582"/>
                    </a:ext>
                  </a:extLst>
                </a:gridCol>
                <a:gridCol w="775938">
                  <a:extLst>
                    <a:ext uri="{9D8B030D-6E8A-4147-A177-3AD203B41FA5}">
                      <a16:colId xmlns:a16="http://schemas.microsoft.com/office/drawing/2014/main" val="230250461"/>
                    </a:ext>
                  </a:extLst>
                </a:gridCol>
              </a:tblGrid>
              <a:tr h="262575">
                <a:tc>
                  <a:txBody>
                    <a:bodyPr/>
                    <a:lstStyle/>
                    <a:p>
                      <a:pPr algn="l" fontAlgn="b">
                        <a:buNone/>
                      </a:pPr>
                      <a:r>
                        <a:rPr lang="en-US" sz="1100" b="1" i="0" u="none" strike="noStrike">
                          <a:solidFill>
                            <a:schemeClr val="bg1"/>
                          </a:solidFill>
                          <a:effectLst/>
                          <a:latin typeface="+mn-lt"/>
                          <a:ea typeface="Lato Regular" panose="020F0502020204030203" pitchFamily="34" charset="0"/>
                          <a:cs typeface="Lato Regular" panose="020F0502020204030203" pitchFamily="34" charset="0"/>
                        </a:rPr>
                        <a:t>KPIs</a:t>
                      </a:r>
                    </a:p>
                  </a:txBody>
                  <a:tcPr marL="108000" marR="6350" marT="6350" marB="0" anchor="ctr"/>
                </a:tc>
                <a:tc>
                  <a:txBody>
                    <a:bodyPr/>
                    <a:lstStyle/>
                    <a:p>
                      <a:pPr algn="ctr" fontAlgn="b">
                        <a:buNone/>
                      </a:pPr>
                      <a:r>
                        <a:rPr lang="en-US" sz="1100" b="1" u="none" strike="noStrike">
                          <a:solidFill>
                            <a:schemeClr val="bg1"/>
                          </a:solidFill>
                          <a:effectLst/>
                          <a:latin typeface="+mn-lt"/>
                          <a:ea typeface="Lato Regular" panose="020F0502020204030203" pitchFamily="34" charset="0"/>
                          <a:cs typeface="Lato Regular" panose="020F0502020204030203" pitchFamily="34" charset="0"/>
                        </a:rPr>
                        <a:t>FY24</a:t>
                      </a:r>
                      <a:endParaRPr lang="en-US" sz="1100" b="1" i="0" u="none" strike="noStrike">
                        <a:solidFill>
                          <a:schemeClr val="bg1"/>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100" b="1" u="none" strike="noStrike">
                          <a:solidFill>
                            <a:schemeClr val="bg1"/>
                          </a:solidFill>
                          <a:effectLst/>
                          <a:latin typeface="+mn-lt"/>
                          <a:ea typeface="Lato Regular" panose="020F0502020204030203" pitchFamily="34" charset="0"/>
                          <a:cs typeface="Lato Regular" panose="020F0502020204030203" pitchFamily="34" charset="0"/>
                        </a:rPr>
                        <a:t>FY25</a:t>
                      </a:r>
                      <a:endParaRPr lang="en-US" sz="1100" b="1" i="0" u="none" strike="noStrike">
                        <a:solidFill>
                          <a:schemeClr val="bg1"/>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100" b="1" u="none" strike="noStrike">
                          <a:solidFill>
                            <a:schemeClr val="bg1"/>
                          </a:solidFill>
                          <a:effectLst/>
                          <a:latin typeface="+mn-lt"/>
                          <a:ea typeface="Lato Regular"/>
                          <a:cs typeface="Lato Regular"/>
                        </a:rPr>
                        <a:t>FY26</a:t>
                      </a:r>
                      <a:endParaRPr lang="en-US" sz="1100" b="1" i="0" u="none" strike="noStrike">
                        <a:solidFill>
                          <a:schemeClr val="bg1"/>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100" b="1" u="none" strike="noStrike">
                          <a:solidFill>
                            <a:schemeClr val="bg1"/>
                          </a:solidFill>
                          <a:effectLst/>
                          <a:latin typeface="+mn-lt"/>
                          <a:ea typeface="Lato Regular"/>
                          <a:cs typeface="Lato Regular"/>
                        </a:rPr>
                        <a:t>Q4FY25</a:t>
                      </a:r>
                      <a:endParaRPr lang="en-US" sz="1100" b="1" i="0" u="none" strike="noStrike">
                        <a:solidFill>
                          <a:schemeClr val="bg1"/>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100" b="1" u="none" strike="noStrike">
                          <a:solidFill>
                            <a:schemeClr val="bg1"/>
                          </a:solidFill>
                          <a:effectLst/>
                          <a:latin typeface="+mn-lt"/>
                          <a:ea typeface="Lato Regular"/>
                          <a:cs typeface="Lato Regular"/>
                        </a:rPr>
                        <a:t>Q4FY26</a:t>
                      </a:r>
                      <a:endParaRPr lang="en-US" sz="1100" b="1" i="0" u="none" strike="noStrike">
                        <a:solidFill>
                          <a:schemeClr val="bg1"/>
                        </a:solidFill>
                        <a:effectLst/>
                        <a:latin typeface="+mn-lt"/>
                        <a:ea typeface="Lato Regular" panose="020F0502020204030203" pitchFamily="34" charset="0"/>
                        <a:cs typeface="Lato Regular" panose="020F0502020204030203" pitchFamily="34" charset="0"/>
                      </a:endParaRPr>
                    </a:p>
                  </a:txBody>
                  <a:tcPr marL="6350" marR="6350" marT="6350" marB="0" anchor="ctr"/>
                </a:tc>
                <a:extLst>
                  <a:ext uri="{0D108BD9-81ED-4DB2-BD59-A6C34878D82A}">
                    <a16:rowId xmlns:a16="http://schemas.microsoft.com/office/drawing/2014/main" val="3735237806"/>
                  </a:ext>
                </a:extLst>
              </a:tr>
              <a:tr h="262575">
                <a:tc>
                  <a:txBody>
                    <a:bodyPr/>
                    <a:lstStyle/>
                    <a:p>
                      <a:pPr algn="l" fontAlgn="b">
                        <a:buNone/>
                      </a:pPr>
                      <a:r>
                        <a:rPr lang="en-US" sz="1100" b="0" u="none" strike="noStrike">
                          <a:solidFill>
                            <a:schemeClr val="bg2">
                              <a:lumMod val="10000"/>
                            </a:schemeClr>
                          </a:solidFill>
                          <a:effectLst/>
                          <a:latin typeface="+mn-lt"/>
                          <a:ea typeface="Lato Regular" panose="020F0502020204030203" pitchFamily="34" charset="0"/>
                          <a:cs typeface="Lato Regular" panose="020F0502020204030203" pitchFamily="34" charset="0"/>
                        </a:rPr>
                        <a:t>No. of FIPs</a:t>
                      </a:r>
                      <a:endParaRPr lang="en-US" sz="1100" b="0" i="0" u="none" strike="noStrike">
                        <a:solidFill>
                          <a:schemeClr val="bg2">
                            <a:lumMod val="10000"/>
                          </a:schemeClr>
                        </a:solidFill>
                        <a:effectLst/>
                        <a:latin typeface="+mn-lt"/>
                        <a:ea typeface="Lato Regular" panose="020F0502020204030203" pitchFamily="34" charset="0"/>
                        <a:cs typeface="Lato Regular" panose="020F0502020204030203" pitchFamily="34" charset="0"/>
                      </a:endParaRPr>
                    </a:p>
                  </a:txBody>
                  <a:tcPr marL="108000" marR="6350" marT="6350" marB="0" anchor="ctr"/>
                </a:tc>
                <a:tc>
                  <a:txBody>
                    <a:bodyPr/>
                    <a:lstStyle/>
                    <a:p>
                      <a:pPr algn="ctr" fontAlgn="b">
                        <a:buNone/>
                      </a:pPr>
                      <a:r>
                        <a:rPr lang="en-US" sz="1100" b="0" i="0" u="none" strike="noStrike">
                          <a:solidFill>
                            <a:schemeClr val="bg2">
                              <a:lumMod val="10000"/>
                            </a:schemeClr>
                          </a:solidFill>
                          <a:effectLst/>
                          <a:latin typeface="+mn-lt"/>
                          <a:ea typeface="Lato Regular" panose="020F0502020204030203" pitchFamily="34" charset="0"/>
                          <a:cs typeface="Lato Regular" panose="020F0502020204030203" pitchFamily="34" charset="0"/>
                        </a:rPr>
                        <a:t>38</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mn-lt"/>
                          <a:ea typeface="Lato Regular" panose="020F0502020204030203" pitchFamily="34" charset="0"/>
                          <a:cs typeface="Lato Regular" panose="020F0502020204030203" pitchFamily="34" charset="0"/>
                        </a:rPr>
                        <a:t>59</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mn-lt"/>
                          <a:ea typeface="Lato Regular"/>
                          <a:cs typeface="Lato Regular"/>
                        </a:rPr>
                        <a:t>100</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mn-lt"/>
                          <a:ea typeface="Lato Regular"/>
                          <a:cs typeface="Lato Regular"/>
                        </a:rPr>
                        <a:t>59</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mn-lt"/>
                          <a:ea typeface="Lato Regular"/>
                          <a:cs typeface="Lato Regular"/>
                        </a:rPr>
                        <a:t>100</a:t>
                      </a:r>
                    </a:p>
                  </a:txBody>
                  <a:tcPr marL="6350" marR="6350" marT="6350" marB="0" anchor="ctr"/>
                </a:tc>
                <a:extLst>
                  <a:ext uri="{0D108BD9-81ED-4DB2-BD59-A6C34878D82A}">
                    <a16:rowId xmlns:a16="http://schemas.microsoft.com/office/drawing/2014/main" val="2159784742"/>
                  </a:ext>
                </a:extLst>
              </a:tr>
              <a:tr h="262575">
                <a:tc>
                  <a:txBody>
                    <a:bodyPr/>
                    <a:lstStyle/>
                    <a:p>
                      <a:pPr algn="l" fontAlgn="b">
                        <a:buNone/>
                      </a:pPr>
                      <a:r>
                        <a:rPr lang="en-US" sz="1100" b="0" u="none" strike="noStrike">
                          <a:solidFill>
                            <a:schemeClr val="bg2">
                              <a:lumMod val="10000"/>
                            </a:schemeClr>
                          </a:solidFill>
                          <a:effectLst/>
                          <a:latin typeface="+mn-lt"/>
                          <a:ea typeface="Lato Regular" panose="020F0502020204030203" pitchFamily="34" charset="0"/>
                          <a:cs typeface="Lato Regular" panose="020F0502020204030203" pitchFamily="34" charset="0"/>
                        </a:rPr>
                        <a:t>No. of FIUs</a:t>
                      </a:r>
                      <a:endParaRPr lang="en-US" sz="1100" b="0" i="0" u="none" strike="noStrike">
                        <a:solidFill>
                          <a:schemeClr val="bg2">
                            <a:lumMod val="10000"/>
                          </a:schemeClr>
                        </a:solidFill>
                        <a:effectLst/>
                        <a:latin typeface="+mn-lt"/>
                        <a:ea typeface="Lato Regular" panose="020F0502020204030203" pitchFamily="34" charset="0"/>
                        <a:cs typeface="Lato Regular" panose="020F0502020204030203" pitchFamily="34" charset="0"/>
                      </a:endParaRPr>
                    </a:p>
                  </a:txBody>
                  <a:tcPr marL="108000" marR="6350" marT="6350" marB="0" anchor="ctr"/>
                </a:tc>
                <a:tc>
                  <a:txBody>
                    <a:bodyPr/>
                    <a:lstStyle/>
                    <a:p>
                      <a:pPr algn="ctr" fontAlgn="b">
                        <a:buNone/>
                      </a:pPr>
                      <a:r>
                        <a:rPr lang="en-US" sz="1100" b="0" i="0" u="none" strike="noStrike">
                          <a:solidFill>
                            <a:schemeClr val="bg2">
                              <a:lumMod val="10000"/>
                            </a:schemeClr>
                          </a:solidFill>
                          <a:effectLst/>
                          <a:latin typeface="+mn-lt"/>
                          <a:ea typeface="Lato Regular" panose="020F0502020204030203" pitchFamily="34" charset="0"/>
                          <a:cs typeface="Lato Regular" panose="020F0502020204030203" pitchFamily="34" charset="0"/>
                        </a:rPr>
                        <a:t>73</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mn-lt"/>
                          <a:ea typeface="Lato Regular" panose="020F0502020204030203" pitchFamily="34" charset="0"/>
                          <a:cs typeface="Lato Regular" panose="020F0502020204030203" pitchFamily="34" charset="0"/>
                        </a:rPr>
                        <a:t>174</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mn-lt"/>
                          <a:ea typeface="Lato Regular"/>
                          <a:cs typeface="Lato Regular"/>
                        </a:rPr>
                        <a:t>452</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mn-lt"/>
                          <a:ea typeface="Lato Regular"/>
                          <a:cs typeface="Lato Regular"/>
                        </a:rPr>
                        <a:t>174</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mn-lt"/>
                          <a:ea typeface="Lato Regular"/>
                          <a:cs typeface="Lato Regular"/>
                        </a:rPr>
                        <a:t>452</a:t>
                      </a:r>
                    </a:p>
                  </a:txBody>
                  <a:tcPr marL="6350" marR="6350" marT="6350" marB="0" anchor="ctr"/>
                </a:tc>
                <a:extLst>
                  <a:ext uri="{0D108BD9-81ED-4DB2-BD59-A6C34878D82A}">
                    <a16:rowId xmlns:a16="http://schemas.microsoft.com/office/drawing/2014/main" val="2809398452"/>
                  </a:ext>
                </a:extLst>
              </a:tr>
              <a:tr h="262575">
                <a:tc>
                  <a:txBody>
                    <a:bodyPr/>
                    <a:lstStyle/>
                    <a:p>
                      <a:pPr algn="l" fontAlgn="b">
                        <a:buNone/>
                      </a:pPr>
                      <a:r>
                        <a:rPr lang="en-US" sz="1100" b="0" u="none" strike="noStrike">
                          <a:solidFill>
                            <a:schemeClr val="bg2">
                              <a:lumMod val="10000"/>
                            </a:schemeClr>
                          </a:solidFill>
                          <a:effectLst/>
                          <a:latin typeface="+mn-lt"/>
                          <a:ea typeface="Lato Regular" panose="020F0502020204030203" pitchFamily="34" charset="0"/>
                          <a:cs typeface="Lato Regular" panose="020F0502020204030203" pitchFamily="34" charset="0"/>
                        </a:rPr>
                        <a:t>Consents Requested (Cr.)</a:t>
                      </a:r>
                      <a:endParaRPr lang="en-US" sz="1100" b="0" i="0" u="none" strike="noStrike">
                        <a:solidFill>
                          <a:schemeClr val="bg2">
                            <a:lumMod val="10000"/>
                          </a:schemeClr>
                        </a:solidFill>
                        <a:effectLst/>
                        <a:latin typeface="+mn-lt"/>
                        <a:ea typeface="Lato Regular" panose="020F0502020204030203" pitchFamily="34" charset="0"/>
                        <a:cs typeface="Lato Regular" panose="020F0502020204030203" pitchFamily="34" charset="0"/>
                      </a:endParaRPr>
                    </a:p>
                  </a:txBody>
                  <a:tcPr marL="108000" marR="6350" marT="6350" marB="0" anchor="ctr"/>
                </a:tc>
                <a:tc>
                  <a:txBody>
                    <a:bodyPr/>
                    <a:lstStyle/>
                    <a:p>
                      <a:pPr algn="ctr" fontAlgn="b">
                        <a:buNone/>
                      </a:pPr>
                      <a:r>
                        <a:rPr lang="en-US" sz="1100" b="0" i="0" u="none" strike="noStrike">
                          <a:solidFill>
                            <a:schemeClr val="bg2">
                              <a:lumMod val="10000"/>
                            </a:schemeClr>
                          </a:solidFill>
                          <a:effectLst/>
                          <a:latin typeface="+mn-lt"/>
                          <a:ea typeface="Lato Regular" panose="020F0502020204030203" pitchFamily="34" charset="0"/>
                          <a:cs typeface="Lato Regular" panose="020F0502020204030203" pitchFamily="34" charset="0"/>
                        </a:rPr>
                        <a:t>5.2</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mn-lt"/>
                          <a:ea typeface="Lato Regular" panose="020F0502020204030203" pitchFamily="34" charset="0"/>
                          <a:cs typeface="Lato Regular" panose="020F0502020204030203" pitchFamily="34" charset="0"/>
                        </a:rPr>
                        <a:t>5.3</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mn-lt"/>
                          <a:ea typeface="Lato Regular"/>
                          <a:cs typeface="Lato Regular"/>
                        </a:rPr>
                        <a:t>18.0</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mn-lt"/>
                          <a:ea typeface="Lato Regular"/>
                          <a:cs typeface="Lato Regular"/>
                        </a:rPr>
                        <a:t>2.49</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mn-lt"/>
                          <a:ea typeface="Lato Regular"/>
                          <a:cs typeface="Lato Regular"/>
                        </a:rPr>
                        <a:t>4.7</a:t>
                      </a:r>
                    </a:p>
                  </a:txBody>
                  <a:tcPr marL="6350" marR="6350" marT="6350" marB="0" anchor="ctr"/>
                </a:tc>
                <a:extLst>
                  <a:ext uri="{0D108BD9-81ED-4DB2-BD59-A6C34878D82A}">
                    <a16:rowId xmlns:a16="http://schemas.microsoft.com/office/drawing/2014/main" val="4076501595"/>
                  </a:ext>
                </a:extLst>
              </a:tr>
              <a:tr h="262575">
                <a:tc>
                  <a:txBody>
                    <a:bodyPr/>
                    <a:lstStyle/>
                    <a:p>
                      <a:pPr algn="l" fontAlgn="b">
                        <a:buNone/>
                      </a:pPr>
                      <a:r>
                        <a:rPr lang="en-US" sz="1100" b="0" u="none" strike="noStrike">
                          <a:solidFill>
                            <a:schemeClr val="bg2">
                              <a:lumMod val="10000"/>
                            </a:schemeClr>
                          </a:solidFill>
                          <a:effectLst/>
                          <a:latin typeface="+mn-lt"/>
                          <a:ea typeface="Lato Regular" panose="020F0502020204030203" pitchFamily="34" charset="0"/>
                          <a:cs typeface="Lato Regular" panose="020F0502020204030203" pitchFamily="34" charset="0"/>
                        </a:rPr>
                        <a:t>Consents Approved (Cr.)</a:t>
                      </a:r>
                      <a:endParaRPr lang="en-US" sz="1100" b="0" i="0" u="none" strike="noStrike">
                        <a:solidFill>
                          <a:schemeClr val="bg2">
                            <a:lumMod val="10000"/>
                          </a:schemeClr>
                        </a:solidFill>
                        <a:effectLst/>
                        <a:latin typeface="+mn-lt"/>
                        <a:ea typeface="Lato Regular" panose="020F0502020204030203" pitchFamily="34" charset="0"/>
                        <a:cs typeface="Lato Regular" panose="020F0502020204030203" pitchFamily="34" charset="0"/>
                      </a:endParaRPr>
                    </a:p>
                  </a:txBody>
                  <a:tcPr marL="108000" marR="6350" marT="6350" marB="0" anchor="ctr"/>
                </a:tc>
                <a:tc>
                  <a:txBody>
                    <a:bodyPr/>
                    <a:lstStyle/>
                    <a:p>
                      <a:pPr algn="ctr" fontAlgn="b">
                        <a:buNone/>
                      </a:pPr>
                      <a:r>
                        <a:rPr lang="en-US" sz="1100" b="0" i="0" u="none" strike="noStrike">
                          <a:solidFill>
                            <a:schemeClr val="bg2">
                              <a:lumMod val="10000"/>
                            </a:schemeClr>
                          </a:solidFill>
                          <a:effectLst/>
                          <a:latin typeface="+mn-lt"/>
                          <a:ea typeface="Lato Regular" panose="020F0502020204030203" pitchFamily="34" charset="0"/>
                          <a:cs typeface="Lato Regular" panose="020F0502020204030203" pitchFamily="34" charset="0"/>
                        </a:rPr>
                        <a:t>2.4</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mn-lt"/>
                          <a:ea typeface="Lato Regular" panose="020F0502020204030203" pitchFamily="34" charset="0"/>
                          <a:cs typeface="Lato Regular" panose="020F0502020204030203" pitchFamily="34" charset="0"/>
                        </a:rPr>
                        <a:t>1.8</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mn-lt"/>
                          <a:ea typeface="Lato Regular"/>
                          <a:cs typeface="Lato Regular"/>
                        </a:rPr>
                        <a:t>6.7</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mn-lt"/>
                          <a:ea typeface="Lato Regular"/>
                          <a:cs typeface="Lato Regular"/>
                        </a:rPr>
                        <a:t>0.93</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mn-lt"/>
                          <a:ea typeface="Lato Regular"/>
                          <a:cs typeface="Lato Regular"/>
                        </a:rPr>
                        <a:t>2.0</a:t>
                      </a:r>
                    </a:p>
                  </a:txBody>
                  <a:tcPr marL="6350" marR="6350" marT="6350" marB="0" anchor="ctr"/>
                </a:tc>
                <a:extLst>
                  <a:ext uri="{0D108BD9-81ED-4DB2-BD59-A6C34878D82A}">
                    <a16:rowId xmlns:a16="http://schemas.microsoft.com/office/drawing/2014/main" val="3179895044"/>
                  </a:ext>
                </a:extLst>
              </a:tr>
              <a:tr h="311033">
                <a:tc>
                  <a:txBody>
                    <a:bodyPr/>
                    <a:lstStyle/>
                    <a:p>
                      <a:pPr algn="l" fontAlgn="b">
                        <a:buNone/>
                      </a:pPr>
                      <a:r>
                        <a:rPr lang="en-US" sz="1100" b="0" u="none" strike="noStrike">
                          <a:solidFill>
                            <a:schemeClr val="bg2">
                              <a:lumMod val="10000"/>
                            </a:schemeClr>
                          </a:solidFill>
                          <a:effectLst/>
                          <a:latin typeface="+mn-lt"/>
                          <a:ea typeface="Lato Regular" panose="020F0502020204030203" pitchFamily="34" charset="0"/>
                          <a:cs typeface="Lato Regular" panose="020F0502020204030203" pitchFamily="34" charset="0"/>
                        </a:rPr>
                        <a:t>Success Rate</a:t>
                      </a:r>
                      <a:endParaRPr lang="en-US" sz="1100" b="0" i="0" u="none" strike="noStrike">
                        <a:solidFill>
                          <a:schemeClr val="bg2">
                            <a:lumMod val="10000"/>
                          </a:schemeClr>
                        </a:solidFill>
                        <a:effectLst/>
                        <a:latin typeface="+mn-lt"/>
                        <a:ea typeface="Lato Regular" panose="020F0502020204030203" pitchFamily="34" charset="0"/>
                        <a:cs typeface="Lato Regular" panose="020F0502020204030203" pitchFamily="34" charset="0"/>
                      </a:endParaRPr>
                    </a:p>
                  </a:txBody>
                  <a:tcPr marL="108000" marR="6350" marT="6350" marB="0" anchor="ctr"/>
                </a:tc>
                <a:tc>
                  <a:txBody>
                    <a:bodyPr/>
                    <a:lstStyle/>
                    <a:p>
                      <a:pPr algn="ctr" fontAlgn="b">
                        <a:buNone/>
                      </a:pPr>
                      <a:r>
                        <a:rPr lang="en-US" sz="1100" b="0" i="0" u="none" strike="noStrike">
                          <a:solidFill>
                            <a:schemeClr val="bg2">
                              <a:lumMod val="10000"/>
                            </a:schemeClr>
                          </a:solidFill>
                          <a:effectLst/>
                          <a:latin typeface="+mn-lt"/>
                          <a:ea typeface="Lato Regular" panose="020F0502020204030203" pitchFamily="34" charset="0"/>
                          <a:cs typeface="Lato Regular" panose="020F0502020204030203" pitchFamily="34" charset="0"/>
                        </a:rPr>
                        <a:t>45.5%</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mn-lt"/>
                          <a:ea typeface="Lato Regular" panose="020F0502020204030203" pitchFamily="34" charset="0"/>
                          <a:cs typeface="Lato Regular" panose="020F0502020204030203" pitchFamily="34" charset="0"/>
                        </a:rPr>
                        <a:t>34.0%</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mn-lt"/>
                          <a:ea typeface="Lato Regular"/>
                          <a:cs typeface="Lato Regular"/>
                        </a:rPr>
                        <a:t>37.5%</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mn-lt"/>
                          <a:ea typeface="Lato Regular"/>
                          <a:cs typeface="Lato Regular"/>
                        </a:rPr>
                        <a:t>37.3%</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mn-lt"/>
                          <a:ea typeface="Lato Regular"/>
                          <a:cs typeface="Lato Regular"/>
                        </a:rPr>
                        <a:t>42.1%</a:t>
                      </a:r>
                    </a:p>
                  </a:txBody>
                  <a:tcPr marL="6350" marR="6350" marT="6350" marB="0" anchor="ctr"/>
                </a:tc>
                <a:extLst>
                  <a:ext uri="{0D108BD9-81ED-4DB2-BD59-A6C34878D82A}">
                    <a16:rowId xmlns:a16="http://schemas.microsoft.com/office/drawing/2014/main" val="3498926890"/>
                  </a:ext>
                </a:extLst>
              </a:tr>
            </a:tbl>
          </a:graphicData>
        </a:graphic>
      </p:graphicFrame>
      <p:sp>
        <p:nvSpPr>
          <p:cNvPr id="13" name="TextBox 6">
            <a:extLst>
              <a:ext uri="{FF2B5EF4-FFF2-40B4-BE49-F238E27FC236}">
                <a16:creationId xmlns:a16="http://schemas.microsoft.com/office/drawing/2014/main" id="{221EF086-D5D3-7502-5DF5-4A2F0D8BDB01}"/>
              </a:ext>
            </a:extLst>
          </p:cNvPr>
          <p:cNvSpPr txBox="1"/>
          <p:nvPr/>
        </p:nvSpPr>
        <p:spPr>
          <a:xfrm>
            <a:off x="499141" y="4093453"/>
            <a:ext cx="4408262" cy="2800767"/>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gn="just">
              <a:spcAft>
                <a:spcPts val="600"/>
              </a:spcAft>
              <a:buFont typeface="Arial" panose="020B0604020202020204" pitchFamily="34" charset="0"/>
              <a:buChar char="•"/>
            </a:pPr>
            <a:r>
              <a:rPr lang="en-IN" sz="1200" err="1">
                <a:solidFill>
                  <a:schemeClr val="bg2">
                    <a:lumMod val="10000"/>
                  </a:schemeClr>
                </a:solidFill>
                <a:ea typeface="Calibri"/>
                <a:cs typeface="Calibri"/>
              </a:rPr>
              <a:t>Finvu</a:t>
            </a:r>
            <a:r>
              <a:rPr lang="en-IN" sz="1200">
                <a:solidFill>
                  <a:schemeClr val="bg2">
                    <a:lumMod val="10000"/>
                  </a:schemeClr>
                </a:solidFill>
                <a:ea typeface="Calibri"/>
                <a:cs typeface="Calibri"/>
              </a:rPr>
              <a:t> is an Account Aggregator — API-driven infrastructure for secure financial data sharing between institutions. Net revenue nearly doubled to INR 30.4 Cr in FY26. </a:t>
            </a:r>
            <a:endParaRPr lang="en-US">
              <a:solidFill>
                <a:schemeClr val="bg2">
                  <a:lumMod val="10000"/>
                </a:schemeClr>
              </a:solidFill>
            </a:endParaRPr>
          </a:p>
          <a:p>
            <a:pPr marL="171450" indent="-171450" algn="just">
              <a:spcAft>
                <a:spcPts val="600"/>
              </a:spcAft>
              <a:buFont typeface="Arial" panose="020B0604020202020204" pitchFamily="34" charset="0"/>
              <a:buChar char="•"/>
            </a:pPr>
            <a:r>
              <a:rPr lang="en-IN" sz="1200">
                <a:solidFill>
                  <a:schemeClr val="bg2">
                    <a:lumMod val="10000"/>
                  </a:schemeClr>
                </a:solidFill>
                <a:ea typeface="Calibri"/>
                <a:cs typeface="Calibri"/>
              </a:rPr>
              <a:t>FIPs grew to 100; FIUs to 452. Consent success rates improved to 37.5% (and to 42.1% in Q4) — highlighting enhancements in platform reliability, data availability and consent completion workflows. </a:t>
            </a:r>
          </a:p>
          <a:p>
            <a:pPr marL="171450" indent="-171450" algn="just">
              <a:spcAft>
                <a:spcPts val="600"/>
              </a:spcAft>
              <a:buFont typeface="Arial" panose="020B0604020202020204" pitchFamily="34" charset="0"/>
              <a:buChar char="•"/>
            </a:pPr>
            <a:r>
              <a:rPr lang="en-IN" sz="1200">
                <a:solidFill>
                  <a:schemeClr val="bg2">
                    <a:lumMod val="10000"/>
                  </a:schemeClr>
                </a:solidFill>
                <a:ea typeface="Calibri"/>
                <a:cs typeface="Calibri"/>
              </a:rPr>
              <a:t>The company projects revenue of approximately INR 60 Cr in FY27 across </a:t>
            </a:r>
            <a:r>
              <a:rPr lang="en-IN" sz="1200" err="1">
                <a:solidFill>
                  <a:schemeClr val="bg2">
                    <a:lumMod val="10000"/>
                  </a:schemeClr>
                </a:solidFill>
                <a:ea typeface="Calibri"/>
                <a:cs typeface="Calibri"/>
              </a:rPr>
              <a:t>Finfactor</a:t>
            </a:r>
            <a:r>
              <a:rPr lang="en-IN" sz="1200">
                <a:solidFill>
                  <a:schemeClr val="bg2">
                    <a:lumMod val="10000"/>
                  </a:schemeClr>
                </a:solidFill>
                <a:ea typeface="Calibri"/>
                <a:cs typeface="Calibri"/>
              </a:rPr>
              <a:t> and </a:t>
            </a:r>
            <a:r>
              <a:rPr lang="en-IN" sz="1200" err="1">
                <a:solidFill>
                  <a:schemeClr val="bg2">
                    <a:lumMod val="10000"/>
                  </a:schemeClr>
                </a:solidFill>
                <a:ea typeface="Calibri"/>
                <a:cs typeface="Calibri"/>
              </a:rPr>
              <a:t>Swiffy</a:t>
            </a:r>
            <a:r>
              <a:rPr lang="en-IN" sz="1200">
                <a:solidFill>
                  <a:schemeClr val="bg2">
                    <a:lumMod val="10000"/>
                  </a:schemeClr>
                </a:solidFill>
                <a:ea typeface="Calibri"/>
                <a:cs typeface="Calibri"/>
              </a:rPr>
              <a:t> Labs. Infrastructure businesses that win take a long time to win, and they spend money along the way. </a:t>
            </a:r>
          </a:p>
          <a:p>
            <a:pPr marL="171450" indent="-171450" algn="just">
              <a:spcAft>
                <a:spcPts val="600"/>
              </a:spcAft>
              <a:buFont typeface="Arial" panose="020B0604020202020204" pitchFamily="34" charset="0"/>
              <a:buChar char="•"/>
            </a:pPr>
            <a:endParaRPr lang="en-IN" sz="1200">
              <a:solidFill>
                <a:schemeClr val="bg2">
                  <a:lumMod val="10000"/>
                </a:schemeClr>
              </a:solidFill>
              <a:ea typeface="Calibri"/>
              <a:cs typeface="Calibri"/>
            </a:endParaRPr>
          </a:p>
          <a:p>
            <a:pPr marL="171450" indent="-171450" algn="just">
              <a:spcAft>
                <a:spcPts val="600"/>
              </a:spcAft>
              <a:buFont typeface="Arial" panose="020B0604020202020204" pitchFamily="34" charset="0"/>
              <a:buChar char="•"/>
            </a:pPr>
            <a:endParaRPr lang="en-IN" sz="1200">
              <a:solidFill>
                <a:schemeClr val="bg2">
                  <a:lumMod val="10000"/>
                </a:schemeClr>
              </a:solidFill>
              <a:ea typeface="Lato Regular"/>
              <a:cs typeface="Lato Regular"/>
            </a:endParaRPr>
          </a:p>
        </p:txBody>
      </p:sp>
    </p:spTree>
    <p:extLst>
      <p:ext uri="{BB962C8B-B14F-4D97-AF65-F5344CB8AC3E}">
        <p14:creationId xmlns:p14="http://schemas.microsoft.com/office/powerpoint/2010/main" val="2517436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AD94D-A696-65C3-C3F8-8B336B2643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4DAF8B-5DE6-2376-EA8F-12E84DFCEE60}"/>
              </a:ext>
            </a:extLst>
          </p:cNvPr>
          <p:cNvSpPr>
            <a:spLocks noGrp="1"/>
          </p:cNvSpPr>
          <p:nvPr>
            <p:ph type="title"/>
          </p:nvPr>
        </p:nvSpPr>
        <p:spPr>
          <a:xfrm>
            <a:off x="371556" y="536026"/>
            <a:ext cx="7337740" cy="297412"/>
          </a:xfrm>
        </p:spPr>
        <p:txBody>
          <a:bodyPr/>
          <a:lstStyle/>
          <a:p>
            <a:r>
              <a:rPr lang="en-US"/>
              <a:t>Extrapolate Advisors Private Limited - </a:t>
            </a:r>
            <a:r>
              <a:rPr lang="en-US" err="1"/>
              <a:t>Datasutram</a:t>
            </a:r>
            <a:endParaRPr lang="en-US"/>
          </a:p>
        </p:txBody>
      </p:sp>
      <p:sp>
        <p:nvSpPr>
          <p:cNvPr id="3" name="TextBox 2">
            <a:extLst>
              <a:ext uri="{FF2B5EF4-FFF2-40B4-BE49-F238E27FC236}">
                <a16:creationId xmlns:a16="http://schemas.microsoft.com/office/drawing/2014/main" id="{71673F4D-0612-C8FB-71C5-5FCE2B8940F2}"/>
              </a:ext>
            </a:extLst>
          </p:cNvPr>
          <p:cNvSpPr txBox="1"/>
          <p:nvPr/>
        </p:nvSpPr>
        <p:spPr>
          <a:xfrm>
            <a:off x="499141" y="1387387"/>
            <a:ext cx="3450246" cy="320216"/>
          </a:xfrm>
          <a:prstGeom prst="rect">
            <a:avLst/>
          </a:prstGeom>
          <a:noFill/>
        </p:spPr>
        <p:txBody>
          <a:bodyPr wrap="square" rtlCol="0">
            <a:spAutoFit/>
          </a:bodyPr>
          <a:lstStyle/>
          <a:p>
            <a:r>
              <a:rPr lang="en-IN" sz="1481" b="1">
                <a:solidFill>
                  <a:schemeClr val="tx2"/>
                </a:solidFill>
                <a:ea typeface="Lato Regular" panose="020F0502020204030203" pitchFamily="34" charset="0"/>
                <a:cs typeface="Lato Regular" panose="020F0502020204030203" pitchFamily="34" charset="0"/>
              </a:rPr>
              <a:t>Business Description</a:t>
            </a:r>
          </a:p>
        </p:txBody>
      </p:sp>
      <p:sp>
        <p:nvSpPr>
          <p:cNvPr id="4" name="TextBox 3">
            <a:extLst>
              <a:ext uri="{FF2B5EF4-FFF2-40B4-BE49-F238E27FC236}">
                <a16:creationId xmlns:a16="http://schemas.microsoft.com/office/drawing/2014/main" id="{65049BBE-4A84-BAF0-4221-9B94952411BC}"/>
              </a:ext>
            </a:extLst>
          </p:cNvPr>
          <p:cNvSpPr txBox="1"/>
          <p:nvPr/>
        </p:nvSpPr>
        <p:spPr>
          <a:xfrm>
            <a:off x="499141" y="3758945"/>
            <a:ext cx="3450246" cy="320216"/>
          </a:xfrm>
          <a:prstGeom prst="rect">
            <a:avLst/>
          </a:prstGeom>
          <a:noFill/>
        </p:spPr>
        <p:txBody>
          <a:bodyPr wrap="square" rtlCol="0">
            <a:spAutoFit/>
          </a:bodyPr>
          <a:lstStyle/>
          <a:p>
            <a:r>
              <a:rPr lang="en-IN" sz="1481" b="1">
                <a:solidFill>
                  <a:schemeClr val="tx2"/>
                </a:solidFill>
                <a:ea typeface="Lato Regular" panose="020F0502020204030203" pitchFamily="34" charset="0"/>
                <a:cs typeface="Lato Regular" panose="020F0502020204030203" pitchFamily="34" charset="0"/>
              </a:rPr>
              <a:t>Performance Commentary</a:t>
            </a:r>
          </a:p>
        </p:txBody>
      </p:sp>
      <p:sp>
        <p:nvSpPr>
          <p:cNvPr id="5" name="TextBox 4">
            <a:extLst>
              <a:ext uri="{FF2B5EF4-FFF2-40B4-BE49-F238E27FC236}">
                <a16:creationId xmlns:a16="http://schemas.microsoft.com/office/drawing/2014/main" id="{A0DA1D0D-2E1F-E0C4-664E-17815A8A726A}"/>
              </a:ext>
            </a:extLst>
          </p:cNvPr>
          <p:cNvSpPr txBox="1"/>
          <p:nvPr/>
        </p:nvSpPr>
        <p:spPr>
          <a:xfrm>
            <a:off x="5539984" y="3805112"/>
            <a:ext cx="3450246" cy="227883"/>
          </a:xfrm>
          <a:prstGeom prst="rect">
            <a:avLst/>
          </a:prstGeom>
          <a:noFill/>
        </p:spPr>
        <p:txBody>
          <a:bodyPr wrap="square" lIns="0" tIns="0" rIns="0" bIns="0" rtlCol="0">
            <a:spAutoFit/>
          </a:bodyPr>
          <a:lstStyle/>
          <a:p>
            <a:r>
              <a:rPr lang="en-IN" sz="1481" b="1">
                <a:solidFill>
                  <a:schemeClr val="tx2"/>
                </a:solidFill>
                <a:ea typeface="Lato Regular" panose="020F0502020204030203" pitchFamily="34" charset="0"/>
                <a:cs typeface="Lato Regular" panose="020F0502020204030203" pitchFamily="34" charset="0"/>
              </a:rPr>
              <a:t>Key Financial Highlights</a:t>
            </a:r>
          </a:p>
        </p:txBody>
      </p:sp>
      <p:sp>
        <p:nvSpPr>
          <p:cNvPr id="6" name="TextBox 5">
            <a:extLst>
              <a:ext uri="{FF2B5EF4-FFF2-40B4-BE49-F238E27FC236}">
                <a16:creationId xmlns:a16="http://schemas.microsoft.com/office/drawing/2014/main" id="{4BE4F2A0-274F-457D-DFE7-4526ABB925AC}"/>
              </a:ext>
            </a:extLst>
          </p:cNvPr>
          <p:cNvSpPr txBox="1"/>
          <p:nvPr/>
        </p:nvSpPr>
        <p:spPr>
          <a:xfrm>
            <a:off x="5539984" y="1433554"/>
            <a:ext cx="3607078" cy="227883"/>
          </a:xfrm>
          <a:prstGeom prst="rect">
            <a:avLst/>
          </a:prstGeom>
          <a:noFill/>
        </p:spPr>
        <p:txBody>
          <a:bodyPr wrap="square" lIns="0" tIns="0" rIns="0" bIns="0" rtlCol="0">
            <a:spAutoFit/>
          </a:bodyPr>
          <a:lstStyle/>
          <a:p>
            <a:r>
              <a:rPr lang="en-IN" sz="1481" b="1">
                <a:solidFill>
                  <a:schemeClr val="tx2"/>
                </a:solidFill>
                <a:ea typeface="Lato Regular" panose="020F0502020204030203" pitchFamily="34" charset="0"/>
                <a:cs typeface="Lato Regular" panose="020F0502020204030203" pitchFamily="34" charset="0"/>
              </a:rPr>
              <a:t>Key Performance Indicators</a:t>
            </a:r>
          </a:p>
        </p:txBody>
      </p:sp>
      <p:sp>
        <p:nvSpPr>
          <p:cNvPr id="7" name="Rectangle 6">
            <a:extLst>
              <a:ext uri="{FF2B5EF4-FFF2-40B4-BE49-F238E27FC236}">
                <a16:creationId xmlns:a16="http://schemas.microsoft.com/office/drawing/2014/main" id="{B35C4BB9-DCD2-1AAD-5169-DC69C927BAD9}"/>
              </a:ext>
            </a:extLst>
          </p:cNvPr>
          <p:cNvSpPr/>
          <p:nvPr/>
        </p:nvSpPr>
        <p:spPr>
          <a:xfrm>
            <a:off x="562116" y="1815136"/>
            <a:ext cx="4195514" cy="1661993"/>
          </a:xfrm>
          <a:prstGeom prst="rect">
            <a:avLst/>
          </a:prstGeom>
        </p:spPr>
        <p:txBody>
          <a:bodyPr wrap="square" lIns="0" tIns="0" rIns="0" bIns="0">
            <a:spAutoFit/>
          </a:bodyPr>
          <a:lstStyle/>
          <a:p>
            <a:pPr marL="171450" indent="-171450" algn="just">
              <a:buFont typeface="Arial" panose="020B0604020202020204" pitchFamily="34" charset="0"/>
              <a:buChar char="•"/>
            </a:pPr>
            <a:r>
              <a:rPr lang="en-US" sz="1200">
                <a:solidFill>
                  <a:schemeClr val="bg2">
                    <a:lumMod val="10000"/>
                  </a:schemeClr>
                </a:solidFill>
                <a:ea typeface="Calibri"/>
                <a:cs typeface="Calibri"/>
                <a:sym typeface="Calibri"/>
              </a:rPr>
              <a:t>It is an AI and SaaS enabled location data platform. </a:t>
            </a:r>
          </a:p>
          <a:p>
            <a:pPr marL="171450" indent="-171450" algn="just">
              <a:buFont typeface="Arial" panose="020B0604020202020204" pitchFamily="34" charset="0"/>
              <a:buChar char="•"/>
            </a:pPr>
            <a:endParaRPr lang="en-US" sz="1200">
              <a:solidFill>
                <a:schemeClr val="bg2">
                  <a:lumMod val="10000"/>
                </a:schemeClr>
              </a:solidFill>
              <a:ea typeface="Calibri"/>
              <a:cs typeface="Calibri"/>
              <a:sym typeface="Calibri"/>
            </a:endParaRPr>
          </a:p>
          <a:p>
            <a:pPr marL="171450" indent="-171450" algn="just">
              <a:buFont typeface="Arial" panose="020B0604020202020204" pitchFamily="34" charset="0"/>
              <a:buChar char="•"/>
            </a:pPr>
            <a:r>
              <a:rPr lang="en-US" sz="1200">
                <a:solidFill>
                  <a:schemeClr val="bg2">
                    <a:lumMod val="10000"/>
                  </a:schemeClr>
                </a:solidFill>
                <a:ea typeface="Calibri"/>
                <a:cs typeface="Calibri"/>
                <a:sym typeface="Calibri"/>
              </a:rPr>
              <a:t>It uses AI to process unstructured data from satellites and multiple public and private sources. This helps businesses to improve their operations using geo targeting methodologies </a:t>
            </a:r>
          </a:p>
          <a:p>
            <a:pPr marL="171450" indent="-171450" algn="just">
              <a:buFont typeface="Arial" panose="020B0604020202020204" pitchFamily="34" charset="0"/>
              <a:buChar char="•"/>
            </a:pPr>
            <a:endParaRPr lang="en-US" sz="1200">
              <a:solidFill>
                <a:schemeClr val="bg2">
                  <a:lumMod val="10000"/>
                </a:schemeClr>
              </a:solidFill>
              <a:ea typeface="Calibri"/>
              <a:cs typeface="Calibri"/>
              <a:sym typeface="Calibri"/>
            </a:endParaRPr>
          </a:p>
          <a:p>
            <a:pPr marL="171450" indent="-171450" algn="just">
              <a:buFont typeface="Arial" panose="020B0604020202020204" pitchFamily="34" charset="0"/>
              <a:buChar char="•"/>
            </a:pPr>
            <a:r>
              <a:rPr lang="en-US" sz="1200">
                <a:solidFill>
                  <a:schemeClr val="bg2">
                    <a:lumMod val="10000"/>
                  </a:schemeClr>
                </a:solidFill>
                <a:ea typeface="Calibri"/>
                <a:cs typeface="Calibri"/>
                <a:sym typeface="Calibri"/>
              </a:rPr>
              <a:t>They derive actionable insights for their customers, and help them leverage location-based insight from over 200+ data Sources.</a:t>
            </a:r>
          </a:p>
        </p:txBody>
      </p:sp>
      <p:sp>
        <p:nvSpPr>
          <p:cNvPr id="11" name="TextBox 10">
            <a:extLst>
              <a:ext uri="{FF2B5EF4-FFF2-40B4-BE49-F238E27FC236}">
                <a16:creationId xmlns:a16="http://schemas.microsoft.com/office/drawing/2014/main" id="{317F4C15-1EEC-CE41-F8BA-FDD7CD772C60}"/>
              </a:ext>
            </a:extLst>
          </p:cNvPr>
          <p:cNvSpPr txBox="1"/>
          <p:nvPr/>
        </p:nvSpPr>
        <p:spPr>
          <a:xfrm>
            <a:off x="499141" y="4144253"/>
            <a:ext cx="4408262" cy="1908215"/>
          </a:xfrm>
          <a:prstGeom prst="rect">
            <a:avLst/>
          </a:prstGeom>
          <a:noFill/>
        </p:spPr>
        <p:txBody>
          <a:bodyPr wrap="square" lIns="91440" tIns="45720" rIns="91440" bIns="45720" rtlCol="0" anchor="t">
            <a:spAutoFit/>
          </a:bodyPr>
          <a:lstStyle/>
          <a:p>
            <a:pPr marL="171450" indent="-171450" algn="just">
              <a:spcAft>
                <a:spcPts val="600"/>
              </a:spcAft>
              <a:buFont typeface="Arial" panose="020B0604020202020204" pitchFamily="34" charset="0"/>
              <a:buChar char="•"/>
            </a:pPr>
            <a:r>
              <a:rPr lang="en-GB" sz="1200">
                <a:solidFill>
                  <a:srgbClr val="242424"/>
                </a:solidFill>
                <a:highlight>
                  <a:srgbClr val="FFFFFF"/>
                </a:highlight>
                <a:ea typeface="Lato Regular"/>
                <a:cs typeface="Lato Regular"/>
              </a:rPr>
              <a:t>Location intelligence with </a:t>
            </a:r>
            <a:r>
              <a:rPr lang="en-GB" sz="1200" b="1">
                <a:solidFill>
                  <a:srgbClr val="242424"/>
                </a:solidFill>
                <a:highlight>
                  <a:srgbClr val="FFFFFF"/>
                </a:highlight>
                <a:ea typeface="Lato Regular"/>
                <a:cs typeface="Lato Regular"/>
              </a:rPr>
              <a:t>~2x revenue growth in FY26 (₹30.15 Cr)</a:t>
            </a:r>
            <a:r>
              <a:rPr lang="en-GB" sz="1200">
                <a:solidFill>
                  <a:srgbClr val="242424"/>
                </a:solidFill>
                <a:highlight>
                  <a:srgbClr val="FFFFFF"/>
                </a:highlight>
                <a:ea typeface="Lato Regular"/>
                <a:cs typeface="Lato Regular"/>
              </a:rPr>
              <a:t>, but EBITDA still negative due to data procurement costs and product COGS. </a:t>
            </a:r>
            <a:endParaRPr lang="en-US">
              <a:solidFill>
                <a:srgbClr val="242424"/>
              </a:solidFill>
              <a:highlight>
                <a:srgbClr val="FFFFFF"/>
              </a:highlight>
              <a:ea typeface="Lato Regular"/>
              <a:cs typeface="Lato Regular"/>
            </a:endParaRPr>
          </a:p>
          <a:p>
            <a:pPr marL="171450" indent="-171450" algn="just">
              <a:spcAft>
                <a:spcPts val="600"/>
              </a:spcAft>
              <a:buFont typeface="Arial" panose="020B0604020202020204" pitchFamily="34" charset="0"/>
              <a:buChar char="•"/>
            </a:pPr>
            <a:r>
              <a:rPr lang="en-GB" sz="1200">
                <a:solidFill>
                  <a:srgbClr val="242424"/>
                </a:solidFill>
                <a:highlight>
                  <a:srgbClr val="FFFFFF"/>
                </a:highlight>
                <a:ea typeface="Lato Regular"/>
                <a:cs typeface="Lato Regular"/>
              </a:rPr>
              <a:t>The encouraging signal is the </a:t>
            </a:r>
            <a:r>
              <a:rPr lang="en-GB" sz="1200" b="1">
                <a:solidFill>
                  <a:srgbClr val="242424"/>
                </a:solidFill>
                <a:highlight>
                  <a:srgbClr val="FFFFFF"/>
                </a:highlight>
                <a:ea typeface="Lato Regular"/>
                <a:cs typeface="Lato Regular"/>
              </a:rPr>
              <a:t>API-mode revenue expanding to ~45% of mix</a:t>
            </a:r>
            <a:r>
              <a:rPr lang="en-GB" sz="1200">
                <a:solidFill>
                  <a:srgbClr val="242424"/>
                </a:solidFill>
                <a:highlight>
                  <a:srgbClr val="FFFFFF"/>
                </a:highlight>
                <a:ea typeface="Lato Regular"/>
                <a:cs typeface="Lato Regular"/>
              </a:rPr>
              <a:t> in Q4FY26 from 35% — the highest-quality revenue in this business. </a:t>
            </a:r>
            <a:endParaRPr lang="en-US">
              <a:solidFill>
                <a:srgbClr val="242424"/>
              </a:solidFill>
              <a:highlight>
                <a:srgbClr val="FFFFFF"/>
              </a:highlight>
              <a:ea typeface="Lato Regular"/>
              <a:cs typeface="Lato Regular"/>
            </a:endParaRPr>
          </a:p>
          <a:p>
            <a:pPr marL="171450" indent="-171450" algn="just">
              <a:spcAft>
                <a:spcPts val="600"/>
              </a:spcAft>
              <a:buFont typeface="Arial" panose="020B0604020202020204" pitchFamily="34" charset="0"/>
              <a:buChar char="•"/>
            </a:pPr>
            <a:r>
              <a:rPr lang="en-GB" sz="1200">
                <a:solidFill>
                  <a:srgbClr val="242424"/>
                </a:solidFill>
                <a:highlight>
                  <a:srgbClr val="FFFFFF"/>
                </a:highlight>
                <a:ea typeface="Lato Regular"/>
                <a:cs typeface="Lato Regular"/>
              </a:rPr>
              <a:t>MRR reached </a:t>
            </a:r>
            <a:r>
              <a:rPr lang="en-GB" sz="1200" b="1">
                <a:solidFill>
                  <a:srgbClr val="242424"/>
                </a:solidFill>
                <a:highlight>
                  <a:srgbClr val="FFFFFF"/>
                </a:highlight>
                <a:ea typeface="Lato Regular"/>
                <a:cs typeface="Lato Regular"/>
              </a:rPr>
              <a:t>₹3.06 Cr in March '26</a:t>
            </a:r>
            <a:r>
              <a:rPr lang="en-GB" sz="1200">
                <a:solidFill>
                  <a:srgbClr val="242424"/>
                </a:solidFill>
                <a:highlight>
                  <a:srgbClr val="FFFFFF"/>
                </a:highlight>
                <a:ea typeface="Lato Regular"/>
                <a:cs typeface="Lato Regular"/>
              </a:rPr>
              <a:t>. The thesis here is patience: API revenue compounds in a way batch revenue does not.</a:t>
            </a:r>
            <a:endParaRPr lang="en-US">
              <a:solidFill>
                <a:srgbClr val="242424"/>
              </a:solidFill>
              <a:highlight>
                <a:srgbClr val="FFFFFF"/>
              </a:highlight>
              <a:ea typeface="Lato Regular"/>
              <a:cs typeface="Lato Regular"/>
            </a:endParaRPr>
          </a:p>
        </p:txBody>
      </p:sp>
      <p:cxnSp>
        <p:nvCxnSpPr>
          <p:cNvPr id="21" name="Straight Connector 20">
            <a:extLst>
              <a:ext uri="{FF2B5EF4-FFF2-40B4-BE49-F238E27FC236}">
                <a16:creationId xmlns:a16="http://schemas.microsoft.com/office/drawing/2014/main" id="{DADB4C34-5D51-716F-CBF3-16588745EBA1}"/>
              </a:ext>
            </a:extLst>
          </p:cNvPr>
          <p:cNvCxnSpPr>
            <a:cxnSpLocks/>
          </p:cNvCxnSpPr>
          <p:nvPr/>
        </p:nvCxnSpPr>
        <p:spPr>
          <a:xfrm>
            <a:off x="6704925" y="536026"/>
            <a:ext cx="0" cy="320217"/>
          </a:xfrm>
          <a:prstGeom prst="line">
            <a:avLst/>
          </a:prstGeom>
          <a:ln/>
        </p:spPr>
        <p:style>
          <a:lnRef idx="1">
            <a:schemeClr val="accent1"/>
          </a:lnRef>
          <a:fillRef idx="0">
            <a:schemeClr val="accent1"/>
          </a:fillRef>
          <a:effectRef idx="0">
            <a:schemeClr val="accent1"/>
          </a:effectRef>
          <a:fontRef idx="minor">
            <a:schemeClr val="tx1"/>
          </a:fontRef>
        </p:style>
      </p:cxnSp>
      <p:pic>
        <p:nvPicPr>
          <p:cNvPr id="8" name="Picture 2" descr="DataSutram Unveils its Plug &amp; Play Location Intelligence Platform, For  swift data-driven decisions - NCNONLINE">
            <a:extLst>
              <a:ext uri="{FF2B5EF4-FFF2-40B4-BE49-F238E27FC236}">
                <a16:creationId xmlns:a16="http://schemas.microsoft.com/office/drawing/2014/main" id="{9B6E05AE-8CD2-7482-F062-53A352776817}"/>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6923484" y="453127"/>
            <a:ext cx="684955" cy="32021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5" name="Table 14">
            <a:extLst>
              <a:ext uri="{FF2B5EF4-FFF2-40B4-BE49-F238E27FC236}">
                <a16:creationId xmlns:a16="http://schemas.microsoft.com/office/drawing/2014/main" id="{5C13BCC1-A524-4EF2-F6E6-BCB5C95B59B1}"/>
              </a:ext>
            </a:extLst>
          </p:cNvPr>
          <p:cNvGraphicFramePr>
            <a:graphicFrameLocks noGrp="1"/>
          </p:cNvGraphicFramePr>
          <p:nvPr>
            <p:extLst>
              <p:ext uri="{D42A27DB-BD31-4B8C-83A1-F6EECF244321}">
                <p14:modId xmlns:p14="http://schemas.microsoft.com/office/powerpoint/2010/main" val="669073319"/>
              </p:ext>
            </p:extLst>
          </p:nvPr>
        </p:nvGraphicFramePr>
        <p:xfrm>
          <a:off x="5539984" y="1815207"/>
          <a:ext cx="5765845" cy="1728932"/>
        </p:xfrm>
        <a:graphic>
          <a:graphicData uri="http://schemas.openxmlformats.org/drawingml/2006/table">
            <a:tbl>
              <a:tblPr firstRow="1" bandRow="1">
                <a:tableStyleId>{69012ECD-51FC-41F1-AA8D-1B2483CD663E}</a:tableStyleId>
              </a:tblPr>
              <a:tblGrid>
                <a:gridCol w="1886155">
                  <a:extLst>
                    <a:ext uri="{9D8B030D-6E8A-4147-A177-3AD203B41FA5}">
                      <a16:colId xmlns:a16="http://schemas.microsoft.com/office/drawing/2014/main" val="3001066899"/>
                    </a:ext>
                  </a:extLst>
                </a:gridCol>
                <a:gridCol w="775938">
                  <a:extLst>
                    <a:ext uri="{9D8B030D-6E8A-4147-A177-3AD203B41FA5}">
                      <a16:colId xmlns:a16="http://schemas.microsoft.com/office/drawing/2014/main" val="700748351"/>
                    </a:ext>
                  </a:extLst>
                </a:gridCol>
                <a:gridCol w="775938">
                  <a:extLst>
                    <a:ext uri="{9D8B030D-6E8A-4147-A177-3AD203B41FA5}">
                      <a16:colId xmlns:a16="http://schemas.microsoft.com/office/drawing/2014/main" val="3274968397"/>
                    </a:ext>
                  </a:extLst>
                </a:gridCol>
                <a:gridCol w="775938">
                  <a:extLst>
                    <a:ext uri="{9D8B030D-6E8A-4147-A177-3AD203B41FA5}">
                      <a16:colId xmlns:a16="http://schemas.microsoft.com/office/drawing/2014/main" val="3607597589"/>
                    </a:ext>
                  </a:extLst>
                </a:gridCol>
                <a:gridCol w="775938">
                  <a:extLst>
                    <a:ext uri="{9D8B030D-6E8A-4147-A177-3AD203B41FA5}">
                      <a16:colId xmlns:a16="http://schemas.microsoft.com/office/drawing/2014/main" val="746035582"/>
                    </a:ext>
                  </a:extLst>
                </a:gridCol>
                <a:gridCol w="775938">
                  <a:extLst>
                    <a:ext uri="{9D8B030D-6E8A-4147-A177-3AD203B41FA5}">
                      <a16:colId xmlns:a16="http://schemas.microsoft.com/office/drawing/2014/main" val="230250461"/>
                    </a:ext>
                  </a:extLst>
                </a:gridCol>
              </a:tblGrid>
              <a:tr h="262575">
                <a:tc>
                  <a:txBody>
                    <a:bodyPr/>
                    <a:lstStyle/>
                    <a:p>
                      <a:pPr algn="l" fontAlgn="b">
                        <a:buNone/>
                      </a:pPr>
                      <a:r>
                        <a:rPr lang="en-US" sz="1050" b="1" i="0" u="none" strike="noStrike">
                          <a:solidFill>
                            <a:schemeClr val="bg1"/>
                          </a:solidFill>
                          <a:effectLst/>
                          <a:latin typeface="+mn-lt"/>
                          <a:ea typeface="Lato Regular" panose="020F0502020204030203" pitchFamily="34" charset="0"/>
                          <a:cs typeface="Lato Regular" panose="020F0502020204030203" pitchFamily="34" charset="0"/>
                        </a:rPr>
                        <a:t>KPIs</a:t>
                      </a:r>
                    </a:p>
                  </a:txBody>
                  <a:tcPr marL="144000" marR="6350" marT="6350" marB="0" anchor="ctr"/>
                </a:tc>
                <a:tc>
                  <a:txBody>
                    <a:bodyPr/>
                    <a:lstStyle/>
                    <a:p>
                      <a:pPr algn="ctr" rtl="0" fontAlgn="base"/>
                      <a:r>
                        <a:rPr lang="en-US" sz="1050" b="1" i="0">
                          <a:solidFill>
                            <a:srgbClr val="FFFFFF"/>
                          </a:solidFill>
                          <a:effectLst/>
                        </a:rPr>
                        <a:t>FY24</a:t>
                      </a:r>
                    </a:p>
                  </a:txBody>
                  <a:tcPr anchor="ctr"/>
                </a:tc>
                <a:tc>
                  <a:txBody>
                    <a:bodyPr/>
                    <a:lstStyle/>
                    <a:p>
                      <a:pPr algn="ctr" rtl="0" fontAlgn="base"/>
                      <a:r>
                        <a:rPr lang="en-US" sz="1050" b="1" i="0" u="none" strike="noStrike">
                          <a:solidFill>
                            <a:srgbClr val="FFFFFF"/>
                          </a:solidFill>
                          <a:effectLst/>
                          <a:latin typeface="Aptos" panose="02110004020202020204"/>
                        </a:rPr>
                        <a:t>FY25</a:t>
                      </a:r>
                      <a:r>
                        <a:rPr lang="en-US" sz="1050" b="1" i="0">
                          <a:solidFill>
                            <a:srgbClr val="FFFFFF"/>
                          </a:solidFill>
                          <a:effectLst/>
                          <a:latin typeface="Aptos" panose="02110004020202020204"/>
                        </a:rPr>
                        <a:t>​</a:t>
                      </a:r>
                      <a:endParaRPr lang="en-US" b="1" i="0">
                        <a:solidFill>
                          <a:srgbClr val="FFFFFF"/>
                        </a:solidFill>
                        <a:effectLst/>
                      </a:endParaRPr>
                    </a:p>
                  </a:txBody>
                  <a:tcPr anchor="ctr"/>
                </a:tc>
                <a:tc>
                  <a:txBody>
                    <a:bodyPr/>
                    <a:lstStyle/>
                    <a:p>
                      <a:pPr algn="ctr" rtl="0" fontAlgn="base"/>
                      <a:r>
                        <a:rPr lang="en-US" sz="1100" b="1" i="0" u="none" strike="noStrike">
                          <a:solidFill>
                            <a:srgbClr val="FFFFFF"/>
                          </a:solidFill>
                          <a:effectLst/>
                          <a:latin typeface="Aptos" panose="02110004020202020204"/>
                        </a:rPr>
                        <a:t>FY26</a:t>
                      </a:r>
                      <a:r>
                        <a:rPr lang="en-US" sz="1100" b="1" i="0">
                          <a:solidFill>
                            <a:srgbClr val="FFFFFF"/>
                          </a:solidFill>
                          <a:effectLst/>
                          <a:latin typeface="Aptos" panose="02110004020202020204"/>
                        </a:rPr>
                        <a:t>​</a:t>
                      </a:r>
                      <a:endParaRPr lang="en-US" b="1" i="0">
                        <a:solidFill>
                          <a:srgbClr val="FFFFFF"/>
                        </a:solidFill>
                        <a:effectLst/>
                      </a:endParaRPr>
                    </a:p>
                  </a:txBody>
                  <a:tcPr anchor="ctr"/>
                </a:tc>
                <a:tc>
                  <a:txBody>
                    <a:bodyPr/>
                    <a:lstStyle/>
                    <a:p>
                      <a:pPr algn="ctr" rtl="0" fontAlgn="base"/>
                      <a:r>
                        <a:rPr lang="en-IN" sz="1050" b="1" i="0" u="none" strike="noStrike">
                          <a:solidFill>
                            <a:srgbClr val="FFFFFF"/>
                          </a:solidFill>
                          <a:effectLst/>
                          <a:latin typeface="Aptos" panose="02110004020202020204"/>
                        </a:rPr>
                        <a:t>Q4FY25</a:t>
                      </a:r>
                      <a:r>
                        <a:rPr lang="en-IN" sz="1050" b="1" i="0">
                          <a:solidFill>
                            <a:srgbClr val="FFFFFF"/>
                          </a:solidFill>
                          <a:effectLst/>
                          <a:latin typeface="Aptos" panose="02110004020202020204"/>
                        </a:rPr>
                        <a:t>​</a:t>
                      </a:r>
                      <a:endParaRPr lang="en-IN" b="1" i="0">
                        <a:solidFill>
                          <a:srgbClr val="FFFFFF"/>
                        </a:solidFill>
                        <a:effectLst/>
                      </a:endParaRPr>
                    </a:p>
                  </a:txBody>
                  <a:tcPr anchor="ctr"/>
                </a:tc>
                <a:tc>
                  <a:txBody>
                    <a:bodyPr/>
                    <a:lstStyle/>
                    <a:p>
                      <a:pPr algn="ctr" rtl="0" fontAlgn="base"/>
                      <a:r>
                        <a:rPr lang="en-IN" sz="1050" b="1" i="0" u="none" strike="noStrike">
                          <a:solidFill>
                            <a:srgbClr val="FFFFFF"/>
                          </a:solidFill>
                          <a:effectLst/>
                          <a:latin typeface="Aptos" panose="02110004020202020204"/>
                        </a:rPr>
                        <a:t>Q4FY26</a:t>
                      </a:r>
                      <a:r>
                        <a:rPr lang="en-IN" sz="1050" b="1" i="0">
                          <a:solidFill>
                            <a:srgbClr val="FFFFFF"/>
                          </a:solidFill>
                          <a:effectLst/>
                          <a:latin typeface="Aptos" panose="02110004020202020204"/>
                        </a:rPr>
                        <a:t>​</a:t>
                      </a:r>
                      <a:endParaRPr lang="en-IN" b="1" i="0">
                        <a:solidFill>
                          <a:srgbClr val="FFFFFF"/>
                        </a:solidFill>
                        <a:effectLst/>
                      </a:endParaRPr>
                    </a:p>
                  </a:txBody>
                  <a:tcPr anchor="ctr"/>
                </a:tc>
                <a:extLst>
                  <a:ext uri="{0D108BD9-81ED-4DB2-BD59-A6C34878D82A}">
                    <a16:rowId xmlns:a16="http://schemas.microsoft.com/office/drawing/2014/main" val="3735237806"/>
                  </a:ext>
                </a:extLst>
              </a:tr>
              <a:tr h="262575">
                <a:tc>
                  <a:txBody>
                    <a:bodyPr/>
                    <a:lstStyle/>
                    <a:p>
                      <a:pPr algn="l" fontAlgn="t">
                        <a:buNone/>
                      </a:pPr>
                      <a:r>
                        <a:rPr lang="en-IN" sz="1050" b="0" i="0" u="none" strike="noStrike">
                          <a:solidFill>
                            <a:srgbClr val="000000"/>
                          </a:solidFill>
                          <a:effectLst/>
                          <a:latin typeface="+mn-lt"/>
                          <a:ea typeface="Lato Regular" panose="020F0502020204030203" pitchFamily="34" charset="0"/>
                          <a:cs typeface="Lato Regular" panose="020F0502020204030203" pitchFamily="34" charset="0"/>
                        </a:rPr>
                        <a:t>DS Authenticate Revenue %</a:t>
                      </a:r>
                    </a:p>
                  </a:txBody>
                  <a:tcPr marL="144000" marR="0" marT="0" marB="0" anchor="ctr"/>
                </a:tc>
                <a:tc>
                  <a:txBody>
                    <a:bodyPr/>
                    <a:lstStyle/>
                    <a:p>
                      <a:pPr algn="ctr" fontAlgn="b"/>
                      <a:r>
                        <a:rPr lang="en-IN" sz="1050" b="0" i="0" u="none" strike="noStrike" kern="1200">
                          <a:solidFill>
                            <a:srgbClr val="000000"/>
                          </a:solidFill>
                          <a:effectLst/>
                          <a:latin typeface="+mn-lt"/>
                          <a:ea typeface="Lato Regular" panose="020F0502020204030203" pitchFamily="34" charset="0"/>
                          <a:cs typeface="Lato Regular" panose="020F0502020204030203" pitchFamily="34" charset="0"/>
                        </a:rPr>
                        <a:t>29%</a:t>
                      </a:r>
                    </a:p>
                  </a:txBody>
                  <a:tcPr marL="9525" marR="9525" marT="9525" marB="0" anchor="ctr"/>
                </a:tc>
                <a:tc>
                  <a:txBody>
                    <a:bodyPr/>
                    <a:lstStyle/>
                    <a:p>
                      <a:pPr algn="ctr" fontAlgn="b">
                        <a:buNone/>
                      </a:pPr>
                      <a:r>
                        <a:rPr lang="en-IN" sz="1050" b="0" i="0" u="none" strike="noStrike">
                          <a:solidFill>
                            <a:srgbClr val="000000"/>
                          </a:solidFill>
                          <a:effectLst/>
                          <a:latin typeface="+mn-lt"/>
                          <a:ea typeface="Lato Regular" panose="020F0502020204030203" pitchFamily="34" charset="0"/>
                          <a:cs typeface="Lato Regular" panose="020F0502020204030203" pitchFamily="34" charset="0"/>
                        </a:rPr>
                        <a:t>47% </a:t>
                      </a:r>
                    </a:p>
                  </a:txBody>
                  <a:tcPr marL="0" marR="0" marT="0" marB="0" anchor="ctr"/>
                </a:tc>
                <a:tc>
                  <a:txBody>
                    <a:bodyPr/>
                    <a:lstStyle/>
                    <a:p>
                      <a:pPr algn="ctr" fontAlgn="b">
                        <a:buNone/>
                      </a:pPr>
                      <a:endParaRPr lang="en-IN" sz="1050" b="0" i="0" u="none" strike="noStrike">
                        <a:solidFill>
                          <a:srgbClr val="000000"/>
                        </a:solidFill>
                        <a:effectLst/>
                        <a:latin typeface="+mn-lt"/>
                        <a:ea typeface="Lato Regular" panose="020F0502020204030203" pitchFamily="34" charset="0"/>
                        <a:cs typeface="Lato Regular" panose="020F0502020204030203" pitchFamily="34" charset="0"/>
                      </a:endParaRPr>
                    </a:p>
                  </a:txBody>
                  <a:tcPr marL="0" marR="0" marT="0" marB="0" anchor="ctr"/>
                </a:tc>
                <a:tc>
                  <a:txBody>
                    <a:bodyPr/>
                    <a:lstStyle/>
                    <a:p>
                      <a:pPr algn="ctr" fontAlgn="b">
                        <a:buNone/>
                      </a:pPr>
                      <a:r>
                        <a:rPr lang="en-IN" sz="1050" b="0" i="0" u="none" strike="noStrike">
                          <a:solidFill>
                            <a:srgbClr val="000000"/>
                          </a:solidFill>
                          <a:effectLst/>
                          <a:latin typeface="+mn-lt"/>
                          <a:ea typeface="Lato Regular"/>
                          <a:cs typeface="Lato Regular"/>
                        </a:rPr>
                        <a:t>62%</a:t>
                      </a:r>
                      <a:endParaRPr lang="en-IN" sz="1050" b="0" i="0" u="none" strike="noStrike">
                        <a:solidFill>
                          <a:srgbClr val="000000"/>
                        </a:solidFill>
                        <a:effectLst/>
                        <a:latin typeface="+mn-lt"/>
                        <a:ea typeface="Lato Regular" panose="020F0502020204030203" pitchFamily="34" charset="0"/>
                        <a:cs typeface="Lato Regular" panose="020F0502020204030203" pitchFamily="34" charset="0"/>
                      </a:endParaRPr>
                    </a:p>
                  </a:txBody>
                  <a:tcPr marL="0" marR="0" marT="0" marB="0" anchor="ctr"/>
                </a:tc>
                <a:tc>
                  <a:txBody>
                    <a:bodyPr/>
                    <a:lstStyle/>
                    <a:p>
                      <a:pPr algn="ctr" fontAlgn="b">
                        <a:buNone/>
                      </a:pPr>
                      <a:endParaRPr lang="en-IN" sz="1050" b="0" i="0" u="none" strike="noStrike">
                        <a:solidFill>
                          <a:srgbClr val="000000"/>
                        </a:solidFill>
                        <a:effectLst/>
                        <a:latin typeface="+mn-lt"/>
                        <a:ea typeface="Lato Regular" panose="020F0502020204030203" pitchFamily="34" charset="0"/>
                        <a:cs typeface="Lato Regular" panose="020F0502020204030203" pitchFamily="34" charset="0"/>
                      </a:endParaRPr>
                    </a:p>
                  </a:txBody>
                  <a:tcPr marL="0" marR="0" marT="0" marB="0" anchor="ctr"/>
                </a:tc>
                <a:extLst>
                  <a:ext uri="{0D108BD9-81ED-4DB2-BD59-A6C34878D82A}">
                    <a16:rowId xmlns:a16="http://schemas.microsoft.com/office/drawing/2014/main" val="2159784742"/>
                  </a:ext>
                </a:extLst>
              </a:tr>
              <a:tr h="262575">
                <a:tc>
                  <a:txBody>
                    <a:bodyPr/>
                    <a:lstStyle/>
                    <a:p>
                      <a:pPr algn="l" fontAlgn="b">
                        <a:buNone/>
                      </a:pPr>
                      <a:r>
                        <a:rPr lang="en-IN" sz="1050" b="0" i="0" u="none" strike="noStrike">
                          <a:solidFill>
                            <a:srgbClr val="000000"/>
                          </a:solidFill>
                          <a:effectLst/>
                          <a:latin typeface="+mn-lt"/>
                          <a:ea typeface="Lato Regular" panose="020F0502020204030203" pitchFamily="34" charset="0"/>
                          <a:cs typeface="Lato Regular" panose="020F0502020204030203" pitchFamily="34" charset="0"/>
                        </a:rPr>
                        <a:t>DS Find Revenue %</a:t>
                      </a:r>
                    </a:p>
                  </a:txBody>
                  <a:tcPr marL="144000" marR="0" marT="0" marB="0" anchor="ctr"/>
                </a:tc>
                <a:tc>
                  <a:txBody>
                    <a:bodyPr/>
                    <a:lstStyle/>
                    <a:p>
                      <a:pPr algn="ctr" fontAlgn="b"/>
                      <a:r>
                        <a:rPr lang="en-IN" sz="1050" b="0" i="0" u="none" strike="noStrike" kern="1200">
                          <a:solidFill>
                            <a:srgbClr val="000000"/>
                          </a:solidFill>
                          <a:effectLst/>
                          <a:latin typeface="+mn-lt"/>
                          <a:ea typeface="Lato Regular" panose="020F0502020204030203" pitchFamily="34" charset="0"/>
                          <a:cs typeface="Lato Regular" panose="020F0502020204030203" pitchFamily="34" charset="0"/>
                        </a:rPr>
                        <a:t>9%</a:t>
                      </a:r>
                    </a:p>
                  </a:txBody>
                  <a:tcPr marL="9525" marR="9525" marT="9525" marB="0" anchor="ctr"/>
                </a:tc>
                <a:tc>
                  <a:txBody>
                    <a:bodyPr/>
                    <a:lstStyle/>
                    <a:p>
                      <a:pPr algn="ctr" fontAlgn="b">
                        <a:buNone/>
                      </a:pPr>
                      <a:r>
                        <a:rPr lang="en-IN" sz="1050" b="0" i="0" u="none" strike="noStrike">
                          <a:solidFill>
                            <a:srgbClr val="000000"/>
                          </a:solidFill>
                          <a:effectLst/>
                          <a:latin typeface="+mn-lt"/>
                          <a:ea typeface="Lato Regular" panose="020F0502020204030203" pitchFamily="34" charset="0"/>
                          <a:cs typeface="Lato Regular" panose="020F0502020204030203" pitchFamily="34" charset="0"/>
                        </a:rPr>
                        <a:t>27%</a:t>
                      </a:r>
                    </a:p>
                  </a:txBody>
                  <a:tcPr marL="0" marR="0" marT="0" marB="0" anchor="ctr"/>
                </a:tc>
                <a:tc>
                  <a:txBody>
                    <a:bodyPr/>
                    <a:lstStyle/>
                    <a:p>
                      <a:pPr algn="ctr" fontAlgn="b">
                        <a:buNone/>
                      </a:pPr>
                      <a:endParaRPr lang="en-IN" sz="1050" b="0" i="0" u="none" strike="noStrike">
                        <a:solidFill>
                          <a:srgbClr val="000000"/>
                        </a:solidFill>
                        <a:effectLst/>
                        <a:latin typeface="+mn-lt"/>
                        <a:ea typeface="Lato Regular" panose="020F0502020204030203" pitchFamily="34" charset="0"/>
                        <a:cs typeface="Lato Regular" panose="020F0502020204030203" pitchFamily="34" charset="0"/>
                      </a:endParaRPr>
                    </a:p>
                  </a:txBody>
                  <a:tcPr marL="0" marR="0" marT="0" marB="0" anchor="ctr"/>
                </a:tc>
                <a:tc>
                  <a:txBody>
                    <a:bodyPr/>
                    <a:lstStyle/>
                    <a:p>
                      <a:pPr algn="ctr" fontAlgn="b">
                        <a:buNone/>
                      </a:pPr>
                      <a:r>
                        <a:rPr lang="en-IN" sz="1050" b="0" i="0" u="none" strike="noStrike">
                          <a:solidFill>
                            <a:srgbClr val="000000"/>
                          </a:solidFill>
                          <a:effectLst/>
                          <a:latin typeface="+mn-lt"/>
                          <a:ea typeface="Lato Regular"/>
                          <a:cs typeface="Lato Regular"/>
                        </a:rPr>
                        <a:t>29%</a:t>
                      </a:r>
                      <a:endParaRPr lang="en-IN" sz="1050" b="0" i="0" u="none" strike="noStrike">
                        <a:solidFill>
                          <a:srgbClr val="000000"/>
                        </a:solidFill>
                        <a:effectLst/>
                        <a:latin typeface="+mn-lt"/>
                        <a:ea typeface="Lato Regular" panose="020F0502020204030203" pitchFamily="34" charset="0"/>
                        <a:cs typeface="Lato Regular" panose="020F0502020204030203" pitchFamily="34" charset="0"/>
                      </a:endParaRPr>
                    </a:p>
                  </a:txBody>
                  <a:tcPr marL="0" marR="0" marT="0" marB="0" anchor="ctr"/>
                </a:tc>
                <a:tc>
                  <a:txBody>
                    <a:bodyPr/>
                    <a:lstStyle/>
                    <a:p>
                      <a:pPr algn="ctr" fontAlgn="b">
                        <a:buNone/>
                      </a:pPr>
                      <a:endParaRPr lang="en-IN" sz="1050" b="0" i="0" u="none" strike="noStrike">
                        <a:solidFill>
                          <a:srgbClr val="000000"/>
                        </a:solidFill>
                        <a:effectLst/>
                        <a:latin typeface="+mn-lt"/>
                        <a:ea typeface="Lato Regular" panose="020F0502020204030203" pitchFamily="34" charset="0"/>
                        <a:cs typeface="Lato Regular" panose="020F0502020204030203" pitchFamily="34" charset="0"/>
                      </a:endParaRPr>
                    </a:p>
                  </a:txBody>
                  <a:tcPr marL="0" marR="0" marT="0" marB="0" anchor="ctr"/>
                </a:tc>
                <a:extLst>
                  <a:ext uri="{0D108BD9-81ED-4DB2-BD59-A6C34878D82A}">
                    <a16:rowId xmlns:a16="http://schemas.microsoft.com/office/drawing/2014/main" val="2809398452"/>
                  </a:ext>
                </a:extLst>
              </a:tr>
              <a:tr h="262575">
                <a:tc>
                  <a:txBody>
                    <a:bodyPr/>
                    <a:lstStyle/>
                    <a:p>
                      <a:pPr algn="l" fontAlgn="b">
                        <a:buNone/>
                      </a:pPr>
                      <a:r>
                        <a:rPr lang="en-IN" sz="1050" b="0" i="0" u="none" strike="noStrike">
                          <a:solidFill>
                            <a:srgbClr val="000000"/>
                          </a:solidFill>
                          <a:effectLst/>
                          <a:latin typeface="+mn-lt"/>
                          <a:ea typeface="Lato Regular" panose="020F0502020204030203" pitchFamily="34" charset="0"/>
                          <a:cs typeface="Lato Regular" panose="020F0502020204030203" pitchFamily="34" charset="0"/>
                        </a:rPr>
                        <a:t>Other Products Revenue %</a:t>
                      </a:r>
                    </a:p>
                  </a:txBody>
                  <a:tcPr marL="144000" marR="0" marT="0" marB="0" anchor="ctr"/>
                </a:tc>
                <a:tc>
                  <a:txBody>
                    <a:bodyPr/>
                    <a:lstStyle/>
                    <a:p>
                      <a:pPr algn="ctr" fontAlgn="b"/>
                      <a:r>
                        <a:rPr lang="en-IN" sz="1050" b="0" i="0" u="none" strike="noStrike" kern="1200">
                          <a:solidFill>
                            <a:srgbClr val="000000"/>
                          </a:solidFill>
                          <a:effectLst/>
                          <a:latin typeface="+mn-lt"/>
                          <a:ea typeface="Lato Regular" panose="020F0502020204030203" pitchFamily="34" charset="0"/>
                          <a:cs typeface="Lato Regular" panose="020F0502020204030203" pitchFamily="34" charset="0"/>
                        </a:rPr>
                        <a:t>61%</a:t>
                      </a:r>
                    </a:p>
                  </a:txBody>
                  <a:tcPr marL="9525" marR="9525" marT="9525" marB="0" anchor="ctr"/>
                </a:tc>
                <a:tc>
                  <a:txBody>
                    <a:bodyPr/>
                    <a:lstStyle/>
                    <a:p>
                      <a:pPr algn="ctr" fontAlgn="b">
                        <a:buNone/>
                      </a:pPr>
                      <a:r>
                        <a:rPr lang="en-IN" sz="1050" b="0" i="0" u="none" strike="noStrike">
                          <a:solidFill>
                            <a:srgbClr val="000000"/>
                          </a:solidFill>
                          <a:effectLst/>
                          <a:latin typeface="+mn-lt"/>
                          <a:ea typeface="Lato Regular" panose="020F0502020204030203" pitchFamily="34" charset="0"/>
                          <a:cs typeface="Lato Regular" panose="020F0502020204030203" pitchFamily="34" charset="0"/>
                        </a:rPr>
                        <a:t>26%</a:t>
                      </a:r>
                    </a:p>
                  </a:txBody>
                  <a:tcPr marL="0" marR="0" marT="0" marB="0" anchor="ctr"/>
                </a:tc>
                <a:tc>
                  <a:txBody>
                    <a:bodyPr/>
                    <a:lstStyle/>
                    <a:p>
                      <a:pPr algn="ctr" fontAlgn="b">
                        <a:buNone/>
                      </a:pPr>
                      <a:endParaRPr lang="en-IN" sz="1050" b="0" i="0" u="none" strike="noStrike">
                        <a:solidFill>
                          <a:srgbClr val="000000"/>
                        </a:solidFill>
                        <a:effectLst/>
                        <a:latin typeface="+mn-lt"/>
                        <a:ea typeface="Lato Regular" panose="020F0502020204030203" pitchFamily="34" charset="0"/>
                        <a:cs typeface="Lato Regular" panose="020F0502020204030203" pitchFamily="34" charset="0"/>
                      </a:endParaRPr>
                    </a:p>
                  </a:txBody>
                  <a:tcPr marL="0" marR="0" marT="0" marB="0" anchor="ctr"/>
                </a:tc>
                <a:tc>
                  <a:txBody>
                    <a:bodyPr/>
                    <a:lstStyle/>
                    <a:p>
                      <a:pPr algn="ctr" fontAlgn="b">
                        <a:buNone/>
                      </a:pPr>
                      <a:r>
                        <a:rPr lang="en-IN" sz="1050" b="0" i="0" u="none" strike="noStrike">
                          <a:solidFill>
                            <a:srgbClr val="000000"/>
                          </a:solidFill>
                          <a:effectLst/>
                          <a:latin typeface="+mn-lt"/>
                          <a:ea typeface="Lato Regular"/>
                          <a:cs typeface="Lato Regular"/>
                        </a:rPr>
                        <a:t>10%</a:t>
                      </a:r>
                      <a:endParaRPr lang="en-IN" sz="1050" b="0" i="0" u="none" strike="noStrike">
                        <a:solidFill>
                          <a:srgbClr val="000000"/>
                        </a:solidFill>
                        <a:effectLst/>
                        <a:latin typeface="+mn-lt"/>
                        <a:ea typeface="Lato Regular" panose="020F0502020204030203" pitchFamily="34" charset="0"/>
                        <a:cs typeface="Lato Regular" panose="020F0502020204030203" pitchFamily="34" charset="0"/>
                      </a:endParaRPr>
                    </a:p>
                  </a:txBody>
                  <a:tcPr marL="0" marR="0" marT="0" marB="0" anchor="ctr"/>
                </a:tc>
                <a:tc>
                  <a:txBody>
                    <a:bodyPr/>
                    <a:lstStyle/>
                    <a:p>
                      <a:pPr algn="ctr" fontAlgn="b">
                        <a:buNone/>
                      </a:pPr>
                      <a:endParaRPr lang="en-IN" sz="1050" b="0" i="0" u="none" strike="noStrike">
                        <a:solidFill>
                          <a:srgbClr val="000000"/>
                        </a:solidFill>
                        <a:effectLst/>
                        <a:latin typeface="+mn-lt"/>
                        <a:ea typeface="Lato Regular" panose="020F0502020204030203" pitchFamily="34" charset="0"/>
                        <a:cs typeface="Lato Regular" panose="020F0502020204030203" pitchFamily="34" charset="0"/>
                      </a:endParaRPr>
                    </a:p>
                  </a:txBody>
                  <a:tcPr marL="0" marR="0" marT="0" marB="0" anchor="ctr"/>
                </a:tc>
                <a:extLst>
                  <a:ext uri="{0D108BD9-81ED-4DB2-BD59-A6C34878D82A}">
                    <a16:rowId xmlns:a16="http://schemas.microsoft.com/office/drawing/2014/main" val="4076501595"/>
                  </a:ext>
                </a:extLst>
              </a:tr>
              <a:tr h="262575">
                <a:tc>
                  <a:txBody>
                    <a:bodyPr/>
                    <a:lstStyle/>
                    <a:p>
                      <a:pPr algn="l" fontAlgn="b">
                        <a:buNone/>
                      </a:pPr>
                      <a:r>
                        <a:rPr lang="en-IN" sz="1050" b="0" i="0" u="none" strike="noStrike">
                          <a:solidFill>
                            <a:srgbClr val="000000"/>
                          </a:solidFill>
                          <a:effectLst/>
                          <a:latin typeface="+mn-lt"/>
                          <a:ea typeface="Lato Regular" panose="020F0502020204030203" pitchFamily="34" charset="0"/>
                          <a:cs typeface="Lato Regular" panose="020F0502020204030203" pitchFamily="34" charset="0"/>
                        </a:rPr>
                        <a:t>API (Mode) Revenue</a:t>
                      </a:r>
                      <a:r>
                        <a:rPr lang="en-IN" sz="1050" b="0" i="0" u="none" strike="noStrike" baseline="0">
                          <a:solidFill>
                            <a:srgbClr val="000000"/>
                          </a:solidFill>
                          <a:effectLst/>
                          <a:latin typeface="+mn-lt"/>
                          <a:ea typeface="Lato Regular" panose="020F0502020204030203" pitchFamily="34" charset="0"/>
                          <a:cs typeface="Lato Regular" panose="020F0502020204030203" pitchFamily="34" charset="0"/>
                        </a:rPr>
                        <a:t> </a:t>
                      </a:r>
                      <a:r>
                        <a:rPr lang="en-IN" sz="1050" b="0" i="0" u="none" strike="noStrike">
                          <a:solidFill>
                            <a:srgbClr val="000000"/>
                          </a:solidFill>
                          <a:effectLst/>
                          <a:latin typeface="+mn-lt"/>
                          <a:ea typeface="Lato Regular" panose="020F0502020204030203" pitchFamily="34" charset="0"/>
                          <a:cs typeface="Lato Regular" panose="020F0502020204030203" pitchFamily="34" charset="0"/>
                        </a:rPr>
                        <a:t>%</a:t>
                      </a:r>
                    </a:p>
                  </a:txBody>
                  <a:tcPr marL="144000" marR="0" marT="0" marB="0" anchor="ctr"/>
                </a:tc>
                <a:tc>
                  <a:txBody>
                    <a:bodyPr/>
                    <a:lstStyle/>
                    <a:p>
                      <a:pPr algn="ctr" fontAlgn="b">
                        <a:buNone/>
                      </a:pPr>
                      <a:endParaRPr lang="en-IN" sz="1050" b="0" i="0" u="none" strike="noStrike">
                        <a:solidFill>
                          <a:srgbClr val="000000"/>
                        </a:solidFill>
                        <a:effectLst/>
                        <a:latin typeface="+mn-lt"/>
                        <a:ea typeface="Lato Regular" panose="020F0502020204030203" pitchFamily="34" charset="0"/>
                        <a:cs typeface="Lato Regular" panose="020F0502020204030203" pitchFamily="34" charset="0"/>
                      </a:endParaRPr>
                    </a:p>
                  </a:txBody>
                  <a:tcPr marL="0" marR="0" marT="0" marB="0" anchor="ctr"/>
                </a:tc>
                <a:tc>
                  <a:txBody>
                    <a:bodyPr/>
                    <a:lstStyle/>
                    <a:p>
                      <a:pPr algn="ctr" fontAlgn="b">
                        <a:buNone/>
                      </a:pPr>
                      <a:endParaRPr lang="en-IN" sz="1050" b="0" i="0" u="none" strike="noStrike">
                        <a:solidFill>
                          <a:srgbClr val="000000"/>
                        </a:solidFill>
                        <a:effectLst/>
                        <a:latin typeface="+mn-lt"/>
                        <a:ea typeface="Lato Regular" panose="020F0502020204030203" pitchFamily="34" charset="0"/>
                        <a:cs typeface="Lato Regular" panose="020F0502020204030203" pitchFamily="34" charset="0"/>
                      </a:endParaRPr>
                    </a:p>
                  </a:txBody>
                  <a:tcPr marL="0" marR="0" marT="0" marB="0" anchor="ctr"/>
                </a:tc>
                <a:tc>
                  <a:txBody>
                    <a:bodyPr/>
                    <a:lstStyle/>
                    <a:p>
                      <a:pPr algn="ctr" fontAlgn="b">
                        <a:buNone/>
                      </a:pPr>
                      <a:r>
                        <a:rPr lang="en-IN" sz="1050" b="0" i="0" u="none" strike="noStrike">
                          <a:solidFill>
                            <a:srgbClr val="000000"/>
                          </a:solidFill>
                          <a:effectLst/>
                          <a:latin typeface="+mn-lt"/>
                          <a:ea typeface="Lato Regular" panose="020F0502020204030203" pitchFamily="34" charset="0"/>
                          <a:cs typeface="Lato Regular" panose="020F0502020204030203" pitchFamily="34" charset="0"/>
                        </a:rPr>
                        <a:t>35%</a:t>
                      </a:r>
                    </a:p>
                  </a:txBody>
                  <a:tcPr marL="0" marR="0" marT="0" marB="0" anchor="ctr"/>
                </a:tc>
                <a:tc>
                  <a:txBody>
                    <a:bodyPr/>
                    <a:lstStyle/>
                    <a:p>
                      <a:pPr algn="ctr" fontAlgn="b"/>
                      <a:endParaRPr lang="en-IN" sz="1050" b="0" i="0" u="none" strike="noStrike">
                        <a:solidFill>
                          <a:srgbClr val="000000"/>
                        </a:solidFill>
                        <a:effectLst/>
                        <a:latin typeface="+mn-lt"/>
                      </a:endParaRPr>
                    </a:p>
                  </a:txBody>
                  <a:tcPr marL="6350" marR="6350" marT="6350" marB="0" anchor="ctr"/>
                </a:tc>
                <a:tc>
                  <a:txBody>
                    <a:bodyPr/>
                    <a:lstStyle/>
                    <a:p>
                      <a:pPr algn="ctr" fontAlgn="b"/>
                      <a:r>
                        <a:rPr lang="en-IN" sz="1050" b="0" i="0" u="none" strike="noStrike">
                          <a:solidFill>
                            <a:srgbClr val="000000"/>
                          </a:solidFill>
                          <a:effectLst/>
                          <a:latin typeface="+mn-lt"/>
                        </a:rPr>
                        <a:t>45%</a:t>
                      </a:r>
                    </a:p>
                  </a:txBody>
                  <a:tcPr marL="6350" marR="6350" marT="6350" marB="0" anchor="ctr"/>
                </a:tc>
                <a:extLst>
                  <a:ext uri="{0D108BD9-81ED-4DB2-BD59-A6C34878D82A}">
                    <a16:rowId xmlns:a16="http://schemas.microsoft.com/office/drawing/2014/main" val="3179895044"/>
                  </a:ext>
                </a:extLst>
              </a:tr>
              <a:tr h="416057">
                <a:tc>
                  <a:txBody>
                    <a:bodyPr/>
                    <a:lstStyle/>
                    <a:p>
                      <a:pPr algn="l" fontAlgn="b">
                        <a:buNone/>
                      </a:pPr>
                      <a:r>
                        <a:rPr lang="en-IN" sz="1050" b="0" i="0" u="none" strike="noStrike">
                          <a:solidFill>
                            <a:srgbClr val="000000"/>
                          </a:solidFill>
                          <a:effectLst/>
                          <a:latin typeface="+mn-lt"/>
                          <a:ea typeface="Lato Regular" panose="020F0502020204030203" pitchFamily="34" charset="0"/>
                          <a:cs typeface="Lato Regular" panose="020F0502020204030203" pitchFamily="34" charset="0"/>
                        </a:rPr>
                        <a:t>Batch (Mode) Revenue %</a:t>
                      </a:r>
                    </a:p>
                  </a:txBody>
                  <a:tcPr marL="144000" marR="0" marT="0" marB="0" anchor="ctr"/>
                </a:tc>
                <a:tc>
                  <a:txBody>
                    <a:bodyPr/>
                    <a:lstStyle/>
                    <a:p>
                      <a:pPr algn="ctr" fontAlgn="b">
                        <a:buNone/>
                      </a:pPr>
                      <a:endParaRPr lang="en-IN" sz="1050" b="0" i="0" u="none" strike="noStrike">
                        <a:solidFill>
                          <a:srgbClr val="000000"/>
                        </a:solidFill>
                        <a:effectLst/>
                        <a:latin typeface="+mn-lt"/>
                        <a:ea typeface="Lato Regular" panose="020F0502020204030203" pitchFamily="34" charset="0"/>
                        <a:cs typeface="Lato Regular" panose="020F0502020204030203" pitchFamily="34" charset="0"/>
                      </a:endParaRPr>
                    </a:p>
                  </a:txBody>
                  <a:tcPr marL="0" marR="0" marT="0" marB="0" anchor="ctr"/>
                </a:tc>
                <a:tc>
                  <a:txBody>
                    <a:bodyPr/>
                    <a:lstStyle/>
                    <a:p>
                      <a:pPr algn="ctr" fontAlgn="b">
                        <a:buNone/>
                      </a:pPr>
                      <a:endParaRPr lang="en-IN" sz="1050" b="0" i="0" u="none" strike="noStrike">
                        <a:solidFill>
                          <a:srgbClr val="000000"/>
                        </a:solidFill>
                        <a:effectLst/>
                        <a:latin typeface="+mn-lt"/>
                        <a:ea typeface="Lato Regular" panose="020F0502020204030203" pitchFamily="34" charset="0"/>
                        <a:cs typeface="Lato Regular" panose="020F0502020204030203" pitchFamily="34" charset="0"/>
                      </a:endParaRPr>
                    </a:p>
                  </a:txBody>
                  <a:tcPr marL="0" marR="0" marT="0" marB="0" anchor="ctr"/>
                </a:tc>
                <a:tc>
                  <a:txBody>
                    <a:bodyPr/>
                    <a:lstStyle/>
                    <a:p>
                      <a:pPr algn="ctr" fontAlgn="b">
                        <a:buNone/>
                      </a:pPr>
                      <a:r>
                        <a:rPr lang="en-IN" sz="1050" b="0" i="0" u="none" strike="noStrike">
                          <a:solidFill>
                            <a:srgbClr val="000000"/>
                          </a:solidFill>
                          <a:effectLst/>
                          <a:latin typeface="+mn-lt"/>
                          <a:ea typeface="Lato Regular" panose="020F0502020204030203" pitchFamily="34" charset="0"/>
                          <a:cs typeface="Lato Regular" panose="020F0502020204030203" pitchFamily="34" charset="0"/>
                        </a:rPr>
                        <a:t>65%</a:t>
                      </a:r>
                    </a:p>
                  </a:txBody>
                  <a:tcPr marL="0" marR="0" marT="0" marB="0" anchor="ctr"/>
                </a:tc>
                <a:tc>
                  <a:txBody>
                    <a:bodyPr/>
                    <a:lstStyle/>
                    <a:p>
                      <a:pPr algn="ctr" fontAlgn="b"/>
                      <a:endParaRPr lang="en-IN" sz="1050" b="0" i="0" u="none" strike="noStrike">
                        <a:solidFill>
                          <a:srgbClr val="000000"/>
                        </a:solidFill>
                        <a:effectLst/>
                        <a:latin typeface="+mn-lt"/>
                      </a:endParaRPr>
                    </a:p>
                  </a:txBody>
                  <a:tcPr marL="6350" marR="6350" marT="6350" marB="0" anchor="ctr"/>
                </a:tc>
                <a:tc>
                  <a:txBody>
                    <a:bodyPr/>
                    <a:lstStyle/>
                    <a:p>
                      <a:pPr algn="ctr" fontAlgn="b"/>
                      <a:r>
                        <a:rPr lang="en-IN" sz="1050" b="0" i="0" u="none" strike="noStrike">
                          <a:solidFill>
                            <a:srgbClr val="000000"/>
                          </a:solidFill>
                          <a:effectLst/>
                          <a:latin typeface="+mn-lt"/>
                        </a:rPr>
                        <a:t>55%</a:t>
                      </a:r>
                    </a:p>
                  </a:txBody>
                  <a:tcPr marL="6350" marR="6350" marT="6350" marB="0" anchor="ctr"/>
                </a:tc>
                <a:extLst>
                  <a:ext uri="{0D108BD9-81ED-4DB2-BD59-A6C34878D82A}">
                    <a16:rowId xmlns:a16="http://schemas.microsoft.com/office/drawing/2014/main" val="3498926890"/>
                  </a:ext>
                </a:extLst>
              </a:tr>
            </a:tbl>
          </a:graphicData>
        </a:graphic>
      </p:graphicFrame>
      <p:graphicFrame>
        <p:nvGraphicFramePr>
          <p:cNvPr id="16" name="Table 15">
            <a:extLst>
              <a:ext uri="{FF2B5EF4-FFF2-40B4-BE49-F238E27FC236}">
                <a16:creationId xmlns:a16="http://schemas.microsoft.com/office/drawing/2014/main" id="{7B37E349-39A5-B48D-33DC-E4373327668C}"/>
              </a:ext>
            </a:extLst>
          </p:cNvPr>
          <p:cNvGraphicFramePr>
            <a:graphicFrameLocks noGrp="1"/>
          </p:cNvGraphicFramePr>
          <p:nvPr>
            <p:extLst>
              <p:ext uri="{D42A27DB-BD31-4B8C-83A1-F6EECF244321}">
                <p14:modId xmlns:p14="http://schemas.microsoft.com/office/powerpoint/2010/main" val="578914778"/>
              </p:ext>
            </p:extLst>
          </p:nvPr>
        </p:nvGraphicFramePr>
        <p:xfrm>
          <a:off x="5539984" y="4144253"/>
          <a:ext cx="5784891" cy="1380175"/>
        </p:xfrm>
        <a:graphic>
          <a:graphicData uri="http://schemas.openxmlformats.org/drawingml/2006/table">
            <a:tbl>
              <a:tblPr firstRow="1" bandRow="1">
                <a:tableStyleId>{72833802-FEF1-4C79-8D5D-14CF1EAF98D9}</a:tableStyleId>
              </a:tblPr>
              <a:tblGrid>
                <a:gridCol w="1892386">
                  <a:extLst>
                    <a:ext uri="{9D8B030D-6E8A-4147-A177-3AD203B41FA5}">
                      <a16:colId xmlns:a16="http://schemas.microsoft.com/office/drawing/2014/main" val="3001066899"/>
                    </a:ext>
                  </a:extLst>
                </a:gridCol>
                <a:gridCol w="778501">
                  <a:extLst>
                    <a:ext uri="{9D8B030D-6E8A-4147-A177-3AD203B41FA5}">
                      <a16:colId xmlns:a16="http://schemas.microsoft.com/office/drawing/2014/main" val="700748351"/>
                    </a:ext>
                  </a:extLst>
                </a:gridCol>
                <a:gridCol w="778501">
                  <a:extLst>
                    <a:ext uri="{9D8B030D-6E8A-4147-A177-3AD203B41FA5}">
                      <a16:colId xmlns:a16="http://schemas.microsoft.com/office/drawing/2014/main" val="3274968397"/>
                    </a:ext>
                  </a:extLst>
                </a:gridCol>
                <a:gridCol w="778501">
                  <a:extLst>
                    <a:ext uri="{9D8B030D-6E8A-4147-A177-3AD203B41FA5}">
                      <a16:colId xmlns:a16="http://schemas.microsoft.com/office/drawing/2014/main" val="3607597589"/>
                    </a:ext>
                  </a:extLst>
                </a:gridCol>
                <a:gridCol w="778501">
                  <a:extLst>
                    <a:ext uri="{9D8B030D-6E8A-4147-A177-3AD203B41FA5}">
                      <a16:colId xmlns:a16="http://schemas.microsoft.com/office/drawing/2014/main" val="746035582"/>
                    </a:ext>
                  </a:extLst>
                </a:gridCol>
                <a:gridCol w="778501">
                  <a:extLst>
                    <a:ext uri="{9D8B030D-6E8A-4147-A177-3AD203B41FA5}">
                      <a16:colId xmlns:a16="http://schemas.microsoft.com/office/drawing/2014/main" val="3336224203"/>
                    </a:ext>
                  </a:extLst>
                </a:gridCol>
              </a:tblGrid>
              <a:tr h="276035">
                <a:tc>
                  <a:txBody>
                    <a:bodyPr/>
                    <a:lstStyle/>
                    <a:p>
                      <a:pPr algn="l" rtl="0" fontAlgn="b"/>
                      <a:r>
                        <a:rPr lang="en-IN" sz="1050" b="1" i="0" u="none" strike="noStrike">
                          <a:effectLst/>
                          <a:latin typeface="+mj-lt"/>
                          <a:ea typeface="Lato Regular" panose="020F0502020204030203" pitchFamily="34" charset="0"/>
                          <a:cs typeface="Lato Regular" panose="020F0502020204030203" pitchFamily="34" charset="0"/>
                        </a:rPr>
                        <a:t>INR Cr.</a:t>
                      </a:r>
                      <a:endParaRPr lang="en-IN" sz="1050" b="1" i="0" u="none" strike="noStrike">
                        <a:solidFill>
                          <a:srgbClr val="FFFFFF"/>
                        </a:solidFill>
                        <a:effectLst/>
                        <a:latin typeface="+mj-lt"/>
                        <a:ea typeface="Lato Regular" panose="020F0502020204030203" pitchFamily="34" charset="0"/>
                        <a:cs typeface="Lato Regular" panose="020F0502020204030203" pitchFamily="34" charset="0"/>
                      </a:endParaRPr>
                    </a:p>
                  </a:txBody>
                  <a:tcPr marL="72000" marR="6350" marT="6350" marB="0" anchor="ctr"/>
                </a:tc>
                <a:tc>
                  <a:txBody>
                    <a:bodyPr/>
                    <a:lstStyle/>
                    <a:p>
                      <a:pPr algn="ctr" rtl="0" fontAlgn="base"/>
                      <a:r>
                        <a:rPr lang="en-US" sz="1050" b="1" i="0">
                          <a:solidFill>
                            <a:srgbClr val="FFFFFF"/>
                          </a:solidFill>
                          <a:effectLst/>
                          <a:latin typeface="+mj-lt"/>
                        </a:rPr>
                        <a:t>FY24</a:t>
                      </a:r>
                    </a:p>
                  </a:txBody>
                  <a:tcPr anchor="ctr"/>
                </a:tc>
                <a:tc>
                  <a:txBody>
                    <a:bodyPr/>
                    <a:lstStyle/>
                    <a:p>
                      <a:pPr algn="ctr" rtl="0" fontAlgn="base"/>
                      <a:r>
                        <a:rPr lang="en-US" sz="1050" b="1" i="0" u="none" strike="noStrike">
                          <a:solidFill>
                            <a:srgbClr val="FFFFFF"/>
                          </a:solidFill>
                          <a:effectLst/>
                          <a:latin typeface="+mj-lt"/>
                        </a:rPr>
                        <a:t>FY25</a:t>
                      </a:r>
                      <a:r>
                        <a:rPr lang="en-US" sz="1050" b="1" i="0">
                          <a:solidFill>
                            <a:srgbClr val="FFFFFF"/>
                          </a:solidFill>
                          <a:effectLst/>
                          <a:latin typeface="+mj-lt"/>
                        </a:rPr>
                        <a:t>​</a:t>
                      </a:r>
                    </a:p>
                  </a:txBody>
                  <a:tcPr anchor="ctr"/>
                </a:tc>
                <a:tc>
                  <a:txBody>
                    <a:bodyPr/>
                    <a:lstStyle/>
                    <a:p>
                      <a:pPr algn="ctr" rtl="0" fontAlgn="base"/>
                      <a:r>
                        <a:rPr lang="en-US" sz="1050" b="1" i="0" u="none" strike="noStrike">
                          <a:solidFill>
                            <a:srgbClr val="FFFFFF"/>
                          </a:solidFill>
                          <a:effectLst/>
                          <a:latin typeface="+mj-lt"/>
                        </a:rPr>
                        <a:t>FY26</a:t>
                      </a:r>
                      <a:r>
                        <a:rPr lang="en-US" sz="1050" b="1" i="0">
                          <a:solidFill>
                            <a:srgbClr val="FFFFFF"/>
                          </a:solidFill>
                          <a:effectLst/>
                          <a:latin typeface="+mj-lt"/>
                        </a:rPr>
                        <a:t>​</a:t>
                      </a:r>
                    </a:p>
                  </a:txBody>
                  <a:tcPr anchor="ctr"/>
                </a:tc>
                <a:tc>
                  <a:txBody>
                    <a:bodyPr/>
                    <a:lstStyle/>
                    <a:p>
                      <a:pPr algn="ctr" rtl="0" fontAlgn="base"/>
                      <a:r>
                        <a:rPr lang="en-IN" sz="1050" b="1" i="0" u="none" strike="noStrike">
                          <a:solidFill>
                            <a:srgbClr val="FFFFFF"/>
                          </a:solidFill>
                          <a:effectLst/>
                          <a:latin typeface="+mj-lt"/>
                        </a:rPr>
                        <a:t>Q4FY25</a:t>
                      </a:r>
                      <a:endParaRPr lang="en-IN" sz="1050" b="1" i="0">
                        <a:solidFill>
                          <a:srgbClr val="FFFFFF"/>
                        </a:solidFill>
                        <a:effectLst/>
                        <a:latin typeface="+mj-lt"/>
                      </a:endParaRPr>
                    </a:p>
                  </a:txBody>
                  <a:tcPr anchor="ctr"/>
                </a:tc>
                <a:tc>
                  <a:txBody>
                    <a:bodyPr/>
                    <a:lstStyle/>
                    <a:p>
                      <a:pPr algn="ctr" rtl="0" fontAlgn="base"/>
                      <a:r>
                        <a:rPr lang="en-IN" sz="1050" b="1" i="0" u="none" strike="noStrike">
                          <a:solidFill>
                            <a:srgbClr val="FFFFFF"/>
                          </a:solidFill>
                          <a:effectLst/>
                          <a:latin typeface="+mj-lt"/>
                        </a:rPr>
                        <a:t>Q4FY26</a:t>
                      </a:r>
                      <a:r>
                        <a:rPr lang="en-IN" sz="1050" b="1" i="0">
                          <a:solidFill>
                            <a:srgbClr val="FFFFFF"/>
                          </a:solidFill>
                          <a:effectLst/>
                          <a:latin typeface="+mj-lt"/>
                        </a:rPr>
                        <a:t>​</a:t>
                      </a:r>
                    </a:p>
                  </a:txBody>
                  <a:tcPr anchor="ctr"/>
                </a:tc>
                <a:extLst>
                  <a:ext uri="{0D108BD9-81ED-4DB2-BD59-A6C34878D82A}">
                    <a16:rowId xmlns:a16="http://schemas.microsoft.com/office/drawing/2014/main" val="3735237806"/>
                  </a:ext>
                </a:extLst>
              </a:tr>
              <a:tr h="276035">
                <a:tc>
                  <a:txBody>
                    <a:bodyPr/>
                    <a:lstStyle/>
                    <a:p>
                      <a:pPr algn="l" fontAlgn="b">
                        <a:buNone/>
                      </a:pPr>
                      <a:r>
                        <a:rPr lang="en-IN" sz="1050" b="1" i="0" u="none" strike="noStrike">
                          <a:solidFill>
                            <a:srgbClr val="000000"/>
                          </a:solidFill>
                          <a:effectLst/>
                          <a:latin typeface="+mj-lt"/>
                          <a:ea typeface="Lato Regular" panose="020F0502020204030203" pitchFamily="34" charset="0"/>
                          <a:cs typeface="Lato Regular" panose="020F0502020204030203" pitchFamily="34" charset="0"/>
                        </a:rPr>
                        <a:t>Net Revenue</a:t>
                      </a:r>
                    </a:p>
                  </a:txBody>
                  <a:tcPr marL="72000" marR="0" marT="0" marB="0" anchor="ctr"/>
                </a:tc>
                <a:tc>
                  <a:txBody>
                    <a:bodyPr/>
                    <a:lstStyle/>
                    <a:p>
                      <a:pPr algn="ctr" fontAlgn="b"/>
                      <a:r>
                        <a:rPr lang="en-IN" sz="1050" b="1" i="0" u="none" strike="noStrike">
                          <a:solidFill>
                            <a:srgbClr val="000000"/>
                          </a:solidFill>
                          <a:effectLst/>
                          <a:latin typeface="+mj-lt"/>
                        </a:rPr>
                        <a:t>6.5</a:t>
                      </a:r>
                    </a:p>
                  </a:txBody>
                  <a:tcPr marL="9525" marR="9525" marT="9525" marB="0" anchor="ctr"/>
                </a:tc>
                <a:tc>
                  <a:txBody>
                    <a:bodyPr/>
                    <a:lstStyle/>
                    <a:p>
                      <a:pPr algn="ctr" fontAlgn="b">
                        <a:buNone/>
                      </a:pPr>
                      <a:r>
                        <a:rPr lang="en-IN" sz="1050" b="1" i="0" u="none" strike="noStrike">
                          <a:solidFill>
                            <a:srgbClr val="000000"/>
                          </a:solidFill>
                          <a:effectLst/>
                          <a:latin typeface="+mj-lt"/>
                          <a:ea typeface="Lato Regular"/>
                          <a:cs typeface="Lato Regular"/>
                        </a:rPr>
                        <a:t>14.7</a:t>
                      </a:r>
                    </a:p>
                  </a:txBody>
                  <a:tcPr marL="0" marR="0" marT="0" marB="0" anchor="ctr"/>
                </a:tc>
                <a:tc>
                  <a:txBody>
                    <a:bodyPr/>
                    <a:lstStyle/>
                    <a:p>
                      <a:pPr algn="ctr" fontAlgn="b">
                        <a:buNone/>
                      </a:pPr>
                      <a:r>
                        <a:rPr lang="en-IN" sz="1050" b="1" i="0" u="none" strike="noStrike">
                          <a:solidFill>
                            <a:srgbClr val="000000"/>
                          </a:solidFill>
                          <a:effectLst/>
                          <a:latin typeface="+mj-lt"/>
                          <a:ea typeface="Lato Regular"/>
                          <a:cs typeface="Lato Regular"/>
                        </a:rPr>
                        <a:t>30.15</a:t>
                      </a:r>
                    </a:p>
                  </a:txBody>
                  <a:tcPr marL="0" marR="0" marT="0" marB="0" anchor="ctr"/>
                </a:tc>
                <a:tc>
                  <a:txBody>
                    <a:bodyPr/>
                    <a:lstStyle/>
                    <a:p>
                      <a:pPr algn="ctr" fontAlgn="b"/>
                      <a:r>
                        <a:rPr lang="en-IN" sz="1050" b="1" i="0" u="none" strike="noStrike">
                          <a:solidFill>
                            <a:srgbClr val="000000"/>
                          </a:solidFill>
                          <a:effectLst/>
                          <a:latin typeface="+mj-lt"/>
                        </a:rPr>
                        <a:t>6.8</a:t>
                      </a:r>
                    </a:p>
                  </a:txBody>
                  <a:tcPr marL="6350" marR="6350" marT="6350" marB="0" anchor="ctr"/>
                </a:tc>
                <a:tc>
                  <a:txBody>
                    <a:bodyPr/>
                    <a:lstStyle/>
                    <a:p>
                      <a:pPr algn="ctr" fontAlgn="b"/>
                      <a:r>
                        <a:rPr lang="en-IN" sz="1050" b="1" i="0" u="none" strike="noStrike">
                          <a:solidFill>
                            <a:srgbClr val="000000"/>
                          </a:solidFill>
                          <a:effectLst/>
                          <a:latin typeface="+mj-lt"/>
                        </a:rPr>
                        <a:t>8.5</a:t>
                      </a:r>
                    </a:p>
                  </a:txBody>
                  <a:tcPr marL="6350" marR="6350" marT="6350" marB="0" anchor="ctr"/>
                </a:tc>
                <a:extLst>
                  <a:ext uri="{0D108BD9-81ED-4DB2-BD59-A6C34878D82A}">
                    <a16:rowId xmlns:a16="http://schemas.microsoft.com/office/drawing/2014/main" val="2159784742"/>
                  </a:ext>
                </a:extLst>
              </a:tr>
              <a:tr h="276035">
                <a:tc>
                  <a:txBody>
                    <a:bodyPr/>
                    <a:lstStyle/>
                    <a:p>
                      <a:pPr algn="l" fontAlgn="b">
                        <a:buNone/>
                      </a:pPr>
                      <a:r>
                        <a:rPr lang="en-IN" sz="1050" b="0" i="0" u="none" strike="noStrike">
                          <a:solidFill>
                            <a:srgbClr val="000000"/>
                          </a:solidFill>
                          <a:effectLst/>
                          <a:latin typeface="+mj-lt"/>
                          <a:ea typeface="Lato Regular" panose="020F0502020204030203" pitchFamily="34" charset="0"/>
                          <a:cs typeface="Lato Regular" panose="020F0502020204030203" pitchFamily="34" charset="0"/>
                        </a:rPr>
                        <a:t>% Growth YoY</a:t>
                      </a:r>
                    </a:p>
                  </a:txBody>
                  <a:tcPr marL="72000" marR="0" marT="0" marB="0" anchor="ctr"/>
                </a:tc>
                <a:tc>
                  <a:txBody>
                    <a:bodyPr/>
                    <a:lstStyle/>
                    <a:p>
                      <a:pPr algn="ctr" fontAlgn="b"/>
                      <a:r>
                        <a:rPr lang="en-IN" sz="1050" b="0" i="0" u="none" strike="noStrike">
                          <a:solidFill>
                            <a:srgbClr val="000000"/>
                          </a:solidFill>
                          <a:effectLst/>
                          <a:latin typeface="+mj-lt"/>
                        </a:rPr>
                        <a:t>47.9%</a:t>
                      </a:r>
                    </a:p>
                  </a:txBody>
                  <a:tcPr marL="9525" marR="9525" marT="9525" marB="0" anchor="ctr"/>
                </a:tc>
                <a:tc>
                  <a:txBody>
                    <a:bodyPr/>
                    <a:lstStyle/>
                    <a:p>
                      <a:pPr algn="ctr" fontAlgn="b">
                        <a:buNone/>
                      </a:pPr>
                      <a:r>
                        <a:rPr lang="en-IN" sz="1050" b="0" i="0" u="none" strike="noStrike">
                          <a:solidFill>
                            <a:srgbClr val="000000"/>
                          </a:solidFill>
                          <a:effectLst/>
                          <a:latin typeface="+mj-lt"/>
                          <a:ea typeface="Lato Regular" panose="020F0502020204030203" pitchFamily="34" charset="0"/>
                          <a:cs typeface="Lato Regular" panose="020F0502020204030203" pitchFamily="34" charset="0"/>
                        </a:rPr>
                        <a:t>126%</a:t>
                      </a:r>
                    </a:p>
                  </a:txBody>
                  <a:tcPr marL="0" marR="0" marT="0" marB="0" anchor="ctr"/>
                </a:tc>
                <a:tc>
                  <a:txBody>
                    <a:bodyPr/>
                    <a:lstStyle/>
                    <a:p>
                      <a:pPr algn="ctr" fontAlgn="b">
                        <a:buNone/>
                      </a:pPr>
                      <a:r>
                        <a:rPr lang="en-IN" sz="1050" b="0" i="0" u="none" strike="noStrike">
                          <a:solidFill>
                            <a:srgbClr val="000000"/>
                          </a:solidFill>
                          <a:effectLst/>
                          <a:latin typeface="+mj-lt"/>
                          <a:ea typeface="Lato Regular" panose="020F0502020204030203" pitchFamily="34" charset="0"/>
                          <a:cs typeface="Lato Regular" panose="020F0502020204030203" pitchFamily="34" charset="0"/>
                        </a:rPr>
                        <a:t>105%</a:t>
                      </a:r>
                    </a:p>
                  </a:txBody>
                  <a:tcPr marL="0" marR="0" marT="0" marB="0" anchor="ctr"/>
                </a:tc>
                <a:tc>
                  <a:txBody>
                    <a:bodyPr/>
                    <a:lstStyle/>
                    <a:p>
                      <a:pPr algn="ctr" fontAlgn="b"/>
                      <a:r>
                        <a:rPr lang="en-IN" sz="1050" b="0" i="0" u="none" strike="noStrike">
                          <a:solidFill>
                            <a:srgbClr val="000000"/>
                          </a:solidFill>
                          <a:effectLst/>
                          <a:latin typeface="+mj-lt"/>
                        </a:rPr>
                        <a:t>237.8%</a:t>
                      </a:r>
                    </a:p>
                  </a:txBody>
                  <a:tcPr marL="6350" marR="6350" marT="6350" marB="0" anchor="ctr"/>
                </a:tc>
                <a:tc>
                  <a:txBody>
                    <a:bodyPr/>
                    <a:lstStyle/>
                    <a:p>
                      <a:pPr algn="ctr" fontAlgn="b"/>
                      <a:r>
                        <a:rPr lang="en-IN" sz="1050" b="0" i="0" u="none" strike="noStrike">
                          <a:solidFill>
                            <a:srgbClr val="000000"/>
                          </a:solidFill>
                          <a:effectLst/>
                          <a:latin typeface="+mj-lt"/>
                        </a:rPr>
                        <a:t>25%</a:t>
                      </a:r>
                    </a:p>
                  </a:txBody>
                  <a:tcPr marL="6350" marR="6350" marT="6350" marB="0" anchor="ctr"/>
                </a:tc>
                <a:extLst>
                  <a:ext uri="{0D108BD9-81ED-4DB2-BD59-A6C34878D82A}">
                    <a16:rowId xmlns:a16="http://schemas.microsoft.com/office/drawing/2014/main" val="2809398452"/>
                  </a:ext>
                </a:extLst>
              </a:tr>
              <a:tr h="276035">
                <a:tc>
                  <a:txBody>
                    <a:bodyPr/>
                    <a:lstStyle/>
                    <a:p>
                      <a:pPr algn="l" fontAlgn="b">
                        <a:buNone/>
                      </a:pPr>
                      <a:r>
                        <a:rPr lang="en-IN" sz="1050" b="1" i="0" u="none" strike="noStrike">
                          <a:solidFill>
                            <a:srgbClr val="000000"/>
                          </a:solidFill>
                          <a:effectLst/>
                          <a:latin typeface="+mj-lt"/>
                          <a:ea typeface="Lato Regular" panose="020F0502020204030203" pitchFamily="34" charset="0"/>
                          <a:cs typeface="Lato Regular" panose="020F0502020204030203" pitchFamily="34" charset="0"/>
                        </a:rPr>
                        <a:t>EBITDA</a:t>
                      </a:r>
                    </a:p>
                  </a:txBody>
                  <a:tcPr marL="72000" marR="0" marT="0" marB="0" anchor="ctr"/>
                </a:tc>
                <a:tc>
                  <a:txBody>
                    <a:bodyPr/>
                    <a:lstStyle/>
                    <a:p>
                      <a:pPr algn="ctr" fontAlgn="b"/>
                      <a:r>
                        <a:rPr lang="en-IN" sz="1050" b="1" i="0" u="none" strike="noStrike">
                          <a:solidFill>
                            <a:srgbClr val="000000"/>
                          </a:solidFill>
                          <a:effectLst/>
                          <a:latin typeface="+mj-lt"/>
                        </a:rPr>
                        <a:t>-10.2</a:t>
                      </a:r>
                    </a:p>
                  </a:txBody>
                  <a:tcPr marL="9525" marR="9525" marT="9525" marB="0" anchor="ctr"/>
                </a:tc>
                <a:tc>
                  <a:txBody>
                    <a:bodyPr/>
                    <a:lstStyle/>
                    <a:p>
                      <a:pPr algn="ctr" fontAlgn="b">
                        <a:buNone/>
                      </a:pPr>
                      <a:r>
                        <a:rPr lang="en-IN" sz="1050" b="1" i="0" u="none" strike="noStrike">
                          <a:solidFill>
                            <a:srgbClr val="000000"/>
                          </a:solidFill>
                          <a:effectLst/>
                          <a:latin typeface="+mj-lt"/>
                          <a:ea typeface="Lato Regular"/>
                          <a:cs typeface="Lato Regular"/>
                        </a:rPr>
                        <a:t>-17.1</a:t>
                      </a:r>
                    </a:p>
                  </a:txBody>
                  <a:tcPr marL="0" marR="0" marT="0" marB="0" anchor="ctr"/>
                </a:tc>
                <a:tc>
                  <a:txBody>
                    <a:bodyPr/>
                    <a:lstStyle/>
                    <a:p>
                      <a:pPr algn="ctr" fontAlgn="b">
                        <a:buNone/>
                      </a:pPr>
                      <a:r>
                        <a:rPr lang="en-IN" sz="1050" b="1" i="0" u="none" strike="noStrike">
                          <a:solidFill>
                            <a:srgbClr val="000000"/>
                          </a:solidFill>
                          <a:effectLst/>
                          <a:latin typeface="+mj-lt"/>
                          <a:ea typeface="Lato Regular"/>
                          <a:cs typeface="Lato Regular"/>
                        </a:rPr>
                        <a:t>-16.5</a:t>
                      </a:r>
                    </a:p>
                  </a:txBody>
                  <a:tcPr marL="0" marR="0" marT="0" marB="0" anchor="ctr"/>
                </a:tc>
                <a:tc>
                  <a:txBody>
                    <a:bodyPr/>
                    <a:lstStyle/>
                    <a:p>
                      <a:pPr algn="ctr" fontAlgn="b"/>
                      <a:r>
                        <a:rPr lang="en-IN" sz="1050" b="1" i="0" u="none" strike="noStrike">
                          <a:solidFill>
                            <a:srgbClr val="000000"/>
                          </a:solidFill>
                          <a:effectLst/>
                          <a:latin typeface="+mj-lt"/>
                        </a:rPr>
                        <a:t>-0.65</a:t>
                      </a:r>
                    </a:p>
                  </a:txBody>
                  <a:tcPr marL="6350" marR="6350" marT="6350" marB="0" anchor="ctr"/>
                </a:tc>
                <a:tc>
                  <a:txBody>
                    <a:bodyPr/>
                    <a:lstStyle/>
                    <a:p>
                      <a:pPr algn="ctr" fontAlgn="b"/>
                      <a:r>
                        <a:rPr lang="en-IN" sz="1050" b="1" i="0" u="none" strike="noStrike">
                          <a:solidFill>
                            <a:srgbClr val="000000"/>
                          </a:solidFill>
                          <a:effectLst/>
                          <a:latin typeface="+mj-lt"/>
                        </a:rPr>
                        <a:t>-4.4</a:t>
                      </a:r>
                    </a:p>
                  </a:txBody>
                  <a:tcPr marL="6350" marR="6350" marT="6350" marB="0" anchor="ctr"/>
                </a:tc>
                <a:extLst>
                  <a:ext uri="{0D108BD9-81ED-4DB2-BD59-A6C34878D82A}">
                    <a16:rowId xmlns:a16="http://schemas.microsoft.com/office/drawing/2014/main" val="4076501595"/>
                  </a:ext>
                </a:extLst>
              </a:tr>
              <a:tr h="276035">
                <a:tc>
                  <a:txBody>
                    <a:bodyPr/>
                    <a:lstStyle/>
                    <a:p>
                      <a:pPr algn="l" fontAlgn="b">
                        <a:buNone/>
                      </a:pPr>
                      <a:r>
                        <a:rPr lang="en-IN" sz="1050" b="0" i="0" u="none" strike="noStrike">
                          <a:solidFill>
                            <a:srgbClr val="000000"/>
                          </a:solidFill>
                          <a:effectLst/>
                          <a:latin typeface="+mj-lt"/>
                          <a:ea typeface="Lato Regular" panose="020F0502020204030203" pitchFamily="34" charset="0"/>
                          <a:cs typeface="Lato Regular" panose="020F0502020204030203" pitchFamily="34" charset="0"/>
                        </a:rPr>
                        <a:t>% EBITDA</a:t>
                      </a:r>
                    </a:p>
                  </a:txBody>
                  <a:tcPr marL="72000" marR="0" marT="0" marB="0" anchor="ctr"/>
                </a:tc>
                <a:tc>
                  <a:txBody>
                    <a:bodyPr/>
                    <a:lstStyle/>
                    <a:p>
                      <a:pPr algn="ctr" fontAlgn="b"/>
                      <a:r>
                        <a:rPr lang="en-IN" sz="1050" b="0" i="0" u="none" strike="noStrike">
                          <a:solidFill>
                            <a:srgbClr val="000000"/>
                          </a:solidFill>
                          <a:effectLst/>
                          <a:latin typeface="+mj-lt"/>
                        </a:rPr>
                        <a:t>-156.6%</a:t>
                      </a:r>
                    </a:p>
                  </a:txBody>
                  <a:tcPr marL="9525" marR="9525" marT="9525" marB="0" anchor="ctr"/>
                </a:tc>
                <a:tc>
                  <a:txBody>
                    <a:bodyPr/>
                    <a:lstStyle/>
                    <a:p>
                      <a:pPr algn="ctr" fontAlgn="b">
                        <a:buNone/>
                      </a:pPr>
                      <a:r>
                        <a:rPr lang="en-IN" sz="1050" b="0" i="0" u="none" strike="noStrike">
                          <a:solidFill>
                            <a:srgbClr val="000000"/>
                          </a:solidFill>
                          <a:effectLst/>
                          <a:latin typeface="+mj-lt"/>
                          <a:ea typeface="Lato Regular" panose="020F0502020204030203" pitchFamily="34" charset="0"/>
                          <a:cs typeface="Lato Regular" panose="020F0502020204030203" pitchFamily="34" charset="0"/>
                        </a:rPr>
                        <a:t>-116.3%</a:t>
                      </a:r>
                    </a:p>
                  </a:txBody>
                  <a:tcPr marL="0" marR="0" marT="0" marB="0" anchor="ctr"/>
                </a:tc>
                <a:tc>
                  <a:txBody>
                    <a:bodyPr/>
                    <a:lstStyle/>
                    <a:p>
                      <a:pPr algn="ctr" fontAlgn="b">
                        <a:buNone/>
                      </a:pPr>
                      <a:r>
                        <a:rPr lang="en-IN" sz="1050" b="0" i="0" u="none" strike="noStrike">
                          <a:solidFill>
                            <a:srgbClr val="000000"/>
                          </a:solidFill>
                          <a:effectLst/>
                          <a:latin typeface="+mj-lt"/>
                          <a:ea typeface="Lato Regular" panose="020F0502020204030203" pitchFamily="34" charset="0"/>
                          <a:cs typeface="Lato Regular" panose="020F0502020204030203" pitchFamily="34" charset="0"/>
                        </a:rPr>
                        <a:t>-54.7%</a:t>
                      </a:r>
                    </a:p>
                  </a:txBody>
                  <a:tcPr marL="0" marR="0" marT="0" marB="0" anchor="ctr"/>
                </a:tc>
                <a:tc>
                  <a:txBody>
                    <a:bodyPr/>
                    <a:lstStyle/>
                    <a:p>
                      <a:pPr algn="ctr" fontAlgn="b"/>
                      <a:r>
                        <a:rPr lang="en-IN" sz="1050" b="0" i="0" u="none" strike="noStrike">
                          <a:solidFill>
                            <a:srgbClr val="000000"/>
                          </a:solidFill>
                          <a:effectLst/>
                          <a:latin typeface="+mj-lt"/>
                        </a:rPr>
                        <a:t>-9.6%</a:t>
                      </a:r>
                    </a:p>
                  </a:txBody>
                  <a:tcPr marL="6350" marR="6350" marT="6350" marB="0" anchor="ctr"/>
                </a:tc>
                <a:tc>
                  <a:txBody>
                    <a:bodyPr/>
                    <a:lstStyle/>
                    <a:p>
                      <a:pPr algn="ctr" fontAlgn="b"/>
                      <a:r>
                        <a:rPr lang="en-IN" sz="1050" b="0" i="0" u="none" strike="noStrike">
                          <a:solidFill>
                            <a:srgbClr val="000000"/>
                          </a:solidFill>
                          <a:effectLst/>
                          <a:latin typeface="+mj-lt"/>
                        </a:rPr>
                        <a:t>-51.3%</a:t>
                      </a:r>
                    </a:p>
                  </a:txBody>
                  <a:tcPr marL="6350" marR="6350" marT="6350" marB="0" anchor="ctr"/>
                </a:tc>
                <a:extLst>
                  <a:ext uri="{0D108BD9-81ED-4DB2-BD59-A6C34878D82A}">
                    <a16:rowId xmlns:a16="http://schemas.microsoft.com/office/drawing/2014/main" val="3179895044"/>
                  </a:ext>
                </a:extLst>
              </a:tr>
            </a:tbl>
          </a:graphicData>
        </a:graphic>
      </p:graphicFrame>
    </p:spTree>
    <p:extLst>
      <p:ext uri="{BB962C8B-B14F-4D97-AF65-F5344CB8AC3E}">
        <p14:creationId xmlns:p14="http://schemas.microsoft.com/office/powerpoint/2010/main" val="30819017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AD94D-A696-65C3-C3F8-8B336B2643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4DAF8B-5DE6-2376-EA8F-12E84DFCEE60}"/>
              </a:ext>
            </a:extLst>
          </p:cNvPr>
          <p:cNvSpPr>
            <a:spLocks noGrp="1"/>
          </p:cNvSpPr>
          <p:nvPr>
            <p:ph type="title"/>
          </p:nvPr>
        </p:nvSpPr>
        <p:spPr>
          <a:xfrm>
            <a:off x="371556" y="536026"/>
            <a:ext cx="8272382" cy="666914"/>
          </a:xfrm>
        </p:spPr>
        <p:txBody>
          <a:bodyPr/>
          <a:lstStyle/>
          <a:p>
            <a:r>
              <a:rPr lang="en-US" err="1"/>
              <a:t>EasyRewardz</a:t>
            </a:r>
            <a:r>
              <a:rPr lang="en-US"/>
              <a:t> Software Services Private Limited - </a:t>
            </a:r>
            <a:r>
              <a:rPr lang="en-US" err="1"/>
              <a:t>Easyrewardz</a:t>
            </a:r>
            <a:endParaRPr lang="en-US"/>
          </a:p>
        </p:txBody>
      </p:sp>
      <p:sp>
        <p:nvSpPr>
          <p:cNvPr id="3" name="TextBox 2">
            <a:extLst>
              <a:ext uri="{FF2B5EF4-FFF2-40B4-BE49-F238E27FC236}">
                <a16:creationId xmlns:a16="http://schemas.microsoft.com/office/drawing/2014/main" id="{71673F4D-0612-C8FB-71C5-5FCE2B8940F2}"/>
              </a:ext>
            </a:extLst>
          </p:cNvPr>
          <p:cNvSpPr txBox="1"/>
          <p:nvPr/>
        </p:nvSpPr>
        <p:spPr>
          <a:xfrm>
            <a:off x="499141" y="1387387"/>
            <a:ext cx="3450246" cy="320216"/>
          </a:xfrm>
          <a:prstGeom prst="rect">
            <a:avLst/>
          </a:prstGeom>
          <a:noFill/>
        </p:spPr>
        <p:txBody>
          <a:bodyPr wrap="square" rtlCol="0">
            <a:spAutoFit/>
          </a:bodyPr>
          <a:lstStyle/>
          <a:p>
            <a:r>
              <a:rPr lang="en-IN" sz="1481" b="1">
                <a:solidFill>
                  <a:schemeClr val="tx2"/>
                </a:solidFill>
                <a:ea typeface="Lato Regular" panose="020F0502020204030203" pitchFamily="34" charset="0"/>
                <a:cs typeface="Lato Regular" panose="020F0502020204030203" pitchFamily="34" charset="0"/>
              </a:rPr>
              <a:t>Business Description</a:t>
            </a:r>
          </a:p>
        </p:txBody>
      </p:sp>
      <p:sp>
        <p:nvSpPr>
          <p:cNvPr id="4" name="TextBox 3">
            <a:extLst>
              <a:ext uri="{FF2B5EF4-FFF2-40B4-BE49-F238E27FC236}">
                <a16:creationId xmlns:a16="http://schemas.microsoft.com/office/drawing/2014/main" id="{65049BBE-4A84-BAF0-4221-9B94952411BC}"/>
              </a:ext>
            </a:extLst>
          </p:cNvPr>
          <p:cNvSpPr txBox="1"/>
          <p:nvPr/>
        </p:nvSpPr>
        <p:spPr>
          <a:xfrm>
            <a:off x="499141" y="3758945"/>
            <a:ext cx="3450246" cy="320216"/>
          </a:xfrm>
          <a:prstGeom prst="rect">
            <a:avLst/>
          </a:prstGeom>
          <a:noFill/>
        </p:spPr>
        <p:txBody>
          <a:bodyPr wrap="square" rtlCol="0">
            <a:spAutoFit/>
          </a:bodyPr>
          <a:lstStyle/>
          <a:p>
            <a:r>
              <a:rPr lang="en-IN" sz="1481" b="1">
                <a:solidFill>
                  <a:schemeClr val="tx2"/>
                </a:solidFill>
                <a:ea typeface="Lato Regular" panose="020F0502020204030203" pitchFamily="34" charset="0"/>
                <a:cs typeface="Lato Regular" panose="020F0502020204030203" pitchFamily="34" charset="0"/>
              </a:rPr>
              <a:t>Performance Commentary</a:t>
            </a:r>
          </a:p>
        </p:txBody>
      </p:sp>
      <p:sp>
        <p:nvSpPr>
          <p:cNvPr id="5" name="TextBox 4">
            <a:extLst>
              <a:ext uri="{FF2B5EF4-FFF2-40B4-BE49-F238E27FC236}">
                <a16:creationId xmlns:a16="http://schemas.microsoft.com/office/drawing/2014/main" id="{A0DA1D0D-2E1F-E0C4-664E-17815A8A726A}"/>
              </a:ext>
            </a:extLst>
          </p:cNvPr>
          <p:cNvSpPr txBox="1"/>
          <p:nvPr/>
        </p:nvSpPr>
        <p:spPr>
          <a:xfrm>
            <a:off x="5539984" y="3805112"/>
            <a:ext cx="3450246" cy="227883"/>
          </a:xfrm>
          <a:prstGeom prst="rect">
            <a:avLst/>
          </a:prstGeom>
          <a:noFill/>
        </p:spPr>
        <p:txBody>
          <a:bodyPr wrap="square" lIns="0" tIns="0" rIns="0" bIns="0" rtlCol="0">
            <a:spAutoFit/>
          </a:bodyPr>
          <a:lstStyle/>
          <a:p>
            <a:r>
              <a:rPr lang="en-IN" sz="1481" b="1">
                <a:solidFill>
                  <a:schemeClr val="tx2"/>
                </a:solidFill>
                <a:ea typeface="Lato Regular" panose="020F0502020204030203" pitchFamily="34" charset="0"/>
                <a:cs typeface="Lato Regular" panose="020F0502020204030203" pitchFamily="34" charset="0"/>
              </a:rPr>
              <a:t>Key Financial Highlights</a:t>
            </a:r>
          </a:p>
        </p:txBody>
      </p:sp>
      <p:sp>
        <p:nvSpPr>
          <p:cNvPr id="6" name="TextBox 5">
            <a:extLst>
              <a:ext uri="{FF2B5EF4-FFF2-40B4-BE49-F238E27FC236}">
                <a16:creationId xmlns:a16="http://schemas.microsoft.com/office/drawing/2014/main" id="{4BE4F2A0-274F-457D-DFE7-4526ABB925AC}"/>
              </a:ext>
            </a:extLst>
          </p:cNvPr>
          <p:cNvSpPr txBox="1"/>
          <p:nvPr/>
        </p:nvSpPr>
        <p:spPr>
          <a:xfrm>
            <a:off x="5539984" y="1433554"/>
            <a:ext cx="3607078" cy="227883"/>
          </a:xfrm>
          <a:prstGeom prst="rect">
            <a:avLst/>
          </a:prstGeom>
          <a:noFill/>
        </p:spPr>
        <p:txBody>
          <a:bodyPr wrap="square" lIns="0" tIns="0" rIns="0" bIns="0" rtlCol="0">
            <a:spAutoFit/>
          </a:bodyPr>
          <a:lstStyle/>
          <a:p>
            <a:r>
              <a:rPr lang="en-IN" sz="1481" b="1">
                <a:solidFill>
                  <a:schemeClr val="tx2"/>
                </a:solidFill>
                <a:ea typeface="Lato Regular" panose="020F0502020204030203" pitchFamily="34" charset="0"/>
                <a:cs typeface="Lato Regular" panose="020F0502020204030203" pitchFamily="34" charset="0"/>
              </a:rPr>
              <a:t>Key Performance Indicators</a:t>
            </a:r>
          </a:p>
        </p:txBody>
      </p:sp>
      <p:sp>
        <p:nvSpPr>
          <p:cNvPr id="7" name="Rectangle 6">
            <a:extLst>
              <a:ext uri="{FF2B5EF4-FFF2-40B4-BE49-F238E27FC236}">
                <a16:creationId xmlns:a16="http://schemas.microsoft.com/office/drawing/2014/main" id="{B35C4BB9-DCD2-1AAD-5169-DC69C927BAD9}"/>
              </a:ext>
            </a:extLst>
          </p:cNvPr>
          <p:cNvSpPr/>
          <p:nvPr/>
        </p:nvSpPr>
        <p:spPr>
          <a:xfrm>
            <a:off x="562116" y="1815136"/>
            <a:ext cx="4195514" cy="1631216"/>
          </a:xfrm>
          <a:prstGeom prst="rect">
            <a:avLst/>
          </a:prstGeom>
        </p:spPr>
        <p:txBody>
          <a:bodyPr wrap="square" lIns="0" tIns="0" rIns="0" bIns="0">
            <a:spAutoFit/>
          </a:bodyPr>
          <a:lstStyle/>
          <a:p>
            <a:pPr marL="171450" indent="-171450" algn="just">
              <a:spcAft>
                <a:spcPts val="600"/>
              </a:spcAft>
              <a:buFont typeface="Arial" panose="020B0604020202020204" pitchFamily="34" charset="0"/>
              <a:buChar char="•"/>
            </a:pPr>
            <a:r>
              <a:rPr lang="en-US" sz="1200">
                <a:solidFill>
                  <a:schemeClr val="bg2">
                    <a:lumMod val="10000"/>
                  </a:schemeClr>
                </a:solidFill>
                <a:ea typeface="Calibri"/>
                <a:cs typeface="Calibri"/>
                <a:sym typeface="Calibri"/>
              </a:rPr>
              <a:t>The company offers industry-agnostic cloud-based CRM, Loyalty and Conversational Commerce solutions that enable seamless omnichannel customer experience</a:t>
            </a:r>
          </a:p>
          <a:p>
            <a:pPr marL="171450" indent="-171450" algn="just">
              <a:spcAft>
                <a:spcPts val="600"/>
              </a:spcAft>
              <a:buFont typeface="Arial" panose="020B0604020202020204" pitchFamily="34" charset="0"/>
              <a:buChar char="•"/>
            </a:pPr>
            <a:r>
              <a:rPr lang="en-US" sz="1200">
                <a:solidFill>
                  <a:schemeClr val="bg2">
                    <a:lumMod val="10000"/>
                  </a:schemeClr>
                </a:solidFill>
                <a:ea typeface="Calibri"/>
                <a:cs typeface="Calibri"/>
                <a:sym typeface="Calibri"/>
              </a:rPr>
              <a:t>Core competencies include SaaS Technology, Loyalty Platform as a Service, Consumer Analytics. They run Loyalty Program for Banks and Online Platforms</a:t>
            </a:r>
          </a:p>
          <a:p>
            <a:pPr marL="171450" indent="-171450" algn="just">
              <a:spcAft>
                <a:spcPts val="600"/>
              </a:spcAft>
              <a:buFont typeface="Arial" panose="020B0604020202020204" pitchFamily="34" charset="0"/>
              <a:buChar char="•"/>
            </a:pPr>
            <a:r>
              <a:rPr lang="en-US" sz="1200">
                <a:solidFill>
                  <a:schemeClr val="bg2">
                    <a:lumMod val="10000"/>
                  </a:schemeClr>
                </a:solidFill>
                <a:ea typeface="Calibri"/>
                <a:cs typeface="Calibri"/>
                <a:sym typeface="Calibri"/>
              </a:rPr>
              <a:t>The company is widespread across more than 220+ brands, 25,000+ stores/branches. </a:t>
            </a:r>
          </a:p>
        </p:txBody>
      </p:sp>
      <p:sp>
        <p:nvSpPr>
          <p:cNvPr id="11" name="TextBox 10">
            <a:extLst>
              <a:ext uri="{FF2B5EF4-FFF2-40B4-BE49-F238E27FC236}">
                <a16:creationId xmlns:a16="http://schemas.microsoft.com/office/drawing/2014/main" id="{317F4C15-1EEC-CE41-F8BA-FDD7CD772C60}"/>
              </a:ext>
            </a:extLst>
          </p:cNvPr>
          <p:cNvSpPr txBox="1"/>
          <p:nvPr/>
        </p:nvSpPr>
        <p:spPr>
          <a:xfrm>
            <a:off x="499141" y="4073915"/>
            <a:ext cx="4408262" cy="2277547"/>
          </a:xfrm>
          <a:prstGeom prst="rect">
            <a:avLst/>
          </a:prstGeom>
          <a:noFill/>
        </p:spPr>
        <p:txBody>
          <a:bodyPr wrap="square" lIns="91440" tIns="45720" rIns="91440" bIns="45720" rtlCol="0" anchor="t">
            <a:spAutoFit/>
          </a:bodyPr>
          <a:lstStyle/>
          <a:p>
            <a:pPr marL="171450" indent="-171450" algn="just">
              <a:spcAft>
                <a:spcPts val="600"/>
              </a:spcAft>
              <a:buFont typeface="Arial,Sans-Serif" panose="020B0604020202020204" pitchFamily="34" charset="0"/>
              <a:buChar char="•"/>
            </a:pPr>
            <a:r>
              <a:rPr lang="en-IN" sz="1200">
                <a:solidFill>
                  <a:schemeClr val="bg2">
                    <a:lumMod val="10000"/>
                  </a:schemeClr>
                </a:solidFill>
                <a:ea typeface="Lato Regular"/>
                <a:cs typeface="Lato Regular"/>
              </a:rPr>
              <a:t>The company reported strong quarterly momentum in Q4FY26, with </a:t>
            </a:r>
            <a:r>
              <a:rPr lang="en-IN" sz="1200" b="1">
                <a:solidFill>
                  <a:schemeClr val="bg2">
                    <a:lumMod val="10000"/>
                  </a:schemeClr>
                </a:solidFill>
                <a:ea typeface="Lato Regular"/>
                <a:cs typeface="Lato Regular"/>
              </a:rPr>
              <a:t>net revenue increasing to INR 24.1 </a:t>
            </a:r>
            <a:r>
              <a:rPr lang="en-IN" sz="1200">
                <a:solidFill>
                  <a:schemeClr val="bg2">
                    <a:lumMod val="10000"/>
                  </a:schemeClr>
                </a:solidFill>
                <a:ea typeface="Lato Regular"/>
                <a:cs typeface="Lato Regular"/>
              </a:rPr>
              <a:t>Cr from INR 19.4 Cr in Q4FY25 (+24.2% YoY), driven by higher campaign-led revenues and improved client activation during the year‑end period.</a:t>
            </a:r>
            <a:endParaRPr lang="en-US" sz="1200">
              <a:solidFill>
                <a:schemeClr val="bg2">
                  <a:lumMod val="10000"/>
                </a:schemeClr>
              </a:solidFill>
              <a:ea typeface="Lato Regular"/>
              <a:cs typeface="Lato Regular"/>
            </a:endParaRPr>
          </a:p>
          <a:p>
            <a:pPr marL="171450" indent="-171450" algn="just">
              <a:spcAft>
                <a:spcPts val="600"/>
              </a:spcAft>
              <a:buFont typeface="Arial,Sans-Serif" panose="020B0604020202020204" pitchFamily="34" charset="0"/>
              <a:buChar char="•"/>
            </a:pPr>
            <a:r>
              <a:rPr lang="en-IN" sz="1200">
                <a:solidFill>
                  <a:srgbClr val="242424"/>
                </a:solidFill>
                <a:highlight>
                  <a:srgbClr val="FFFFFF"/>
                </a:highlight>
                <a:ea typeface="Lato Regular"/>
                <a:cs typeface="Lato Regular"/>
              </a:rPr>
              <a:t>A patient turnaround. </a:t>
            </a:r>
            <a:r>
              <a:rPr lang="en-IN" sz="1200" b="1">
                <a:solidFill>
                  <a:srgbClr val="242424"/>
                </a:solidFill>
                <a:highlight>
                  <a:srgbClr val="FFFFFF"/>
                </a:highlight>
                <a:ea typeface="Lato Regular"/>
                <a:cs typeface="Lato Regular"/>
              </a:rPr>
              <a:t>EBITDA flipped from -₹4.6 Cr in FY25 to +₹0.3 Cr in FY26</a:t>
            </a:r>
            <a:r>
              <a:rPr lang="en-IN" sz="1200">
                <a:solidFill>
                  <a:srgbClr val="242424"/>
                </a:solidFill>
                <a:highlight>
                  <a:srgbClr val="FFFFFF"/>
                </a:highlight>
                <a:ea typeface="Lato Regular"/>
                <a:cs typeface="Lato Regular"/>
              </a:rPr>
              <a:t>, and turned positive in Q4 at ₹0.5 Cr. New product launch: </a:t>
            </a:r>
            <a:r>
              <a:rPr lang="en-IN" sz="1200" b="1" err="1">
                <a:solidFill>
                  <a:srgbClr val="242424"/>
                </a:solidFill>
                <a:highlight>
                  <a:srgbClr val="FFFFFF"/>
                </a:highlight>
                <a:ea typeface="Lato Regular"/>
                <a:cs typeface="Lato Regular"/>
              </a:rPr>
              <a:t>OneConsent</a:t>
            </a:r>
            <a:r>
              <a:rPr lang="en-IN" sz="1200">
                <a:solidFill>
                  <a:srgbClr val="242424"/>
                </a:solidFill>
                <a:highlight>
                  <a:srgbClr val="FFFFFF"/>
                </a:highlight>
                <a:ea typeface="Lato Regular"/>
                <a:cs typeface="Lato Regular"/>
              </a:rPr>
              <a:t>, a CDP for managing user consent across marketing channels. </a:t>
            </a:r>
            <a:endParaRPr lang="en-IN" sz="1200">
              <a:solidFill>
                <a:srgbClr val="171717"/>
              </a:solidFill>
              <a:ea typeface="Lato Regular"/>
              <a:cs typeface="Lato Regular"/>
            </a:endParaRPr>
          </a:p>
          <a:p>
            <a:pPr marL="171450" indent="-171450" algn="just">
              <a:spcAft>
                <a:spcPts val="600"/>
              </a:spcAft>
              <a:buFont typeface="Arial,Sans-Serif" panose="020B0604020202020204" pitchFamily="34" charset="0"/>
              <a:buChar char="•"/>
            </a:pPr>
            <a:r>
              <a:rPr lang="en-IN" sz="1200">
                <a:solidFill>
                  <a:srgbClr val="242424"/>
                </a:solidFill>
                <a:highlight>
                  <a:srgbClr val="FFFFFF"/>
                </a:highlight>
                <a:ea typeface="Lato Regular"/>
                <a:cs typeface="Lato Regular"/>
              </a:rPr>
              <a:t>The MOIC isn't impressive yet — but profitable companies tend to find their multiple eventually. The reverse is far rarer.</a:t>
            </a:r>
            <a:endParaRPr lang="en-IN" sz="1200">
              <a:solidFill>
                <a:schemeClr val="bg2">
                  <a:lumMod val="10000"/>
                </a:schemeClr>
              </a:solidFill>
              <a:ea typeface="Lato Regular"/>
              <a:cs typeface="Lato Regular"/>
            </a:endParaRPr>
          </a:p>
        </p:txBody>
      </p:sp>
      <p:graphicFrame>
        <p:nvGraphicFramePr>
          <p:cNvPr id="13" name="Table 12">
            <a:extLst>
              <a:ext uri="{FF2B5EF4-FFF2-40B4-BE49-F238E27FC236}">
                <a16:creationId xmlns:a16="http://schemas.microsoft.com/office/drawing/2014/main" id="{E7DC5ADA-8E70-DFDE-1168-DBD19644A7C3}"/>
              </a:ext>
            </a:extLst>
          </p:cNvPr>
          <p:cNvGraphicFramePr>
            <a:graphicFrameLocks noGrp="1"/>
          </p:cNvGraphicFramePr>
          <p:nvPr>
            <p:extLst>
              <p:ext uri="{D42A27DB-BD31-4B8C-83A1-F6EECF244321}">
                <p14:modId xmlns:p14="http://schemas.microsoft.com/office/powerpoint/2010/main" val="3707289710"/>
              </p:ext>
            </p:extLst>
          </p:nvPr>
        </p:nvGraphicFramePr>
        <p:xfrm>
          <a:off x="5539984" y="1815207"/>
          <a:ext cx="5814676" cy="1142388"/>
        </p:xfrm>
        <a:graphic>
          <a:graphicData uri="http://schemas.openxmlformats.org/drawingml/2006/table">
            <a:tbl>
              <a:tblPr firstRow="1" bandRow="1">
                <a:tableStyleId>{69012ECD-51FC-41F1-AA8D-1B2483CD663E}</a:tableStyleId>
              </a:tblPr>
              <a:tblGrid>
                <a:gridCol w="2074545">
                  <a:extLst>
                    <a:ext uri="{9D8B030D-6E8A-4147-A177-3AD203B41FA5}">
                      <a16:colId xmlns:a16="http://schemas.microsoft.com/office/drawing/2014/main" val="3001066899"/>
                    </a:ext>
                  </a:extLst>
                </a:gridCol>
                <a:gridCol w="860283">
                  <a:extLst>
                    <a:ext uri="{9D8B030D-6E8A-4147-A177-3AD203B41FA5}">
                      <a16:colId xmlns:a16="http://schemas.microsoft.com/office/drawing/2014/main" val="700748351"/>
                    </a:ext>
                  </a:extLst>
                </a:gridCol>
                <a:gridCol w="719962">
                  <a:extLst>
                    <a:ext uri="{9D8B030D-6E8A-4147-A177-3AD203B41FA5}">
                      <a16:colId xmlns:a16="http://schemas.microsoft.com/office/drawing/2014/main" val="3274968397"/>
                    </a:ext>
                  </a:extLst>
                </a:gridCol>
                <a:gridCol w="719962">
                  <a:extLst>
                    <a:ext uri="{9D8B030D-6E8A-4147-A177-3AD203B41FA5}">
                      <a16:colId xmlns:a16="http://schemas.microsoft.com/office/drawing/2014/main" val="3607597589"/>
                    </a:ext>
                  </a:extLst>
                </a:gridCol>
                <a:gridCol w="719962">
                  <a:extLst>
                    <a:ext uri="{9D8B030D-6E8A-4147-A177-3AD203B41FA5}">
                      <a16:colId xmlns:a16="http://schemas.microsoft.com/office/drawing/2014/main" val="746035582"/>
                    </a:ext>
                  </a:extLst>
                </a:gridCol>
                <a:gridCol w="719962">
                  <a:extLst>
                    <a:ext uri="{9D8B030D-6E8A-4147-A177-3AD203B41FA5}">
                      <a16:colId xmlns:a16="http://schemas.microsoft.com/office/drawing/2014/main" val="2799431461"/>
                    </a:ext>
                  </a:extLst>
                </a:gridCol>
              </a:tblGrid>
              <a:tr h="262575">
                <a:tc>
                  <a:txBody>
                    <a:bodyPr/>
                    <a:lstStyle/>
                    <a:p>
                      <a:pPr algn="l" fontAlgn="b">
                        <a:buNone/>
                      </a:pPr>
                      <a:r>
                        <a:rPr lang="en-US" sz="110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rPr>
                        <a:t>KPIs</a:t>
                      </a:r>
                    </a:p>
                  </a:txBody>
                  <a:tcPr marL="72000" marR="6350" marT="6350" marB="0" anchor="ctr"/>
                </a:tc>
                <a:tc>
                  <a:txBody>
                    <a:bodyPr/>
                    <a:lstStyle/>
                    <a:p>
                      <a:pPr algn="ctr" fontAlgn="b">
                        <a:buNone/>
                      </a:pPr>
                      <a:r>
                        <a:rPr lang="en-US" sz="110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rPr>
                        <a:t>FY24</a:t>
                      </a:r>
                    </a:p>
                  </a:txBody>
                  <a:tcPr marL="6350" marR="6350" marT="6350" marB="0" anchor="ctr"/>
                </a:tc>
                <a:tc>
                  <a:txBody>
                    <a:bodyPr/>
                    <a:lstStyle/>
                    <a:p>
                      <a:pPr algn="ctr" fontAlgn="b">
                        <a:buNone/>
                      </a:pPr>
                      <a:r>
                        <a:rPr lang="en-US" sz="110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rPr>
                        <a:t>FY25</a:t>
                      </a:r>
                    </a:p>
                  </a:txBody>
                  <a:tcPr marL="6350" marR="6350" marT="6350" marB="0" anchor="ctr"/>
                </a:tc>
                <a:tc>
                  <a:txBody>
                    <a:bodyPr/>
                    <a:lstStyle/>
                    <a:p>
                      <a:pPr algn="ctr" fontAlgn="b">
                        <a:buNone/>
                      </a:pPr>
                      <a:r>
                        <a:rPr lang="en-US" sz="1100" b="1" i="0" u="none" strike="noStrike">
                          <a:solidFill>
                            <a:schemeClr val="bg1"/>
                          </a:solidFill>
                          <a:effectLst/>
                          <a:latin typeface="Aptos"/>
                          <a:ea typeface="Lato Regular"/>
                          <a:cs typeface="Lato Regular"/>
                        </a:rPr>
                        <a:t>FY26</a:t>
                      </a:r>
                      <a:endParaRPr lang="en-US" sz="110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100" b="1" i="0" u="none" strike="noStrike">
                          <a:solidFill>
                            <a:schemeClr val="bg1"/>
                          </a:solidFill>
                          <a:effectLst/>
                          <a:latin typeface="Aptos"/>
                          <a:ea typeface="Lato Regular"/>
                          <a:cs typeface="Lato Regular"/>
                        </a:rPr>
                        <a:t>Q4FY25</a:t>
                      </a:r>
                      <a:endParaRPr lang="en-US" sz="110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100" b="1" i="0" u="none" strike="noStrike">
                          <a:solidFill>
                            <a:schemeClr val="bg1"/>
                          </a:solidFill>
                          <a:effectLst/>
                          <a:latin typeface="Aptos"/>
                          <a:ea typeface="Lato Regular"/>
                          <a:cs typeface="Lato Regular"/>
                        </a:rPr>
                        <a:t>Q4FY26</a:t>
                      </a:r>
                      <a:endParaRPr lang="en-US" sz="110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extLst>
                  <a:ext uri="{0D108BD9-81ED-4DB2-BD59-A6C34878D82A}">
                    <a16:rowId xmlns:a16="http://schemas.microsoft.com/office/drawing/2014/main" val="3735237806"/>
                  </a:ext>
                </a:extLst>
              </a:tr>
              <a:tr h="293271">
                <a:tc>
                  <a:txBody>
                    <a:bodyPr/>
                    <a:lstStyle/>
                    <a:p>
                      <a:pPr algn="l" fontAlgn="b"/>
                      <a:r>
                        <a:rPr lang="en-US" sz="1100" b="0"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Platform Revenue</a:t>
                      </a:r>
                    </a:p>
                  </a:txBody>
                  <a:tcPr marL="72000" marR="6350" marT="6350" marB="0" anchor="ctr"/>
                </a:tc>
                <a:tc>
                  <a:txBody>
                    <a:bodyPr/>
                    <a:lstStyle/>
                    <a:p>
                      <a:pPr algn="ctr" fontAlgn="b">
                        <a:buNone/>
                      </a:pPr>
                      <a:r>
                        <a:rPr lang="en-US" sz="1100" b="0"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64%</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67%</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Aptos"/>
                          <a:ea typeface="Lato Regular"/>
                          <a:cs typeface="Lato Regular"/>
                        </a:rPr>
                        <a:t>59%</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Aptos"/>
                          <a:ea typeface="Lato Regular"/>
                          <a:cs typeface="Lato Regular"/>
                        </a:rPr>
                        <a:t>65%</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Aptos"/>
                          <a:ea typeface="Lato Regular"/>
                          <a:cs typeface="Lato Regular"/>
                        </a:rPr>
                        <a:t>53%</a:t>
                      </a:r>
                    </a:p>
                  </a:txBody>
                  <a:tcPr marL="6350" marR="6350" marT="6350" marB="0" anchor="ctr"/>
                </a:tc>
                <a:extLst>
                  <a:ext uri="{0D108BD9-81ED-4DB2-BD59-A6C34878D82A}">
                    <a16:rowId xmlns:a16="http://schemas.microsoft.com/office/drawing/2014/main" val="2159784742"/>
                  </a:ext>
                </a:extLst>
              </a:tr>
              <a:tr h="293271">
                <a:tc>
                  <a:txBody>
                    <a:bodyPr/>
                    <a:lstStyle/>
                    <a:p>
                      <a:pPr algn="l" fontAlgn="b"/>
                      <a:r>
                        <a:rPr lang="en-US" sz="1100" b="0" i="0" u="none" strike="noStrike" err="1">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SetUp</a:t>
                      </a:r>
                      <a:r>
                        <a:rPr lang="en-US" sz="1100" b="0"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 revenue</a:t>
                      </a:r>
                    </a:p>
                  </a:txBody>
                  <a:tcPr marL="72000" marR="6350" marT="6350" marB="0" anchor="ctr"/>
                </a:tc>
                <a:tc>
                  <a:txBody>
                    <a:bodyPr/>
                    <a:lstStyle/>
                    <a:p>
                      <a:pPr algn="ctr" fontAlgn="b">
                        <a:buNone/>
                      </a:pPr>
                      <a:r>
                        <a:rPr lang="en-US" sz="1100" b="0"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12%</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9%</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Aptos"/>
                          <a:ea typeface="Lato Regular"/>
                          <a:cs typeface="Lato Regular"/>
                        </a:rPr>
                        <a:t>6%</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Aptos"/>
                          <a:ea typeface="Lato Regular"/>
                          <a:cs typeface="Lato Regular"/>
                        </a:rPr>
                        <a:t>9%</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Aptos"/>
                          <a:ea typeface="Lato Regular"/>
                          <a:cs typeface="Lato Regular"/>
                        </a:rPr>
                        <a:t>6%</a:t>
                      </a:r>
                    </a:p>
                  </a:txBody>
                  <a:tcPr marL="6350" marR="6350" marT="6350" marB="0" anchor="ctr"/>
                </a:tc>
                <a:extLst>
                  <a:ext uri="{0D108BD9-81ED-4DB2-BD59-A6C34878D82A}">
                    <a16:rowId xmlns:a16="http://schemas.microsoft.com/office/drawing/2014/main" val="2809398452"/>
                  </a:ext>
                </a:extLst>
              </a:tr>
              <a:tr h="293271">
                <a:tc>
                  <a:txBody>
                    <a:bodyPr/>
                    <a:lstStyle/>
                    <a:p>
                      <a:pPr algn="l" fontAlgn="b"/>
                      <a:r>
                        <a:rPr lang="en-US" sz="1100" b="0"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Campaign Management</a:t>
                      </a:r>
                    </a:p>
                  </a:txBody>
                  <a:tcPr marL="72000" marR="6350" marT="6350" marB="0" anchor="ctr"/>
                </a:tc>
                <a:tc>
                  <a:txBody>
                    <a:bodyPr/>
                    <a:lstStyle/>
                    <a:p>
                      <a:pPr algn="ctr" fontAlgn="b">
                        <a:buNone/>
                      </a:pPr>
                      <a:r>
                        <a:rPr lang="en-US" sz="1100" b="0"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24%</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24%</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Aptos"/>
                          <a:ea typeface="Lato Regular"/>
                          <a:cs typeface="Lato Regular"/>
                        </a:rPr>
                        <a:t>35%</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Aptos"/>
                          <a:ea typeface="Lato Regular"/>
                          <a:cs typeface="Lato Regular"/>
                        </a:rPr>
                        <a:t>26%</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Aptos"/>
                          <a:ea typeface="Lato Regular"/>
                          <a:cs typeface="Lato Regular"/>
                        </a:rPr>
                        <a:t>41%</a:t>
                      </a:r>
                    </a:p>
                  </a:txBody>
                  <a:tcPr marL="6350" marR="6350" marT="6350" marB="0" anchor="ctr"/>
                </a:tc>
                <a:extLst>
                  <a:ext uri="{0D108BD9-81ED-4DB2-BD59-A6C34878D82A}">
                    <a16:rowId xmlns:a16="http://schemas.microsoft.com/office/drawing/2014/main" val="4076501595"/>
                  </a:ext>
                </a:extLst>
              </a:tr>
            </a:tbl>
          </a:graphicData>
        </a:graphic>
      </p:graphicFrame>
      <p:cxnSp>
        <p:nvCxnSpPr>
          <p:cNvPr id="21" name="Straight Connector 20">
            <a:extLst>
              <a:ext uri="{FF2B5EF4-FFF2-40B4-BE49-F238E27FC236}">
                <a16:creationId xmlns:a16="http://schemas.microsoft.com/office/drawing/2014/main" id="{DADB4C34-5D51-716F-CBF3-16588745EBA1}"/>
              </a:ext>
            </a:extLst>
          </p:cNvPr>
          <p:cNvCxnSpPr>
            <a:cxnSpLocks/>
          </p:cNvCxnSpPr>
          <p:nvPr/>
        </p:nvCxnSpPr>
        <p:spPr>
          <a:xfrm>
            <a:off x="8254347" y="536026"/>
            <a:ext cx="0" cy="320217"/>
          </a:xfrm>
          <a:prstGeom prst="line">
            <a:avLst/>
          </a:prstGeom>
          <a:ln/>
        </p:spPr>
        <p:style>
          <a:lnRef idx="1">
            <a:schemeClr val="accent1"/>
          </a:lnRef>
          <a:fillRef idx="0">
            <a:schemeClr val="accent1"/>
          </a:fillRef>
          <a:effectRef idx="0">
            <a:schemeClr val="accent1"/>
          </a:effectRef>
          <a:fontRef idx="minor">
            <a:schemeClr val="tx1"/>
          </a:fontRef>
        </p:style>
      </p:cxnSp>
      <p:pic>
        <p:nvPicPr>
          <p:cNvPr id="10" name="Picture 2" descr="Our Logo - Easyrewardz">
            <a:extLst>
              <a:ext uri="{FF2B5EF4-FFF2-40B4-BE49-F238E27FC236}">
                <a16:creationId xmlns:a16="http://schemas.microsoft.com/office/drawing/2014/main" id="{0C27555B-9758-DE46-60D8-F31F2EBA6F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32741" y="536026"/>
            <a:ext cx="1172051" cy="34868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2" name="Table 11">
            <a:extLst>
              <a:ext uri="{FF2B5EF4-FFF2-40B4-BE49-F238E27FC236}">
                <a16:creationId xmlns:a16="http://schemas.microsoft.com/office/drawing/2014/main" id="{BF67DD7C-C289-E1E0-538E-5F0A4975B272}"/>
              </a:ext>
            </a:extLst>
          </p:cNvPr>
          <p:cNvGraphicFramePr>
            <a:graphicFrameLocks noGrp="1"/>
          </p:cNvGraphicFramePr>
          <p:nvPr/>
        </p:nvGraphicFramePr>
        <p:xfrm>
          <a:off x="5539984" y="4144253"/>
          <a:ext cx="5784872" cy="1969165"/>
        </p:xfrm>
        <a:graphic>
          <a:graphicData uri="http://schemas.openxmlformats.org/drawingml/2006/table">
            <a:tbl>
              <a:tblPr firstRow="1" bandRow="1">
                <a:tableStyleId>{72833802-FEF1-4C79-8D5D-14CF1EAF98D9}</a:tableStyleId>
              </a:tblPr>
              <a:tblGrid>
                <a:gridCol w="1892382">
                  <a:extLst>
                    <a:ext uri="{9D8B030D-6E8A-4147-A177-3AD203B41FA5}">
                      <a16:colId xmlns:a16="http://schemas.microsoft.com/office/drawing/2014/main" val="3001066899"/>
                    </a:ext>
                  </a:extLst>
                </a:gridCol>
                <a:gridCol w="778498">
                  <a:extLst>
                    <a:ext uri="{9D8B030D-6E8A-4147-A177-3AD203B41FA5}">
                      <a16:colId xmlns:a16="http://schemas.microsoft.com/office/drawing/2014/main" val="700748351"/>
                    </a:ext>
                  </a:extLst>
                </a:gridCol>
                <a:gridCol w="778498">
                  <a:extLst>
                    <a:ext uri="{9D8B030D-6E8A-4147-A177-3AD203B41FA5}">
                      <a16:colId xmlns:a16="http://schemas.microsoft.com/office/drawing/2014/main" val="3274968397"/>
                    </a:ext>
                  </a:extLst>
                </a:gridCol>
                <a:gridCol w="778498">
                  <a:extLst>
                    <a:ext uri="{9D8B030D-6E8A-4147-A177-3AD203B41FA5}">
                      <a16:colId xmlns:a16="http://schemas.microsoft.com/office/drawing/2014/main" val="3607597589"/>
                    </a:ext>
                  </a:extLst>
                </a:gridCol>
                <a:gridCol w="778498">
                  <a:extLst>
                    <a:ext uri="{9D8B030D-6E8A-4147-A177-3AD203B41FA5}">
                      <a16:colId xmlns:a16="http://schemas.microsoft.com/office/drawing/2014/main" val="746035582"/>
                    </a:ext>
                  </a:extLst>
                </a:gridCol>
                <a:gridCol w="778498">
                  <a:extLst>
                    <a:ext uri="{9D8B030D-6E8A-4147-A177-3AD203B41FA5}">
                      <a16:colId xmlns:a16="http://schemas.microsoft.com/office/drawing/2014/main" val="3336224203"/>
                    </a:ext>
                  </a:extLst>
                </a:gridCol>
              </a:tblGrid>
              <a:tr h="276035">
                <a:tc>
                  <a:txBody>
                    <a:bodyPr/>
                    <a:lstStyle/>
                    <a:p>
                      <a:pPr algn="l" fontAlgn="b">
                        <a:buNone/>
                      </a:pPr>
                      <a:r>
                        <a:rPr lang="en-US" sz="110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rPr>
                        <a:t>INR Cr.</a:t>
                      </a:r>
                    </a:p>
                  </a:txBody>
                  <a:tcPr marL="72000" marR="6350" marT="6350" marB="0" anchor="ctr"/>
                </a:tc>
                <a:tc>
                  <a:txBody>
                    <a:bodyPr/>
                    <a:lstStyle/>
                    <a:p>
                      <a:pPr algn="ctr" fontAlgn="b">
                        <a:buNone/>
                      </a:pPr>
                      <a:r>
                        <a:rPr lang="en-US" sz="110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rPr>
                        <a:t>FY24</a:t>
                      </a:r>
                    </a:p>
                  </a:txBody>
                  <a:tcPr marL="6350" marR="6350" marT="6350" marB="0" anchor="ctr"/>
                </a:tc>
                <a:tc>
                  <a:txBody>
                    <a:bodyPr/>
                    <a:lstStyle/>
                    <a:p>
                      <a:pPr algn="ctr" fontAlgn="b">
                        <a:buNone/>
                      </a:pPr>
                      <a:r>
                        <a:rPr lang="en-US" sz="110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rPr>
                        <a:t>FY25</a:t>
                      </a:r>
                    </a:p>
                  </a:txBody>
                  <a:tcPr marL="6350" marR="6350" marT="6350" marB="0" anchor="ctr"/>
                </a:tc>
                <a:tc>
                  <a:txBody>
                    <a:bodyPr/>
                    <a:lstStyle/>
                    <a:p>
                      <a:pPr algn="ctr" fontAlgn="b">
                        <a:buNone/>
                      </a:pPr>
                      <a:r>
                        <a:rPr lang="en-US" sz="1100" b="1" i="0" u="none" strike="noStrike">
                          <a:solidFill>
                            <a:schemeClr val="bg1"/>
                          </a:solidFill>
                          <a:effectLst/>
                          <a:latin typeface="Aptos"/>
                          <a:ea typeface="Lato Regular"/>
                          <a:cs typeface="Lato Regular"/>
                        </a:rPr>
                        <a:t>FY26</a:t>
                      </a:r>
                      <a:endParaRPr lang="en-US" sz="110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100" b="1" i="0" u="none" strike="noStrike">
                          <a:solidFill>
                            <a:schemeClr val="bg1"/>
                          </a:solidFill>
                          <a:effectLst/>
                          <a:latin typeface="Aptos"/>
                          <a:ea typeface="Lato Regular"/>
                          <a:cs typeface="Lato Regular"/>
                        </a:rPr>
                        <a:t>Q4FY25</a:t>
                      </a:r>
                      <a:endParaRPr lang="en-US" sz="110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100" b="1" i="0" u="none" strike="noStrike">
                          <a:solidFill>
                            <a:schemeClr val="bg1"/>
                          </a:solidFill>
                          <a:effectLst/>
                          <a:latin typeface="Aptos"/>
                          <a:ea typeface="Lato Regular"/>
                          <a:cs typeface="Lato Regular"/>
                        </a:rPr>
                        <a:t>Q4FY26</a:t>
                      </a:r>
                      <a:endParaRPr lang="en-US" sz="110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extLst>
                  <a:ext uri="{0D108BD9-81ED-4DB2-BD59-A6C34878D82A}">
                    <a16:rowId xmlns:a16="http://schemas.microsoft.com/office/drawing/2014/main" val="3735237806"/>
                  </a:ext>
                </a:extLst>
              </a:tr>
              <a:tr h="276035">
                <a:tc>
                  <a:txBody>
                    <a:bodyPr/>
                    <a:lstStyle/>
                    <a:p>
                      <a:pPr algn="l" fontAlgn="b">
                        <a:buNone/>
                      </a:pPr>
                      <a:r>
                        <a:rPr lang="en-US" sz="1100" b="1"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Net Revenue</a:t>
                      </a:r>
                    </a:p>
                  </a:txBody>
                  <a:tcPr marL="72000" marR="6350" marT="6350" marB="0" anchor="ctr"/>
                </a:tc>
                <a:tc>
                  <a:txBody>
                    <a:bodyPr/>
                    <a:lstStyle/>
                    <a:p>
                      <a:pPr algn="ctr" fontAlgn="b">
                        <a:buNone/>
                      </a:pPr>
                      <a:r>
                        <a:rPr lang="en-US" sz="1100" b="1"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73.2</a:t>
                      </a:r>
                    </a:p>
                  </a:txBody>
                  <a:tcPr marL="6350" marR="6350" marT="6350" marB="0" anchor="ctr"/>
                </a:tc>
                <a:tc>
                  <a:txBody>
                    <a:bodyPr/>
                    <a:lstStyle/>
                    <a:p>
                      <a:pPr algn="ctr" fontAlgn="b">
                        <a:buNone/>
                      </a:pPr>
                      <a:r>
                        <a:rPr lang="en-US" sz="1100" b="1"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75.3</a:t>
                      </a:r>
                    </a:p>
                  </a:txBody>
                  <a:tcPr marL="6350" marR="6350" marT="6350" marB="0" anchor="ctr"/>
                </a:tc>
                <a:tc>
                  <a:txBody>
                    <a:bodyPr/>
                    <a:lstStyle/>
                    <a:p>
                      <a:pPr algn="ctr" fontAlgn="b">
                        <a:buNone/>
                      </a:pPr>
                      <a:r>
                        <a:rPr lang="en-US" sz="1100" b="1" i="0" u="none" strike="noStrike">
                          <a:solidFill>
                            <a:srgbClr val="000000"/>
                          </a:solidFill>
                          <a:effectLst/>
                          <a:latin typeface="+mn-lt"/>
                        </a:rPr>
                        <a:t>87.6</a:t>
                      </a:r>
                    </a:p>
                  </a:txBody>
                  <a:tcPr marL="6350" marR="6350" marT="6350" marB="0" anchor="ctr"/>
                </a:tc>
                <a:tc>
                  <a:txBody>
                    <a:bodyPr/>
                    <a:lstStyle/>
                    <a:p>
                      <a:pPr algn="ctr" fontAlgn="b">
                        <a:buNone/>
                      </a:pPr>
                      <a:r>
                        <a:rPr lang="en-US" sz="1100" b="1" i="0" u="none" strike="noStrike">
                          <a:solidFill>
                            <a:srgbClr val="000000"/>
                          </a:solidFill>
                          <a:effectLst/>
                          <a:latin typeface="+mn-lt"/>
                        </a:rPr>
                        <a:t>19.4</a:t>
                      </a:r>
                    </a:p>
                  </a:txBody>
                  <a:tcPr marL="6350" marR="6350" marT="6350" marB="0" anchor="ctr"/>
                </a:tc>
                <a:tc>
                  <a:txBody>
                    <a:bodyPr/>
                    <a:lstStyle/>
                    <a:p>
                      <a:pPr algn="ctr" fontAlgn="b">
                        <a:buNone/>
                      </a:pPr>
                      <a:r>
                        <a:rPr lang="en-US" sz="1100" b="1" i="0" u="none" strike="noStrike">
                          <a:solidFill>
                            <a:srgbClr val="000000"/>
                          </a:solidFill>
                          <a:effectLst/>
                          <a:latin typeface="+mn-lt"/>
                        </a:rPr>
                        <a:t>24.13</a:t>
                      </a:r>
                    </a:p>
                  </a:txBody>
                  <a:tcPr marL="6350" marR="6350" marT="6350" marB="0" anchor="ctr"/>
                </a:tc>
                <a:extLst>
                  <a:ext uri="{0D108BD9-81ED-4DB2-BD59-A6C34878D82A}">
                    <a16:rowId xmlns:a16="http://schemas.microsoft.com/office/drawing/2014/main" val="2159784742"/>
                  </a:ext>
                </a:extLst>
              </a:tr>
              <a:tr h="276035">
                <a:tc>
                  <a:txBody>
                    <a:bodyPr/>
                    <a:lstStyle/>
                    <a:p>
                      <a:pPr algn="l" fontAlgn="b">
                        <a:buNone/>
                      </a:pPr>
                      <a:r>
                        <a:rPr lang="en-US" sz="1100" b="0"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 Growth YoY</a:t>
                      </a:r>
                    </a:p>
                  </a:txBody>
                  <a:tcPr marL="72000" marR="6350" marT="6350" marB="0" anchor="ctr"/>
                </a:tc>
                <a:tc>
                  <a:txBody>
                    <a:bodyPr/>
                    <a:lstStyle/>
                    <a:p>
                      <a:pPr algn="ctr" fontAlgn="b">
                        <a:buNone/>
                      </a:pPr>
                      <a:r>
                        <a:rPr lang="en-US" sz="1100" b="0"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62.2%</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2.9%</a:t>
                      </a:r>
                    </a:p>
                  </a:txBody>
                  <a:tcPr marL="6350" marR="6350" marT="6350" marB="0" anchor="ctr"/>
                </a:tc>
                <a:tc>
                  <a:txBody>
                    <a:bodyPr/>
                    <a:lstStyle/>
                    <a:p>
                      <a:pPr algn="ctr" fontAlgn="b">
                        <a:buNone/>
                      </a:pPr>
                      <a:r>
                        <a:rPr lang="en-US" sz="1100" b="0" i="0" u="none" strike="noStrike">
                          <a:solidFill>
                            <a:srgbClr val="000000"/>
                          </a:solidFill>
                          <a:effectLst/>
                          <a:latin typeface="+mn-lt"/>
                        </a:rPr>
                        <a:t>16.4%</a:t>
                      </a:r>
                    </a:p>
                  </a:txBody>
                  <a:tcPr marL="6350" marR="6350" marT="6350" marB="0" anchor="ctr"/>
                </a:tc>
                <a:tc>
                  <a:txBody>
                    <a:bodyPr/>
                    <a:lstStyle/>
                    <a:p>
                      <a:pPr algn="ctr" fontAlgn="b">
                        <a:buNone/>
                      </a:pPr>
                      <a:r>
                        <a:rPr lang="en-US" sz="1100" b="0" i="0" u="none" strike="noStrike">
                          <a:solidFill>
                            <a:srgbClr val="000000"/>
                          </a:solidFill>
                          <a:effectLst/>
                          <a:latin typeface="+mn-lt"/>
                        </a:rPr>
                        <a:t>-1.2%</a:t>
                      </a:r>
                    </a:p>
                  </a:txBody>
                  <a:tcPr marL="6350" marR="6350" marT="6350" marB="0" anchor="ctr"/>
                </a:tc>
                <a:tc>
                  <a:txBody>
                    <a:bodyPr/>
                    <a:lstStyle/>
                    <a:p>
                      <a:pPr algn="ctr" fontAlgn="b">
                        <a:buNone/>
                      </a:pPr>
                      <a:r>
                        <a:rPr lang="en-US" sz="1100" b="0" i="0" u="none" strike="noStrike">
                          <a:solidFill>
                            <a:srgbClr val="000000"/>
                          </a:solidFill>
                          <a:effectLst/>
                          <a:latin typeface="+mn-lt"/>
                        </a:rPr>
                        <a:t>24.18%</a:t>
                      </a:r>
                    </a:p>
                  </a:txBody>
                  <a:tcPr marL="6350" marR="6350" marT="6350" marB="0" anchor="ctr"/>
                </a:tc>
                <a:extLst>
                  <a:ext uri="{0D108BD9-81ED-4DB2-BD59-A6C34878D82A}">
                    <a16:rowId xmlns:a16="http://schemas.microsoft.com/office/drawing/2014/main" val="2809398452"/>
                  </a:ext>
                </a:extLst>
              </a:tr>
              <a:tr h="276035">
                <a:tc>
                  <a:txBody>
                    <a:bodyPr/>
                    <a:lstStyle/>
                    <a:p>
                      <a:pPr algn="l" fontAlgn="t">
                        <a:buNone/>
                      </a:pPr>
                      <a:r>
                        <a:rPr lang="en-US" sz="1100" b="0"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Gross Profit</a:t>
                      </a:r>
                    </a:p>
                  </a:txBody>
                  <a:tcPr marL="72000" marR="6350" marT="6350" marB="0" anchor="ctr"/>
                </a:tc>
                <a:tc>
                  <a:txBody>
                    <a:bodyPr/>
                    <a:lstStyle/>
                    <a:p>
                      <a:pPr algn="ctr" fontAlgn="b">
                        <a:buNone/>
                      </a:pPr>
                      <a:r>
                        <a:rPr lang="en-US" sz="1100" b="1"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44.9</a:t>
                      </a:r>
                    </a:p>
                  </a:txBody>
                  <a:tcPr marL="6350" marR="6350" marT="6350" marB="0" anchor="ctr"/>
                </a:tc>
                <a:tc>
                  <a:txBody>
                    <a:bodyPr/>
                    <a:lstStyle/>
                    <a:p>
                      <a:pPr algn="ctr" fontAlgn="b">
                        <a:buNone/>
                      </a:pPr>
                      <a:r>
                        <a:rPr lang="en-US" sz="1100" b="1"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50.6</a:t>
                      </a:r>
                    </a:p>
                  </a:txBody>
                  <a:tcPr marL="6350" marR="6350" marT="6350" marB="0" anchor="ctr"/>
                </a:tc>
                <a:tc>
                  <a:txBody>
                    <a:bodyPr/>
                    <a:lstStyle/>
                    <a:p>
                      <a:pPr algn="ctr" fontAlgn="b">
                        <a:buNone/>
                      </a:pPr>
                      <a:r>
                        <a:rPr lang="en-US" sz="1100" b="1" i="0" u="none" strike="noStrike">
                          <a:solidFill>
                            <a:srgbClr val="000000"/>
                          </a:solidFill>
                          <a:effectLst/>
                          <a:latin typeface="+mn-lt"/>
                        </a:rPr>
                        <a:t>51.5</a:t>
                      </a:r>
                    </a:p>
                  </a:txBody>
                  <a:tcPr marL="6350" marR="6350" marT="6350" marB="0" anchor="ctr"/>
                </a:tc>
                <a:tc>
                  <a:txBody>
                    <a:bodyPr/>
                    <a:lstStyle/>
                    <a:p>
                      <a:pPr algn="ctr" fontAlgn="b">
                        <a:buNone/>
                      </a:pPr>
                      <a:r>
                        <a:rPr lang="en-US" sz="1100" b="1" i="0" u="none" strike="noStrike">
                          <a:solidFill>
                            <a:srgbClr val="000000"/>
                          </a:solidFill>
                          <a:effectLst/>
                          <a:latin typeface="+mn-lt"/>
                        </a:rPr>
                        <a:t>12.8</a:t>
                      </a:r>
                    </a:p>
                  </a:txBody>
                  <a:tcPr marL="6350" marR="6350" marT="6350" marB="0" anchor="ctr"/>
                </a:tc>
                <a:tc>
                  <a:txBody>
                    <a:bodyPr/>
                    <a:lstStyle/>
                    <a:p>
                      <a:pPr algn="ctr" fontAlgn="b">
                        <a:buNone/>
                      </a:pPr>
                      <a:r>
                        <a:rPr lang="en-US" sz="1100" b="1" i="0" u="none" strike="noStrike">
                          <a:solidFill>
                            <a:srgbClr val="000000"/>
                          </a:solidFill>
                          <a:effectLst/>
                          <a:latin typeface="+mn-lt"/>
                        </a:rPr>
                        <a:t>12.4</a:t>
                      </a:r>
                    </a:p>
                  </a:txBody>
                  <a:tcPr marL="6350" marR="6350" marT="6350" marB="0" anchor="ctr"/>
                </a:tc>
                <a:extLst>
                  <a:ext uri="{0D108BD9-81ED-4DB2-BD59-A6C34878D82A}">
                    <a16:rowId xmlns:a16="http://schemas.microsoft.com/office/drawing/2014/main" val="4076501595"/>
                  </a:ext>
                </a:extLst>
              </a:tr>
              <a:tr h="276035">
                <a:tc>
                  <a:txBody>
                    <a:bodyPr/>
                    <a:lstStyle/>
                    <a:p>
                      <a:pPr algn="l" fontAlgn="t">
                        <a:buNone/>
                      </a:pPr>
                      <a:r>
                        <a:rPr lang="en-US" sz="1100" b="1"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 Gross Margin</a:t>
                      </a:r>
                    </a:p>
                  </a:txBody>
                  <a:tcPr marL="72000" marR="6350" marT="6350" marB="0" anchor="ctr"/>
                </a:tc>
                <a:tc>
                  <a:txBody>
                    <a:bodyPr/>
                    <a:lstStyle/>
                    <a:p>
                      <a:pPr algn="ctr" fontAlgn="b">
                        <a:buNone/>
                      </a:pPr>
                      <a:r>
                        <a:rPr lang="en-US" sz="1100" b="0"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61.4%</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67.2%</a:t>
                      </a:r>
                    </a:p>
                  </a:txBody>
                  <a:tcPr marL="6350" marR="6350" marT="6350" marB="0" anchor="ctr"/>
                </a:tc>
                <a:tc>
                  <a:txBody>
                    <a:bodyPr/>
                    <a:lstStyle/>
                    <a:p>
                      <a:pPr algn="ctr" fontAlgn="b">
                        <a:buNone/>
                      </a:pPr>
                      <a:r>
                        <a:rPr lang="en-US" sz="1100" b="0" i="0" u="none" strike="noStrike">
                          <a:solidFill>
                            <a:srgbClr val="000000"/>
                          </a:solidFill>
                          <a:effectLst/>
                          <a:latin typeface="+mn-lt"/>
                        </a:rPr>
                        <a:t>58.8%</a:t>
                      </a:r>
                    </a:p>
                  </a:txBody>
                  <a:tcPr marL="6350" marR="6350" marT="6350" marB="0" anchor="ctr"/>
                </a:tc>
                <a:tc>
                  <a:txBody>
                    <a:bodyPr/>
                    <a:lstStyle/>
                    <a:p>
                      <a:pPr algn="ctr" fontAlgn="b">
                        <a:buNone/>
                      </a:pPr>
                      <a:r>
                        <a:rPr lang="en-US" sz="1100" b="0" i="0" u="none" strike="noStrike">
                          <a:solidFill>
                            <a:srgbClr val="000000"/>
                          </a:solidFill>
                          <a:effectLst/>
                          <a:latin typeface="+mn-lt"/>
                        </a:rPr>
                        <a:t>66.0%</a:t>
                      </a:r>
                    </a:p>
                  </a:txBody>
                  <a:tcPr marL="6350" marR="6350" marT="6350" marB="0" anchor="ctr"/>
                </a:tc>
                <a:tc>
                  <a:txBody>
                    <a:bodyPr/>
                    <a:lstStyle/>
                    <a:p>
                      <a:pPr algn="ctr" fontAlgn="b">
                        <a:buNone/>
                      </a:pPr>
                      <a:r>
                        <a:rPr lang="en-US" sz="1100" b="0" i="0" u="none" strike="noStrike">
                          <a:solidFill>
                            <a:srgbClr val="000000"/>
                          </a:solidFill>
                          <a:effectLst/>
                          <a:latin typeface="+mn-lt"/>
                        </a:rPr>
                        <a:t>51.3%</a:t>
                      </a:r>
                    </a:p>
                  </a:txBody>
                  <a:tcPr marL="6350" marR="6350" marT="6350" marB="0" anchor="ctr"/>
                </a:tc>
                <a:extLst>
                  <a:ext uri="{0D108BD9-81ED-4DB2-BD59-A6C34878D82A}">
                    <a16:rowId xmlns:a16="http://schemas.microsoft.com/office/drawing/2014/main" val="3179895044"/>
                  </a:ext>
                </a:extLst>
              </a:tr>
              <a:tr h="294495">
                <a:tc>
                  <a:txBody>
                    <a:bodyPr/>
                    <a:lstStyle/>
                    <a:p>
                      <a:pPr algn="l" fontAlgn="t">
                        <a:buNone/>
                      </a:pPr>
                      <a:r>
                        <a:rPr lang="en-US" sz="1100" b="0"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EBITDA</a:t>
                      </a:r>
                    </a:p>
                  </a:txBody>
                  <a:tcPr marL="72000" marR="6350" marT="6350" marB="0" anchor="ctr"/>
                </a:tc>
                <a:tc>
                  <a:txBody>
                    <a:bodyPr/>
                    <a:lstStyle/>
                    <a:p>
                      <a:pPr algn="ctr" fontAlgn="b">
                        <a:buNone/>
                      </a:pPr>
                      <a:r>
                        <a:rPr lang="en-US" sz="1100" b="1"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1.5</a:t>
                      </a:r>
                    </a:p>
                  </a:txBody>
                  <a:tcPr marL="6350" marR="6350" marT="6350" marB="0" anchor="ctr"/>
                </a:tc>
                <a:tc>
                  <a:txBody>
                    <a:bodyPr/>
                    <a:lstStyle/>
                    <a:p>
                      <a:pPr algn="ctr" fontAlgn="b">
                        <a:buNone/>
                      </a:pPr>
                      <a:r>
                        <a:rPr lang="en-US" sz="1100" b="1"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-4.6</a:t>
                      </a:r>
                    </a:p>
                  </a:txBody>
                  <a:tcPr marL="6350" marR="6350" marT="6350" marB="0" anchor="ctr"/>
                </a:tc>
                <a:tc>
                  <a:txBody>
                    <a:bodyPr/>
                    <a:lstStyle/>
                    <a:p>
                      <a:pPr algn="ctr" fontAlgn="b">
                        <a:buNone/>
                      </a:pPr>
                      <a:r>
                        <a:rPr lang="en-US" sz="1100" b="1" i="0" u="none" strike="noStrike">
                          <a:solidFill>
                            <a:srgbClr val="000000"/>
                          </a:solidFill>
                          <a:effectLst/>
                          <a:latin typeface="+mn-lt"/>
                        </a:rPr>
                        <a:t>0.3</a:t>
                      </a:r>
                    </a:p>
                  </a:txBody>
                  <a:tcPr marL="6350" marR="6350" marT="6350" marB="0" anchor="ctr"/>
                </a:tc>
                <a:tc>
                  <a:txBody>
                    <a:bodyPr/>
                    <a:lstStyle/>
                    <a:p>
                      <a:pPr algn="ctr" fontAlgn="b">
                        <a:buNone/>
                      </a:pPr>
                      <a:r>
                        <a:rPr lang="en-US" sz="1100" b="1" i="0" u="none" strike="noStrike">
                          <a:solidFill>
                            <a:srgbClr val="000000"/>
                          </a:solidFill>
                          <a:effectLst/>
                          <a:latin typeface="+mn-lt"/>
                        </a:rPr>
                        <a:t>-3.8</a:t>
                      </a:r>
                    </a:p>
                  </a:txBody>
                  <a:tcPr marL="6350" marR="6350" marT="6350" marB="0" anchor="ctr"/>
                </a:tc>
                <a:tc>
                  <a:txBody>
                    <a:bodyPr/>
                    <a:lstStyle/>
                    <a:p>
                      <a:pPr algn="ctr" fontAlgn="b">
                        <a:buNone/>
                      </a:pPr>
                      <a:r>
                        <a:rPr lang="en-US" sz="1100" b="1" i="0" u="none" strike="noStrike">
                          <a:solidFill>
                            <a:srgbClr val="000000"/>
                          </a:solidFill>
                          <a:effectLst/>
                          <a:latin typeface="+mn-lt"/>
                        </a:rPr>
                        <a:t>0.5</a:t>
                      </a:r>
                    </a:p>
                  </a:txBody>
                  <a:tcPr marL="6350" marR="6350" marT="6350" marB="0" anchor="ctr"/>
                </a:tc>
                <a:extLst>
                  <a:ext uri="{0D108BD9-81ED-4DB2-BD59-A6C34878D82A}">
                    <a16:rowId xmlns:a16="http://schemas.microsoft.com/office/drawing/2014/main" val="3498926890"/>
                  </a:ext>
                </a:extLst>
              </a:tr>
              <a:tr h="294495">
                <a:tc>
                  <a:txBody>
                    <a:bodyPr/>
                    <a:lstStyle/>
                    <a:p>
                      <a:pPr algn="l" fontAlgn="b">
                        <a:buNone/>
                      </a:pPr>
                      <a:r>
                        <a:rPr lang="en-US" sz="1100" b="1"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 EBITDA</a:t>
                      </a:r>
                    </a:p>
                  </a:txBody>
                  <a:tcPr marL="72000" marR="6350" marT="6350" marB="0" anchor="ctr"/>
                </a:tc>
                <a:tc>
                  <a:txBody>
                    <a:bodyPr/>
                    <a:lstStyle/>
                    <a:p>
                      <a:pPr algn="ctr" fontAlgn="b">
                        <a:buNone/>
                      </a:pPr>
                      <a:r>
                        <a:rPr lang="en-US" sz="1100" b="0"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2.0%</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-6.1%</a:t>
                      </a:r>
                    </a:p>
                  </a:txBody>
                  <a:tcPr marL="6350" marR="6350" marT="6350" marB="0" anchor="ctr"/>
                </a:tc>
                <a:tc>
                  <a:txBody>
                    <a:bodyPr/>
                    <a:lstStyle/>
                    <a:p>
                      <a:pPr algn="ctr" fontAlgn="b">
                        <a:buNone/>
                      </a:pPr>
                      <a:r>
                        <a:rPr lang="en-US" sz="1100" b="0" i="0" u="none" strike="noStrike">
                          <a:solidFill>
                            <a:srgbClr val="000000"/>
                          </a:solidFill>
                          <a:effectLst/>
                          <a:latin typeface="+mn-lt"/>
                        </a:rPr>
                        <a:t>0.6%</a:t>
                      </a:r>
                    </a:p>
                  </a:txBody>
                  <a:tcPr marL="6350" marR="6350" marT="6350" marB="0" anchor="ctr"/>
                </a:tc>
                <a:tc>
                  <a:txBody>
                    <a:bodyPr/>
                    <a:lstStyle/>
                    <a:p>
                      <a:pPr algn="ctr" fontAlgn="b">
                        <a:buNone/>
                      </a:pPr>
                      <a:r>
                        <a:rPr lang="en-US" sz="1100" b="0" i="0" u="none" strike="noStrike">
                          <a:solidFill>
                            <a:srgbClr val="000000"/>
                          </a:solidFill>
                          <a:effectLst/>
                          <a:latin typeface="+mn-lt"/>
                        </a:rPr>
                        <a:t>-19.6%</a:t>
                      </a:r>
                    </a:p>
                  </a:txBody>
                  <a:tcPr marL="6350" marR="6350" marT="6350" marB="0" anchor="ctr"/>
                </a:tc>
                <a:tc>
                  <a:txBody>
                    <a:bodyPr/>
                    <a:lstStyle/>
                    <a:p>
                      <a:pPr algn="ctr" fontAlgn="b">
                        <a:buNone/>
                      </a:pPr>
                      <a:r>
                        <a:rPr lang="en-US" sz="1100" b="0" i="0" u="none" strike="noStrike">
                          <a:solidFill>
                            <a:srgbClr val="000000"/>
                          </a:solidFill>
                          <a:effectLst/>
                          <a:latin typeface="+mn-lt"/>
                        </a:rPr>
                        <a:t>2.2%</a:t>
                      </a:r>
                    </a:p>
                  </a:txBody>
                  <a:tcPr marL="6350" marR="6350" marT="6350" marB="0" anchor="ctr"/>
                </a:tc>
                <a:extLst>
                  <a:ext uri="{0D108BD9-81ED-4DB2-BD59-A6C34878D82A}">
                    <a16:rowId xmlns:a16="http://schemas.microsoft.com/office/drawing/2014/main" val="3759208202"/>
                  </a:ext>
                </a:extLst>
              </a:tr>
            </a:tbl>
          </a:graphicData>
        </a:graphic>
      </p:graphicFrame>
    </p:spTree>
    <p:extLst>
      <p:ext uri="{BB962C8B-B14F-4D97-AF65-F5344CB8AC3E}">
        <p14:creationId xmlns:p14="http://schemas.microsoft.com/office/powerpoint/2010/main" val="2249747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AD94D-A696-65C3-C3F8-8B336B2643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4DAF8B-5DE6-2376-EA8F-12E84DFCEE60}"/>
              </a:ext>
            </a:extLst>
          </p:cNvPr>
          <p:cNvSpPr>
            <a:spLocks noGrp="1"/>
          </p:cNvSpPr>
          <p:nvPr>
            <p:ph type="title"/>
          </p:nvPr>
        </p:nvSpPr>
        <p:spPr>
          <a:xfrm>
            <a:off x="371556" y="536026"/>
            <a:ext cx="8272382" cy="334515"/>
          </a:xfrm>
        </p:spPr>
        <p:txBody>
          <a:bodyPr/>
          <a:lstStyle/>
          <a:p>
            <a:r>
              <a:rPr lang="en-US" err="1"/>
              <a:t>Multipl</a:t>
            </a:r>
            <a:r>
              <a:rPr lang="en-US"/>
              <a:t> Fintech Solutions Private Limited - </a:t>
            </a:r>
            <a:r>
              <a:rPr lang="en-US" err="1"/>
              <a:t>Multipl</a:t>
            </a:r>
            <a:endParaRPr lang="en-US"/>
          </a:p>
        </p:txBody>
      </p:sp>
      <p:sp>
        <p:nvSpPr>
          <p:cNvPr id="3" name="TextBox 2">
            <a:extLst>
              <a:ext uri="{FF2B5EF4-FFF2-40B4-BE49-F238E27FC236}">
                <a16:creationId xmlns:a16="http://schemas.microsoft.com/office/drawing/2014/main" id="{71673F4D-0612-C8FB-71C5-5FCE2B8940F2}"/>
              </a:ext>
            </a:extLst>
          </p:cNvPr>
          <p:cNvSpPr txBox="1"/>
          <p:nvPr/>
        </p:nvSpPr>
        <p:spPr>
          <a:xfrm>
            <a:off x="499141" y="1387387"/>
            <a:ext cx="3450246" cy="320216"/>
          </a:xfrm>
          <a:prstGeom prst="rect">
            <a:avLst/>
          </a:prstGeom>
          <a:noFill/>
        </p:spPr>
        <p:txBody>
          <a:bodyPr wrap="square" rtlCol="0">
            <a:spAutoFit/>
          </a:bodyPr>
          <a:lstStyle/>
          <a:p>
            <a:r>
              <a:rPr lang="en-IN" sz="1481" b="1">
                <a:solidFill>
                  <a:schemeClr val="tx2"/>
                </a:solidFill>
                <a:ea typeface="Lato Regular" panose="020F0502020204030203" pitchFamily="34" charset="0"/>
                <a:cs typeface="Lato Regular" panose="020F0502020204030203" pitchFamily="34" charset="0"/>
              </a:rPr>
              <a:t>Business Description</a:t>
            </a:r>
          </a:p>
        </p:txBody>
      </p:sp>
      <p:sp>
        <p:nvSpPr>
          <p:cNvPr id="4" name="TextBox 3">
            <a:extLst>
              <a:ext uri="{FF2B5EF4-FFF2-40B4-BE49-F238E27FC236}">
                <a16:creationId xmlns:a16="http://schemas.microsoft.com/office/drawing/2014/main" id="{65049BBE-4A84-BAF0-4221-9B94952411BC}"/>
              </a:ext>
            </a:extLst>
          </p:cNvPr>
          <p:cNvSpPr txBox="1"/>
          <p:nvPr/>
        </p:nvSpPr>
        <p:spPr>
          <a:xfrm>
            <a:off x="499141" y="3758945"/>
            <a:ext cx="3450246" cy="320216"/>
          </a:xfrm>
          <a:prstGeom prst="rect">
            <a:avLst/>
          </a:prstGeom>
          <a:noFill/>
        </p:spPr>
        <p:txBody>
          <a:bodyPr wrap="square" rtlCol="0">
            <a:spAutoFit/>
          </a:bodyPr>
          <a:lstStyle/>
          <a:p>
            <a:r>
              <a:rPr lang="en-IN" sz="1481" b="1">
                <a:solidFill>
                  <a:schemeClr val="tx2"/>
                </a:solidFill>
                <a:ea typeface="Lato Regular" panose="020F0502020204030203" pitchFamily="34" charset="0"/>
                <a:cs typeface="Lato Regular" panose="020F0502020204030203" pitchFamily="34" charset="0"/>
              </a:rPr>
              <a:t>Performance Commentary</a:t>
            </a:r>
          </a:p>
        </p:txBody>
      </p:sp>
      <p:sp>
        <p:nvSpPr>
          <p:cNvPr id="5" name="TextBox 4">
            <a:extLst>
              <a:ext uri="{FF2B5EF4-FFF2-40B4-BE49-F238E27FC236}">
                <a16:creationId xmlns:a16="http://schemas.microsoft.com/office/drawing/2014/main" id="{A0DA1D0D-2E1F-E0C4-664E-17815A8A726A}"/>
              </a:ext>
            </a:extLst>
          </p:cNvPr>
          <p:cNvSpPr txBox="1"/>
          <p:nvPr/>
        </p:nvSpPr>
        <p:spPr>
          <a:xfrm>
            <a:off x="5539984" y="3805112"/>
            <a:ext cx="3450246" cy="227883"/>
          </a:xfrm>
          <a:prstGeom prst="rect">
            <a:avLst/>
          </a:prstGeom>
          <a:noFill/>
        </p:spPr>
        <p:txBody>
          <a:bodyPr wrap="square" lIns="0" tIns="0" rIns="0" bIns="0" rtlCol="0">
            <a:spAutoFit/>
          </a:bodyPr>
          <a:lstStyle/>
          <a:p>
            <a:r>
              <a:rPr lang="en-IN" sz="1481" b="1">
                <a:solidFill>
                  <a:schemeClr val="tx2"/>
                </a:solidFill>
                <a:ea typeface="Lato Regular" panose="020F0502020204030203" pitchFamily="34" charset="0"/>
                <a:cs typeface="Lato Regular" panose="020F0502020204030203" pitchFamily="34" charset="0"/>
              </a:rPr>
              <a:t>Key Financial Highlights</a:t>
            </a:r>
          </a:p>
        </p:txBody>
      </p:sp>
      <p:sp>
        <p:nvSpPr>
          <p:cNvPr id="6" name="TextBox 5">
            <a:extLst>
              <a:ext uri="{FF2B5EF4-FFF2-40B4-BE49-F238E27FC236}">
                <a16:creationId xmlns:a16="http://schemas.microsoft.com/office/drawing/2014/main" id="{4BE4F2A0-274F-457D-DFE7-4526ABB925AC}"/>
              </a:ext>
            </a:extLst>
          </p:cNvPr>
          <p:cNvSpPr txBox="1"/>
          <p:nvPr/>
        </p:nvSpPr>
        <p:spPr>
          <a:xfrm>
            <a:off x="5539984" y="1433554"/>
            <a:ext cx="3607078" cy="227883"/>
          </a:xfrm>
          <a:prstGeom prst="rect">
            <a:avLst/>
          </a:prstGeom>
          <a:noFill/>
        </p:spPr>
        <p:txBody>
          <a:bodyPr wrap="square" lIns="0" tIns="0" rIns="0" bIns="0" rtlCol="0">
            <a:spAutoFit/>
          </a:bodyPr>
          <a:lstStyle/>
          <a:p>
            <a:r>
              <a:rPr lang="en-IN" sz="1481" b="1">
                <a:solidFill>
                  <a:schemeClr val="tx2"/>
                </a:solidFill>
                <a:ea typeface="Lato Regular" panose="020F0502020204030203" pitchFamily="34" charset="0"/>
                <a:cs typeface="Lato Regular" panose="020F0502020204030203" pitchFamily="34" charset="0"/>
              </a:rPr>
              <a:t>Key Performance Indicators</a:t>
            </a:r>
          </a:p>
        </p:txBody>
      </p:sp>
      <p:sp>
        <p:nvSpPr>
          <p:cNvPr id="7" name="Rectangle 6">
            <a:extLst>
              <a:ext uri="{FF2B5EF4-FFF2-40B4-BE49-F238E27FC236}">
                <a16:creationId xmlns:a16="http://schemas.microsoft.com/office/drawing/2014/main" id="{B35C4BB9-DCD2-1AAD-5169-DC69C927BAD9}"/>
              </a:ext>
            </a:extLst>
          </p:cNvPr>
          <p:cNvSpPr/>
          <p:nvPr/>
        </p:nvSpPr>
        <p:spPr>
          <a:xfrm>
            <a:off x="562116" y="1815136"/>
            <a:ext cx="4195514" cy="2154436"/>
          </a:xfrm>
          <a:prstGeom prst="rect">
            <a:avLst/>
          </a:prstGeom>
        </p:spPr>
        <p:txBody>
          <a:bodyPr wrap="square" lIns="0" tIns="0" rIns="0" bIns="0">
            <a:spAutoFit/>
          </a:bodyPr>
          <a:lstStyle/>
          <a:p>
            <a:pPr marL="171450" indent="-171450" algn="just">
              <a:spcAft>
                <a:spcPts val="600"/>
              </a:spcAft>
              <a:buFont typeface="Arial" panose="020B0604020202020204" pitchFamily="34" charset="0"/>
              <a:buChar char="•"/>
            </a:pPr>
            <a:r>
              <a:rPr lang="en-US" sz="1200">
                <a:solidFill>
                  <a:schemeClr val="bg2">
                    <a:lumMod val="10000"/>
                  </a:schemeClr>
                </a:solidFill>
                <a:ea typeface="Calibri"/>
                <a:cs typeface="Calibri"/>
                <a:sym typeface="Calibri"/>
              </a:rPr>
              <a:t>It is one of the first Save Now Buy Later (SNBL) platform in the country. </a:t>
            </a:r>
          </a:p>
          <a:p>
            <a:pPr marL="171450" indent="-171450" algn="just">
              <a:spcAft>
                <a:spcPts val="600"/>
              </a:spcAft>
              <a:buFont typeface="Arial" panose="020B0604020202020204" pitchFamily="34" charset="0"/>
              <a:buChar char="•"/>
            </a:pPr>
            <a:r>
              <a:rPr lang="en-US" sz="1200">
                <a:solidFill>
                  <a:schemeClr val="bg2">
                    <a:lumMod val="10000"/>
                  </a:schemeClr>
                </a:solidFill>
                <a:ea typeface="Calibri"/>
                <a:cs typeface="Calibri"/>
                <a:sym typeface="Calibri"/>
              </a:rPr>
              <a:t>It provides a platform to its users to save money for fixed goals, and invest that money either in market instruments, or with brands associated with that end goal.</a:t>
            </a:r>
          </a:p>
          <a:p>
            <a:pPr marL="171450" indent="-171450" algn="just">
              <a:spcAft>
                <a:spcPts val="600"/>
              </a:spcAft>
              <a:buFont typeface="Arial" panose="020B0604020202020204" pitchFamily="34" charset="0"/>
              <a:buChar char="•"/>
            </a:pPr>
            <a:r>
              <a:rPr lang="en-US" sz="1200">
                <a:solidFill>
                  <a:schemeClr val="bg2">
                    <a:lumMod val="10000"/>
                  </a:schemeClr>
                </a:solidFill>
                <a:ea typeface="Calibri"/>
                <a:cs typeface="Calibri"/>
                <a:sym typeface="Calibri"/>
              </a:rPr>
              <a:t>Company has collaborated with partners like Yatra, MakeMyTrip, Ather, Croma, Sangeetha, Kalyan Jewelers to offer goal-based investment solutions to target customers.</a:t>
            </a:r>
          </a:p>
          <a:p>
            <a:pPr marL="171450" indent="-171450" algn="just">
              <a:spcAft>
                <a:spcPts val="600"/>
              </a:spcAft>
              <a:buFont typeface="Arial" panose="020B0604020202020204" pitchFamily="34" charset="0"/>
              <a:buChar char="•"/>
            </a:pPr>
            <a:r>
              <a:rPr lang="en-US" sz="1200">
                <a:solidFill>
                  <a:schemeClr val="bg2">
                    <a:lumMod val="10000"/>
                  </a:schemeClr>
                </a:solidFill>
                <a:ea typeface="Calibri"/>
                <a:cs typeface="Calibri"/>
                <a:sym typeface="Calibri"/>
              </a:rPr>
              <a:t>They are also a SEBI-registered investment advisory</a:t>
            </a:r>
          </a:p>
          <a:p>
            <a:pPr marL="171450" indent="-171450" algn="just">
              <a:spcAft>
                <a:spcPts val="600"/>
              </a:spcAft>
              <a:buFont typeface="Arial" panose="020B0604020202020204" pitchFamily="34" charset="0"/>
              <a:buChar char="•"/>
            </a:pPr>
            <a:endParaRPr lang="en-US" sz="1200">
              <a:solidFill>
                <a:schemeClr val="bg2">
                  <a:lumMod val="10000"/>
                </a:schemeClr>
              </a:solidFill>
              <a:ea typeface="Calibri"/>
              <a:cs typeface="Calibri"/>
              <a:sym typeface="Calibri"/>
            </a:endParaRPr>
          </a:p>
        </p:txBody>
      </p:sp>
      <p:sp>
        <p:nvSpPr>
          <p:cNvPr id="11" name="TextBox 10">
            <a:extLst>
              <a:ext uri="{FF2B5EF4-FFF2-40B4-BE49-F238E27FC236}">
                <a16:creationId xmlns:a16="http://schemas.microsoft.com/office/drawing/2014/main" id="{317F4C15-1EEC-CE41-F8BA-FDD7CD772C60}"/>
              </a:ext>
            </a:extLst>
          </p:cNvPr>
          <p:cNvSpPr txBox="1"/>
          <p:nvPr/>
        </p:nvSpPr>
        <p:spPr>
          <a:xfrm>
            <a:off x="470919" y="3842275"/>
            <a:ext cx="4408262" cy="2169825"/>
          </a:xfrm>
          <a:prstGeom prst="rect">
            <a:avLst/>
          </a:prstGeom>
          <a:noFill/>
        </p:spPr>
        <p:txBody>
          <a:bodyPr wrap="square" lIns="91440" tIns="45720" rIns="91440" bIns="45720" rtlCol="0" anchor="t">
            <a:spAutoFit/>
          </a:bodyPr>
          <a:lstStyle/>
          <a:p>
            <a:pPr algn="just">
              <a:spcAft>
                <a:spcPts val="600"/>
              </a:spcAft>
            </a:pPr>
            <a:endParaRPr lang="en-IN" sz="1200">
              <a:solidFill>
                <a:schemeClr val="bg2">
                  <a:lumMod val="10000"/>
                </a:schemeClr>
              </a:solidFill>
              <a:ea typeface="Lato Regular"/>
              <a:cs typeface="Lato Regular"/>
            </a:endParaRPr>
          </a:p>
          <a:p>
            <a:pPr marL="171450" indent="-171450" algn="just">
              <a:spcAft>
                <a:spcPts val="600"/>
              </a:spcAft>
              <a:buFont typeface="Arial,Sans-Serif" panose="020B0604020202020204" pitchFamily="34" charset="0"/>
              <a:buChar char="•"/>
            </a:pPr>
            <a:r>
              <a:rPr lang="en-IN" sz="1200">
                <a:solidFill>
                  <a:srgbClr val="242424"/>
                </a:solidFill>
                <a:highlight>
                  <a:srgbClr val="FFFFFF"/>
                </a:highlight>
                <a:ea typeface="Lato Regular"/>
                <a:cs typeface="Lato Regular"/>
              </a:rPr>
              <a:t>Early-stage, and behaves like it. </a:t>
            </a:r>
            <a:r>
              <a:rPr lang="en-IN" sz="1200" b="1">
                <a:solidFill>
                  <a:srgbClr val="242424"/>
                </a:solidFill>
                <a:highlight>
                  <a:srgbClr val="FFFFFF"/>
                </a:highlight>
                <a:ea typeface="Lato Regular"/>
                <a:cs typeface="Lato Regular"/>
              </a:rPr>
              <a:t>Revenue flat at ₹1.3 Cr</a:t>
            </a:r>
            <a:r>
              <a:rPr lang="en-IN" sz="1200">
                <a:solidFill>
                  <a:srgbClr val="242424"/>
                </a:solidFill>
                <a:highlight>
                  <a:srgbClr val="FFFFFF"/>
                </a:highlight>
                <a:ea typeface="Lato Regular"/>
                <a:cs typeface="Lato Regular"/>
              </a:rPr>
              <a:t> with quarterly volatility, EBITDA still meaningfully negative. The product signals are real — downloads scaled from </a:t>
            </a:r>
            <a:r>
              <a:rPr lang="en-IN" sz="1200" b="1">
                <a:solidFill>
                  <a:srgbClr val="242424"/>
                </a:solidFill>
                <a:highlight>
                  <a:srgbClr val="FFFFFF"/>
                </a:highlight>
                <a:ea typeface="Lato Regular"/>
                <a:cs typeface="Lato Regular"/>
              </a:rPr>
              <a:t>2.73 lacs to 4.71 lacs</a:t>
            </a:r>
            <a:r>
              <a:rPr lang="en-IN" sz="1200">
                <a:solidFill>
                  <a:srgbClr val="242424"/>
                </a:solidFill>
                <a:highlight>
                  <a:srgbClr val="FFFFFF"/>
                </a:highlight>
                <a:ea typeface="Lato Regular"/>
                <a:cs typeface="Lato Regular"/>
              </a:rPr>
              <a:t>, indicating improving adoption</a:t>
            </a:r>
            <a:endParaRPr lang="en-IN" sz="1200">
              <a:solidFill>
                <a:srgbClr val="171717"/>
              </a:solidFill>
              <a:ea typeface="Lato Regular"/>
              <a:cs typeface="Lato Regular"/>
            </a:endParaRPr>
          </a:p>
          <a:p>
            <a:pPr marL="171450" indent="-171450" algn="just">
              <a:spcAft>
                <a:spcPts val="600"/>
              </a:spcAft>
              <a:buFont typeface="Arial,Sans-Serif" panose="020B0604020202020204" pitchFamily="34" charset="0"/>
              <a:buChar char="•"/>
            </a:pPr>
            <a:r>
              <a:rPr lang="en-IN" sz="1200">
                <a:solidFill>
                  <a:srgbClr val="242424"/>
                </a:solidFill>
                <a:highlight>
                  <a:srgbClr val="FFFFFF"/>
                </a:highlight>
                <a:ea typeface="Lato Regular"/>
                <a:cs typeface="Lato Regular"/>
              </a:rPr>
              <a:t>The model has not yet translated engagement into monetisation. That is the hardest gap in consumer fintech to close, and the one most prone to disappointing optimists. We are not yet calling it.</a:t>
            </a:r>
            <a:endParaRPr lang="en-IN" sz="1200">
              <a:solidFill>
                <a:schemeClr val="bg2">
                  <a:lumMod val="10000"/>
                </a:schemeClr>
              </a:solidFill>
              <a:ea typeface="Lato Regular"/>
              <a:cs typeface="Lato Regular"/>
            </a:endParaRPr>
          </a:p>
          <a:p>
            <a:pPr marL="171450" indent="-171450" algn="just">
              <a:spcAft>
                <a:spcPts val="600"/>
              </a:spcAft>
              <a:buFont typeface="Arial" panose="020B0604020202020204" pitchFamily="34" charset="0"/>
              <a:buChar char="•"/>
            </a:pPr>
            <a:endParaRPr lang="en-IN" sz="1200">
              <a:solidFill>
                <a:schemeClr val="bg2">
                  <a:lumMod val="10000"/>
                </a:schemeClr>
              </a:solidFill>
              <a:ea typeface="Lato Regular" panose="020F0502020204030203" pitchFamily="34" charset="0"/>
              <a:cs typeface="Lato Regular" panose="020F0502020204030203" pitchFamily="34" charset="0"/>
            </a:endParaRPr>
          </a:p>
        </p:txBody>
      </p:sp>
      <p:graphicFrame>
        <p:nvGraphicFramePr>
          <p:cNvPr id="13" name="Table 12">
            <a:extLst>
              <a:ext uri="{FF2B5EF4-FFF2-40B4-BE49-F238E27FC236}">
                <a16:creationId xmlns:a16="http://schemas.microsoft.com/office/drawing/2014/main" id="{E7DC5ADA-8E70-DFDE-1168-DBD19644A7C3}"/>
              </a:ext>
            </a:extLst>
          </p:cNvPr>
          <p:cNvGraphicFramePr>
            <a:graphicFrameLocks noGrp="1"/>
          </p:cNvGraphicFramePr>
          <p:nvPr>
            <p:extLst>
              <p:ext uri="{D42A27DB-BD31-4B8C-83A1-F6EECF244321}">
                <p14:modId xmlns:p14="http://schemas.microsoft.com/office/powerpoint/2010/main" val="3798247063"/>
              </p:ext>
            </p:extLst>
          </p:nvPr>
        </p:nvGraphicFramePr>
        <p:xfrm>
          <a:off x="5539984" y="1840227"/>
          <a:ext cx="5852764" cy="1142388"/>
        </p:xfrm>
        <a:graphic>
          <a:graphicData uri="http://schemas.openxmlformats.org/drawingml/2006/table">
            <a:tbl>
              <a:tblPr firstRow="1" bandRow="1">
                <a:tableStyleId>{69012ECD-51FC-41F1-AA8D-1B2483CD663E}</a:tableStyleId>
              </a:tblPr>
              <a:tblGrid>
                <a:gridCol w="2032634">
                  <a:extLst>
                    <a:ext uri="{9D8B030D-6E8A-4147-A177-3AD203B41FA5}">
                      <a16:colId xmlns:a16="http://schemas.microsoft.com/office/drawing/2014/main" val="3001066899"/>
                    </a:ext>
                  </a:extLst>
                </a:gridCol>
                <a:gridCol w="733424">
                  <a:extLst>
                    <a:ext uri="{9D8B030D-6E8A-4147-A177-3AD203B41FA5}">
                      <a16:colId xmlns:a16="http://schemas.microsoft.com/office/drawing/2014/main" val="700748351"/>
                    </a:ext>
                  </a:extLst>
                </a:gridCol>
                <a:gridCol w="796290">
                  <a:extLst>
                    <a:ext uri="{9D8B030D-6E8A-4147-A177-3AD203B41FA5}">
                      <a16:colId xmlns:a16="http://schemas.microsoft.com/office/drawing/2014/main" val="3274968397"/>
                    </a:ext>
                  </a:extLst>
                </a:gridCol>
                <a:gridCol w="754379">
                  <a:extLst>
                    <a:ext uri="{9D8B030D-6E8A-4147-A177-3AD203B41FA5}">
                      <a16:colId xmlns:a16="http://schemas.microsoft.com/office/drawing/2014/main" val="3607597589"/>
                    </a:ext>
                  </a:extLst>
                </a:gridCol>
                <a:gridCol w="811357">
                  <a:extLst>
                    <a:ext uri="{9D8B030D-6E8A-4147-A177-3AD203B41FA5}">
                      <a16:colId xmlns:a16="http://schemas.microsoft.com/office/drawing/2014/main" val="746035582"/>
                    </a:ext>
                  </a:extLst>
                </a:gridCol>
                <a:gridCol w="724680">
                  <a:extLst>
                    <a:ext uri="{9D8B030D-6E8A-4147-A177-3AD203B41FA5}">
                      <a16:colId xmlns:a16="http://schemas.microsoft.com/office/drawing/2014/main" val="2799431461"/>
                    </a:ext>
                  </a:extLst>
                </a:gridCol>
              </a:tblGrid>
              <a:tr h="262575">
                <a:tc>
                  <a:txBody>
                    <a:bodyPr/>
                    <a:lstStyle/>
                    <a:p>
                      <a:pPr algn="l" fontAlgn="b">
                        <a:buNone/>
                      </a:pPr>
                      <a:r>
                        <a:rPr lang="en-US" sz="110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rPr>
                        <a:t>KPIs</a:t>
                      </a:r>
                    </a:p>
                  </a:txBody>
                  <a:tcPr marL="72000" marR="6350" marT="6350" marB="0" anchor="ctr"/>
                </a:tc>
                <a:tc>
                  <a:txBody>
                    <a:bodyPr/>
                    <a:lstStyle/>
                    <a:p>
                      <a:pPr algn="ctr" fontAlgn="b">
                        <a:buNone/>
                      </a:pPr>
                      <a:r>
                        <a:rPr lang="en-US" sz="110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rPr>
                        <a:t>FY24</a:t>
                      </a:r>
                    </a:p>
                  </a:txBody>
                  <a:tcPr marL="6350" marR="6350" marT="6350" marB="0" anchor="ctr"/>
                </a:tc>
                <a:tc>
                  <a:txBody>
                    <a:bodyPr/>
                    <a:lstStyle/>
                    <a:p>
                      <a:pPr algn="ctr" fontAlgn="b">
                        <a:buNone/>
                      </a:pPr>
                      <a:r>
                        <a:rPr lang="en-US" sz="110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rPr>
                        <a:t>FY25</a:t>
                      </a:r>
                    </a:p>
                  </a:txBody>
                  <a:tcPr marL="6350" marR="6350" marT="6350" marB="0" anchor="ctr"/>
                </a:tc>
                <a:tc>
                  <a:txBody>
                    <a:bodyPr/>
                    <a:lstStyle/>
                    <a:p>
                      <a:pPr algn="ctr" fontAlgn="b">
                        <a:buNone/>
                      </a:pPr>
                      <a:r>
                        <a:rPr lang="en-US" sz="1100" b="1" i="0" u="none" strike="noStrike">
                          <a:solidFill>
                            <a:schemeClr val="bg1"/>
                          </a:solidFill>
                          <a:effectLst/>
                          <a:latin typeface="Aptos"/>
                          <a:ea typeface="Lato Regular"/>
                          <a:cs typeface="Lato Regular"/>
                        </a:rPr>
                        <a:t>FY26</a:t>
                      </a:r>
                      <a:endParaRPr lang="en-US" sz="110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100" b="1" i="0" u="none" strike="noStrike">
                          <a:solidFill>
                            <a:schemeClr val="bg1"/>
                          </a:solidFill>
                          <a:effectLst/>
                          <a:latin typeface="Aptos"/>
                          <a:ea typeface="Lato Regular"/>
                          <a:cs typeface="Lato Regular"/>
                        </a:rPr>
                        <a:t>Q4FY25</a:t>
                      </a:r>
                      <a:endParaRPr lang="en-US" sz="110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100" b="1" i="0" u="none" strike="noStrike">
                          <a:solidFill>
                            <a:schemeClr val="bg1"/>
                          </a:solidFill>
                          <a:effectLst/>
                          <a:latin typeface="Aptos"/>
                          <a:ea typeface="Lato Regular"/>
                          <a:cs typeface="Lato Regular"/>
                        </a:rPr>
                        <a:t>Q4FY26</a:t>
                      </a:r>
                      <a:endParaRPr lang="en-US" sz="110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extLst>
                  <a:ext uri="{0D108BD9-81ED-4DB2-BD59-A6C34878D82A}">
                    <a16:rowId xmlns:a16="http://schemas.microsoft.com/office/drawing/2014/main" val="3735237806"/>
                  </a:ext>
                </a:extLst>
              </a:tr>
              <a:tr h="293271">
                <a:tc>
                  <a:txBody>
                    <a:bodyPr/>
                    <a:lstStyle/>
                    <a:p>
                      <a:pPr algn="l" fontAlgn="b"/>
                      <a:r>
                        <a:rPr lang="en-US" sz="1100" b="0"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Total Downloads</a:t>
                      </a:r>
                    </a:p>
                  </a:txBody>
                  <a:tcPr marL="72000" marR="6350" marT="6350" marB="0" anchor="ctr"/>
                </a:tc>
                <a:tc>
                  <a:txBody>
                    <a:bodyPr/>
                    <a:lstStyle/>
                    <a:p>
                      <a:pPr algn="ctr" rtl="0" fontAlgn="b"/>
                      <a:r>
                        <a:rPr lang="en-US" sz="1100" b="0" i="0" u="none" strike="noStrike">
                          <a:solidFill>
                            <a:schemeClr val="bg2">
                              <a:lumMod val="10000"/>
                            </a:schemeClr>
                          </a:solidFill>
                          <a:effectLst/>
                          <a:latin typeface="Aptos"/>
                          <a:ea typeface="Lato Regular"/>
                          <a:cs typeface="Lato Regular"/>
                        </a:rPr>
                        <a:t>1,32,373</a:t>
                      </a:r>
                      <a:endParaRPr lang="en-US" sz="1100" b="0"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tc>
                  <a:txBody>
                    <a:bodyPr/>
                    <a:lstStyle/>
                    <a:p>
                      <a:pPr algn="ctr" rtl="0" fontAlgn="b"/>
                      <a:r>
                        <a:rPr lang="en-US" sz="1100" b="0" i="0" u="none" strike="noStrike">
                          <a:solidFill>
                            <a:schemeClr val="bg2">
                              <a:lumMod val="10000"/>
                            </a:schemeClr>
                          </a:solidFill>
                          <a:effectLst/>
                          <a:latin typeface="Aptos"/>
                          <a:ea typeface="Lato Regular"/>
                          <a:cs typeface="Lato Regular"/>
                        </a:rPr>
                        <a:t>2,73,234</a:t>
                      </a:r>
                      <a:endParaRPr lang="en-US" sz="1100" b="0"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tc>
                  <a:txBody>
                    <a:bodyPr/>
                    <a:lstStyle/>
                    <a:p>
                      <a:pPr algn="ctr" rtl="0" fontAlgn="b"/>
                      <a:r>
                        <a:rPr lang="en-US" sz="1100" b="0" i="0" u="none" strike="noStrike">
                          <a:solidFill>
                            <a:schemeClr val="bg2">
                              <a:lumMod val="10000"/>
                            </a:schemeClr>
                          </a:solidFill>
                          <a:effectLst/>
                          <a:latin typeface="Aptos"/>
                          <a:ea typeface="Lato Regular"/>
                          <a:cs typeface="Lato Regular"/>
                        </a:rPr>
                        <a:t>4,71,221</a:t>
                      </a:r>
                    </a:p>
                  </a:txBody>
                  <a:tcPr marL="6350" marR="6350" marT="6350" marB="0" anchor="ctr"/>
                </a:tc>
                <a:tc>
                  <a:txBody>
                    <a:bodyPr/>
                    <a:lstStyle/>
                    <a:p>
                      <a:pPr algn="ctr" fontAlgn="b"/>
                      <a:r>
                        <a:rPr lang="en-US" sz="1100" b="0" i="0" u="none" strike="noStrike">
                          <a:solidFill>
                            <a:schemeClr val="bg2">
                              <a:lumMod val="10000"/>
                            </a:schemeClr>
                          </a:solidFill>
                          <a:effectLst/>
                          <a:latin typeface="Aptos"/>
                          <a:ea typeface="Lato Regular"/>
                          <a:cs typeface="Lato Regular"/>
                        </a:rPr>
                        <a:t>1,04,204</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Aptos"/>
                          <a:ea typeface="Lato Regular"/>
                          <a:cs typeface="Lato Regular"/>
                        </a:rPr>
                        <a:t>99,841</a:t>
                      </a:r>
                    </a:p>
                  </a:txBody>
                  <a:tcPr marL="6350" marR="6350" marT="6350" marB="0" anchor="ctr"/>
                </a:tc>
                <a:extLst>
                  <a:ext uri="{0D108BD9-81ED-4DB2-BD59-A6C34878D82A}">
                    <a16:rowId xmlns:a16="http://schemas.microsoft.com/office/drawing/2014/main" val="2159784742"/>
                  </a:ext>
                </a:extLst>
              </a:tr>
              <a:tr h="293271">
                <a:tc>
                  <a:txBody>
                    <a:bodyPr/>
                    <a:lstStyle/>
                    <a:p>
                      <a:pPr algn="l" fontAlgn="b"/>
                      <a:r>
                        <a:rPr lang="en-US" sz="1100" b="0"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Total Goals (INR Cr) </a:t>
                      </a:r>
                    </a:p>
                  </a:txBody>
                  <a:tcPr marL="72000" marR="6350" marT="6350" marB="0" anchor="ctr"/>
                </a:tc>
                <a:tc>
                  <a:txBody>
                    <a:bodyPr/>
                    <a:lstStyle/>
                    <a:p>
                      <a:pPr algn="ctr" rtl="0" fontAlgn="b"/>
                      <a:r>
                        <a:rPr lang="en-US" sz="1100" b="0" i="0" u="none" strike="noStrike">
                          <a:solidFill>
                            <a:schemeClr val="bg2">
                              <a:lumMod val="10000"/>
                            </a:schemeClr>
                          </a:solidFill>
                          <a:effectLst/>
                          <a:latin typeface="Aptos"/>
                          <a:ea typeface="Lato Regular"/>
                          <a:cs typeface="Lato Regular"/>
                        </a:rPr>
                        <a:t>17,087</a:t>
                      </a:r>
                    </a:p>
                  </a:txBody>
                  <a:tcPr marL="6350" marR="6350" marT="6350" marB="0" anchor="ctr"/>
                </a:tc>
                <a:tc>
                  <a:txBody>
                    <a:bodyPr/>
                    <a:lstStyle/>
                    <a:p>
                      <a:pPr algn="ctr" rtl="0" fontAlgn="b"/>
                      <a:r>
                        <a:rPr lang="en-US" sz="1100" b="0" i="0" u="none" strike="noStrike">
                          <a:solidFill>
                            <a:schemeClr val="bg2">
                              <a:lumMod val="10000"/>
                            </a:schemeClr>
                          </a:solidFill>
                          <a:effectLst/>
                          <a:latin typeface="Aptos"/>
                          <a:ea typeface="Lato Regular"/>
                          <a:cs typeface="Lato Regular"/>
                        </a:rPr>
                        <a:t>45,467</a:t>
                      </a:r>
                    </a:p>
                  </a:txBody>
                  <a:tcPr marL="6350" marR="6350" marT="6350" marB="0" anchor="ctr"/>
                </a:tc>
                <a:tc>
                  <a:txBody>
                    <a:bodyPr/>
                    <a:lstStyle/>
                    <a:p>
                      <a:pPr algn="ctr" rtl="0" fontAlgn="b"/>
                      <a:r>
                        <a:rPr lang="en-US" sz="1100" b="0" i="0" u="none" strike="noStrike">
                          <a:solidFill>
                            <a:schemeClr val="bg2">
                              <a:lumMod val="10000"/>
                            </a:schemeClr>
                          </a:solidFill>
                          <a:effectLst/>
                          <a:latin typeface="Aptos"/>
                          <a:ea typeface="Lato Regular"/>
                          <a:cs typeface="Lato Regular"/>
                        </a:rPr>
                        <a:t>85,146</a:t>
                      </a:r>
                    </a:p>
                  </a:txBody>
                  <a:tcPr marL="6350" marR="6350" marT="6350" marB="0" anchor="ctr"/>
                </a:tc>
                <a:tc>
                  <a:txBody>
                    <a:bodyPr/>
                    <a:lstStyle/>
                    <a:p>
                      <a:pPr algn="ctr" fontAlgn="b"/>
                      <a:r>
                        <a:rPr lang="en-US" sz="1100" b="0" i="0" u="none" strike="noStrike">
                          <a:solidFill>
                            <a:schemeClr val="bg2">
                              <a:lumMod val="10000"/>
                            </a:schemeClr>
                          </a:solidFill>
                          <a:effectLst/>
                          <a:latin typeface="Aptos"/>
                          <a:ea typeface="Lato Regular"/>
                          <a:cs typeface="Lato Regular"/>
                        </a:rPr>
                        <a:t>18,369</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Aptos"/>
                          <a:ea typeface="Lato Regular"/>
                          <a:cs typeface="Lato Regular"/>
                        </a:rPr>
                        <a:t>16,004</a:t>
                      </a:r>
                    </a:p>
                  </a:txBody>
                  <a:tcPr marL="6350" marR="6350" marT="6350" marB="0" anchor="ctr"/>
                </a:tc>
                <a:extLst>
                  <a:ext uri="{0D108BD9-81ED-4DB2-BD59-A6C34878D82A}">
                    <a16:rowId xmlns:a16="http://schemas.microsoft.com/office/drawing/2014/main" val="2809398452"/>
                  </a:ext>
                </a:extLst>
              </a:tr>
              <a:tr h="293271">
                <a:tc>
                  <a:txBody>
                    <a:bodyPr/>
                    <a:lstStyle/>
                    <a:p>
                      <a:pPr algn="l" fontAlgn="b"/>
                      <a:r>
                        <a:rPr lang="en-US" sz="1100" b="0" i="0" u="none" strike="noStrike" err="1">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Amt</a:t>
                      </a:r>
                      <a:r>
                        <a:rPr lang="en-US" sz="1100" b="0" i="0" u="none" strike="noStrike">
                          <a:solidFill>
                            <a:schemeClr val="bg2">
                              <a:lumMod val="10000"/>
                            </a:schemeClr>
                          </a:solidFill>
                          <a:effectLst/>
                          <a:latin typeface="Aptos" panose="020B0004020202020204" pitchFamily="34" charset="0"/>
                          <a:ea typeface="Lato Regular" panose="020F0502020204030203" pitchFamily="34" charset="0"/>
                          <a:cs typeface="Lato Regular" panose="020F0502020204030203" pitchFamily="34" charset="0"/>
                        </a:rPr>
                        <a:t> of goals (INR Cr)</a:t>
                      </a:r>
                    </a:p>
                  </a:txBody>
                  <a:tcPr marL="72000" marR="6350" marT="6350" marB="0" anchor="ctr"/>
                </a:tc>
                <a:tc>
                  <a:txBody>
                    <a:bodyPr/>
                    <a:lstStyle/>
                    <a:p>
                      <a:pPr algn="ctr" rtl="0" fontAlgn="b"/>
                      <a:r>
                        <a:rPr lang="en-US" sz="1100" b="0" i="0" u="none" strike="noStrike">
                          <a:solidFill>
                            <a:schemeClr val="bg2">
                              <a:lumMod val="10000"/>
                            </a:schemeClr>
                          </a:solidFill>
                          <a:effectLst/>
                          <a:latin typeface="Aptos"/>
                          <a:ea typeface="Lato Regular"/>
                          <a:cs typeface="Lato Regular"/>
                        </a:rPr>
                        <a:t>1300</a:t>
                      </a:r>
                    </a:p>
                  </a:txBody>
                  <a:tcPr marL="6350" marR="6350" marT="6350" marB="0" anchor="ctr"/>
                </a:tc>
                <a:tc>
                  <a:txBody>
                    <a:bodyPr/>
                    <a:lstStyle/>
                    <a:p>
                      <a:pPr algn="ctr" rtl="0" fontAlgn="b"/>
                      <a:r>
                        <a:rPr lang="en-US" sz="1100" b="0" i="0" u="none" strike="noStrike">
                          <a:solidFill>
                            <a:schemeClr val="bg2">
                              <a:lumMod val="10000"/>
                            </a:schemeClr>
                          </a:solidFill>
                          <a:effectLst/>
                          <a:latin typeface="Aptos"/>
                          <a:ea typeface="Lato Regular"/>
                          <a:cs typeface="Lato Regular"/>
                        </a:rPr>
                        <a:t>2339</a:t>
                      </a:r>
                    </a:p>
                  </a:txBody>
                  <a:tcPr marL="6350" marR="6350" marT="6350" marB="0" anchor="ctr"/>
                </a:tc>
                <a:tc>
                  <a:txBody>
                    <a:bodyPr/>
                    <a:lstStyle/>
                    <a:p>
                      <a:pPr algn="ctr" rtl="0" fontAlgn="b"/>
                      <a:r>
                        <a:rPr lang="en-US" sz="1100" b="0" i="0" u="none" strike="noStrike">
                          <a:solidFill>
                            <a:schemeClr val="bg2">
                              <a:lumMod val="10000"/>
                            </a:schemeClr>
                          </a:solidFill>
                          <a:effectLst/>
                          <a:latin typeface="Aptos"/>
                          <a:ea typeface="Lato Regular"/>
                          <a:cs typeface="Lato Regular"/>
                        </a:rPr>
                        <a:t>3659</a:t>
                      </a:r>
                    </a:p>
                  </a:txBody>
                  <a:tcPr marL="6350" marR="6350" marT="6350" marB="0" anchor="ctr"/>
                </a:tc>
                <a:tc>
                  <a:txBody>
                    <a:bodyPr/>
                    <a:lstStyle/>
                    <a:p>
                      <a:pPr algn="ctr" rtl="0" fontAlgn="b"/>
                      <a:r>
                        <a:rPr lang="en-US" sz="1100" b="0" i="0" u="none" strike="noStrike">
                          <a:solidFill>
                            <a:schemeClr val="bg2">
                              <a:lumMod val="10000"/>
                            </a:schemeClr>
                          </a:solidFill>
                          <a:effectLst/>
                          <a:latin typeface="Aptos"/>
                          <a:ea typeface="Lato Regular"/>
                          <a:cs typeface="Lato Regular"/>
                        </a:rPr>
                        <a:t>2339</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Aptos"/>
                          <a:ea typeface="Lato Regular"/>
                          <a:cs typeface="Lato Regular"/>
                        </a:rPr>
                        <a:t>3659</a:t>
                      </a:r>
                    </a:p>
                  </a:txBody>
                  <a:tcPr marL="6350" marR="6350" marT="6350" marB="0" anchor="ctr"/>
                </a:tc>
                <a:extLst>
                  <a:ext uri="{0D108BD9-81ED-4DB2-BD59-A6C34878D82A}">
                    <a16:rowId xmlns:a16="http://schemas.microsoft.com/office/drawing/2014/main" val="4076501595"/>
                  </a:ext>
                </a:extLst>
              </a:tr>
            </a:tbl>
          </a:graphicData>
        </a:graphic>
      </p:graphicFrame>
      <p:cxnSp>
        <p:nvCxnSpPr>
          <p:cNvPr id="21" name="Straight Connector 20">
            <a:extLst>
              <a:ext uri="{FF2B5EF4-FFF2-40B4-BE49-F238E27FC236}">
                <a16:creationId xmlns:a16="http://schemas.microsoft.com/office/drawing/2014/main" id="{DADB4C34-5D51-716F-CBF3-16588745EBA1}"/>
              </a:ext>
            </a:extLst>
          </p:cNvPr>
          <p:cNvCxnSpPr>
            <a:cxnSpLocks/>
          </p:cNvCxnSpPr>
          <p:nvPr/>
        </p:nvCxnSpPr>
        <p:spPr>
          <a:xfrm>
            <a:off x="6563151" y="536026"/>
            <a:ext cx="0" cy="320217"/>
          </a:xfrm>
          <a:prstGeom prst="line">
            <a:avLst/>
          </a:prstGeom>
          <a:ln/>
        </p:spPr>
        <p:style>
          <a:lnRef idx="1">
            <a:schemeClr val="accent1"/>
          </a:lnRef>
          <a:fillRef idx="0">
            <a:schemeClr val="accent1"/>
          </a:fillRef>
          <a:effectRef idx="0">
            <a:schemeClr val="accent1"/>
          </a:effectRef>
          <a:fontRef idx="minor">
            <a:schemeClr val="tx1"/>
          </a:fontRef>
        </p:style>
      </p:cxnSp>
      <p:pic>
        <p:nvPicPr>
          <p:cNvPr id="16" name="Picture 2" descr="Multipl partners with CaratLane ( A Tanishq Partnership) for an exclusive">
            <a:extLst>
              <a:ext uri="{FF2B5EF4-FFF2-40B4-BE49-F238E27FC236}">
                <a16:creationId xmlns:a16="http://schemas.microsoft.com/office/drawing/2014/main" id="{B4D4588D-9F43-2F50-1D3C-DF487CEFD3B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3953" b="24962"/>
          <a:stretch>
            <a:fillRect/>
          </a:stretch>
        </p:blipFill>
        <p:spPr bwMode="auto">
          <a:xfrm>
            <a:off x="6757880" y="535508"/>
            <a:ext cx="1000229" cy="34188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7" name="Table 16">
            <a:extLst>
              <a:ext uri="{FF2B5EF4-FFF2-40B4-BE49-F238E27FC236}">
                <a16:creationId xmlns:a16="http://schemas.microsoft.com/office/drawing/2014/main" id="{95C3B9D6-AD41-5A40-F86A-56B80137EE88}"/>
              </a:ext>
            </a:extLst>
          </p:cNvPr>
          <p:cNvGraphicFramePr>
            <a:graphicFrameLocks noGrp="1"/>
          </p:cNvGraphicFramePr>
          <p:nvPr/>
        </p:nvGraphicFramePr>
        <p:xfrm>
          <a:off x="5539984" y="4144253"/>
          <a:ext cx="5861080" cy="1417095"/>
        </p:xfrm>
        <a:graphic>
          <a:graphicData uri="http://schemas.openxmlformats.org/drawingml/2006/table">
            <a:tbl>
              <a:tblPr firstRow="1" bandRow="1">
                <a:tableStyleId>{72833802-FEF1-4C79-8D5D-14CF1EAF98D9}</a:tableStyleId>
              </a:tblPr>
              <a:tblGrid>
                <a:gridCol w="1917310">
                  <a:extLst>
                    <a:ext uri="{9D8B030D-6E8A-4147-A177-3AD203B41FA5}">
                      <a16:colId xmlns:a16="http://schemas.microsoft.com/office/drawing/2014/main" val="3001066899"/>
                    </a:ext>
                  </a:extLst>
                </a:gridCol>
                <a:gridCol w="788754">
                  <a:extLst>
                    <a:ext uri="{9D8B030D-6E8A-4147-A177-3AD203B41FA5}">
                      <a16:colId xmlns:a16="http://schemas.microsoft.com/office/drawing/2014/main" val="700748351"/>
                    </a:ext>
                  </a:extLst>
                </a:gridCol>
                <a:gridCol w="788754">
                  <a:extLst>
                    <a:ext uri="{9D8B030D-6E8A-4147-A177-3AD203B41FA5}">
                      <a16:colId xmlns:a16="http://schemas.microsoft.com/office/drawing/2014/main" val="3274968397"/>
                    </a:ext>
                  </a:extLst>
                </a:gridCol>
                <a:gridCol w="788754">
                  <a:extLst>
                    <a:ext uri="{9D8B030D-6E8A-4147-A177-3AD203B41FA5}">
                      <a16:colId xmlns:a16="http://schemas.microsoft.com/office/drawing/2014/main" val="3607597589"/>
                    </a:ext>
                  </a:extLst>
                </a:gridCol>
                <a:gridCol w="788754">
                  <a:extLst>
                    <a:ext uri="{9D8B030D-6E8A-4147-A177-3AD203B41FA5}">
                      <a16:colId xmlns:a16="http://schemas.microsoft.com/office/drawing/2014/main" val="746035582"/>
                    </a:ext>
                  </a:extLst>
                </a:gridCol>
                <a:gridCol w="788754">
                  <a:extLst>
                    <a:ext uri="{9D8B030D-6E8A-4147-A177-3AD203B41FA5}">
                      <a16:colId xmlns:a16="http://schemas.microsoft.com/office/drawing/2014/main" val="3336224203"/>
                    </a:ext>
                  </a:extLst>
                </a:gridCol>
              </a:tblGrid>
              <a:tr h="276035">
                <a:tc>
                  <a:txBody>
                    <a:bodyPr/>
                    <a:lstStyle/>
                    <a:p>
                      <a:pPr algn="l" rtl="0" fontAlgn="b"/>
                      <a:r>
                        <a:rPr lang="en-IN" sz="1100" b="1" i="0" u="none" strike="noStrike">
                          <a:effectLst/>
                          <a:latin typeface="Aptos" panose="020B0004020202020204" pitchFamily="34" charset="0"/>
                          <a:ea typeface="Lato Regular" panose="020F0502020204030203" pitchFamily="34" charset="0"/>
                          <a:cs typeface="Lato Regular" panose="020F0502020204030203" pitchFamily="34" charset="0"/>
                        </a:rPr>
                        <a:t>INR Cr.</a:t>
                      </a:r>
                      <a:endParaRPr lang="en-IN" sz="1100" b="1" i="0" u="none" strike="noStrike">
                        <a:solidFill>
                          <a:srgbClr val="FFFFFF"/>
                        </a:solidFill>
                        <a:effectLst/>
                        <a:latin typeface="Aptos" panose="020B0004020202020204" pitchFamily="34" charset="0"/>
                        <a:ea typeface="Lato Regular" panose="020F0502020204030203" pitchFamily="34" charset="0"/>
                        <a:cs typeface="Lato Regular" panose="020F0502020204030203" pitchFamily="34" charset="0"/>
                      </a:endParaRPr>
                    </a:p>
                  </a:txBody>
                  <a:tcPr marL="72000" marR="6350" marT="6350" marB="0" anchor="ctr"/>
                </a:tc>
                <a:tc>
                  <a:txBody>
                    <a:bodyPr/>
                    <a:lstStyle/>
                    <a:p>
                      <a:pPr algn="ctr" fontAlgn="b">
                        <a:buNone/>
                      </a:pPr>
                      <a:r>
                        <a:rPr lang="en-US" sz="110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rPr>
                        <a:t>FY24</a:t>
                      </a:r>
                    </a:p>
                  </a:txBody>
                  <a:tcPr marL="6350" marR="6350" marT="6350" marB="0" anchor="ctr"/>
                </a:tc>
                <a:tc>
                  <a:txBody>
                    <a:bodyPr/>
                    <a:lstStyle/>
                    <a:p>
                      <a:pPr algn="ctr" fontAlgn="b">
                        <a:buNone/>
                      </a:pPr>
                      <a:r>
                        <a:rPr lang="en-US" sz="110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rPr>
                        <a:t>FY25</a:t>
                      </a:r>
                    </a:p>
                  </a:txBody>
                  <a:tcPr marL="6350" marR="6350" marT="6350" marB="0" anchor="ctr"/>
                </a:tc>
                <a:tc>
                  <a:txBody>
                    <a:bodyPr/>
                    <a:lstStyle/>
                    <a:p>
                      <a:pPr algn="ctr" fontAlgn="b">
                        <a:buNone/>
                      </a:pPr>
                      <a:r>
                        <a:rPr lang="en-US" sz="1100" b="1" i="0" u="none" strike="noStrike">
                          <a:solidFill>
                            <a:schemeClr val="bg1"/>
                          </a:solidFill>
                          <a:effectLst/>
                          <a:latin typeface="Aptos"/>
                          <a:ea typeface="Lato Regular"/>
                          <a:cs typeface="Lato Regular"/>
                        </a:rPr>
                        <a:t>FY26</a:t>
                      </a:r>
                      <a:endParaRPr lang="en-US" sz="110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100" b="1" i="0" u="none" strike="noStrike">
                          <a:solidFill>
                            <a:schemeClr val="bg1"/>
                          </a:solidFill>
                          <a:effectLst/>
                          <a:latin typeface="Aptos"/>
                          <a:ea typeface="Lato Regular"/>
                          <a:cs typeface="Lato Regular"/>
                        </a:rPr>
                        <a:t>Q4FY25</a:t>
                      </a:r>
                      <a:endParaRPr lang="en-US" sz="110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100" b="1" i="0" u="none" strike="noStrike">
                          <a:solidFill>
                            <a:schemeClr val="bg1"/>
                          </a:solidFill>
                          <a:effectLst/>
                          <a:latin typeface="Aptos"/>
                          <a:ea typeface="Lato Regular"/>
                          <a:cs typeface="Lato Regular"/>
                        </a:rPr>
                        <a:t>Q4FY26</a:t>
                      </a:r>
                      <a:endParaRPr lang="en-US" sz="110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extLst>
                  <a:ext uri="{0D108BD9-81ED-4DB2-BD59-A6C34878D82A}">
                    <a16:rowId xmlns:a16="http://schemas.microsoft.com/office/drawing/2014/main" val="3735237806"/>
                  </a:ext>
                </a:extLst>
              </a:tr>
              <a:tr h="276035">
                <a:tc>
                  <a:txBody>
                    <a:bodyPr/>
                    <a:lstStyle/>
                    <a:p>
                      <a:pPr algn="l" fontAlgn="b">
                        <a:buNone/>
                      </a:pPr>
                      <a:r>
                        <a:rPr lang="en-US" sz="1100" b="1" u="none" strike="noStrike">
                          <a:solidFill>
                            <a:schemeClr val="bg2">
                              <a:lumMod val="10000"/>
                            </a:schemeClr>
                          </a:solidFill>
                          <a:effectLst/>
                          <a:latin typeface="+mn-lt"/>
                          <a:ea typeface="Lato Regular" panose="020F0502020204030203" pitchFamily="34" charset="0"/>
                          <a:cs typeface="Lato Regular" panose="020F0502020204030203" pitchFamily="34" charset="0"/>
                        </a:rPr>
                        <a:t>Net Revenue</a:t>
                      </a:r>
                      <a:endParaRPr lang="en-US" sz="1100" b="1" i="0" u="none" strike="noStrike">
                        <a:solidFill>
                          <a:schemeClr val="bg2">
                            <a:lumMod val="10000"/>
                          </a:schemeClr>
                        </a:solidFill>
                        <a:effectLst/>
                        <a:latin typeface="+mn-lt"/>
                        <a:ea typeface="Lato Regular" panose="020F0502020204030203" pitchFamily="34" charset="0"/>
                        <a:cs typeface="Lato Regular" panose="020F0502020204030203" pitchFamily="34" charset="0"/>
                      </a:endParaRPr>
                    </a:p>
                  </a:txBody>
                  <a:tcPr marL="95250" marR="6350" marT="6350" marB="0" anchor="ctr"/>
                </a:tc>
                <a:tc>
                  <a:txBody>
                    <a:bodyPr/>
                    <a:lstStyle/>
                    <a:p>
                      <a:pPr algn="ctr" fontAlgn="b">
                        <a:buNone/>
                      </a:pPr>
                      <a:r>
                        <a:rPr lang="en-US" sz="1100" b="1" i="0" u="none" strike="noStrike">
                          <a:solidFill>
                            <a:schemeClr val="bg2">
                              <a:lumMod val="10000"/>
                            </a:schemeClr>
                          </a:solidFill>
                          <a:effectLst/>
                          <a:latin typeface="+mn-lt"/>
                          <a:ea typeface="Lato Regular" panose="020F0502020204030203" pitchFamily="34" charset="0"/>
                          <a:cs typeface="Lato Regular" panose="020F0502020204030203" pitchFamily="34" charset="0"/>
                        </a:rPr>
                        <a:t>0.5 </a:t>
                      </a:r>
                    </a:p>
                  </a:txBody>
                  <a:tcPr marL="6350" marR="6350" marT="6350" marB="0" anchor="ctr"/>
                </a:tc>
                <a:tc>
                  <a:txBody>
                    <a:bodyPr/>
                    <a:lstStyle/>
                    <a:p>
                      <a:pPr algn="ctr" fontAlgn="b">
                        <a:buNone/>
                      </a:pPr>
                      <a:r>
                        <a:rPr lang="en-US" sz="1100" b="1" i="0" u="none" strike="noStrike">
                          <a:solidFill>
                            <a:schemeClr val="bg2">
                              <a:lumMod val="10000"/>
                            </a:schemeClr>
                          </a:solidFill>
                          <a:effectLst/>
                          <a:latin typeface="+mn-lt"/>
                          <a:ea typeface="Lato Regular" panose="020F0502020204030203" pitchFamily="34" charset="0"/>
                          <a:cs typeface="Lato Regular" panose="020F0502020204030203" pitchFamily="34" charset="0"/>
                        </a:rPr>
                        <a:t>1.3</a:t>
                      </a:r>
                    </a:p>
                  </a:txBody>
                  <a:tcPr marL="6350" marR="6350" marT="6350" marB="0" anchor="ctr"/>
                </a:tc>
                <a:tc>
                  <a:txBody>
                    <a:bodyPr/>
                    <a:lstStyle/>
                    <a:p>
                      <a:pPr algn="ctr" fontAlgn="b">
                        <a:buNone/>
                      </a:pPr>
                      <a:r>
                        <a:rPr lang="en-US" sz="1100" b="1" i="0" u="none" strike="noStrike">
                          <a:solidFill>
                            <a:srgbClr val="000000"/>
                          </a:solidFill>
                          <a:effectLst/>
                          <a:latin typeface="+mn-lt"/>
                        </a:rPr>
                        <a:t>1.3</a:t>
                      </a:r>
                    </a:p>
                  </a:txBody>
                  <a:tcPr marL="6350" marR="6350" marT="6350" marB="0" anchor="ctr"/>
                </a:tc>
                <a:tc>
                  <a:txBody>
                    <a:bodyPr/>
                    <a:lstStyle/>
                    <a:p>
                      <a:pPr algn="ctr" fontAlgn="b">
                        <a:buNone/>
                      </a:pPr>
                      <a:r>
                        <a:rPr lang="en-US" sz="1100" b="1" i="0" u="none" strike="noStrike">
                          <a:solidFill>
                            <a:srgbClr val="000000"/>
                          </a:solidFill>
                          <a:effectLst/>
                          <a:latin typeface="+mn-lt"/>
                        </a:rPr>
                        <a:t>0.5</a:t>
                      </a:r>
                    </a:p>
                  </a:txBody>
                  <a:tcPr marL="6350" marR="6350" marT="6350" marB="0" anchor="ctr"/>
                </a:tc>
                <a:tc>
                  <a:txBody>
                    <a:bodyPr/>
                    <a:lstStyle/>
                    <a:p>
                      <a:pPr algn="ctr" fontAlgn="b">
                        <a:buNone/>
                      </a:pPr>
                      <a:r>
                        <a:rPr lang="en-US" sz="1100" b="1" i="0" u="none" strike="noStrike">
                          <a:solidFill>
                            <a:srgbClr val="000000"/>
                          </a:solidFill>
                          <a:effectLst/>
                          <a:latin typeface="+mn-lt"/>
                        </a:rPr>
                        <a:t>0.4</a:t>
                      </a:r>
                    </a:p>
                  </a:txBody>
                  <a:tcPr marL="6350" marR="6350" marT="6350" marB="0" anchor="ctr"/>
                </a:tc>
                <a:extLst>
                  <a:ext uri="{0D108BD9-81ED-4DB2-BD59-A6C34878D82A}">
                    <a16:rowId xmlns:a16="http://schemas.microsoft.com/office/drawing/2014/main" val="2159784742"/>
                  </a:ext>
                </a:extLst>
              </a:tr>
              <a:tr h="276035">
                <a:tc>
                  <a:txBody>
                    <a:bodyPr/>
                    <a:lstStyle/>
                    <a:p>
                      <a:pPr algn="l" fontAlgn="b">
                        <a:buNone/>
                      </a:pPr>
                      <a:r>
                        <a:rPr lang="en-US" sz="1100" b="1" u="none" strike="noStrike">
                          <a:solidFill>
                            <a:schemeClr val="bg2">
                              <a:lumMod val="10000"/>
                            </a:schemeClr>
                          </a:solidFill>
                          <a:effectLst/>
                          <a:latin typeface="+mn-lt"/>
                          <a:ea typeface="Lato Regular" panose="020F0502020204030203" pitchFamily="34" charset="0"/>
                          <a:cs typeface="Lato Regular" panose="020F0502020204030203" pitchFamily="34" charset="0"/>
                        </a:rPr>
                        <a:t>% Growth YoY</a:t>
                      </a:r>
                      <a:endParaRPr lang="en-US" sz="1100" b="1" i="0" u="none" strike="noStrike">
                        <a:solidFill>
                          <a:schemeClr val="bg2">
                            <a:lumMod val="10000"/>
                          </a:schemeClr>
                        </a:solidFill>
                        <a:effectLst/>
                        <a:latin typeface="+mn-lt"/>
                        <a:ea typeface="Lato Regular" panose="020F0502020204030203" pitchFamily="34" charset="0"/>
                        <a:cs typeface="Lato Regular" panose="020F0502020204030203" pitchFamily="34" charset="0"/>
                      </a:endParaRPr>
                    </a:p>
                  </a:txBody>
                  <a:tcPr marL="95250" marR="6350" marT="6350" marB="0" anchor="ctr"/>
                </a:tc>
                <a:tc>
                  <a:txBody>
                    <a:bodyPr/>
                    <a:lstStyle/>
                    <a:p>
                      <a:pPr algn="ctr" fontAlgn="b">
                        <a:buNone/>
                      </a:pPr>
                      <a:r>
                        <a:rPr lang="en-US" sz="1100" b="0" i="0" u="none" strike="noStrike">
                          <a:solidFill>
                            <a:schemeClr val="bg2">
                              <a:lumMod val="10000"/>
                            </a:schemeClr>
                          </a:solidFill>
                          <a:effectLst/>
                          <a:latin typeface="+mn-lt"/>
                          <a:ea typeface="Lato Regular" panose="020F0502020204030203" pitchFamily="34" charset="0"/>
                          <a:cs typeface="Lato Regular" panose="020F0502020204030203" pitchFamily="34" charset="0"/>
                        </a:rPr>
                        <a:t>76.1%</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mn-lt"/>
                          <a:ea typeface="Lato Regular" panose="020F0502020204030203" pitchFamily="34" charset="0"/>
                          <a:cs typeface="Lato Regular" panose="020F0502020204030203" pitchFamily="34" charset="0"/>
                        </a:rPr>
                        <a:t>148.0%</a:t>
                      </a:r>
                    </a:p>
                  </a:txBody>
                  <a:tcPr marL="6350" marR="6350" marT="6350" marB="0" anchor="ctr"/>
                </a:tc>
                <a:tc>
                  <a:txBody>
                    <a:bodyPr/>
                    <a:lstStyle/>
                    <a:p>
                      <a:pPr algn="ctr" fontAlgn="b">
                        <a:buNone/>
                      </a:pPr>
                      <a:r>
                        <a:rPr lang="en-US" sz="1100" b="0" i="0" u="none" strike="noStrike">
                          <a:solidFill>
                            <a:srgbClr val="000000"/>
                          </a:solidFill>
                          <a:effectLst/>
                          <a:latin typeface="+mn-lt"/>
                        </a:rPr>
                        <a:t>0.83%</a:t>
                      </a:r>
                    </a:p>
                  </a:txBody>
                  <a:tcPr marL="6350" marR="6350" marT="6350" marB="0" anchor="ctr"/>
                </a:tc>
                <a:tc>
                  <a:txBody>
                    <a:bodyPr/>
                    <a:lstStyle/>
                    <a:p>
                      <a:pPr algn="ctr" fontAlgn="b">
                        <a:buNone/>
                      </a:pPr>
                      <a:r>
                        <a:rPr lang="en-US" sz="1100" b="0" i="0" u="none" strike="noStrike">
                          <a:solidFill>
                            <a:srgbClr val="000000"/>
                          </a:solidFill>
                          <a:effectLst/>
                          <a:latin typeface="+mn-lt"/>
                        </a:rPr>
                        <a:t>111.0%</a:t>
                      </a:r>
                    </a:p>
                  </a:txBody>
                  <a:tcPr marL="6350" marR="6350" marT="6350" marB="0" anchor="ctr"/>
                </a:tc>
                <a:tc>
                  <a:txBody>
                    <a:bodyPr/>
                    <a:lstStyle/>
                    <a:p>
                      <a:pPr algn="ctr" fontAlgn="b">
                        <a:buNone/>
                      </a:pPr>
                      <a:r>
                        <a:rPr lang="en-US" sz="1100" b="0" i="0" u="none" strike="noStrike">
                          <a:solidFill>
                            <a:srgbClr val="000000"/>
                          </a:solidFill>
                          <a:effectLst/>
                          <a:latin typeface="+mn-lt"/>
                        </a:rPr>
                        <a:t>-21.5</a:t>
                      </a:r>
                    </a:p>
                  </a:txBody>
                  <a:tcPr marL="6350" marR="6350" marT="6350" marB="0" anchor="ctr"/>
                </a:tc>
                <a:extLst>
                  <a:ext uri="{0D108BD9-81ED-4DB2-BD59-A6C34878D82A}">
                    <a16:rowId xmlns:a16="http://schemas.microsoft.com/office/drawing/2014/main" val="2809398452"/>
                  </a:ext>
                </a:extLst>
              </a:tr>
              <a:tr h="294495">
                <a:tc>
                  <a:txBody>
                    <a:bodyPr/>
                    <a:lstStyle/>
                    <a:p>
                      <a:pPr algn="l" fontAlgn="t">
                        <a:buNone/>
                      </a:pPr>
                      <a:r>
                        <a:rPr lang="en-US" sz="1100" b="1" u="none" strike="noStrike">
                          <a:solidFill>
                            <a:schemeClr val="bg2">
                              <a:lumMod val="10000"/>
                            </a:schemeClr>
                          </a:solidFill>
                          <a:effectLst/>
                          <a:latin typeface="+mn-lt"/>
                          <a:ea typeface="Lato Regular" panose="020F0502020204030203" pitchFamily="34" charset="0"/>
                          <a:cs typeface="Lato Regular" panose="020F0502020204030203" pitchFamily="34" charset="0"/>
                        </a:rPr>
                        <a:t>EBITDA</a:t>
                      </a:r>
                      <a:endParaRPr lang="en-US" sz="1100" b="1" i="0" u="none" strike="noStrike">
                        <a:solidFill>
                          <a:schemeClr val="bg2">
                            <a:lumMod val="10000"/>
                          </a:schemeClr>
                        </a:solidFill>
                        <a:effectLst/>
                        <a:latin typeface="+mn-lt"/>
                        <a:ea typeface="Lato Regular" panose="020F0502020204030203" pitchFamily="34" charset="0"/>
                        <a:cs typeface="Lato Regular" panose="020F0502020204030203" pitchFamily="34" charset="0"/>
                      </a:endParaRPr>
                    </a:p>
                  </a:txBody>
                  <a:tcPr marL="95250" marR="6350" marT="6350" marB="0" anchor="ctr"/>
                </a:tc>
                <a:tc>
                  <a:txBody>
                    <a:bodyPr/>
                    <a:lstStyle/>
                    <a:p>
                      <a:pPr algn="ctr" fontAlgn="b">
                        <a:buNone/>
                      </a:pPr>
                      <a:r>
                        <a:rPr lang="en-US" sz="1100" b="1" i="0" u="none" strike="noStrike">
                          <a:solidFill>
                            <a:schemeClr val="bg2">
                              <a:lumMod val="10000"/>
                            </a:schemeClr>
                          </a:solidFill>
                          <a:effectLst/>
                          <a:latin typeface="+mn-lt"/>
                          <a:ea typeface="Lato Regular" panose="020F0502020204030203" pitchFamily="34" charset="0"/>
                          <a:cs typeface="Lato Regular" panose="020F0502020204030203" pitchFamily="34" charset="0"/>
                        </a:rPr>
                        <a:t>     -10.0 </a:t>
                      </a:r>
                    </a:p>
                  </a:txBody>
                  <a:tcPr marL="6350" marR="6350" marT="6350" marB="0" anchor="ctr"/>
                </a:tc>
                <a:tc>
                  <a:txBody>
                    <a:bodyPr/>
                    <a:lstStyle/>
                    <a:p>
                      <a:pPr algn="ctr" fontAlgn="b">
                        <a:buNone/>
                      </a:pPr>
                      <a:r>
                        <a:rPr lang="en-US" sz="1100" b="1" i="0" u="none" strike="noStrike">
                          <a:solidFill>
                            <a:schemeClr val="bg2">
                              <a:lumMod val="10000"/>
                            </a:schemeClr>
                          </a:solidFill>
                          <a:effectLst/>
                          <a:latin typeface="+mn-lt"/>
                          <a:ea typeface="Lato Regular" panose="020F0502020204030203" pitchFamily="34" charset="0"/>
                          <a:cs typeface="Lato Regular" panose="020F0502020204030203" pitchFamily="34" charset="0"/>
                        </a:rPr>
                        <a:t>-8.1</a:t>
                      </a:r>
                    </a:p>
                  </a:txBody>
                  <a:tcPr marL="6350" marR="6350" marT="6350" marB="0" anchor="ctr"/>
                </a:tc>
                <a:tc>
                  <a:txBody>
                    <a:bodyPr/>
                    <a:lstStyle/>
                    <a:p>
                      <a:pPr algn="ctr" fontAlgn="b">
                        <a:buNone/>
                      </a:pPr>
                      <a:r>
                        <a:rPr lang="en-US" sz="1100" b="1" i="0" u="none" strike="noStrike">
                          <a:solidFill>
                            <a:srgbClr val="000000"/>
                          </a:solidFill>
                          <a:effectLst/>
                          <a:latin typeface="+mn-lt"/>
                        </a:rPr>
                        <a:t>-9.4</a:t>
                      </a:r>
                    </a:p>
                  </a:txBody>
                  <a:tcPr marL="6350" marR="6350" marT="6350" marB="0" anchor="ctr"/>
                </a:tc>
                <a:tc>
                  <a:txBody>
                    <a:bodyPr/>
                    <a:lstStyle/>
                    <a:p>
                      <a:pPr algn="ctr" fontAlgn="b">
                        <a:buNone/>
                      </a:pPr>
                      <a:r>
                        <a:rPr lang="en-US" sz="1100" b="1" i="0" u="none" strike="noStrike">
                          <a:solidFill>
                            <a:srgbClr val="000000"/>
                          </a:solidFill>
                          <a:effectLst/>
                          <a:latin typeface="+mn-lt"/>
                        </a:rPr>
                        <a:t>-2.2</a:t>
                      </a:r>
                    </a:p>
                  </a:txBody>
                  <a:tcPr marL="6350" marR="6350" marT="6350" marB="0" anchor="ctr"/>
                </a:tc>
                <a:tc>
                  <a:txBody>
                    <a:bodyPr/>
                    <a:lstStyle/>
                    <a:p>
                      <a:pPr algn="ctr" fontAlgn="b">
                        <a:buNone/>
                      </a:pPr>
                      <a:r>
                        <a:rPr lang="en-US" sz="1100" b="1" i="0" u="none" strike="noStrike">
                          <a:solidFill>
                            <a:srgbClr val="000000"/>
                          </a:solidFill>
                          <a:effectLst/>
                          <a:latin typeface="+mn-lt"/>
                        </a:rPr>
                        <a:t>-2.29</a:t>
                      </a:r>
                    </a:p>
                  </a:txBody>
                  <a:tcPr marL="6350" marR="6350" marT="6350" marB="0" anchor="ctr"/>
                </a:tc>
                <a:extLst>
                  <a:ext uri="{0D108BD9-81ED-4DB2-BD59-A6C34878D82A}">
                    <a16:rowId xmlns:a16="http://schemas.microsoft.com/office/drawing/2014/main" val="3498926890"/>
                  </a:ext>
                </a:extLst>
              </a:tr>
              <a:tr h="294495">
                <a:tc>
                  <a:txBody>
                    <a:bodyPr/>
                    <a:lstStyle/>
                    <a:p>
                      <a:pPr algn="l" fontAlgn="b">
                        <a:buNone/>
                      </a:pPr>
                      <a:r>
                        <a:rPr lang="en-US" sz="1100" b="1" u="none" strike="noStrike">
                          <a:solidFill>
                            <a:schemeClr val="bg2">
                              <a:lumMod val="10000"/>
                            </a:schemeClr>
                          </a:solidFill>
                          <a:effectLst/>
                          <a:latin typeface="+mn-lt"/>
                          <a:ea typeface="Lato Regular" panose="020F0502020204030203" pitchFamily="34" charset="0"/>
                          <a:cs typeface="Lato Regular" panose="020F0502020204030203" pitchFamily="34" charset="0"/>
                        </a:rPr>
                        <a:t>% EBITDA</a:t>
                      </a:r>
                      <a:endParaRPr lang="en-US" sz="1100" b="1" i="0" u="none" strike="noStrike">
                        <a:solidFill>
                          <a:schemeClr val="bg2">
                            <a:lumMod val="10000"/>
                          </a:schemeClr>
                        </a:solidFill>
                        <a:effectLst/>
                        <a:latin typeface="+mn-lt"/>
                        <a:ea typeface="Lato Regular" panose="020F0502020204030203" pitchFamily="34" charset="0"/>
                        <a:cs typeface="Lato Regular" panose="020F0502020204030203" pitchFamily="34" charset="0"/>
                      </a:endParaRPr>
                    </a:p>
                  </a:txBody>
                  <a:tcPr marL="95250" marR="6350" marT="6350" marB="0" anchor="ctr"/>
                </a:tc>
                <a:tc>
                  <a:txBody>
                    <a:bodyPr/>
                    <a:lstStyle/>
                    <a:p>
                      <a:pPr algn="ctr" fontAlgn="b">
                        <a:buNone/>
                      </a:pPr>
                      <a:r>
                        <a:rPr lang="en-US" sz="1100" b="0" i="0" u="none" strike="noStrike">
                          <a:solidFill>
                            <a:schemeClr val="bg2">
                              <a:lumMod val="10000"/>
                            </a:schemeClr>
                          </a:solidFill>
                          <a:effectLst/>
                          <a:latin typeface="+mn-lt"/>
                          <a:ea typeface="Lato Regular" panose="020F0502020204030203" pitchFamily="34" charset="0"/>
                          <a:cs typeface="Lato Regular" panose="020F0502020204030203" pitchFamily="34" charset="0"/>
                        </a:rPr>
                        <a:t>-1914.9%</a:t>
                      </a:r>
                    </a:p>
                  </a:txBody>
                  <a:tcPr marL="6350" marR="6350" marT="6350" marB="0" anchor="ctr"/>
                </a:tc>
                <a:tc>
                  <a:txBody>
                    <a:bodyPr/>
                    <a:lstStyle/>
                    <a:p>
                      <a:pPr algn="ctr" fontAlgn="b">
                        <a:buNone/>
                      </a:pPr>
                      <a:r>
                        <a:rPr lang="en-US" sz="1100" b="0" i="0" u="none" strike="noStrike">
                          <a:solidFill>
                            <a:schemeClr val="bg2">
                              <a:lumMod val="10000"/>
                            </a:schemeClr>
                          </a:solidFill>
                          <a:effectLst/>
                          <a:latin typeface="+mn-lt"/>
                          <a:ea typeface="Lato Regular" panose="020F0502020204030203" pitchFamily="34" charset="0"/>
                          <a:cs typeface="Lato Regular" panose="020F0502020204030203" pitchFamily="34" charset="0"/>
                        </a:rPr>
                        <a:t>-622.0%</a:t>
                      </a:r>
                    </a:p>
                  </a:txBody>
                  <a:tcPr marL="6350" marR="6350" marT="6350" marB="0" anchor="ctr"/>
                </a:tc>
                <a:tc>
                  <a:txBody>
                    <a:bodyPr/>
                    <a:lstStyle/>
                    <a:p>
                      <a:pPr algn="ctr" fontAlgn="b">
                        <a:buNone/>
                      </a:pPr>
                      <a:r>
                        <a:rPr lang="en-US" sz="1100" b="0" i="0" u="none" strike="noStrike">
                          <a:solidFill>
                            <a:srgbClr val="000000"/>
                          </a:solidFill>
                          <a:effectLst/>
                          <a:latin typeface="+mn-lt"/>
                        </a:rPr>
                        <a:t>-721.3%</a:t>
                      </a:r>
                    </a:p>
                  </a:txBody>
                  <a:tcPr marL="6350" marR="6350" marT="6350" marB="0" anchor="ctr"/>
                </a:tc>
                <a:tc>
                  <a:txBody>
                    <a:bodyPr/>
                    <a:lstStyle/>
                    <a:p>
                      <a:pPr algn="ctr" fontAlgn="b">
                        <a:buNone/>
                      </a:pPr>
                      <a:r>
                        <a:rPr lang="en-US" sz="1100" b="0" i="0" u="none" strike="noStrike">
                          <a:solidFill>
                            <a:srgbClr val="000000"/>
                          </a:solidFill>
                          <a:effectLst/>
                          <a:latin typeface="+mn-lt"/>
                        </a:rPr>
                        <a:t>-437.0%</a:t>
                      </a:r>
                    </a:p>
                  </a:txBody>
                  <a:tcPr marL="6350" marR="6350" marT="6350" marB="0" anchor="ctr"/>
                </a:tc>
                <a:tc>
                  <a:txBody>
                    <a:bodyPr/>
                    <a:lstStyle/>
                    <a:p>
                      <a:pPr algn="ctr" fontAlgn="b">
                        <a:buNone/>
                      </a:pPr>
                      <a:r>
                        <a:rPr lang="en-US" sz="1100" b="0" i="0" u="none" strike="noStrike">
                          <a:solidFill>
                            <a:srgbClr val="000000"/>
                          </a:solidFill>
                          <a:effectLst/>
                          <a:latin typeface="+mn-lt"/>
                        </a:rPr>
                        <a:t>-587.2%</a:t>
                      </a:r>
                    </a:p>
                  </a:txBody>
                  <a:tcPr marL="6350" marR="6350" marT="6350" marB="0" anchor="ctr"/>
                </a:tc>
                <a:extLst>
                  <a:ext uri="{0D108BD9-81ED-4DB2-BD59-A6C34878D82A}">
                    <a16:rowId xmlns:a16="http://schemas.microsoft.com/office/drawing/2014/main" val="3759208202"/>
                  </a:ext>
                </a:extLst>
              </a:tr>
            </a:tbl>
          </a:graphicData>
        </a:graphic>
      </p:graphicFrame>
    </p:spTree>
    <p:extLst>
      <p:ext uri="{BB962C8B-B14F-4D97-AF65-F5344CB8AC3E}">
        <p14:creationId xmlns:p14="http://schemas.microsoft.com/office/powerpoint/2010/main" val="1346390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A5BE1-3F40-DB89-BE70-C3D53273F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C80F29-E04A-D429-B1D9-B320D57CC151}"/>
              </a:ext>
            </a:extLst>
          </p:cNvPr>
          <p:cNvSpPr>
            <a:spLocks noGrp="1"/>
          </p:cNvSpPr>
          <p:nvPr>
            <p:ph type="title"/>
          </p:nvPr>
        </p:nvSpPr>
        <p:spPr>
          <a:xfrm>
            <a:off x="371556" y="525420"/>
            <a:ext cx="8262481" cy="666914"/>
          </a:xfrm>
        </p:spPr>
        <p:txBody>
          <a:bodyPr/>
          <a:lstStyle/>
          <a:p>
            <a:r>
              <a:rPr lang="en-US" err="1"/>
              <a:t>Fastsurance</a:t>
            </a:r>
            <a:r>
              <a:rPr lang="en-US"/>
              <a:t> Consultants Private Limited - Insurance Samadhan</a:t>
            </a:r>
          </a:p>
        </p:txBody>
      </p:sp>
      <p:sp>
        <p:nvSpPr>
          <p:cNvPr id="3" name="TextBox 2">
            <a:extLst>
              <a:ext uri="{FF2B5EF4-FFF2-40B4-BE49-F238E27FC236}">
                <a16:creationId xmlns:a16="http://schemas.microsoft.com/office/drawing/2014/main" id="{AE5A08D8-AE38-3266-1605-8F6314F5EBCA}"/>
              </a:ext>
            </a:extLst>
          </p:cNvPr>
          <p:cNvSpPr txBox="1"/>
          <p:nvPr/>
        </p:nvSpPr>
        <p:spPr>
          <a:xfrm>
            <a:off x="499141" y="1387387"/>
            <a:ext cx="3450246" cy="320216"/>
          </a:xfrm>
          <a:prstGeom prst="rect">
            <a:avLst/>
          </a:prstGeom>
          <a:noFill/>
        </p:spPr>
        <p:txBody>
          <a:bodyPr wrap="square" rtlCol="0">
            <a:spAutoFit/>
          </a:bodyPr>
          <a:lstStyle/>
          <a:p>
            <a:r>
              <a:rPr lang="en-IN" sz="1481" b="1">
                <a:solidFill>
                  <a:schemeClr val="tx2"/>
                </a:solidFill>
                <a:ea typeface="Lato Regular" panose="020F0502020204030203" pitchFamily="34" charset="0"/>
                <a:cs typeface="Lato Regular" panose="020F0502020204030203" pitchFamily="34" charset="0"/>
              </a:rPr>
              <a:t>Business Description</a:t>
            </a:r>
          </a:p>
        </p:txBody>
      </p:sp>
      <p:sp>
        <p:nvSpPr>
          <p:cNvPr id="4" name="TextBox 3">
            <a:extLst>
              <a:ext uri="{FF2B5EF4-FFF2-40B4-BE49-F238E27FC236}">
                <a16:creationId xmlns:a16="http://schemas.microsoft.com/office/drawing/2014/main" id="{3D1DC7AB-36C1-F16C-C1C9-542F5E7773E0}"/>
              </a:ext>
            </a:extLst>
          </p:cNvPr>
          <p:cNvSpPr txBox="1"/>
          <p:nvPr/>
        </p:nvSpPr>
        <p:spPr>
          <a:xfrm>
            <a:off x="499141" y="3645004"/>
            <a:ext cx="3450246" cy="320216"/>
          </a:xfrm>
          <a:prstGeom prst="rect">
            <a:avLst/>
          </a:prstGeom>
          <a:noFill/>
        </p:spPr>
        <p:txBody>
          <a:bodyPr wrap="square" rtlCol="0">
            <a:spAutoFit/>
          </a:bodyPr>
          <a:lstStyle/>
          <a:p>
            <a:r>
              <a:rPr lang="en-IN" sz="1481" b="1">
                <a:solidFill>
                  <a:schemeClr val="tx2"/>
                </a:solidFill>
                <a:ea typeface="Lato Regular" panose="020F0502020204030203" pitchFamily="34" charset="0"/>
                <a:cs typeface="Lato Regular" panose="020F0502020204030203" pitchFamily="34" charset="0"/>
              </a:rPr>
              <a:t>Performance Commentary</a:t>
            </a:r>
          </a:p>
        </p:txBody>
      </p:sp>
      <p:sp>
        <p:nvSpPr>
          <p:cNvPr id="5" name="TextBox 4">
            <a:extLst>
              <a:ext uri="{FF2B5EF4-FFF2-40B4-BE49-F238E27FC236}">
                <a16:creationId xmlns:a16="http://schemas.microsoft.com/office/drawing/2014/main" id="{11880987-0212-3F4C-31D1-4A3CD6FE3B21}"/>
              </a:ext>
            </a:extLst>
          </p:cNvPr>
          <p:cNvSpPr txBox="1"/>
          <p:nvPr/>
        </p:nvSpPr>
        <p:spPr>
          <a:xfrm>
            <a:off x="5539984" y="3805112"/>
            <a:ext cx="3450246" cy="227883"/>
          </a:xfrm>
          <a:prstGeom prst="rect">
            <a:avLst/>
          </a:prstGeom>
          <a:noFill/>
        </p:spPr>
        <p:txBody>
          <a:bodyPr wrap="square" lIns="0" tIns="0" rIns="0" bIns="0" rtlCol="0">
            <a:spAutoFit/>
          </a:bodyPr>
          <a:lstStyle/>
          <a:p>
            <a:r>
              <a:rPr lang="en-IN" sz="1481" b="1">
                <a:solidFill>
                  <a:schemeClr val="tx2"/>
                </a:solidFill>
                <a:ea typeface="Lato Regular" panose="020F0502020204030203" pitchFamily="34" charset="0"/>
                <a:cs typeface="Lato Regular" panose="020F0502020204030203" pitchFamily="34" charset="0"/>
              </a:rPr>
              <a:t>Key Financial Highlights</a:t>
            </a:r>
          </a:p>
        </p:txBody>
      </p:sp>
      <p:cxnSp>
        <p:nvCxnSpPr>
          <p:cNvPr id="10" name="Straight Connector 9">
            <a:extLst>
              <a:ext uri="{FF2B5EF4-FFF2-40B4-BE49-F238E27FC236}">
                <a16:creationId xmlns:a16="http://schemas.microsoft.com/office/drawing/2014/main" id="{47C8D8C5-1DA0-15E9-31AA-5C08F2BA4EAC}"/>
              </a:ext>
            </a:extLst>
          </p:cNvPr>
          <p:cNvCxnSpPr>
            <a:cxnSpLocks/>
          </p:cNvCxnSpPr>
          <p:nvPr/>
        </p:nvCxnSpPr>
        <p:spPr>
          <a:xfrm>
            <a:off x="8305017" y="536026"/>
            <a:ext cx="0" cy="320217"/>
          </a:xfrm>
          <a:prstGeom prst="line">
            <a:avLst/>
          </a:prstGeom>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DE2D6A8-1CB6-BDDB-9347-44A341F781B3}"/>
              </a:ext>
            </a:extLst>
          </p:cNvPr>
          <p:cNvSpPr txBox="1"/>
          <p:nvPr/>
        </p:nvSpPr>
        <p:spPr>
          <a:xfrm>
            <a:off x="5539984" y="1433554"/>
            <a:ext cx="3607078" cy="227883"/>
          </a:xfrm>
          <a:prstGeom prst="rect">
            <a:avLst/>
          </a:prstGeom>
          <a:noFill/>
        </p:spPr>
        <p:txBody>
          <a:bodyPr wrap="square" lIns="0" tIns="0" rIns="0" bIns="0" rtlCol="0">
            <a:spAutoFit/>
          </a:bodyPr>
          <a:lstStyle/>
          <a:p>
            <a:r>
              <a:rPr lang="en-IN" sz="1481" b="1">
                <a:solidFill>
                  <a:schemeClr val="tx2"/>
                </a:solidFill>
                <a:ea typeface="Lato Regular" panose="020F0502020204030203" pitchFamily="34" charset="0"/>
                <a:cs typeface="Lato Regular" panose="020F0502020204030203" pitchFamily="34" charset="0"/>
              </a:rPr>
              <a:t>Key Performance Indicators</a:t>
            </a:r>
          </a:p>
        </p:txBody>
      </p:sp>
      <p:pic>
        <p:nvPicPr>
          <p:cNvPr id="13" name="Picture 2" descr="Insurance Samadhan 2025 Company Profile: Valuation, Funding &amp; Investors |  PitchBook">
            <a:extLst>
              <a:ext uri="{FF2B5EF4-FFF2-40B4-BE49-F238E27FC236}">
                <a16:creationId xmlns:a16="http://schemas.microsoft.com/office/drawing/2014/main" id="{C90C7F8A-2384-71DE-579E-B3346D09640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241" t="26172" r="-17373" b="26067"/>
          <a:stretch>
            <a:fillRect/>
          </a:stretch>
        </p:blipFill>
        <p:spPr bwMode="auto">
          <a:xfrm>
            <a:off x="8269145" y="414162"/>
            <a:ext cx="1595225" cy="557698"/>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2F8AE08B-3549-E9CE-71E0-759A2E34A7DD}"/>
              </a:ext>
            </a:extLst>
          </p:cNvPr>
          <p:cNvSpPr/>
          <p:nvPr/>
        </p:nvSpPr>
        <p:spPr>
          <a:xfrm>
            <a:off x="562116" y="1815136"/>
            <a:ext cx="4195514" cy="1708160"/>
          </a:xfrm>
          <a:prstGeom prst="rect">
            <a:avLst/>
          </a:prstGeom>
        </p:spPr>
        <p:txBody>
          <a:bodyPr wrap="square" lIns="0" tIns="0" rIns="0" bIns="0">
            <a:spAutoFit/>
          </a:bodyPr>
          <a:lstStyle/>
          <a:p>
            <a:pPr marL="171450" indent="-171450" algn="just">
              <a:spcAft>
                <a:spcPts val="600"/>
              </a:spcAft>
              <a:buFont typeface="Arial" panose="020B0604020202020204" pitchFamily="34" charset="0"/>
              <a:buChar char="•"/>
            </a:pPr>
            <a:r>
              <a:rPr lang="en-US" sz="1200">
                <a:solidFill>
                  <a:schemeClr val="bg2">
                    <a:lumMod val="10000"/>
                  </a:schemeClr>
                </a:solidFill>
                <a:ea typeface="Calibri"/>
                <a:cs typeface="Calibri"/>
                <a:sym typeface="Calibri"/>
              </a:rPr>
              <a:t>Insurance Samadhan is a platform for digitally resolving insurance claim issues in India. </a:t>
            </a:r>
          </a:p>
          <a:p>
            <a:pPr marL="171450" indent="-171450" algn="just">
              <a:spcAft>
                <a:spcPts val="600"/>
              </a:spcAft>
              <a:buFont typeface="Arial" panose="020B0604020202020204" pitchFamily="34" charset="0"/>
              <a:buChar char="•"/>
            </a:pPr>
            <a:r>
              <a:rPr lang="en-US" sz="1200">
                <a:solidFill>
                  <a:schemeClr val="bg2">
                    <a:lumMod val="10000"/>
                  </a:schemeClr>
                </a:solidFill>
                <a:ea typeface="Calibri"/>
                <a:cs typeface="Calibri"/>
                <a:sym typeface="Calibri"/>
              </a:rPr>
              <a:t>Their tech platform helps them filter out the potential clients whose claims could be settled. </a:t>
            </a:r>
          </a:p>
          <a:p>
            <a:pPr marL="171450" indent="-171450" algn="just">
              <a:spcAft>
                <a:spcPts val="600"/>
              </a:spcAft>
              <a:buFont typeface="Arial" panose="020B0604020202020204" pitchFamily="34" charset="0"/>
              <a:buChar char="•"/>
            </a:pPr>
            <a:r>
              <a:rPr lang="en-US" sz="1200">
                <a:solidFill>
                  <a:schemeClr val="bg2">
                    <a:lumMod val="10000"/>
                  </a:schemeClr>
                </a:solidFill>
                <a:ea typeface="Calibri"/>
                <a:cs typeface="Calibri"/>
                <a:sym typeface="Calibri"/>
              </a:rPr>
              <a:t>It has 2 models:- B2B: partnering with brokers, advisors and corporates to provide their customers an effortless redressal process. B2C: </a:t>
            </a:r>
            <a:r>
              <a:rPr lang="en-US" sz="1200" err="1">
                <a:solidFill>
                  <a:schemeClr val="bg2">
                    <a:lumMod val="10000"/>
                  </a:schemeClr>
                </a:solidFill>
                <a:ea typeface="Calibri"/>
                <a:cs typeface="Calibri"/>
                <a:sym typeface="Calibri"/>
              </a:rPr>
              <a:t>Polifyx</a:t>
            </a:r>
            <a:r>
              <a:rPr lang="en-US" sz="1200">
                <a:solidFill>
                  <a:schemeClr val="bg2">
                    <a:lumMod val="10000"/>
                  </a:schemeClr>
                </a:solidFill>
                <a:ea typeface="Calibri"/>
                <a:cs typeface="Calibri"/>
                <a:sym typeface="Calibri"/>
              </a:rPr>
              <a:t> app, directly for individuals </a:t>
            </a:r>
          </a:p>
          <a:p>
            <a:pPr marL="171450" indent="-171450" algn="just">
              <a:spcAft>
                <a:spcPts val="600"/>
              </a:spcAft>
              <a:buFont typeface="Arial" panose="020B0604020202020204" pitchFamily="34" charset="0"/>
              <a:buChar char="•"/>
            </a:pPr>
            <a:r>
              <a:rPr lang="en-US" sz="1200">
                <a:solidFill>
                  <a:schemeClr val="bg2">
                    <a:lumMod val="10000"/>
                  </a:schemeClr>
                </a:solidFill>
                <a:ea typeface="Calibri"/>
                <a:cs typeface="Calibri"/>
                <a:sym typeface="Calibri"/>
              </a:rPr>
              <a:t>They charge their customers a % of the settled claim amount.</a:t>
            </a:r>
          </a:p>
        </p:txBody>
      </p:sp>
      <p:sp>
        <p:nvSpPr>
          <p:cNvPr id="16" name="TextBox 15">
            <a:extLst>
              <a:ext uri="{FF2B5EF4-FFF2-40B4-BE49-F238E27FC236}">
                <a16:creationId xmlns:a16="http://schemas.microsoft.com/office/drawing/2014/main" id="{1F08E3E4-E3EF-FDC0-8169-B054E1E9DD7A}"/>
              </a:ext>
            </a:extLst>
          </p:cNvPr>
          <p:cNvSpPr txBox="1"/>
          <p:nvPr/>
        </p:nvSpPr>
        <p:spPr>
          <a:xfrm>
            <a:off x="455742" y="3979789"/>
            <a:ext cx="4408262" cy="3231654"/>
          </a:xfrm>
          <a:prstGeom prst="rect">
            <a:avLst/>
          </a:prstGeom>
          <a:noFill/>
        </p:spPr>
        <p:txBody>
          <a:bodyPr wrap="square" lIns="91440" tIns="45720" rIns="91440" bIns="45720" rtlCol="0" anchor="t">
            <a:spAutoFit/>
          </a:bodyPr>
          <a:lstStyle/>
          <a:p>
            <a:pPr marL="171450" indent="-171450" algn="just">
              <a:spcAft>
                <a:spcPts val="600"/>
              </a:spcAft>
              <a:buFont typeface="Arial" panose="020B0604020202020204" pitchFamily="34" charset="0"/>
              <a:buChar char="•"/>
            </a:pPr>
            <a:r>
              <a:rPr lang="en-GB" sz="1200">
                <a:solidFill>
                  <a:srgbClr val="242424"/>
                </a:solidFill>
                <a:highlight>
                  <a:srgbClr val="FFFFFF"/>
                </a:highlight>
                <a:ea typeface="Lato Regular"/>
                <a:cs typeface="Lato Regular"/>
              </a:rPr>
              <a:t>Resolution rate climbed to </a:t>
            </a:r>
            <a:r>
              <a:rPr lang="en-GB" sz="1200" b="1">
                <a:solidFill>
                  <a:srgbClr val="242424"/>
                </a:solidFill>
                <a:highlight>
                  <a:srgbClr val="FFFFFF"/>
                </a:highlight>
                <a:ea typeface="Lato Regular"/>
                <a:cs typeface="Lato Regular"/>
              </a:rPr>
              <a:t>57.4% in Q4FY26</a:t>
            </a:r>
            <a:r>
              <a:rPr lang="en-GB" sz="1200">
                <a:solidFill>
                  <a:srgbClr val="242424"/>
                </a:solidFill>
                <a:highlight>
                  <a:srgbClr val="FFFFFF"/>
                </a:highlight>
                <a:ea typeface="Lato Regular"/>
                <a:cs typeface="Lato Regular"/>
              </a:rPr>
              <a:t> — the highest the company has printed — and resolved case value grew to </a:t>
            </a:r>
            <a:r>
              <a:rPr lang="en-GB" sz="1200" b="1">
                <a:solidFill>
                  <a:srgbClr val="242424"/>
                </a:solidFill>
                <a:highlight>
                  <a:srgbClr val="FFFFFF"/>
                </a:highlight>
                <a:ea typeface="Lato Regular"/>
                <a:cs typeface="Lato Regular"/>
              </a:rPr>
              <a:t>₹20 Cr</a:t>
            </a:r>
            <a:r>
              <a:rPr lang="en-GB" sz="1200">
                <a:solidFill>
                  <a:srgbClr val="242424"/>
                </a:solidFill>
                <a:highlight>
                  <a:srgbClr val="FFFFFF"/>
                </a:highlight>
                <a:ea typeface="Lato Regular"/>
                <a:cs typeface="Lato Regular"/>
              </a:rPr>
              <a:t>. </a:t>
            </a:r>
            <a:endParaRPr lang="en-GB" sz="1200">
              <a:solidFill>
                <a:srgbClr val="171717"/>
              </a:solidFill>
              <a:ea typeface="Lato Regular"/>
              <a:cs typeface="Lato Regular"/>
            </a:endParaRPr>
          </a:p>
          <a:p>
            <a:pPr marL="171450" indent="-171450" algn="just">
              <a:spcAft>
                <a:spcPts val="600"/>
              </a:spcAft>
              <a:buFont typeface="Arial" panose="020B0604020202020204" pitchFamily="34" charset="0"/>
              <a:buChar char="•"/>
            </a:pPr>
            <a:r>
              <a:rPr lang="en-GB" sz="1200">
                <a:solidFill>
                  <a:srgbClr val="242424"/>
                </a:solidFill>
                <a:highlight>
                  <a:srgbClr val="FFFFFF"/>
                </a:highlight>
                <a:ea typeface="Lato Regular"/>
                <a:cs typeface="Lato Regular"/>
              </a:rPr>
              <a:t>Net revenue is up </a:t>
            </a:r>
            <a:r>
              <a:rPr lang="en-GB" sz="1200" b="1">
                <a:solidFill>
                  <a:srgbClr val="242424"/>
                </a:solidFill>
                <a:highlight>
                  <a:srgbClr val="FFFFFF"/>
                </a:highlight>
                <a:ea typeface="Lato Regular"/>
                <a:cs typeface="Lato Regular"/>
              </a:rPr>
              <a:t>+26.7% YoY in Q4</a:t>
            </a:r>
            <a:r>
              <a:rPr lang="en-GB" sz="1200">
                <a:solidFill>
                  <a:srgbClr val="242424"/>
                </a:solidFill>
                <a:highlight>
                  <a:srgbClr val="FFFFFF"/>
                </a:highlight>
                <a:ea typeface="Lato Regular"/>
                <a:cs typeface="Lato Regular"/>
              </a:rPr>
              <a:t> to ₹1.9 Cr, EBITDA loss narrowing to -₹0.9 Cr. </a:t>
            </a:r>
            <a:endParaRPr lang="en-GB" sz="1200">
              <a:solidFill>
                <a:srgbClr val="171717"/>
              </a:solidFill>
              <a:ea typeface="Lato Regular"/>
              <a:cs typeface="Lato Regular"/>
            </a:endParaRPr>
          </a:p>
          <a:p>
            <a:pPr marL="171450" indent="-171450" algn="just">
              <a:spcAft>
                <a:spcPts val="600"/>
              </a:spcAft>
              <a:buFont typeface="Arial" panose="020B0604020202020204" pitchFamily="34" charset="0"/>
              <a:buChar char="•"/>
            </a:pPr>
            <a:r>
              <a:rPr lang="en-GB" sz="1200">
                <a:solidFill>
                  <a:srgbClr val="242424"/>
                </a:solidFill>
                <a:highlight>
                  <a:srgbClr val="FFFFFF"/>
                </a:highlight>
                <a:ea typeface="Lato Regular"/>
                <a:cs typeface="Lato Regular"/>
              </a:rPr>
              <a:t>Investments in </a:t>
            </a:r>
            <a:r>
              <a:rPr lang="en-GB" sz="1200" b="1">
                <a:solidFill>
                  <a:srgbClr val="242424"/>
                </a:solidFill>
                <a:highlight>
                  <a:srgbClr val="FFFFFF"/>
                </a:highlight>
                <a:ea typeface="Lato Regular"/>
                <a:cs typeface="Lato Regular"/>
              </a:rPr>
              <a:t>agentic AI</a:t>
            </a:r>
            <a:r>
              <a:rPr lang="en-GB" sz="1200">
                <a:solidFill>
                  <a:srgbClr val="242424"/>
                </a:solidFill>
                <a:highlight>
                  <a:srgbClr val="FFFFFF"/>
                </a:highlight>
                <a:ea typeface="Lato Regular"/>
                <a:cs typeface="Lato Regular"/>
              </a:rPr>
              <a:t> for lead conversion are underway. This is a model that lives or dies on conversion economics, and conversion is finally bending the right way.</a:t>
            </a:r>
            <a:endParaRPr lang="en-GB" sz="1200">
              <a:solidFill>
                <a:schemeClr val="bg2">
                  <a:lumMod val="10000"/>
                </a:schemeClr>
              </a:solidFill>
              <a:ea typeface="Lato Regular"/>
              <a:cs typeface="Lato Regular"/>
            </a:endParaRPr>
          </a:p>
          <a:p>
            <a:pPr marL="171450" indent="-171450" algn="just">
              <a:spcAft>
                <a:spcPts val="600"/>
              </a:spcAft>
              <a:buFont typeface="Arial,Sans-Serif" panose="020B0604020202020204" pitchFamily="34" charset="0"/>
              <a:buChar char="•"/>
            </a:pPr>
            <a:r>
              <a:rPr lang="en-GB" sz="1200">
                <a:solidFill>
                  <a:schemeClr val="bg2">
                    <a:lumMod val="10000"/>
                  </a:schemeClr>
                </a:solidFill>
                <a:highlight>
                  <a:srgbClr val="FFFFFF"/>
                </a:highlight>
                <a:ea typeface="Lato Regular"/>
                <a:cs typeface="Lato Regular"/>
              </a:rPr>
              <a:t>Marketing spend remains skewed toward performance channels and influencer based marketing .</a:t>
            </a:r>
            <a:endParaRPr lang="en-US" sz="1200">
              <a:solidFill>
                <a:schemeClr val="bg2">
                  <a:lumMod val="10000"/>
                </a:schemeClr>
              </a:solidFill>
              <a:highlight>
                <a:srgbClr val="FFFFFF"/>
              </a:highlight>
              <a:ea typeface="Lato Regular"/>
              <a:cs typeface="Lato Regular"/>
            </a:endParaRPr>
          </a:p>
          <a:p>
            <a:pPr algn="just">
              <a:buFont typeface="Arial" panose="020B0604020202020204" pitchFamily="34" charset="0"/>
              <a:buChar char="•"/>
            </a:pPr>
            <a:endParaRPr lang="en-GB">
              <a:solidFill>
                <a:srgbClr val="2C2B69"/>
              </a:solidFill>
              <a:ea typeface="Lato Regular" panose="020F0502020204030203" pitchFamily="34" charset="0"/>
              <a:cs typeface="Lato Regular" panose="020F0502020204030203" pitchFamily="34" charset="0"/>
            </a:endParaRPr>
          </a:p>
          <a:p>
            <a:pPr marL="171450" indent="-171450" algn="just">
              <a:spcAft>
                <a:spcPts val="600"/>
              </a:spcAft>
              <a:buFont typeface="Arial" panose="020B0604020202020204" pitchFamily="34" charset="0"/>
              <a:buChar char="•"/>
            </a:pPr>
            <a:endParaRPr lang="en-GB" sz="1200">
              <a:solidFill>
                <a:schemeClr val="bg2">
                  <a:lumMod val="10000"/>
                </a:schemeClr>
              </a:solidFill>
              <a:ea typeface="Lato Regular" panose="020F0502020204030203" pitchFamily="34" charset="0"/>
              <a:cs typeface="Lato Regular" panose="020F0502020204030203" pitchFamily="34" charset="0"/>
            </a:endParaRPr>
          </a:p>
          <a:p>
            <a:pPr marL="171450" indent="-171450" algn="just">
              <a:spcAft>
                <a:spcPts val="600"/>
              </a:spcAft>
              <a:buFont typeface="Arial" panose="020B0604020202020204" pitchFamily="34" charset="0"/>
              <a:buChar char="•"/>
            </a:pPr>
            <a:endParaRPr lang="en-GB" sz="1200">
              <a:solidFill>
                <a:schemeClr val="bg2">
                  <a:lumMod val="10000"/>
                </a:schemeClr>
              </a:solidFill>
              <a:ea typeface="Lato Regular" panose="020F0502020204030203" pitchFamily="34" charset="0"/>
              <a:cs typeface="Lato Regular" panose="020F0502020204030203" pitchFamily="34" charset="0"/>
            </a:endParaRPr>
          </a:p>
          <a:p>
            <a:pPr marL="171450" indent="-171450" algn="just">
              <a:spcAft>
                <a:spcPts val="600"/>
              </a:spcAft>
              <a:buFont typeface="Arial" panose="020B0604020202020204" pitchFamily="34" charset="0"/>
              <a:buChar char="•"/>
            </a:pPr>
            <a:endParaRPr lang="en-IN" sz="1200">
              <a:solidFill>
                <a:schemeClr val="bg2">
                  <a:lumMod val="10000"/>
                </a:schemeClr>
              </a:solidFill>
              <a:ea typeface="Lato Regular" panose="020F0502020204030203" pitchFamily="34" charset="0"/>
              <a:cs typeface="Lato Regular" panose="020F0502020204030203" pitchFamily="34" charset="0"/>
            </a:endParaRPr>
          </a:p>
        </p:txBody>
      </p:sp>
      <p:graphicFrame>
        <p:nvGraphicFramePr>
          <p:cNvPr id="18" name="Table 17">
            <a:extLst>
              <a:ext uri="{FF2B5EF4-FFF2-40B4-BE49-F238E27FC236}">
                <a16:creationId xmlns:a16="http://schemas.microsoft.com/office/drawing/2014/main" id="{A81503A4-7DB8-267E-99AC-829346F600D0}"/>
              </a:ext>
            </a:extLst>
          </p:cNvPr>
          <p:cNvGraphicFramePr>
            <a:graphicFrameLocks noGrp="1"/>
          </p:cNvGraphicFramePr>
          <p:nvPr/>
        </p:nvGraphicFramePr>
        <p:xfrm>
          <a:off x="5539984" y="1840227"/>
          <a:ext cx="5833725" cy="1343570"/>
        </p:xfrm>
        <a:graphic>
          <a:graphicData uri="http://schemas.openxmlformats.org/drawingml/2006/table">
            <a:tbl>
              <a:tblPr firstRow="1" bandRow="1">
                <a:tableStyleId>{69012ECD-51FC-41F1-AA8D-1B2483CD663E}</a:tableStyleId>
              </a:tblPr>
              <a:tblGrid>
                <a:gridCol w="2032635">
                  <a:extLst>
                    <a:ext uri="{9D8B030D-6E8A-4147-A177-3AD203B41FA5}">
                      <a16:colId xmlns:a16="http://schemas.microsoft.com/office/drawing/2014/main" val="3001066899"/>
                    </a:ext>
                  </a:extLst>
                </a:gridCol>
                <a:gridCol w="911806">
                  <a:extLst>
                    <a:ext uri="{9D8B030D-6E8A-4147-A177-3AD203B41FA5}">
                      <a16:colId xmlns:a16="http://schemas.microsoft.com/office/drawing/2014/main" val="700748351"/>
                    </a:ext>
                  </a:extLst>
                </a:gridCol>
                <a:gridCol w="722321">
                  <a:extLst>
                    <a:ext uri="{9D8B030D-6E8A-4147-A177-3AD203B41FA5}">
                      <a16:colId xmlns:a16="http://schemas.microsoft.com/office/drawing/2014/main" val="3274968397"/>
                    </a:ext>
                  </a:extLst>
                </a:gridCol>
                <a:gridCol w="722321">
                  <a:extLst>
                    <a:ext uri="{9D8B030D-6E8A-4147-A177-3AD203B41FA5}">
                      <a16:colId xmlns:a16="http://schemas.microsoft.com/office/drawing/2014/main" val="3623532732"/>
                    </a:ext>
                  </a:extLst>
                </a:gridCol>
                <a:gridCol w="722321">
                  <a:extLst>
                    <a:ext uri="{9D8B030D-6E8A-4147-A177-3AD203B41FA5}">
                      <a16:colId xmlns:a16="http://schemas.microsoft.com/office/drawing/2014/main" val="746035582"/>
                    </a:ext>
                  </a:extLst>
                </a:gridCol>
                <a:gridCol w="722321">
                  <a:extLst>
                    <a:ext uri="{9D8B030D-6E8A-4147-A177-3AD203B41FA5}">
                      <a16:colId xmlns:a16="http://schemas.microsoft.com/office/drawing/2014/main" val="2799431461"/>
                    </a:ext>
                  </a:extLst>
                </a:gridCol>
              </a:tblGrid>
              <a:tr h="262575">
                <a:tc>
                  <a:txBody>
                    <a:bodyPr/>
                    <a:lstStyle/>
                    <a:p>
                      <a:pPr algn="l" fontAlgn="b">
                        <a:buNone/>
                      </a:pPr>
                      <a:r>
                        <a:rPr lang="en-US" sz="1050" b="1" u="none" strike="noStrike">
                          <a:solidFill>
                            <a:schemeClr val="bg1"/>
                          </a:solidFill>
                          <a:effectLst/>
                          <a:latin typeface="+mj-lt"/>
                          <a:ea typeface="Lato Regular"/>
                          <a:cs typeface="Lato Regular"/>
                        </a:rPr>
                        <a:t>KPIs</a:t>
                      </a:r>
                      <a:endParaRPr lang="en-US" sz="1050" b="1" i="0" u="none" strike="noStrike">
                        <a:solidFill>
                          <a:schemeClr val="bg1"/>
                        </a:solidFill>
                        <a:effectLst/>
                        <a:latin typeface="+mj-lt"/>
                        <a:ea typeface="Lato Regular"/>
                        <a:cs typeface="Lato Regular"/>
                      </a:endParaRPr>
                    </a:p>
                  </a:txBody>
                  <a:tcPr marL="108000" marR="6350" marT="6350" marB="0" anchor="ctr"/>
                </a:tc>
                <a:tc>
                  <a:txBody>
                    <a:bodyPr/>
                    <a:lstStyle/>
                    <a:p>
                      <a:pPr algn="ctr" rtl="0" fontAlgn="base"/>
                      <a:r>
                        <a:rPr lang="en-US" sz="1050" b="1" i="0">
                          <a:solidFill>
                            <a:srgbClr val="FFFFFF"/>
                          </a:solidFill>
                          <a:effectLst/>
                          <a:latin typeface="+mj-lt"/>
                        </a:rPr>
                        <a:t>FY24</a:t>
                      </a:r>
                    </a:p>
                  </a:txBody>
                  <a:tcPr anchor="ctr"/>
                </a:tc>
                <a:tc>
                  <a:txBody>
                    <a:bodyPr/>
                    <a:lstStyle/>
                    <a:p>
                      <a:pPr algn="ctr" rtl="0" fontAlgn="base"/>
                      <a:r>
                        <a:rPr lang="en-US" sz="1050" b="1" i="0" u="none" strike="noStrike">
                          <a:solidFill>
                            <a:srgbClr val="FFFFFF"/>
                          </a:solidFill>
                          <a:effectLst/>
                          <a:latin typeface="+mj-lt"/>
                        </a:rPr>
                        <a:t>FY25</a:t>
                      </a:r>
                      <a:r>
                        <a:rPr lang="en-US" sz="1050" b="1" i="0">
                          <a:solidFill>
                            <a:srgbClr val="FFFFFF"/>
                          </a:solidFill>
                          <a:effectLst/>
                          <a:latin typeface="+mj-lt"/>
                        </a:rPr>
                        <a:t>​</a:t>
                      </a:r>
                    </a:p>
                  </a:txBody>
                  <a:tcPr anchor="ctr"/>
                </a:tc>
                <a:tc>
                  <a:txBody>
                    <a:bodyPr/>
                    <a:lstStyle/>
                    <a:p>
                      <a:pPr algn="ctr" rtl="0" fontAlgn="base"/>
                      <a:r>
                        <a:rPr lang="en-US" sz="1050" b="1" i="0" u="none" strike="noStrike">
                          <a:solidFill>
                            <a:srgbClr val="FFFFFF"/>
                          </a:solidFill>
                          <a:effectLst/>
                          <a:latin typeface="+mj-lt"/>
                        </a:rPr>
                        <a:t>FY26</a:t>
                      </a:r>
                      <a:r>
                        <a:rPr lang="en-US" sz="1050" b="1" i="0">
                          <a:solidFill>
                            <a:srgbClr val="FFFFFF"/>
                          </a:solidFill>
                          <a:effectLst/>
                          <a:latin typeface="+mj-lt"/>
                        </a:rPr>
                        <a:t>​</a:t>
                      </a:r>
                    </a:p>
                  </a:txBody>
                  <a:tcPr anchor="ctr"/>
                </a:tc>
                <a:tc>
                  <a:txBody>
                    <a:bodyPr/>
                    <a:lstStyle/>
                    <a:p>
                      <a:pPr algn="ctr" rtl="0" fontAlgn="base"/>
                      <a:r>
                        <a:rPr lang="en-IN" sz="1050" b="1" i="0" u="none" strike="noStrike">
                          <a:solidFill>
                            <a:srgbClr val="FFFFFF"/>
                          </a:solidFill>
                          <a:effectLst/>
                          <a:latin typeface="+mj-lt"/>
                        </a:rPr>
                        <a:t>Q4FY25</a:t>
                      </a:r>
                      <a:r>
                        <a:rPr lang="en-IN" sz="1050" b="1" i="0">
                          <a:solidFill>
                            <a:srgbClr val="FFFFFF"/>
                          </a:solidFill>
                          <a:effectLst/>
                          <a:latin typeface="+mj-lt"/>
                        </a:rPr>
                        <a:t>​</a:t>
                      </a:r>
                    </a:p>
                  </a:txBody>
                  <a:tcPr anchor="ctr"/>
                </a:tc>
                <a:tc>
                  <a:txBody>
                    <a:bodyPr/>
                    <a:lstStyle/>
                    <a:p>
                      <a:pPr algn="ctr" rtl="0" fontAlgn="base"/>
                      <a:r>
                        <a:rPr lang="en-IN" sz="1050" b="1" i="0" u="none" strike="noStrike">
                          <a:solidFill>
                            <a:srgbClr val="FFFFFF"/>
                          </a:solidFill>
                          <a:effectLst/>
                          <a:latin typeface="+mj-lt"/>
                        </a:rPr>
                        <a:t>Q4FY26</a:t>
                      </a:r>
                      <a:r>
                        <a:rPr lang="en-IN" sz="1050" b="1" i="0">
                          <a:solidFill>
                            <a:srgbClr val="FFFFFF"/>
                          </a:solidFill>
                          <a:effectLst/>
                          <a:latin typeface="+mj-lt"/>
                        </a:rPr>
                        <a:t>​</a:t>
                      </a:r>
                    </a:p>
                  </a:txBody>
                  <a:tcPr anchor="ctr"/>
                </a:tc>
                <a:extLst>
                  <a:ext uri="{0D108BD9-81ED-4DB2-BD59-A6C34878D82A}">
                    <a16:rowId xmlns:a16="http://schemas.microsoft.com/office/drawing/2014/main" val="3735237806"/>
                  </a:ext>
                </a:extLst>
              </a:tr>
              <a:tr h="262575">
                <a:tc>
                  <a:txBody>
                    <a:bodyPr/>
                    <a:lstStyle/>
                    <a:p>
                      <a:pPr algn="l" fontAlgn="b">
                        <a:buNone/>
                      </a:pPr>
                      <a:r>
                        <a:rPr lang="en-IN" sz="1050" b="0" i="0" u="none" strike="noStrike">
                          <a:solidFill>
                            <a:srgbClr val="000000"/>
                          </a:solidFill>
                          <a:effectLst/>
                          <a:latin typeface="+mj-lt"/>
                          <a:ea typeface="Lato Regular"/>
                          <a:cs typeface="Lato Regular"/>
                        </a:rPr>
                        <a:t>Total Registrations #</a:t>
                      </a:r>
                      <a:endParaRPr lang="en-IN" sz="1050" b="0" i="0" u="none" strike="noStrike">
                        <a:solidFill>
                          <a:srgbClr val="000000"/>
                        </a:solidFill>
                        <a:effectLst/>
                        <a:latin typeface="+mj-lt"/>
                        <a:ea typeface="Lato Regular" panose="020F0502020204030203" pitchFamily="34" charset="0"/>
                        <a:cs typeface="Lato Regular" panose="020F0502020204030203" pitchFamily="34" charset="0"/>
                      </a:endParaRPr>
                    </a:p>
                  </a:txBody>
                  <a:tcPr marL="108000" marR="6350" marT="6350" marB="0" anchor="ctr"/>
                </a:tc>
                <a:tc>
                  <a:txBody>
                    <a:bodyPr/>
                    <a:lstStyle/>
                    <a:p>
                      <a:pPr algn="ctr" fontAlgn="b"/>
                      <a:r>
                        <a:rPr lang="en-IN" sz="1050" b="0" i="0" u="none" strike="noStrike">
                          <a:solidFill>
                            <a:srgbClr val="000000"/>
                          </a:solidFill>
                          <a:effectLst/>
                          <a:latin typeface="+mj-lt"/>
                        </a:rPr>
                        <a:t>9,959</a:t>
                      </a:r>
                    </a:p>
                  </a:txBody>
                  <a:tcPr marL="9525" marR="9525" marT="9525" marB="0" anchor="ctr"/>
                </a:tc>
                <a:tc>
                  <a:txBody>
                    <a:bodyPr/>
                    <a:lstStyle/>
                    <a:p>
                      <a:pPr algn="ctr" fontAlgn="b">
                        <a:buNone/>
                      </a:pPr>
                      <a:r>
                        <a:rPr lang="en-IN" sz="1050" b="0" i="0" u="none" strike="noStrike">
                          <a:solidFill>
                            <a:srgbClr val="000000"/>
                          </a:solidFill>
                          <a:effectLst/>
                          <a:latin typeface="+mj-lt"/>
                          <a:ea typeface="Lato Regular"/>
                          <a:cs typeface="Lato Regular"/>
                        </a:rPr>
                        <a:t>13,967</a:t>
                      </a:r>
                    </a:p>
                  </a:txBody>
                  <a:tcPr marL="6350" marR="6350" marT="6350" marB="0" anchor="ctr"/>
                </a:tc>
                <a:tc>
                  <a:txBody>
                    <a:bodyPr/>
                    <a:lstStyle/>
                    <a:p>
                      <a:pPr algn="ctr" fontAlgn="b"/>
                      <a:r>
                        <a:rPr lang="en-IN" sz="1050" b="0" i="0" u="none" strike="noStrike">
                          <a:solidFill>
                            <a:srgbClr val="000000"/>
                          </a:solidFill>
                          <a:effectLst/>
                          <a:latin typeface="+mj-lt"/>
                        </a:rPr>
                        <a:t>14,139</a:t>
                      </a:r>
                    </a:p>
                  </a:txBody>
                  <a:tcPr marL="9525" marR="9525" marT="9525" marB="0" anchor="ctr"/>
                </a:tc>
                <a:tc>
                  <a:txBody>
                    <a:bodyPr/>
                    <a:lstStyle/>
                    <a:p>
                      <a:pPr algn="ctr" fontAlgn="b"/>
                      <a:r>
                        <a:rPr lang="en-IN" sz="1050" b="0" i="0" u="none" strike="noStrike">
                          <a:solidFill>
                            <a:srgbClr val="000000"/>
                          </a:solidFill>
                          <a:effectLst/>
                          <a:latin typeface="+mj-lt"/>
                        </a:rPr>
                        <a:t>3,706</a:t>
                      </a:r>
                    </a:p>
                  </a:txBody>
                  <a:tcPr marL="6350" marR="6350" marT="6350" marB="0" anchor="ctr"/>
                </a:tc>
                <a:tc>
                  <a:txBody>
                    <a:bodyPr/>
                    <a:lstStyle/>
                    <a:p>
                      <a:pPr algn="ctr" fontAlgn="b"/>
                      <a:r>
                        <a:rPr lang="en-IN" sz="1050" b="0" i="0" u="none" strike="noStrike">
                          <a:solidFill>
                            <a:srgbClr val="000000"/>
                          </a:solidFill>
                          <a:effectLst/>
                          <a:latin typeface="+mj-lt"/>
                        </a:rPr>
                        <a:t>2,840</a:t>
                      </a:r>
                    </a:p>
                  </a:txBody>
                  <a:tcPr marL="9525" marR="9525" marT="9525" marB="0" anchor="ctr"/>
                </a:tc>
                <a:extLst>
                  <a:ext uri="{0D108BD9-81ED-4DB2-BD59-A6C34878D82A}">
                    <a16:rowId xmlns:a16="http://schemas.microsoft.com/office/drawing/2014/main" val="930605583"/>
                  </a:ext>
                </a:extLst>
              </a:tr>
              <a:tr h="262575">
                <a:tc>
                  <a:txBody>
                    <a:bodyPr/>
                    <a:lstStyle/>
                    <a:p>
                      <a:pPr algn="l" fontAlgn="b">
                        <a:buNone/>
                      </a:pPr>
                      <a:r>
                        <a:rPr lang="en-IN" sz="1050" b="0" i="0" u="none" strike="noStrike">
                          <a:solidFill>
                            <a:srgbClr val="000000"/>
                          </a:solidFill>
                          <a:effectLst/>
                          <a:latin typeface="+mj-lt"/>
                          <a:ea typeface="Lato Regular"/>
                          <a:cs typeface="Lato Regular"/>
                        </a:rPr>
                        <a:t>Total Resolved Case #</a:t>
                      </a:r>
                    </a:p>
                  </a:txBody>
                  <a:tcPr marL="108000" marR="6350" marT="6350" marB="0" anchor="ctr"/>
                </a:tc>
                <a:tc>
                  <a:txBody>
                    <a:bodyPr/>
                    <a:lstStyle/>
                    <a:p>
                      <a:pPr algn="ctr" fontAlgn="b"/>
                      <a:r>
                        <a:rPr lang="en-IN" sz="1050" b="0" i="0" u="none" strike="noStrike">
                          <a:solidFill>
                            <a:srgbClr val="000000"/>
                          </a:solidFill>
                          <a:effectLst/>
                          <a:latin typeface="+mj-lt"/>
                        </a:rPr>
                        <a:t>4,005</a:t>
                      </a:r>
                    </a:p>
                  </a:txBody>
                  <a:tcPr marL="9525" marR="9525" marT="9525" marB="0" anchor="ctr"/>
                </a:tc>
                <a:tc>
                  <a:txBody>
                    <a:bodyPr/>
                    <a:lstStyle/>
                    <a:p>
                      <a:pPr algn="ctr" fontAlgn="b">
                        <a:buNone/>
                      </a:pPr>
                      <a:r>
                        <a:rPr lang="en-IN" sz="1050" b="0" i="0" u="none" strike="noStrike">
                          <a:solidFill>
                            <a:srgbClr val="000000"/>
                          </a:solidFill>
                          <a:effectLst/>
                          <a:latin typeface="+mj-lt"/>
                          <a:ea typeface="Lato Regular"/>
                          <a:cs typeface="Lato Regular"/>
                        </a:rPr>
                        <a:t>5,140</a:t>
                      </a:r>
                    </a:p>
                  </a:txBody>
                  <a:tcPr marL="6350" marR="6350" marT="6350" marB="0" anchor="ctr"/>
                </a:tc>
                <a:tc>
                  <a:txBody>
                    <a:bodyPr/>
                    <a:lstStyle/>
                    <a:p>
                      <a:pPr algn="ctr" fontAlgn="b"/>
                      <a:r>
                        <a:rPr lang="en-IN" sz="1050" b="0" i="0" u="none" strike="noStrike">
                          <a:solidFill>
                            <a:srgbClr val="000000"/>
                          </a:solidFill>
                          <a:effectLst/>
                          <a:latin typeface="+mj-lt"/>
                        </a:rPr>
                        <a:t>5,868</a:t>
                      </a:r>
                    </a:p>
                  </a:txBody>
                  <a:tcPr marL="9525" marR="9525" marT="9525" marB="0" anchor="ctr"/>
                </a:tc>
                <a:tc>
                  <a:txBody>
                    <a:bodyPr/>
                    <a:lstStyle/>
                    <a:p>
                      <a:pPr algn="ctr" fontAlgn="b"/>
                      <a:r>
                        <a:rPr lang="en-IN" sz="1050" b="0" i="0" u="none" strike="noStrike">
                          <a:solidFill>
                            <a:srgbClr val="000000"/>
                          </a:solidFill>
                          <a:effectLst/>
                          <a:latin typeface="+mj-lt"/>
                        </a:rPr>
                        <a:t>1,355</a:t>
                      </a:r>
                    </a:p>
                  </a:txBody>
                  <a:tcPr marL="6350" marR="6350" marT="6350" marB="0" anchor="ctr"/>
                </a:tc>
                <a:tc>
                  <a:txBody>
                    <a:bodyPr/>
                    <a:lstStyle/>
                    <a:p>
                      <a:pPr algn="ctr" fontAlgn="b"/>
                      <a:r>
                        <a:rPr lang="en-IN" sz="1050" b="0" i="0" u="none" strike="noStrike">
                          <a:solidFill>
                            <a:srgbClr val="000000"/>
                          </a:solidFill>
                          <a:effectLst/>
                          <a:latin typeface="+mj-lt"/>
                        </a:rPr>
                        <a:t>1,631</a:t>
                      </a:r>
                    </a:p>
                  </a:txBody>
                  <a:tcPr marL="9525" marR="9525" marT="9525" marB="0" anchor="ctr"/>
                </a:tc>
                <a:extLst>
                  <a:ext uri="{0D108BD9-81ED-4DB2-BD59-A6C34878D82A}">
                    <a16:rowId xmlns:a16="http://schemas.microsoft.com/office/drawing/2014/main" val="3872373918"/>
                  </a:ext>
                </a:extLst>
              </a:tr>
              <a:tr h="262574">
                <a:tc>
                  <a:txBody>
                    <a:bodyPr/>
                    <a:lstStyle/>
                    <a:p>
                      <a:pPr lvl="0" algn="l">
                        <a:buNone/>
                      </a:pPr>
                      <a:r>
                        <a:rPr lang="en-IN" sz="1100" b="0" i="0" u="none" strike="noStrike" noProof="0">
                          <a:solidFill>
                            <a:srgbClr val="000000"/>
                          </a:solidFill>
                          <a:effectLst/>
                          <a:latin typeface="Aptos Display"/>
                          <a:ea typeface="Lato Regular"/>
                          <a:cs typeface="Lato Regular"/>
                        </a:rPr>
                        <a:t>Total Resolved Case (in Cr.)</a:t>
                      </a:r>
                      <a:endParaRPr lang="en-US" b="0"/>
                    </a:p>
                  </a:txBody>
                  <a:tcPr marL="108000" marR="6350" marT="6350" marB="0" anchor="ctr"/>
                </a:tc>
                <a:tc>
                  <a:txBody>
                    <a:bodyPr/>
                    <a:lstStyle/>
                    <a:p>
                      <a:pPr lvl="0" algn="ctr">
                        <a:buNone/>
                      </a:pPr>
                      <a:r>
                        <a:rPr lang="en-IN" sz="1050" b="0" i="0" u="none" strike="noStrike">
                          <a:solidFill>
                            <a:srgbClr val="000000"/>
                          </a:solidFill>
                          <a:effectLst/>
                          <a:latin typeface="+mj-lt"/>
                        </a:rPr>
                        <a:t>43.7</a:t>
                      </a:r>
                    </a:p>
                  </a:txBody>
                  <a:tcPr marL="9524" marR="9524" marT="9524" marB="0" anchor="ctr"/>
                </a:tc>
                <a:tc>
                  <a:txBody>
                    <a:bodyPr/>
                    <a:lstStyle/>
                    <a:p>
                      <a:pPr lvl="0" algn="ctr">
                        <a:buNone/>
                      </a:pPr>
                      <a:r>
                        <a:rPr lang="en-IN" sz="1050" b="0" i="0" u="none" strike="noStrike">
                          <a:solidFill>
                            <a:srgbClr val="000000"/>
                          </a:solidFill>
                          <a:effectLst/>
                          <a:latin typeface="+mj-lt"/>
                          <a:ea typeface="Lato Regular"/>
                          <a:cs typeface="Lato Regular"/>
                        </a:rPr>
                        <a:t>59.2</a:t>
                      </a:r>
                    </a:p>
                  </a:txBody>
                  <a:tcPr marL="6350" marR="6350" marT="6350" marB="0" anchor="ctr"/>
                </a:tc>
                <a:tc>
                  <a:txBody>
                    <a:bodyPr/>
                    <a:lstStyle/>
                    <a:p>
                      <a:pPr lvl="0" algn="ctr">
                        <a:buNone/>
                      </a:pPr>
                      <a:r>
                        <a:rPr lang="en-IN" sz="1050" b="0" i="0" u="none" strike="noStrike">
                          <a:solidFill>
                            <a:srgbClr val="000000"/>
                          </a:solidFill>
                          <a:effectLst/>
                          <a:latin typeface="+mj-lt"/>
                        </a:rPr>
                        <a:t>75.3</a:t>
                      </a:r>
                    </a:p>
                  </a:txBody>
                  <a:tcPr marL="9524" marR="9524" marT="9524" marB="0" anchor="ctr"/>
                </a:tc>
                <a:tc>
                  <a:txBody>
                    <a:bodyPr/>
                    <a:lstStyle/>
                    <a:p>
                      <a:pPr lvl="0" algn="ctr">
                        <a:buNone/>
                      </a:pPr>
                      <a:r>
                        <a:rPr lang="en-IN" sz="1050" b="0" i="0" u="none" strike="noStrike">
                          <a:solidFill>
                            <a:srgbClr val="000000"/>
                          </a:solidFill>
                          <a:effectLst/>
                          <a:latin typeface="+mj-lt"/>
                        </a:rPr>
                        <a:t>15.4</a:t>
                      </a:r>
                    </a:p>
                  </a:txBody>
                  <a:tcPr marL="6350" marR="6350" marT="6350" marB="0" anchor="ctr"/>
                </a:tc>
                <a:tc>
                  <a:txBody>
                    <a:bodyPr/>
                    <a:lstStyle/>
                    <a:p>
                      <a:pPr lvl="0" algn="ctr">
                        <a:buNone/>
                      </a:pPr>
                      <a:r>
                        <a:rPr lang="en-IN" sz="1050" b="0" i="0" u="none" strike="noStrike">
                          <a:solidFill>
                            <a:srgbClr val="000000"/>
                          </a:solidFill>
                          <a:effectLst/>
                          <a:latin typeface="+mj-lt"/>
                        </a:rPr>
                        <a:t>20.0</a:t>
                      </a:r>
                    </a:p>
                  </a:txBody>
                  <a:tcPr marL="9524" marR="9524" marT="9524" marB="0" anchor="ctr"/>
                </a:tc>
                <a:extLst>
                  <a:ext uri="{0D108BD9-81ED-4DB2-BD59-A6C34878D82A}">
                    <a16:rowId xmlns:a16="http://schemas.microsoft.com/office/drawing/2014/main" val="3823220524"/>
                  </a:ext>
                </a:extLst>
              </a:tr>
              <a:tr h="293271">
                <a:tc>
                  <a:txBody>
                    <a:bodyPr/>
                    <a:lstStyle/>
                    <a:p>
                      <a:pPr algn="l" fontAlgn="b">
                        <a:buNone/>
                      </a:pPr>
                      <a:r>
                        <a:rPr lang="en-IN" sz="1050" b="0" i="0" u="none" strike="noStrike">
                          <a:solidFill>
                            <a:srgbClr val="000000"/>
                          </a:solidFill>
                          <a:effectLst/>
                          <a:latin typeface="+mj-lt"/>
                          <a:ea typeface="Lato Regular"/>
                          <a:cs typeface="Lato Regular"/>
                        </a:rPr>
                        <a:t>% Resolved</a:t>
                      </a:r>
                    </a:p>
                  </a:txBody>
                  <a:tcPr marL="108000" marR="6350" marT="6350" marB="0" anchor="ctr"/>
                </a:tc>
                <a:tc>
                  <a:txBody>
                    <a:bodyPr/>
                    <a:lstStyle/>
                    <a:p>
                      <a:pPr algn="ctr" fontAlgn="b"/>
                      <a:r>
                        <a:rPr lang="en-IN" sz="1050" b="0" i="0" u="none" strike="noStrike">
                          <a:solidFill>
                            <a:srgbClr val="000000"/>
                          </a:solidFill>
                          <a:effectLst/>
                          <a:latin typeface="+mj-lt"/>
                        </a:rPr>
                        <a:t>40.2%</a:t>
                      </a:r>
                    </a:p>
                  </a:txBody>
                  <a:tcPr marL="9525" marR="9525" marT="9525" marB="0" anchor="ctr"/>
                </a:tc>
                <a:tc>
                  <a:txBody>
                    <a:bodyPr/>
                    <a:lstStyle/>
                    <a:p>
                      <a:pPr algn="ctr" fontAlgn="b">
                        <a:buNone/>
                      </a:pPr>
                      <a:r>
                        <a:rPr lang="en-IN" sz="1050" b="0" i="0" u="none" strike="noStrike">
                          <a:solidFill>
                            <a:srgbClr val="000000"/>
                          </a:solidFill>
                          <a:effectLst/>
                          <a:latin typeface="+mj-lt"/>
                          <a:ea typeface="Lato Regular"/>
                          <a:cs typeface="Lato Regular"/>
                        </a:rPr>
                        <a:t>36.8%</a:t>
                      </a:r>
                    </a:p>
                  </a:txBody>
                  <a:tcPr marL="6350" marR="6350" marT="6350" marB="0" anchor="ctr"/>
                </a:tc>
                <a:tc>
                  <a:txBody>
                    <a:bodyPr/>
                    <a:lstStyle/>
                    <a:p>
                      <a:pPr algn="ctr" fontAlgn="b"/>
                      <a:r>
                        <a:rPr lang="en-IN" sz="1050" b="0" i="0" u="none" strike="noStrike">
                          <a:solidFill>
                            <a:srgbClr val="000000"/>
                          </a:solidFill>
                          <a:effectLst/>
                          <a:latin typeface="+mj-lt"/>
                        </a:rPr>
                        <a:t>41.5%</a:t>
                      </a:r>
                    </a:p>
                  </a:txBody>
                  <a:tcPr marL="9525" marR="9525" marT="9525" marB="0" anchor="ctr"/>
                </a:tc>
                <a:tc>
                  <a:txBody>
                    <a:bodyPr/>
                    <a:lstStyle/>
                    <a:p>
                      <a:pPr algn="ctr" fontAlgn="b"/>
                      <a:r>
                        <a:rPr lang="en-IN" sz="1050" b="0" i="0" u="none" strike="noStrike">
                          <a:solidFill>
                            <a:srgbClr val="000000"/>
                          </a:solidFill>
                          <a:effectLst/>
                          <a:latin typeface="+mj-lt"/>
                        </a:rPr>
                        <a:t>36.6%</a:t>
                      </a:r>
                    </a:p>
                  </a:txBody>
                  <a:tcPr marL="6350" marR="6350" marT="6350" marB="0" anchor="ctr"/>
                </a:tc>
                <a:tc>
                  <a:txBody>
                    <a:bodyPr/>
                    <a:lstStyle/>
                    <a:p>
                      <a:pPr algn="ctr" fontAlgn="b"/>
                      <a:r>
                        <a:rPr lang="en-IN" sz="1050" b="0" i="0" u="none" strike="noStrike">
                          <a:solidFill>
                            <a:srgbClr val="000000"/>
                          </a:solidFill>
                          <a:effectLst/>
                          <a:latin typeface="+mj-lt"/>
                        </a:rPr>
                        <a:t>57.4%</a:t>
                      </a:r>
                    </a:p>
                  </a:txBody>
                  <a:tcPr marL="9525" marR="9525" marT="9525" marB="0" anchor="ctr"/>
                </a:tc>
                <a:extLst>
                  <a:ext uri="{0D108BD9-81ED-4DB2-BD59-A6C34878D82A}">
                    <a16:rowId xmlns:a16="http://schemas.microsoft.com/office/drawing/2014/main" val="2159784742"/>
                  </a:ext>
                </a:extLst>
              </a:tr>
            </a:tbl>
          </a:graphicData>
        </a:graphic>
      </p:graphicFrame>
      <p:graphicFrame>
        <p:nvGraphicFramePr>
          <p:cNvPr id="20" name="Table 19">
            <a:extLst>
              <a:ext uri="{FF2B5EF4-FFF2-40B4-BE49-F238E27FC236}">
                <a16:creationId xmlns:a16="http://schemas.microsoft.com/office/drawing/2014/main" id="{86A7217B-FF60-A47E-0A50-2F83133C3C47}"/>
              </a:ext>
            </a:extLst>
          </p:cNvPr>
          <p:cNvGraphicFramePr>
            <a:graphicFrameLocks noGrp="1"/>
          </p:cNvGraphicFramePr>
          <p:nvPr/>
        </p:nvGraphicFramePr>
        <p:xfrm>
          <a:off x="5539984" y="4144254"/>
          <a:ext cx="5842026" cy="1474860"/>
        </p:xfrm>
        <a:graphic>
          <a:graphicData uri="http://schemas.openxmlformats.org/drawingml/2006/table">
            <a:tbl>
              <a:tblPr firstRow="1" bandRow="1">
                <a:tableStyleId>{72833802-FEF1-4C79-8D5D-14CF1EAF98D9}</a:tableStyleId>
              </a:tblPr>
              <a:tblGrid>
                <a:gridCol w="1911076">
                  <a:extLst>
                    <a:ext uri="{9D8B030D-6E8A-4147-A177-3AD203B41FA5}">
                      <a16:colId xmlns:a16="http://schemas.microsoft.com/office/drawing/2014/main" val="3001066899"/>
                    </a:ext>
                  </a:extLst>
                </a:gridCol>
                <a:gridCol w="786190">
                  <a:extLst>
                    <a:ext uri="{9D8B030D-6E8A-4147-A177-3AD203B41FA5}">
                      <a16:colId xmlns:a16="http://schemas.microsoft.com/office/drawing/2014/main" val="700748351"/>
                    </a:ext>
                  </a:extLst>
                </a:gridCol>
                <a:gridCol w="786190">
                  <a:extLst>
                    <a:ext uri="{9D8B030D-6E8A-4147-A177-3AD203B41FA5}">
                      <a16:colId xmlns:a16="http://schemas.microsoft.com/office/drawing/2014/main" val="3274968397"/>
                    </a:ext>
                  </a:extLst>
                </a:gridCol>
                <a:gridCol w="786190">
                  <a:extLst>
                    <a:ext uri="{9D8B030D-6E8A-4147-A177-3AD203B41FA5}">
                      <a16:colId xmlns:a16="http://schemas.microsoft.com/office/drawing/2014/main" val="3623532732"/>
                    </a:ext>
                  </a:extLst>
                </a:gridCol>
                <a:gridCol w="786190">
                  <a:extLst>
                    <a:ext uri="{9D8B030D-6E8A-4147-A177-3AD203B41FA5}">
                      <a16:colId xmlns:a16="http://schemas.microsoft.com/office/drawing/2014/main" val="746035582"/>
                    </a:ext>
                  </a:extLst>
                </a:gridCol>
                <a:gridCol w="786190">
                  <a:extLst>
                    <a:ext uri="{9D8B030D-6E8A-4147-A177-3AD203B41FA5}">
                      <a16:colId xmlns:a16="http://schemas.microsoft.com/office/drawing/2014/main" val="3336224203"/>
                    </a:ext>
                  </a:extLst>
                </a:gridCol>
              </a:tblGrid>
              <a:tr h="255952">
                <a:tc>
                  <a:txBody>
                    <a:bodyPr/>
                    <a:lstStyle/>
                    <a:p>
                      <a:pPr algn="l" fontAlgn="b">
                        <a:buNone/>
                      </a:pPr>
                      <a:r>
                        <a:rPr lang="en-US" sz="1050" b="1" u="none" strike="noStrike">
                          <a:solidFill>
                            <a:schemeClr val="bg1"/>
                          </a:solidFill>
                          <a:effectLst/>
                          <a:latin typeface="+mj-lt"/>
                          <a:ea typeface="Lato Regular"/>
                          <a:cs typeface="Lato Regular"/>
                        </a:rPr>
                        <a:t>INR Cr.</a:t>
                      </a:r>
                      <a:endParaRPr lang="en-US" sz="1050" b="1" i="0" u="none" strike="noStrike">
                        <a:solidFill>
                          <a:schemeClr val="bg1"/>
                        </a:solidFill>
                        <a:effectLst/>
                        <a:latin typeface="+mj-lt"/>
                        <a:ea typeface="Lato Regular"/>
                        <a:cs typeface="Lato Regular"/>
                      </a:endParaRPr>
                    </a:p>
                  </a:txBody>
                  <a:tcPr marL="108000" marR="6350" marT="6350" marB="0" anchor="ctr"/>
                </a:tc>
                <a:tc>
                  <a:txBody>
                    <a:bodyPr/>
                    <a:lstStyle/>
                    <a:p>
                      <a:pPr algn="ctr" rtl="0" fontAlgn="base"/>
                      <a:r>
                        <a:rPr lang="en-US" sz="1050" b="1" i="0">
                          <a:solidFill>
                            <a:srgbClr val="FFFFFF"/>
                          </a:solidFill>
                          <a:effectLst/>
                          <a:latin typeface="+mj-lt"/>
                        </a:rPr>
                        <a:t>FY24</a:t>
                      </a:r>
                    </a:p>
                  </a:txBody>
                  <a:tcPr anchor="ctr"/>
                </a:tc>
                <a:tc>
                  <a:txBody>
                    <a:bodyPr/>
                    <a:lstStyle/>
                    <a:p>
                      <a:pPr algn="ctr" rtl="0" fontAlgn="base"/>
                      <a:r>
                        <a:rPr lang="en-US" sz="1050" b="1" i="0" u="none" strike="noStrike">
                          <a:solidFill>
                            <a:srgbClr val="FFFFFF"/>
                          </a:solidFill>
                          <a:effectLst/>
                          <a:latin typeface="+mj-lt"/>
                        </a:rPr>
                        <a:t>FY25</a:t>
                      </a:r>
                      <a:r>
                        <a:rPr lang="en-US" sz="1050" b="1" i="0">
                          <a:solidFill>
                            <a:srgbClr val="FFFFFF"/>
                          </a:solidFill>
                          <a:effectLst/>
                          <a:latin typeface="+mj-lt"/>
                        </a:rPr>
                        <a:t>​</a:t>
                      </a:r>
                    </a:p>
                  </a:txBody>
                  <a:tcPr anchor="ctr"/>
                </a:tc>
                <a:tc>
                  <a:txBody>
                    <a:bodyPr/>
                    <a:lstStyle/>
                    <a:p>
                      <a:pPr algn="ctr" rtl="0" fontAlgn="base"/>
                      <a:r>
                        <a:rPr lang="en-US" sz="1050" b="1" i="0" u="none" strike="noStrike">
                          <a:solidFill>
                            <a:srgbClr val="FFFFFF"/>
                          </a:solidFill>
                          <a:effectLst/>
                          <a:latin typeface="+mj-lt"/>
                        </a:rPr>
                        <a:t>FY26</a:t>
                      </a:r>
                      <a:r>
                        <a:rPr lang="en-US" sz="1050" b="1" i="0">
                          <a:solidFill>
                            <a:srgbClr val="FFFFFF"/>
                          </a:solidFill>
                          <a:effectLst/>
                          <a:latin typeface="+mj-lt"/>
                        </a:rPr>
                        <a:t>​</a:t>
                      </a:r>
                    </a:p>
                  </a:txBody>
                  <a:tcPr anchor="ctr"/>
                </a:tc>
                <a:tc>
                  <a:txBody>
                    <a:bodyPr/>
                    <a:lstStyle/>
                    <a:p>
                      <a:pPr algn="ctr" rtl="0" fontAlgn="base"/>
                      <a:r>
                        <a:rPr lang="en-IN" sz="1050" b="1" i="0" u="none" strike="noStrike">
                          <a:solidFill>
                            <a:srgbClr val="FFFFFF"/>
                          </a:solidFill>
                          <a:effectLst/>
                          <a:latin typeface="+mj-lt"/>
                        </a:rPr>
                        <a:t>Q4FY25</a:t>
                      </a:r>
                      <a:r>
                        <a:rPr lang="en-IN" sz="1050" b="1" i="0">
                          <a:solidFill>
                            <a:srgbClr val="FFFFFF"/>
                          </a:solidFill>
                          <a:effectLst/>
                          <a:latin typeface="+mj-lt"/>
                        </a:rPr>
                        <a:t>​</a:t>
                      </a:r>
                    </a:p>
                  </a:txBody>
                  <a:tcPr anchor="ctr"/>
                </a:tc>
                <a:tc>
                  <a:txBody>
                    <a:bodyPr/>
                    <a:lstStyle/>
                    <a:p>
                      <a:pPr algn="ctr" rtl="0" fontAlgn="base"/>
                      <a:r>
                        <a:rPr lang="en-IN" sz="1050" b="1" i="0" u="none" strike="noStrike">
                          <a:solidFill>
                            <a:srgbClr val="FFFFFF"/>
                          </a:solidFill>
                          <a:effectLst/>
                          <a:latin typeface="+mj-lt"/>
                        </a:rPr>
                        <a:t>Q4FY26</a:t>
                      </a:r>
                      <a:r>
                        <a:rPr lang="en-IN" sz="1050" b="1" i="0">
                          <a:solidFill>
                            <a:srgbClr val="FFFFFF"/>
                          </a:solidFill>
                          <a:effectLst/>
                          <a:latin typeface="+mj-lt"/>
                        </a:rPr>
                        <a:t>​</a:t>
                      </a:r>
                    </a:p>
                  </a:txBody>
                  <a:tcPr anchor="ctr"/>
                </a:tc>
                <a:extLst>
                  <a:ext uri="{0D108BD9-81ED-4DB2-BD59-A6C34878D82A}">
                    <a16:rowId xmlns:a16="http://schemas.microsoft.com/office/drawing/2014/main" val="3735237806"/>
                  </a:ext>
                </a:extLst>
              </a:tr>
              <a:tr h="304727">
                <a:tc>
                  <a:txBody>
                    <a:bodyPr/>
                    <a:lstStyle/>
                    <a:p>
                      <a:pPr algn="l" fontAlgn="b">
                        <a:buNone/>
                      </a:pPr>
                      <a:r>
                        <a:rPr lang="en-IN" sz="1050" b="1" i="0" u="none" strike="noStrike">
                          <a:solidFill>
                            <a:srgbClr val="000000"/>
                          </a:solidFill>
                          <a:effectLst/>
                          <a:latin typeface="+mj-lt"/>
                          <a:ea typeface="Lato Regular"/>
                          <a:cs typeface="Lato Regular"/>
                        </a:rPr>
                        <a:t>Net Revenue</a:t>
                      </a:r>
                    </a:p>
                  </a:txBody>
                  <a:tcPr marL="108000" marR="6350" marT="6350" marB="0" anchor="ctr"/>
                </a:tc>
                <a:tc>
                  <a:txBody>
                    <a:bodyPr/>
                    <a:lstStyle/>
                    <a:p>
                      <a:pPr algn="ctr" fontAlgn="b"/>
                      <a:r>
                        <a:rPr lang="en-IN" sz="1050" b="1" i="0" u="none" strike="noStrike">
                          <a:solidFill>
                            <a:srgbClr val="000000"/>
                          </a:solidFill>
                          <a:effectLst/>
                          <a:latin typeface="+mj-lt"/>
                        </a:rPr>
                        <a:t>4.0</a:t>
                      </a:r>
                    </a:p>
                  </a:txBody>
                  <a:tcPr marL="9525" marR="9525" marT="9525" marB="0" anchor="ctr"/>
                </a:tc>
                <a:tc>
                  <a:txBody>
                    <a:bodyPr/>
                    <a:lstStyle/>
                    <a:p>
                      <a:pPr algn="ctr" fontAlgn="b">
                        <a:buNone/>
                      </a:pPr>
                      <a:r>
                        <a:rPr lang="en-IN" sz="1050" b="1" i="0" u="none" strike="noStrike">
                          <a:solidFill>
                            <a:srgbClr val="000000"/>
                          </a:solidFill>
                          <a:effectLst/>
                          <a:latin typeface="+mj-lt"/>
                          <a:ea typeface="Lato Regular"/>
                          <a:cs typeface="Lato Regular"/>
                        </a:rPr>
                        <a:t>5.8</a:t>
                      </a:r>
                    </a:p>
                  </a:txBody>
                  <a:tcPr marL="6350" marR="6350" marT="6350" marB="0" anchor="ctr"/>
                </a:tc>
                <a:tc>
                  <a:txBody>
                    <a:bodyPr/>
                    <a:lstStyle/>
                    <a:p>
                      <a:pPr algn="ctr" fontAlgn="b">
                        <a:buNone/>
                      </a:pPr>
                      <a:r>
                        <a:rPr lang="en-IN" sz="1050" b="1" i="0" u="none" strike="noStrike">
                          <a:solidFill>
                            <a:srgbClr val="000000"/>
                          </a:solidFill>
                          <a:effectLst/>
                          <a:latin typeface="+mj-lt"/>
                          <a:ea typeface="Lato Regular"/>
                          <a:cs typeface="Lato Regular"/>
                        </a:rPr>
                        <a:t>7.7</a:t>
                      </a:r>
                    </a:p>
                  </a:txBody>
                  <a:tcPr marL="6350" marR="6350" marT="6350" marB="0" anchor="ctr"/>
                </a:tc>
                <a:tc>
                  <a:txBody>
                    <a:bodyPr/>
                    <a:lstStyle/>
                    <a:p>
                      <a:pPr algn="ctr" fontAlgn="b"/>
                      <a:r>
                        <a:rPr lang="en-IN" sz="1050" b="1" i="0" u="none" strike="noStrike">
                          <a:solidFill>
                            <a:srgbClr val="000000"/>
                          </a:solidFill>
                          <a:effectLst/>
                          <a:latin typeface="+mj-lt"/>
                        </a:rPr>
                        <a:t>1.5</a:t>
                      </a:r>
                    </a:p>
                  </a:txBody>
                  <a:tcPr marL="6350" marR="6350" marT="6350" marB="0" anchor="ctr"/>
                </a:tc>
                <a:tc>
                  <a:txBody>
                    <a:bodyPr/>
                    <a:lstStyle/>
                    <a:p>
                      <a:pPr algn="ctr" fontAlgn="b"/>
                      <a:r>
                        <a:rPr lang="en-IN" sz="1050" b="1" i="0" u="none" strike="noStrike">
                          <a:solidFill>
                            <a:srgbClr val="000000"/>
                          </a:solidFill>
                          <a:effectLst/>
                          <a:latin typeface="+mj-lt"/>
                        </a:rPr>
                        <a:t>1.9</a:t>
                      </a:r>
                    </a:p>
                  </a:txBody>
                  <a:tcPr marL="6350" marR="6350" marT="6350" marB="0" anchor="ctr"/>
                </a:tc>
                <a:extLst>
                  <a:ext uri="{0D108BD9-81ED-4DB2-BD59-A6C34878D82A}">
                    <a16:rowId xmlns:a16="http://schemas.microsoft.com/office/drawing/2014/main" val="2159784742"/>
                  </a:ext>
                </a:extLst>
              </a:tr>
              <a:tr h="304727">
                <a:tc>
                  <a:txBody>
                    <a:bodyPr/>
                    <a:lstStyle/>
                    <a:p>
                      <a:pPr algn="l" fontAlgn="b">
                        <a:buNone/>
                      </a:pPr>
                      <a:r>
                        <a:rPr lang="en-IN" sz="1050" b="0" i="0" u="none" strike="noStrike">
                          <a:solidFill>
                            <a:srgbClr val="000000"/>
                          </a:solidFill>
                          <a:effectLst/>
                          <a:latin typeface="+mj-lt"/>
                          <a:ea typeface="Lato Regular"/>
                          <a:cs typeface="Lato Regular"/>
                        </a:rPr>
                        <a:t>% Growth YoY</a:t>
                      </a:r>
                    </a:p>
                  </a:txBody>
                  <a:tcPr marL="108000" marR="6350" marT="6350" marB="0" anchor="ctr"/>
                </a:tc>
                <a:tc>
                  <a:txBody>
                    <a:bodyPr/>
                    <a:lstStyle/>
                    <a:p>
                      <a:pPr algn="ctr" fontAlgn="b"/>
                      <a:r>
                        <a:rPr lang="en-IN" sz="1050" b="0" i="0" u="none" strike="noStrike">
                          <a:solidFill>
                            <a:srgbClr val="000000"/>
                          </a:solidFill>
                          <a:effectLst/>
                          <a:latin typeface="+mj-lt"/>
                        </a:rPr>
                        <a:t>20.6%</a:t>
                      </a:r>
                    </a:p>
                  </a:txBody>
                  <a:tcPr marL="9525" marR="9525" marT="9525" marB="0" anchor="ctr"/>
                </a:tc>
                <a:tc>
                  <a:txBody>
                    <a:bodyPr/>
                    <a:lstStyle/>
                    <a:p>
                      <a:pPr algn="ctr" fontAlgn="b">
                        <a:buNone/>
                      </a:pPr>
                      <a:r>
                        <a:rPr lang="en-IN" sz="1050" b="0" i="0" u="none" strike="noStrike">
                          <a:solidFill>
                            <a:srgbClr val="000000"/>
                          </a:solidFill>
                          <a:effectLst/>
                          <a:latin typeface="+mj-lt"/>
                          <a:ea typeface="Lato Regular"/>
                          <a:cs typeface="Lato Regular"/>
                        </a:rPr>
                        <a:t>49.5%</a:t>
                      </a:r>
                    </a:p>
                  </a:txBody>
                  <a:tcPr marL="6350" marR="6350" marT="6350" marB="0" anchor="ctr"/>
                </a:tc>
                <a:tc>
                  <a:txBody>
                    <a:bodyPr/>
                    <a:lstStyle/>
                    <a:p>
                      <a:pPr algn="ctr" fontAlgn="b">
                        <a:buNone/>
                      </a:pPr>
                      <a:r>
                        <a:rPr lang="en-IN" sz="1050" b="0" i="0" u="none" strike="noStrike">
                          <a:solidFill>
                            <a:srgbClr val="000000"/>
                          </a:solidFill>
                          <a:effectLst/>
                          <a:latin typeface="+mj-lt"/>
                          <a:ea typeface="Lato Regular"/>
                          <a:cs typeface="Lato Regular"/>
                        </a:rPr>
                        <a:t>28.30%</a:t>
                      </a:r>
                    </a:p>
                  </a:txBody>
                  <a:tcPr marL="6350" marR="6350" marT="6350" marB="0" anchor="ctr"/>
                </a:tc>
                <a:tc>
                  <a:txBody>
                    <a:bodyPr/>
                    <a:lstStyle/>
                    <a:p>
                      <a:pPr algn="ctr" fontAlgn="b"/>
                      <a:r>
                        <a:rPr lang="en-IN" sz="1050" b="0" i="0" u="none" strike="noStrike">
                          <a:solidFill>
                            <a:srgbClr val="000000"/>
                          </a:solidFill>
                          <a:effectLst/>
                          <a:latin typeface="+mj-lt"/>
                        </a:rPr>
                        <a:t>-15.7%</a:t>
                      </a:r>
                    </a:p>
                  </a:txBody>
                  <a:tcPr marL="6350" marR="6350" marT="6350" marB="0" anchor="ctr"/>
                </a:tc>
                <a:tc>
                  <a:txBody>
                    <a:bodyPr/>
                    <a:lstStyle/>
                    <a:p>
                      <a:pPr algn="ctr" fontAlgn="b"/>
                      <a:r>
                        <a:rPr lang="en-IN" sz="1050" b="0" i="0" u="none" strike="noStrike">
                          <a:solidFill>
                            <a:srgbClr val="000000"/>
                          </a:solidFill>
                          <a:effectLst/>
                          <a:latin typeface="+mj-lt"/>
                        </a:rPr>
                        <a:t>26.7%</a:t>
                      </a:r>
                    </a:p>
                  </a:txBody>
                  <a:tcPr marL="6350" marR="6350" marT="6350" marB="0" anchor="ctr"/>
                </a:tc>
                <a:extLst>
                  <a:ext uri="{0D108BD9-81ED-4DB2-BD59-A6C34878D82A}">
                    <a16:rowId xmlns:a16="http://schemas.microsoft.com/office/drawing/2014/main" val="2809398452"/>
                  </a:ext>
                </a:extLst>
              </a:tr>
              <a:tr h="304727">
                <a:tc>
                  <a:txBody>
                    <a:bodyPr/>
                    <a:lstStyle/>
                    <a:p>
                      <a:pPr algn="l" fontAlgn="b">
                        <a:buNone/>
                      </a:pPr>
                      <a:r>
                        <a:rPr lang="en-IN" sz="1050" b="1" i="0" u="none" strike="noStrike">
                          <a:solidFill>
                            <a:srgbClr val="000000"/>
                          </a:solidFill>
                          <a:effectLst/>
                          <a:latin typeface="+mj-lt"/>
                          <a:ea typeface="Lato Regular"/>
                          <a:cs typeface="Lato Regular"/>
                        </a:rPr>
                        <a:t>EBITDA</a:t>
                      </a:r>
                    </a:p>
                  </a:txBody>
                  <a:tcPr marL="108000" marR="6350" marT="6350" marB="0" anchor="ctr"/>
                </a:tc>
                <a:tc>
                  <a:txBody>
                    <a:bodyPr/>
                    <a:lstStyle/>
                    <a:p>
                      <a:pPr algn="ctr" fontAlgn="b"/>
                      <a:r>
                        <a:rPr lang="en-IN" sz="1050" b="1" i="0" u="none" strike="noStrike">
                          <a:solidFill>
                            <a:srgbClr val="000000"/>
                          </a:solidFill>
                          <a:effectLst/>
                          <a:latin typeface="+mj-lt"/>
                        </a:rPr>
                        <a:t>-9.4</a:t>
                      </a:r>
                    </a:p>
                  </a:txBody>
                  <a:tcPr marL="9525" marR="9525" marT="9525" marB="0" anchor="ctr"/>
                </a:tc>
                <a:tc>
                  <a:txBody>
                    <a:bodyPr/>
                    <a:lstStyle/>
                    <a:p>
                      <a:pPr algn="ctr" fontAlgn="b">
                        <a:buNone/>
                      </a:pPr>
                      <a:r>
                        <a:rPr lang="en-IN" sz="1050" b="1" i="0" u="none" strike="noStrike">
                          <a:solidFill>
                            <a:srgbClr val="000000"/>
                          </a:solidFill>
                          <a:effectLst/>
                          <a:latin typeface="+mj-lt"/>
                          <a:ea typeface="Lato Regular"/>
                          <a:cs typeface="Lato Regular"/>
                        </a:rPr>
                        <a:t>-8.6</a:t>
                      </a:r>
                    </a:p>
                  </a:txBody>
                  <a:tcPr marL="6350" marR="6350" marT="6350" marB="0" anchor="ctr"/>
                </a:tc>
                <a:tc>
                  <a:txBody>
                    <a:bodyPr/>
                    <a:lstStyle/>
                    <a:p>
                      <a:pPr algn="ctr" fontAlgn="b">
                        <a:buNone/>
                      </a:pPr>
                      <a:r>
                        <a:rPr lang="en-IN" sz="1050" b="1" i="0" u="none" strike="noStrike">
                          <a:solidFill>
                            <a:srgbClr val="000000"/>
                          </a:solidFill>
                          <a:effectLst/>
                          <a:latin typeface="+mj-lt"/>
                          <a:ea typeface="Lato Regular"/>
                          <a:cs typeface="Lato Regular"/>
                        </a:rPr>
                        <a:t>-5.8</a:t>
                      </a:r>
                    </a:p>
                  </a:txBody>
                  <a:tcPr marL="6350" marR="6350" marT="6350" marB="0" anchor="ctr"/>
                </a:tc>
                <a:tc>
                  <a:txBody>
                    <a:bodyPr/>
                    <a:lstStyle/>
                    <a:p>
                      <a:pPr algn="ctr" fontAlgn="b"/>
                      <a:r>
                        <a:rPr lang="en-IN" sz="1050" b="1" i="0" u="none" strike="noStrike">
                          <a:solidFill>
                            <a:srgbClr val="000000"/>
                          </a:solidFill>
                          <a:effectLst/>
                          <a:latin typeface="+mj-lt"/>
                        </a:rPr>
                        <a:t>-2.5</a:t>
                      </a:r>
                    </a:p>
                  </a:txBody>
                  <a:tcPr marL="6350" marR="6350" marT="6350" marB="0" anchor="ctr"/>
                </a:tc>
                <a:tc>
                  <a:txBody>
                    <a:bodyPr/>
                    <a:lstStyle/>
                    <a:p>
                      <a:pPr algn="ctr" fontAlgn="b"/>
                      <a:r>
                        <a:rPr lang="en-IN" sz="1050" b="1" i="0" u="none" strike="noStrike">
                          <a:solidFill>
                            <a:srgbClr val="000000"/>
                          </a:solidFill>
                          <a:effectLst/>
                          <a:latin typeface="+mj-lt"/>
                        </a:rPr>
                        <a:t>-0.9</a:t>
                      </a:r>
                    </a:p>
                  </a:txBody>
                  <a:tcPr marL="6350" marR="6350" marT="6350" marB="0" anchor="ctr"/>
                </a:tc>
                <a:extLst>
                  <a:ext uri="{0D108BD9-81ED-4DB2-BD59-A6C34878D82A}">
                    <a16:rowId xmlns:a16="http://schemas.microsoft.com/office/drawing/2014/main" val="4076501595"/>
                  </a:ext>
                </a:extLst>
              </a:tr>
              <a:tr h="304727">
                <a:tc>
                  <a:txBody>
                    <a:bodyPr/>
                    <a:lstStyle/>
                    <a:p>
                      <a:pPr algn="l" fontAlgn="b">
                        <a:buNone/>
                      </a:pPr>
                      <a:r>
                        <a:rPr lang="en-IN" sz="1050" b="0" i="0" u="none" strike="noStrike">
                          <a:solidFill>
                            <a:srgbClr val="000000"/>
                          </a:solidFill>
                          <a:effectLst/>
                          <a:latin typeface="+mj-lt"/>
                          <a:ea typeface="Lato Regular"/>
                          <a:cs typeface="Lato Regular"/>
                        </a:rPr>
                        <a:t>% EBITDA</a:t>
                      </a:r>
                    </a:p>
                  </a:txBody>
                  <a:tcPr marL="108000" marR="6350" marT="6350" marB="0" anchor="ctr"/>
                </a:tc>
                <a:tc>
                  <a:txBody>
                    <a:bodyPr/>
                    <a:lstStyle/>
                    <a:p>
                      <a:pPr algn="ctr" fontAlgn="b"/>
                      <a:r>
                        <a:rPr lang="en-IN" sz="1050" b="0" i="0" u="none" strike="noStrike">
                          <a:solidFill>
                            <a:srgbClr val="000000"/>
                          </a:solidFill>
                          <a:effectLst/>
                          <a:latin typeface="+mj-lt"/>
                        </a:rPr>
                        <a:t>-235.2%</a:t>
                      </a:r>
                    </a:p>
                  </a:txBody>
                  <a:tcPr marL="9525" marR="9525" marT="9525" marB="0" anchor="ctr"/>
                </a:tc>
                <a:tc>
                  <a:txBody>
                    <a:bodyPr/>
                    <a:lstStyle/>
                    <a:p>
                      <a:pPr algn="ctr" fontAlgn="b">
                        <a:buNone/>
                      </a:pPr>
                      <a:r>
                        <a:rPr lang="en-IN" sz="1050" b="0" i="0" u="none" strike="noStrike">
                          <a:solidFill>
                            <a:srgbClr val="000000"/>
                          </a:solidFill>
                          <a:effectLst/>
                          <a:latin typeface="+mj-lt"/>
                          <a:ea typeface="Lato Regular"/>
                          <a:cs typeface="Lato Regular"/>
                        </a:rPr>
                        <a:t>-148.3%</a:t>
                      </a:r>
                    </a:p>
                  </a:txBody>
                  <a:tcPr marL="6350" marR="6350" marT="6350" marB="0" anchor="ctr"/>
                </a:tc>
                <a:tc>
                  <a:txBody>
                    <a:bodyPr/>
                    <a:lstStyle/>
                    <a:p>
                      <a:pPr algn="ctr" fontAlgn="b">
                        <a:buNone/>
                      </a:pPr>
                      <a:r>
                        <a:rPr lang="en-IN" sz="1050" b="0" i="0" u="none" strike="noStrike">
                          <a:solidFill>
                            <a:srgbClr val="000000"/>
                          </a:solidFill>
                          <a:effectLst/>
                          <a:latin typeface="+mj-lt"/>
                          <a:ea typeface="Lato Regular"/>
                          <a:cs typeface="Lato Regular"/>
                        </a:rPr>
                        <a:t>-76%</a:t>
                      </a:r>
                    </a:p>
                  </a:txBody>
                  <a:tcPr marL="6350" marR="6350" marT="6350" marB="0" anchor="ctr"/>
                </a:tc>
                <a:tc>
                  <a:txBody>
                    <a:bodyPr/>
                    <a:lstStyle/>
                    <a:p>
                      <a:pPr algn="ctr" fontAlgn="b"/>
                      <a:r>
                        <a:rPr lang="en-IN" sz="1050" b="0" i="0" u="none" strike="noStrike">
                          <a:solidFill>
                            <a:srgbClr val="000000"/>
                          </a:solidFill>
                          <a:effectLst/>
                          <a:latin typeface="+mj-lt"/>
                        </a:rPr>
                        <a:t>-170.0%</a:t>
                      </a:r>
                    </a:p>
                  </a:txBody>
                  <a:tcPr marL="6350" marR="6350" marT="6350" marB="0" anchor="ctr"/>
                </a:tc>
                <a:tc>
                  <a:txBody>
                    <a:bodyPr/>
                    <a:lstStyle/>
                    <a:p>
                      <a:pPr algn="ctr" fontAlgn="b"/>
                      <a:r>
                        <a:rPr lang="en-IN" sz="1050" b="0" i="0" u="none" strike="noStrike">
                          <a:solidFill>
                            <a:srgbClr val="000000"/>
                          </a:solidFill>
                          <a:effectLst/>
                          <a:latin typeface="+mj-lt"/>
                        </a:rPr>
                        <a:t>-46%</a:t>
                      </a:r>
                    </a:p>
                  </a:txBody>
                  <a:tcPr marL="6350" marR="6350" marT="6350" marB="0" anchor="ctr"/>
                </a:tc>
                <a:extLst>
                  <a:ext uri="{0D108BD9-81ED-4DB2-BD59-A6C34878D82A}">
                    <a16:rowId xmlns:a16="http://schemas.microsoft.com/office/drawing/2014/main" val="3179895044"/>
                  </a:ext>
                </a:extLst>
              </a:tr>
            </a:tbl>
          </a:graphicData>
        </a:graphic>
      </p:graphicFrame>
    </p:spTree>
    <p:extLst>
      <p:ext uri="{BB962C8B-B14F-4D97-AF65-F5344CB8AC3E}">
        <p14:creationId xmlns:p14="http://schemas.microsoft.com/office/powerpoint/2010/main" val="28302648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0B69C-25C8-E4C4-884F-B269C300408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3BFBF5E-28B4-0364-B0CD-B15B3D1AC698}"/>
              </a:ext>
            </a:extLst>
          </p:cNvPr>
          <p:cNvSpPr txBox="1"/>
          <p:nvPr/>
        </p:nvSpPr>
        <p:spPr>
          <a:xfrm>
            <a:off x="499141" y="1387387"/>
            <a:ext cx="3450246" cy="320216"/>
          </a:xfrm>
          <a:prstGeom prst="rect">
            <a:avLst/>
          </a:prstGeom>
          <a:noFill/>
        </p:spPr>
        <p:txBody>
          <a:bodyPr wrap="square" rtlCol="0">
            <a:spAutoFit/>
          </a:bodyPr>
          <a:lstStyle/>
          <a:p>
            <a:r>
              <a:rPr lang="en-IN" sz="1481" b="1">
                <a:solidFill>
                  <a:schemeClr val="tx2"/>
                </a:solidFill>
                <a:ea typeface="Lato Regular" panose="020F0502020204030203" pitchFamily="34" charset="0"/>
                <a:cs typeface="Lato Regular" panose="020F0502020204030203" pitchFamily="34" charset="0"/>
              </a:rPr>
              <a:t>Business Description</a:t>
            </a:r>
          </a:p>
        </p:txBody>
      </p:sp>
      <p:sp>
        <p:nvSpPr>
          <p:cNvPr id="4" name="TextBox 3">
            <a:extLst>
              <a:ext uri="{FF2B5EF4-FFF2-40B4-BE49-F238E27FC236}">
                <a16:creationId xmlns:a16="http://schemas.microsoft.com/office/drawing/2014/main" id="{4CAD24CF-6966-63F9-A5D6-8C488C4692B5}"/>
              </a:ext>
            </a:extLst>
          </p:cNvPr>
          <p:cNvSpPr txBox="1"/>
          <p:nvPr/>
        </p:nvSpPr>
        <p:spPr>
          <a:xfrm>
            <a:off x="499141" y="3645004"/>
            <a:ext cx="3450246" cy="320216"/>
          </a:xfrm>
          <a:prstGeom prst="rect">
            <a:avLst/>
          </a:prstGeom>
          <a:noFill/>
        </p:spPr>
        <p:txBody>
          <a:bodyPr wrap="square" rtlCol="0">
            <a:spAutoFit/>
          </a:bodyPr>
          <a:lstStyle/>
          <a:p>
            <a:r>
              <a:rPr lang="en-IN" sz="1481" b="1">
                <a:solidFill>
                  <a:schemeClr val="tx2"/>
                </a:solidFill>
                <a:ea typeface="Lato Regular" panose="020F0502020204030203" pitchFamily="34" charset="0"/>
                <a:cs typeface="Lato Regular" panose="020F0502020204030203" pitchFamily="34" charset="0"/>
              </a:rPr>
              <a:t>Performance Commentary</a:t>
            </a:r>
          </a:p>
        </p:txBody>
      </p:sp>
      <p:sp>
        <p:nvSpPr>
          <p:cNvPr id="5" name="TextBox 4">
            <a:extLst>
              <a:ext uri="{FF2B5EF4-FFF2-40B4-BE49-F238E27FC236}">
                <a16:creationId xmlns:a16="http://schemas.microsoft.com/office/drawing/2014/main" id="{12BE9316-2595-40B9-80E1-08782CFF7FD9}"/>
              </a:ext>
            </a:extLst>
          </p:cNvPr>
          <p:cNvSpPr txBox="1"/>
          <p:nvPr/>
        </p:nvSpPr>
        <p:spPr>
          <a:xfrm>
            <a:off x="5539984" y="3805112"/>
            <a:ext cx="3450246" cy="227883"/>
          </a:xfrm>
          <a:prstGeom prst="rect">
            <a:avLst/>
          </a:prstGeom>
          <a:noFill/>
        </p:spPr>
        <p:txBody>
          <a:bodyPr wrap="square" lIns="0" tIns="0" rIns="0" bIns="0" rtlCol="0">
            <a:spAutoFit/>
          </a:bodyPr>
          <a:lstStyle/>
          <a:p>
            <a:r>
              <a:rPr lang="en-IN" sz="1481" b="1">
                <a:solidFill>
                  <a:schemeClr val="tx2"/>
                </a:solidFill>
                <a:ea typeface="Lato Regular" panose="020F0502020204030203" pitchFamily="34" charset="0"/>
                <a:cs typeface="Lato Regular" panose="020F0502020204030203" pitchFamily="34" charset="0"/>
              </a:rPr>
              <a:t>Key Financial Highlights</a:t>
            </a:r>
          </a:p>
        </p:txBody>
      </p:sp>
      <p:sp>
        <p:nvSpPr>
          <p:cNvPr id="6" name="Rectangle 5">
            <a:extLst>
              <a:ext uri="{FF2B5EF4-FFF2-40B4-BE49-F238E27FC236}">
                <a16:creationId xmlns:a16="http://schemas.microsoft.com/office/drawing/2014/main" id="{FDB310D0-3CA6-F2DC-E581-0543F728E6A7}"/>
              </a:ext>
            </a:extLst>
          </p:cNvPr>
          <p:cNvSpPr/>
          <p:nvPr/>
        </p:nvSpPr>
        <p:spPr>
          <a:xfrm>
            <a:off x="562116" y="1815136"/>
            <a:ext cx="4195514" cy="1446550"/>
          </a:xfrm>
          <a:prstGeom prst="rect">
            <a:avLst/>
          </a:prstGeom>
        </p:spPr>
        <p:txBody>
          <a:bodyPr wrap="square" lIns="0" tIns="0" rIns="0" bIns="0" anchor="t">
            <a:spAutoFit/>
          </a:bodyPr>
          <a:lstStyle/>
          <a:p>
            <a:pPr marL="171450" indent="-171450" algn="just">
              <a:spcAft>
                <a:spcPts val="600"/>
              </a:spcAft>
              <a:buFont typeface="Arial,Sans-Serif" panose="020B0604020202020204" pitchFamily="34" charset="0"/>
              <a:buChar char="•"/>
            </a:pPr>
            <a:r>
              <a:rPr lang="en-US" sz="1200" err="1">
                <a:solidFill>
                  <a:schemeClr val="bg2">
                    <a:lumMod val="10000"/>
                  </a:schemeClr>
                </a:solidFill>
                <a:ea typeface="Calibri"/>
                <a:cs typeface="Calibri"/>
                <a:sym typeface="Calibri"/>
              </a:rPr>
              <a:t>Riskcovry</a:t>
            </a:r>
            <a:r>
              <a:rPr lang="en-US" sz="1200">
                <a:solidFill>
                  <a:schemeClr val="bg2">
                    <a:lumMod val="10000"/>
                  </a:schemeClr>
                </a:solidFill>
                <a:ea typeface="Calibri"/>
                <a:cs typeface="Calibri"/>
                <a:sym typeface="Calibri"/>
              </a:rPr>
              <a:t> is a white-labelled API-enabled insurance integration </a:t>
            </a:r>
            <a:r>
              <a:rPr lang="en-US" sz="1200" err="1">
                <a:solidFill>
                  <a:schemeClr val="bg2">
                    <a:lumMod val="10000"/>
                  </a:schemeClr>
                </a:solidFill>
                <a:ea typeface="Calibri"/>
                <a:cs typeface="Calibri"/>
                <a:sym typeface="Calibri"/>
              </a:rPr>
              <a:t>platform,which</a:t>
            </a:r>
            <a:r>
              <a:rPr lang="en-US" sz="1200">
                <a:solidFill>
                  <a:schemeClr val="bg2">
                    <a:lumMod val="10000"/>
                  </a:schemeClr>
                </a:solidFill>
                <a:ea typeface="Calibri"/>
                <a:cs typeface="Calibri"/>
                <a:sym typeface="Calibri"/>
              </a:rPr>
              <a:t> allows companies to enable insurance for their customers. </a:t>
            </a:r>
            <a:endParaRPr lang="en-US" sz="1200">
              <a:solidFill>
                <a:srgbClr val="2C2B69"/>
              </a:solidFill>
              <a:ea typeface="Calibri"/>
              <a:cs typeface="Calibri"/>
            </a:endParaRPr>
          </a:p>
          <a:p>
            <a:pPr marL="171450" indent="-171450" algn="just">
              <a:spcAft>
                <a:spcPts val="600"/>
              </a:spcAft>
              <a:buFont typeface="Arial,Sans-Serif" panose="020B0604020202020204" pitchFamily="34" charset="0"/>
              <a:buChar char="•"/>
            </a:pPr>
            <a:r>
              <a:rPr lang="en-US" sz="1200">
                <a:solidFill>
                  <a:schemeClr val="bg2">
                    <a:lumMod val="10000"/>
                  </a:schemeClr>
                </a:solidFill>
                <a:ea typeface="Calibri"/>
                <a:cs typeface="Calibri"/>
                <a:sym typeface="Calibri"/>
              </a:rPr>
              <a:t>Their “Insurance-in-a-Box” model offers a one-stop-shop platform to </a:t>
            </a:r>
            <a:r>
              <a:rPr lang="en-US" sz="1200" err="1">
                <a:solidFill>
                  <a:schemeClr val="bg2">
                    <a:lumMod val="10000"/>
                  </a:schemeClr>
                </a:solidFill>
                <a:ea typeface="Calibri"/>
                <a:cs typeface="Calibri"/>
                <a:sym typeface="Calibri"/>
              </a:rPr>
              <a:t>caterto</a:t>
            </a:r>
            <a:r>
              <a:rPr lang="en-US" sz="1200">
                <a:solidFill>
                  <a:schemeClr val="bg2">
                    <a:lumMod val="10000"/>
                  </a:schemeClr>
                </a:solidFill>
                <a:ea typeface="Calibri"/>
                <a:cs typeface="Calibri"/>
                <a:sym typeface="Calibri"/>
              </a:rPr>
              <a:t> any business’s digital insurance needs</a:t>
            </a:r>
            <a:endParaRPr lang="en-US" sz="1200">
              <a:solidFill>
                <a:srgbClr val="2C2B69"/>
              </a:solidFill>
              <a:ea typeface="Calibri"/>
              <a:cs typeface="Calibri"/>
            </a:endParaRPr>
          </a:p>
          <a:p>
            <a:pPr marL="171450" indent="-171450" algn="just">
              <a:spcAft>
                <a:spcPts val="600"/>
              </a:spcAft>
              <a:buFont typeface="Arial,Sans-Serif" panose="020B0604020202020204" pitchFamily="34" charset="0"/>
              <a:buChar char="•"/>
            </a:pPr>
            <a:r>
              <a:rPr lang="en-US" sz="1200">
                <a:solidFill>
                  <a:schemeClr val="bg2">
                    <a:lumMod val="10000"/>
                  </a:schemeClr>
                </a:solidFill>
                <a:ea typeface="Calibri"/>
                <a:cs typeface="Calibri"/>
                <a:sym typeface="Calibri"/>
              </a:rPr>
              <a:t>It has partnered with various BFSI clients including PSU Banks forEmbedded Insurance offerings</a:t>
            </a:r>
            <a:endParaRPr lang="en-US"/>
          </a:p>
        </p:txBody>
      </p:sp>
      <p:sp>
        <p:nvSpPr>
          <p:cNvPr id="7" name="TextBox 6">
            <a:extLst>
              <a:ext uri="{FF2B5EF4-FFF2-40B4-BE49-F238E27FC236}">
                <a16:creationId xmlns:a16="http://schemas.microsoft.com/office/drawing/2014/main" id="{0A997FBB-CE96-890A-9261-CC54AC9D4145}"/>
              </a:ext>
            </a:extLst>
          </p:cNvPr>
          <p:cNvSpPr txBox="1"/>
          <p:nvPr/>
        </p:nvSpPr>
        <p:spPr>
          <a:xfrm>
            <a:off x="455742" y="3979789"/>
            <a:ext cx="4408262" cy="3139321"/>
          </a:xfrm>
          <a:prstGeom prst="rect">
            <a:avLst/>
          </a:prstGeom>
          <a:noFill/>
        </p:spPr>
        <p:txBody>
          <a:bodyPr wrap="square" lIns="91440" tIns="45720" rIns="91440" bIns="45720" rtlCol="0" anchor="t">
            <a:spAutoFit/>
          </a:bodyPr>
          <a:lstStyle/>
          <a:p>
            <a:pPr marL="171450" indent="-171450" algn="just">
              <a:spcAft>
                <a:spcPts val="600"/>
              </a:spcAft>
              <a:buFont typeface="Arial,Sans-Serif" panose="020B0604020202020204" pitchFamily="34" charset="0"/>
              <a:buChar char="•"/>
            </a:pPr>
            <a:r>
              <a:rPr lang="en-GB" sz="1200" b="1">
                <a:solidFill>
                  <a:srgbClr val="242424"/>
                </a:solidFill>
                <a:highlight>
                  <a:srgbClr val="FFFFFF"/>
                </a:highlight>
                <a:ea typeface="Lato Regular"/>
                <a:cs typeface="Lato Regular"/>
              </a:rPr>
              <a:t>GWP rebounded +29.9% YoY to ₹1,897.5 Cr</a:t>
            </a:r>
            <a:r>
              <a:rPr lang="en-GB" sz="1200">
                <a:solidFill>
                  <a:srgbClr val="242424"/>
                </a:solidFill>
                <a:highlight>
                  <a:srgbClr val="FFFFFF"/>
                </a:highlight>
                <a:ea typeface="Lato Regular"/>
                <a:cs typeface="Lato Regular"/>
              </a:rPr>
              <a:t> after a -6.2% decline in FY25— a reminder that one bad year is data, not destiny. </a:t>
            </a:r>
            <a:endParaRPr lang="en-US"/>
          </a:p>
          <a:p>
            <a:pPr marL="171450" indent="-171450" algn="just">
              <a:spcAft>
                <a:spcPts val="600"/>
              </a:spcAft>
              <a:buFont typeface="Arial,Sans-Serif" panose="020B0604020202020204" pitchFamily="34" charset="0"/>
              <a:buChar char="•"/>
            </a:pPr>
            <a:r>
              <a:rPr lang="en-GB" sz="1200">
                <a:solidFill>
                  <a:srgbClr val="242424"/>
                </a:solidFill>
                <a:highlight>
                  <a:srgbClr val="FFFFFF"/>
                </a:highlight>
                <a:ea typeface="Lato Regular"/>
                <a:cs typeface="Lato Regular"/>
              </a:rPr>
              <a:t>Q4 GWP </a:t>
            </a:r>
            <a:r>
              <a:rPr lang="en-GB" sz="1200" b="1">
                <a:solidFill>
                  <a:srgbClr val="242424"/>
                </a:solidFill>
                <a:highlight>
                  <a:srgbClr val="FFFFFF"/>
                </a:highlight>
                <a:ea typeface="Lato Regular"/>
                <a:cs typeface="Lato Regular"/>
              </a:rPr>
              <a:t>+59.7% YoY</a:t>
            </a:r>
            <a:r>
              <a:rPr lang="en-GB" sz="1200">
                <a:solidFill>
                  <a:srgbClr val="242424"/>
                </a:solidFill>
                <a:highlight>
                  <a:srgbClr val="FFFFFF"/>
                </a:highlight>
                <a:ea typeface="Lato Regular"/>
                <a:cs typeface="Lato Regular"/>
              </a:rPr>
              <a:t>. The deliberate decision to rationalise the customer base from 29 to 24 —keeping HDB, HDFC Bank, IndusInd — is the kind of choice that looks like a step back and is actually a step up. </a:t>
            </a:r>
            <a:endParaRPr lang="en-GB">
              <a:solidFill>
                <a:srgbClr val="2C2B69"/>
              </a:solidFill>
              <a:ea typeface="Lato Regular"/>
              <a:cs typeface="Lato Regular"/>
            </a:endParaRPr>
          </a:p>
          <a:p>
            <a:pPr marL="171450" indent="-171450" algn="just">
              <a:spcAft>
                <a:spcPts val="600"/>
              </a:spcAft>
              <a:buFont typeface="Arial,Sans-Serif" panose="020B0604020202020204" pitchFamily="34" charset="0"/>
              <a:buChar char="•"/>
            </a:pPr>
            <a:r>
              <a:rPr lang="en-GB" sz="1200">
                <a:solidFill>
                  <a:srgbClr val="242424"/>
                </a:solidFill>
                <a:highlight>
                  <a:srgbClr val="FFFFFF"/>
                </a:highlight>
                <a:ea typeface="Lato Regular"/>
                <a:cs typeface="Lato Regular"/>
              </a:rPr>
              <a:t>Revenue per customer rose. Gross margins held at </a:t>
            </a:r>
            <a:r>
              <a:rPr lang="en-GB" sz="1200" b="1">
                <a:solidFill>
                  <a:srgbClr val="242424"/>
                </a:solidFill>
                <a:highlight>
                  <a:srgbClr val="FFFFFF"/>
                </a:highlight>
                <a:ea typeface="Lato Regular"/>
                <a:cs typeface="Lato Regular"/>
              </a:rPr>
              <a:t>~88%</a:t>
            </a:r>
            <a:r>
              <a:rPr lang="en-GB" sz="1200">
                <a:solidFill>
                  <a:srgbClr val="242424"/>
                </a:solidFill>
                <a:highlight>
                  <a:srgbClr val="FFFFFF"/>
                </a:highlight>
                <a:ea typeface="Lato Regular"/>
                <a:cs typeface="Lato Regular"/>
              </a:rPr>
              <a:t>. Q4FY26 exit EBITDA margin: -40.2%, with a clear path to breakeven.</a:t>
            </a:r>
            <a:endParaRPr lang="en-GB"/>
          </a:p>
          <a:p>
            <a:pPr marL="171450" indent="-171450" algn="just">
              <a:spcAft>
                <a:spcPts val="600"/>
              </a:spcAft>
              <a:buFont typeface="Arial" panose="020B0604020202020204" pitchFamily="34" charset="0"/>
              <a:buChar char="•"/>
            </a:pPr>
            <a:endParaRPr lang="en-GB" sz="1200">
              <a:solidFill>
                <a:srgbClr val="242424"/>
              </a:solidFill>
              <a:highlight>
                <a:srgbClr val="FFFFFF"/>
              </a:highlight>
              <a:ea typeface="Lato Regular" panose="020F0502020204030203" pitchFamily="34" charset="0"/>
              <a:cs typeface="Lato Regular" panose="020F0502020204030203" pitchFamily="34" charset="0"/>
            </a:endParaRPr>
          </a:p>
          <a:p>
            <a:pPr marL="171450" indent="-171450" algn="just">
              <a:spcAft>
                <a:spcPts val="600"/>
              </a:spcAft>
              <a:buFont typeface="Arial" panose="020B0604020202020204" pitchFamily="34" charset="0"/>
              <a:buChar char="•"/>
            </a:pPr>
            <a:endParaRPr lang="en-GB" sz="1200">
              <a:solidFill>
                <a:schemeClr val="bg2">
                  <a:lumMod val="10000"/>
                </a:schemeClr>
              </a:solidFill>
              <a:ea typeface="Lato Regular" panose="020F0502020204030203" pitchFamily="34" charset="0"/>
              <a:cs typeface="Lato Regular" panose="020F0502020204030203" pitchFamily="34" charset="0"/>
            </a:endParaRPr>
          </a:p>
          <a:p>
            <a:pPr marL="171450" indent="-171450" algn="just">
              <a:spcAft>
                <a:spcPts val="600"/>
              </a:spcAft>
              <a:buFont typeface="Arial" panose="020B0604020202020204" pitchFamily="34" charset="0"/>
              <a:buChar char="•"/>
            </a:pPr>
            <a:endParaRPr lang="en-GB" sz="1200">
              <a:solidFill>
                <a:schemeClr val="bg2">
                  <a:lumMod val="10000"/>
                </a:schemeClr>
              </a:solidFill>
              <a:ea typeface="Lato Regular" panose="020F0502020204030203" pitchFamily="34" charset="0"/>
              <a:cs typeface="Lato Regular" panose="020F0502020204030203" pitchFamily="34" charset="0"/>
            </a:endParaRPr>
          </a:p>
          <a:p>
            <a:pPr marL="171450" indent="-171450" algn="just">
              <a:spcAft>
                <a:spcPts val="600"/>
              </a:spcAft>
              <a:buFont typeface="Arial" panose="020B0604020202020204" pitchFamily="34" charset="0"/>
              <a:buChar char="•"/>
            </a:pPr>
            <a:endParaRPr lang="en-IN" sz="1200">
              <a:solidFill>
                <a:schemeClr val="bg2">
                  <a:lumMod val="10000"/>
                </a:schemeClr>
              </a:solidFill>
              <a:ea typeface="Lato Regular" panose="020F0502020204030203" pitchFamily="34" charset="0"/>
              <a:cs typeface="Lato Regular" panose="020F0502020204030203" pitchFamily="34" charset="0"/>
            </a:endParaRPr>
          </a:p>
        </p:txBody>
      </p:sp>
      <p:cxnSp>
        <p:nvCxnSpPr>
          <p:cNvPr id="10" name="Straight Connector 9">
            <a:extLst>
              <a:ext uri="{FF2B5EF4-FFF2-40B4-BE49-F238E27FC236}">
                <a16:creationId xmlns:a16="http://schemas.microsoft.com/office/drawing/2014/main" id="{296CCB03-BC37-73D1-CF3A-EDC29386C48D}"/>
              </a:ext>
            </a:extLst>
          </p:cNvPr>
          <p:cNvCxnSpPr>
            <a:cxnSpLocks/>
          </p:cNvCxnSpPr>
          <p:nvPr/>
        </p:nvCxnSpPr>
        <p:spPr>
          <a:xfrm>
            <a:off x="4439425" y="536026"/>
            <a:ext cx="0" cy="320217"/>
          </a:xfrm>
          <a:prstGeom prst="line">
            <a:avLst/>
          </a:prstGeom>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0833889-FD18-6002-786C-6972DA816F82}"/>
              </a:ext>
            </a:extLst>
          </p:cNvPr>
          <p:cNvSpPr txBox="1"/>
          <p:nvPr/>
        </p:nvSpPr>
        <p:spPr>
          <a:xfrm>
            <a:off x="5539984" y="1433554"/>
            <a:ext cx="3607078" cy="227883"/>
          </a:xfrm>
          <a:prstGeom prst="rect">
            <a:avLst/>
          </a:prstGeom>
          <a:noFill/>
        </p:spPr>
        <p:txBody>
          <a:bodyPr wrap="square" lIns="0" tIns="0" rIns="0" bIns="0" rtlCol="0">
            <a:spAutoFit/>
          </a:bodyPr>
          <a:lstStyle/>
          <a:p>
            <a:r>
              <a:rPr lang="en-IN" sz="1481" b="1">
                <a:solidFill>
                  <a:schemeClr val="tx2"/>
                </a:solidFill>
                <a:ea typeface="Lato Regular" panose="020F0502020204030203" pitchFamily="34" charset="0"/>
                <a:cs typeface="Lato Regular" panose="020F0502020204030203" pitchFamily="34" charset="0"/>
              </a:rPr>
              <a:t>Key Performance Indicators</a:t>
            </a:r>
          </a:p>
        </p:txBody>
      </p:sp>
      <p:graphicFrame>
        <p:nvGraphicFramePr>
          <p:cNvPr id="14" name="Table 13">
            <a:extLst>
              <a:ext uri="{FF2B5EF4-FFF2-40B4-BE49-F238E27FC236}">
                <a16:creationId xmlns:a16="http://schemas.microsoft.com/office/drawing/2014/main" id="{3719BC32-70BE-C66B-893F-8C2AE91A2A3D}"/>
              </a:ext>
            </a:extLst>
          </p:cNvPr>
          <p:cNvGraphicFramePr>
            <a:graphicFrameLocks noGrp="1"/>
          </p:cNvGraphicFramePr>
          <p:nvPr>
            <p:extLst>
              <p:ext uri="{D42A27DB-BD31-4B8C-83A1-F6EECF244321}">
                <p14:modId xmlns:p14="http://schemas.microsoft.com/office/powerpoint/2010/main" val="1406194449"/>
              </p:ext>
            </p:extLst>
          </p:nvPr>
        </p:nvGraphicFramePr>
        <p:xfrm>
          <a:off x="5539984" y="1840227"/>
          <a:ext cx="5833725" cy="1343570"/>
        </p:xfrm>
        <a:graphic>
          <a:graphicData uri="http://schemas.openxmlformats.org/drawingml/2006/table">
            <a:tbl>
              <a:tblPr firstRow="1" bandRow="1">
                <a:tableStyleId>{69012ECD-51FC-41F1-AA8D-1B2483CD663E}</a:tableStyleId>
              </a:tblPr>
              <a:tblGrid>
                <a:gridCol w="2032635">
                  <a:extLst>
                    <a:ext uri="{9D8B030D-6E8A-4147-A177-3AD203B41FA5}">
                      <a16:colId xmlns:a16="http://schemas.microsoft.com/office/drawing/2014/main" val="3001066899"/>
                    </a:ext>
                  </a:extLst>
                </a:gridCol>
                <a:gridCol w="911806">
                  <a:extLst>
                    <a:ext uri="{9D8B030D-6E8A-4147-A177-3AD203B41FA5}">
                      <a16:colId xmlns:a16="http://schemas.microsoft.com/office/drawing/2014/main" val="700748351"/>
                    </a:ext>
                  </a:extLst>
                </a:gridCol>
                <a:gridCol w="722321">
                  <a:extLst>
                    <a:ext uri="{9D8B030D-6E8A-4147-A177-3AD203B41FA5}">
                      <a16:colId xmlns:a16="http://schemas.microsoft.com/office/drawing/2014/main" val="3274968397"/>
                    </a:ext>
                  </a:extLst>
                </a:gridCol>
                <a:gridCol w="722321">
                  <a:extLst>
                    <a:ext uri="{9D8B030D-6E8A-4147-A177-3AD203B41FA5}">
                      <a16:colId xmlns:a16="http://schemas.microsoft.com/office/drawing/2014/main" val="3623532732"/>
                    </a:ext>
                  </a:extLst>
                </a:gridCol>
                <a:gridCol w="722321">
                  <a:extLst>
                    <a:ext uri="{9D8B030D-6E8A-4147-A177-3AD203B41FA5}">
                      <a16:colId xmlns:a16="http://schemas.microsoft.com/office/drawing/2014/main" val="746035582"/>
                    </a:ext>
                  </a:extLst>
                </a:gridCol>
                <a:gridCol w="722321">
                  <a:extLst>
                    <a:ext uri="{9D8B030D-6E8A-4147-A177-3AD203B41FA5}">
                      <a16:colId xmlns:a16="http://schemas.microsoft.com/office/drawing/2014/main" val="2799431461"/>
                    </a:ext>
                  </a:extLst>
                </a:gridCol>
              </a:tblGrid>
              <a:tr h="262575">
                <a:tc>
                  <a:txBody>
                    <a:bodyPr/>
                    <a:lstStyle/>
                    <a:p>
                      <a:pPr lvl="0" algn="l">
                        <a:buNone/>
                      </a:pPr>
                      <a:r>
                        <a:rPr lang="en-US" sz="1050" b="1" i="0" u="none" strike="noStrike">
                          <a:solidFill>
                            <a:schemeClr val="bg1"/>
                          </a:solidFill>
                          <a:effectLst/>
                          <a:latin typeface="Aptos"/>
                          <a:ea typeface="Lato Regular"/>
                          <a:cs typeface="Lato Regular"/>
                        </a:rPr>
                        <a:t>KPIs</a:t>
                      </a:r>
                      <a:endParaRPr lang="en-US" i="0">
                        <a:latin typeface="Aptos"/>
                      </a:endParaRPr>
                    </a:p>
                  </a:txBody>
                  <a:tcPr marL="144000" marR="6350" marT="6350" marB="0" anchor="ctr"/>
                </a:tc>
                <a:tc>
                  <a:txBody>
                    <a:bodyPr/>
                    <a:lstStyle/>
                    <a:p>
                      <a:pPr lvl="0" algn="ctr">
                        <a:buNone/>
                      </a:pPr>
                      <a:r>
                        <a:rPr lang="en-US" sz="1050" b="1" i="0" u="none" strike="noStrike">
                          <a:solidFill>
                            <a:schemeClr val="bg1"/>
                          </a:solidFill>
                          <a:effectLst/>
                          <a:latin typeface="Aptos"/>
                          <a:ea typeface="Lato Regular"/>
                          <a:cs typeface="Lato Regular"/>
                        </a:rPr>
                        <a:t>FY24</a:t>
                      </a:r>
                    </a:p>
                  </a:txBody>
                  <a:tcPr marL="6350" marR="6350" marT="6350" marB="0" anchor="ctr"/>
                </a:tc>
                <a:tc>
                  <a:txBody>
                    <a:bodyPr/>
                    <a:lstStyle/>
                    <a:p>
                      <a:pPr lvl="0" algn="ctr">
                        <a:buNone/>
                      </a:pPr>
                      <a:r>
                        <a:rPr lang="en-US" sz="1050" b="1" i="0" u="none" strike="noStrike">
                          <a:solidFill>
                            <a:schemeClr val="bg1"/>
                          </a:solidFill>
                          <a:effectLst/>
                          <a:latin typeface="Aptos"/>
                          <a:ea typeface="Lato Regular"/>
                          <a:cs typeface="Lato Regular"/>
                        </a:rPr>
                        <a:t>FY25</a:t>
                      </a:r>
                      <a:endParaRPr lang="en-US" sz="1050" b="1" i="0">
                        <a:solidFill>
                          <a:schemeClr val="bg1"/>
                        </a:solidFill>
                        <a:effectLst/>
                        <a:latin typeface="Aptos"/>
                        <a:ea typeface="Lato Regular"/>
                        <a:cs typeface="Lato Regular"/>
                      </a:endParaRPr>
                    </a:p>
                  </a:txBody>
                  <a:tcPr marL="6350" marR="6350" marT="6350" marB="0" anchor="ctr"/>
                </a:tc>
                <a:tc>
                  <a:txBody>
                    <a:bodyPr/>
                    <a:lstStyle/>
                    <a:p>
                      <a:pPr lvl="0" algn="ctr">
                        <a:buNone/>
                      </a:pPr>
                      <a:r>
                        <a:rPr lang="en-US" sz="1050" b="1" i="0" u="none" strike="noStrike">
                          <a:solidFill>
                            <a:schemeClr val="bg1"/>
                          </a:solidFill>
                          <a:effectLst/>
                          <a:latin typeface="Aptos"/>
                          <a:ea typeface="Lato Regular"/>
                          <a:cs typeface="Lato Regular"/>
                        </a:rPr>
                        <a:t>FY26</a:t>
                      </a:r>
                      <a:endParaRPr lang="en-US" sz="1050" b="1" i="0">
                        <a:solidFill>
                          <a:schemeClr val="bg1"/>
                        </a:solidFill>
                        <a:effectLst/>
                        <a:latin typeface="Aptos"/>
                        <a:ea typeface="Lato Regular"/>
                        <a:cs typeface="Lato Regular"/>
                      </a:endParaRPr>
                    </a:p>
                  </a:txBody>
                  <a:tcPr marL="6350" marR="6350" marT="6350" marB="0" anchor="ctr"/>
                </a:tc>
                <a:tc>
                  <a:txBody>
                    <a:bodyPr/>
                    <a:lstStyle/>
                    <a:p>
                      <a:pPr lvl="0" algn="ctr">
                        <a:buNone/>
                      </a:pPr>
                      <a:r>
                        <a:rPr lang="en-US" sz="1050" b="1" i="0" u="none" strike="noStrike">
                          <a:solidFill>
                            <a:schemeClr val="bg1"/>
                          </a:solidFill>
                          <a:effectLst/>
                          <a:latin typeface="Aptos"/>
                          <a:ea typeface="Lato Regular"/>
                          <a:cs typeface="Lato Regular"/>
                        </a:rPr>
                        <a:t>Q4FY25</a:t>
                      </a:r>
                      <a:endParaRPr lang="en-US" sz="1050" b="1" i="0">
                        <a:solidFill>
                          <a:schemeClr val="bg1"/>
                        </a:solidFill>
                        <a:effectLst/>
                        <a:latin typeface="Aptos"/>
                        <a:ea typeface="Lato Regular"/>
                        <a:cs typeface="Lato Regular"/>
                      </a:endParaRPr>
                    </a:p>
                  </a:txBody>
                  <a:tcPr marL="6350" marR="6350" marT="6350" marB="0" anchor="ctr"/>
                </a:tc>
                <a:tc>
                  <a:txBody>
                    <a:bodyPr/>
                    <a:lstStyle/>
                    <a:p>
                      <a:pPr lvl="0" algn="ctr">
                        <a:buNone/>
                      </a:pPr>
                      <a:r>
                        <a:rPr lang="en-US" sz="1050" b="1" i="0" u="none" strike="noStrike">
                          <a:solidFill>
                            <a:schemeClr val="bg1"/>
                          </a:solidFill>
                          <a:effectLst/>
                          <a:latin typeface="Aptos"/>
                          <a:ea typeface="Lato Regular"/>
                          <a:cs typeface="Lato Regular"/>
                        </a:rPr>
                        <a:t>Q4FY26</a:t>
                      </a:r>
                      <a:endParaRPr lang="en-US" sz="1050" b="1" i="0">
                        <a:solidFill>
                          <a:schemeClr val="bg1"/>
                        </a:solidFill>
                        <a:effectLst/>
                        <a:latin typeface="Aptos"/>
                        <a:ea typeface="Lato Regular"/>
                        <a:cs typeface="Lato Regular"/>
                      </a:endParaRPr>
                    </a:p>
                  </a:txBody>
                  <a:tcPr marL="6350" marR="6350" marT="6350" marB="0" anchor="ctr"/>
                </a:tc>
                <a:extLst>
                  <a:ext uri="{0D108BD9-81ED-4DB2-BD59-A6C34878D82A}">
                    <a16:rowId xmlns:a16="http://schemas.microsoft.com/office/drawing/2014/main" val="3735237806"/>
                  </a:ext>
                </a:extLst>
              </a:tr>
              <a:tr h="262575">
                <a:tc>
                  <a:txBody>
                    <a:bodyPr/>
                    <a:lstStyle/>
                    <a:p>
                      <a:pPr lvl="0" algn="l">
                        <a:buNone/>
                      </a:pPr>
                      <a:r>
                        <a:rPr lang="en-IN" sz="1050" b="1" i="0" u="none" strike="noStrike">
                          <a:solidFill>
                            <a:srgbClr val="000000"/>
                          </a:solidFill>
                          <a:effectLst/>
                          <a:latin typeface="+mj-lt"/>
                          <a:ea typeface="Lato Regular"/>
                          <a:cs typeface="Lato Regular"/>
                        </a:rPr>
                        <a:t>Policy Count (in Cr.)</a:t>
                      </a:r>
                      <a:endParaRPr lang="en-US"/>
                    </a:p>
                  </a:txBody>
                  <a:tcPr marL="144000" marR="0" marT="0" marB="0" anchor="ctr"/>
                </a:tc>
                <a:tc>
                  <a:txBody>
                    <a:bodyPr/>
                    <a:lstStyle/>
                    <a:p>
                      <a:pPr lvl="0" algn="ctr">
                        <a:buNone/>
                      </a:pPr>
                      <a:r>
                        <a:rPr lang="en-IN" sz="1050" b="1" i="0" u="none" strike="noStrike">
                          <a:solidFill>
                            <a:srgbClr val="000000"/>
                          </a:solidFill>
                          <a:effectLst/>
                          <a:latin typeface="+mj-lt"/>
                        </a:rPr>
                        <a:t>0.09</a:t>
                      </a:r>
                      <a:endParaRPr lang="en-IN" sz="1050" b="0" i="0" u="none" strike="noStrike">
                        <a:solidFill>
                          <a:srgbClr val="000000"/>
                        </a:solidFill>
                        <a:effectLst/>
                        <a:latin typeface="+mj-lt"/>
                      </a:endParaRPr>
                    </a:p>
                  </a:txBody>
                  <a:tcPr marL="6350" marR="6350" marT="6350" marB="0" anchor="ctr"/>
                </a:tc>
                <a:tc>
                  <a:txBody>
                    <a:bodyPr/>
                    <a:lstStyle/>
                    <a:p>
                      <a:pPr lvl="0" algn="ctr">
                        <a:buNone/>
                      </a:pPr>
                      <a:r>
                        <a:rPr lang="en-IN" sz="1050" b="1" i="0" u="none" strike="noStrike">
                          <a:solidFill>
                            <a:srgbClr val="000000"/>
                          </a:solidFill>
                          <a:effectLst/>
                          <a:latin typeface="+mj-lt"/>
                        </a:rPr>
                        <a:t>0.11</a:t>
                      </a:r>
                      <a:endParaRPr lang="en-IN" sz="1050" b="0" i="0" u="none" strike="noStrike">
                        <a:solidFill>
                          <a:srgbClr val="000000"/>
                        </a:solidFill>
                        <a:effectLst/>
                        <a:latin typeface="+mj-lt"/>
                        <a:ea typeface="Lato Regular"/>
                        <a:cs typeface="Lato Regular"/>
                      </a:endParaRPr>
                    </a:p>
                  </a:txBody>
                  <a:tcPr marL="6350" marR="6350" marT="6350" marB="0" anchor="ctr"/>
                </a:tc>
                <a:tc>
                  <a:txBody>
                    <a:bodyPr/>
                    <a:lstStyle/>
                    <a:p>
                      <a:pPr lvl="0" algn="ctr">
                        <a:buNone/>
                      </a:pPr>
                      <a:r>
                        <a:rPr lang="en-IN" sz="1050" b="1" i="0" u="none" strike="noStrike">
                          <a:solidFill>
                            <a:srgbClr val="000000"/>
                          </a:solidFill>
                          <a:effectLst/>
                          <a:latin typeface="+mj-lt"/>
                        </a:rPr>
                        <a:t>0.11</a:t>
                      </a:r>
                      <a:endParaRPr lang="en-IN" sz="1050" b="0" i="0" u="none" strike="noStrike">
                        <a:solidFill>
                          <a:srgbClr val="000000"/>
                        </a:solidFill>
                        <a:effectLst/>
                        <a:latin typeface="+mj-lt"/>
                      </a:endParaRPr>
                    </a:p>
                  </a:txBody>
                  <a:tcPr marL="6350" marR="6350" marT="6350" marB="0" anchor="ctr"/>
                </a:tc>
                <a:tc>
                  <a:txBody>
                    <a:bodyPr/>
                    <a:lstStyle/>
                    <a:p>
                      <a:pPr lvl="0" algn="ctr">
                        <a:buNone/>
                      </a:pPr>
                      <a:r>
                        <a:rPr lang="en-IN" sz="1050" b="1" i="0" u="none" strike="noStrike">
                          <a:solidFill>
                            <a:srgbClr val="000000"/>
                          </a:solidFill>
                          <a:effectLst/>
                          <a:latin typeface="+mj-lt"/>
                        </a:rPr>
                        <a:t>0.03</a:t>
                      </a:r>
                      <a:endParaRPr lang="en-IN" sz="1050" b="0" i="0" u="none" strike="noStrike">
                        <a:solidFill>
                          <a:srgbClr val="000000"/>
                        </a:solidFill>
                        <a:effectLst/>
                        <a:latin typeface="+mj-lt"/>
                      </a:endParaRPr>
                    </a:p>
                  </a:txBody>
                  <a:tcPr marL="6350" marR="6350" marT="6350" marB="0" anchor="ctr"/>
                </a:tc>
                <a:tc>
                  <a:txBody>
                    <a:bodyPr/>
                    <a:lstStyle/>
                    <a:p>
                      <a:pPr lvl="0" algn="ctr">
                        <a:buNone/>
                      </a:pPr>
                      <a:r>
                        <a:rPr lang="en-IN" sz="1050" b="1" i="0" u="none" strike="noStrike">
                          <a:solidFill>
                            <a:srgbClr val="000000"/>
                          </a:solidFill>
                          <a:effectLst/>
                          <a:latin typeface="+mj-lt"/>
                        </a:rPr>
                        <a:t>0.05</a:t>
                      </a:r>
                      <a:endParaRPr lang="en-IN" sz="1050" b="0" i="0" u="none" strike="noStrike">
                        <a:solidFill>
                          <a:srgbClr val="000000"/>
                        </a:solidFill>
                        <a:effectLst/>
                        <a:latin typeface="+mj-lt"/>
                      </a:endParaRPr>
                    </a:p>
                  </a:txBody>
                  <a:tcPr marL="6350" marR="6350" marT="6350" marB="0" anchor="ctr"/>
                </a:tc>
                <a:extLst>
                  <a:ext uri="{0D108BD9-81ED-4DB2-BD59-A6C34878D82A}">
                    <a16:rowId xmlns:a16="http://schemas.microsoft.com/office/drawing/2014/main" val="930605583"/>
                  </a:ext>
                </a:extLst>
              </a:tr>
              <a:tr h="262575">
                <a:tc>
                  <a:txBody>
                    <a:bodyPr/>
                    <a:lstStyle/>
                    <a:p>
                      <a:pPr lvl="0" algn="l">
                        <a:buNone/>
                      </a:pPr>
                      <a:r>
                        <a:rPr lang="en-IN" sz="1050" b="0" i="0" u="none" strike="noStrike">
                          <a:solidFill>
                            <a:srgbClr val="000000"/>
                          </a:solidFill>
                          <a:effectLst/>
                          <a:latin typeface="+mj-lt"/>
                          <a:ea typeface="Lato Regular"/>
                          <a:cs typeface="Lato Regular"/>
                        </a:rPr>
                        <a:t>% Growth YoY</a:t>
                      </a:r>
                    </a:p>
                  </a:txBody>
                  <a:tcPr marL="144000" marR="0" marT="0" marB="0" anchor="ctr"/>
                </a:tc>
                <a:tc>
                  <a:txBody>
                    <a:bodyPr/>
                    <a:lstStyle/>
                    <a:p>
                      <a:pPr lvl="0" algn="ctr">
                        <a:buNone/>
                      </a:pPr>
                      <a:r>
                        <a:rPr lang="en-IN" sz="1050" b="0" i="0" u="none" strike="noStrike">
                          <a:solidFill>
                            <a:srgbClr val="000000"/>
                          </a:solidFill>
                          <a:effectLst/>
                          <a:latin typeface="+mj-lt"/>
                        </a:rPr>
                        <a:t>45.9%</a:t>
                      </a:r>
                    </a:p>
                  </a:txBody>
                  <a:tcPr marL="6350" marR="6350" marT="6350" marB="0" anchor="ctr"/>
                </a:tc>
                <a:tc>
                  <a:txBody>
                    <a:bodyPr/>
                    <a:lstStyle/>
                    <a:p>
                      <a:pPr lvl="0" algn="ctr">
                        <a:buNone/>
                      </a:pPr>
                      <a:r>
                        <a:rPr lang="en-IN" sz="1050" b="0" i="0" u="none" strike="noStrike">
                          <a:solidFill>
                            <a:srgbClr val="000000"/>
                          </a:solidFill>
                          <a:effectLst/>
                          <a:latin typeface="+mj-lt"/>
                        </a:rPr>
                        <a:t>30.0%</a:t>
                      </a:r>
                      <a:endParaRPr lang="en-IN" sz="1050" b="0" i="0" u="none" strike="noStrike">
                        <a:solidFill>
                          <a:srgbClr val="000000"/>
                        </a:solidFill>
                        <a:effectLst/>
                        <a:latin typeface="+mj-lt"/>
                        <a:ea typeface="Lato Regular"/>
                        <a:cs typeface="Lato Regular"/>
                      </a:endParaRPr>
                    </a:p>
                  </a:txBody>
                  <a:tcPr marL="6350" marR="6350" marT="6350" marB="0" anchor="ctr"/>
                </a:tc>
                <a:tc>
                  <a:txBody>
                    <a:bodyPr/>
                    <a:lstStyle/>
                    <a:p>
                      <a:pPr lvl="0" algn="ctr">
                        <a:buNone/>
                      </a:pPr>
                      <a:r>
                        <a:rPr lang="en-IN" sz="1050" b="0" i="0" u="none" strike="noStrike">
                          <a:solidFill>
                            <a:srgbClr val="000000"/>
                          </a:solidFill>
                          <a:effectLst/>
                          <a:latin typeface="+mj-lt"/>
                        </a:rPr>
                        <a:t>-5.6%</a:t>
                      </a:r>
                    </a:p>
                  </a:txBody>
                  <a:tcPr marL="6350" marR="6350" marT="6350" marB="0" anchor="ctr"/>
                </a:tc>
                <a:tc>
                  <a:txBody>
                    <a:bodyPr/>
                    <a:lstStyle/>
                    <a:p>
                      <a:pPr lvl="0" algn="ctr">
                        <a:buNone/>
                      </a:pPr>
                      <a:r>
                        <a:rPr lang="en-IN" sz="1050" b="0" i="0" u="none" strike="noStrike">
                          <a:solidFill>
                            <a:srgbClr val="000000"/>
                          </a:solidFill>
                          <a:effectLst/>
                          <a:latin typeface="+mj-lt"/>
                        </a:rPr>
                        <a:t>34.7%</a:t>
                      </a:r>
                    </a:p>
                  </a:txBody>
                  <a:tcPr marL="6350" marR="6350" marT="6350" marB="0" anchor="ctr"/>
                </a:tc>
                <a:tc>
                  <a:txBody>
                    <a:bodyPr/>
                    <a:lstStyle/>
                    <a:p>
                      <a:pPr lvl="0" algn="ctr">
                        <a:buNone/>
                      </a:pPr>
                      <a:r>
                        <a:rPr lang="en-IN" sz="1050" b="0" i="0" u="none" strike="noStrike">
                          <a:solidFill>
                            <a:srgbClr val="000000"/>
                          </a:solidFill>
                          <a:effectLst/>
                          <a:latin typeface="+mj-lt"/>
                        </a:rPr>
                        <a:t>85.4%</a:t>
                      </a:r>
                    </a:p>
                  </a:txBody>
                  <a:tcPr marL="6350" marR="6350" marT="6350" marB="0" anchor="ctr"/>
                </a:tc>
                <a:extLst>
                  <a:ext uri="{0D108BD9-81ED-4DB2-BD59-A6C34878D82A}">
                    <a16:rowId xmlns:a16="http://schemas.microsoft.com/office/drawing/2014/main" val="3872373918"/>
                  </a:ext>
                </a:extLst>
              </a:tr>
              <a:tr h="262574">
                <a:tc>
                  <a:txBody>
                    <a:bodyPr/>
                    <a:lstStyle/>
                    <a:p>
                      <a:pPr lvl="0" algn="l">
                        <a:buNone/>
                      </a:pPr>
                      <a:r>
                        <a:rPr lang="en-IN" sz="1050" b="1" i="0" u="none" strike="noStrike">
                          <a:solidFill>
                            <a:srgbClr val="000000"/>
                          </a:solidFill>
                          <a:effectLst/>
                          <a:latin typeface="+mj-lt"/>
                          <a:ea typeface="Lato Regular"/>
                          <a:cs typeface="Lato Regular"/>
                        </a:rPr>
                        <a:t>GWP (In Cr.)</a:t>
                      </a:r>
                      <a:endParaRPr lang="en-US" sz="1050" b="1">
                        <a:latin typeface="+mj-lt"/>
                      </a:endParaRPr>
                    </a:p>
                  </a:txBody>
                  <a:tcPr marL="144000" marR="0" marT="0" marB="0" anchor="ctr"/>
                </a:tc>
                <a:tc>
                  <a:txBody>
                    <a:bodyPr/>
                    <a:lstStyle/>
                    <a:p>
                      <a:pPr lvl="0" algn="ctr">
                        <a:buNone/>
                      </a:pPr>
                      <a:r>
                        <a:rPr lang="en-IN" sz="1050" b="1" i="0" u="none" strike="noStrike">
                          <a:solidFill>
                            <a:srgbClr val="000000"/>
                          </a:solidFill>
                          <a:effectLst/>
                          <a:latin typeface="+mj-lt"/>
                        </a:rPr>
                        <a:t>1558.0</a:t>
                      </a:r>
                      <a:endParaRPr lang="en-IN" sz="1050" b="0" i="0" u="none" strike="noStrike">
                        <a:solidFill>
                          <a:srgbClr val="000000"/>
                        </a:solidFill>
                        <a:effectLst/>
                        <a:latin typeface="+mj-lt"/>
                      </a:endParaRPr>
                    </a:p>
                  </a:txBody>
                  <a:tcPr marL="6350" marR="6350" marT="6350" marB="0" anchor="ctr"/>
                </a:tc>
                <a:tc>
                  <a:txBody>
                    <a:bodyPr/>
                    <a:lstStyle/>
                    <a:p>
                      <a:pPr lvl="0" algn="ctr">
                        <a:buNone/>
                      </a:pPr>
                      <a:r>
                        <a:rPr lang="en-IN" sz="1050" b="1" i="0" u="none" strike="noStrike">
                          <a:solidFill>
                            <a:srgbClr val="000000"/>
                          </a:solidFill>
                          <a:effectLst/>
                          <a:latin typeface="+mj-lt"/>
                        </a:rPr>
                        <a:t>1461.3</a:t>
                      </a:r>
                      <a:endParaRPr lang="en-IN" sz="1050" b="0" i="0" u="none" strike="noStrike">
                        <a:solidFill>
                          <a:srgbClr val="000000"/>
                        </a:solidFill>
                        <a:effectLst/>
                        <a:latin typeface="+mj-lt"/>
                        <a:ea typeface="Lato Regular"/>
                        <a:cs typeface="Lato Regular"/>
                      </a:endParaRPr>
                    </a:p>
                  </a:txBody>
                  <a:tcPr marL="6350" marR="6350" marT="6350" marB="0" anchor="ctr"/>
                </a:tc>
                <a:tc>
                  <a:txBody>
                    <a:bodyPr/>
                    <a:lstStyle/>
                    <a:p>
                      <a:pPr lvl="0" algn="ctr">
                        <a:buNone/>
                      </a:pPr>
                      <a:r>
                        <a:rPr lang="en-IN" sz="1050" b="1" i="0" u="none" strike="noStrike">
                          <a:solidFill>
                            <a:srgbClr val="000000"/>
                          </a:solidFill>
                          <a:effectLst/>
                          <a:latin typeface="+mj-lt"/>
                        </a:rPr>
                        <a:t>1897.5</a:t>
                      </a:r>
                      <a:endParaRPr lang="en-IN" sz="1050" b="0" i="0" u="none" strike="noStrike">
                        <a:solidFill>
                          <a:srgbClr val="000000"/>
                        </a:solidFill>
                        <a:effectLst/>
                        <a:latin typeface="+mj-lt"/>
                      </a:endParaRPr>
                    </a:p>
                  </a:txBody>
                  <a:tcPr marL="6350" marR="6350" marT="6350" marB="0" anchor="ctr"/>
                </a:tc>
                <a:tc>
                  <a:txBody>
                    <a:bodyPr/>
                    <a:lstStyle/>
                    <a:p>
                      <a:pPr lvl="0" algn="ctr">
                        <a:buNone/>
                      </a:pPr>
                      <a:r>
                        <a:rPr lang="en-IN" sz="1050" b="1" i="0" u="none" strike="noStrike">
                          <a:solidFill>
                            <a:srgbClr val="000000"/>
                          </a:solidFill>
                          <a:effectLst/>
                          <a:latin typeface="+mj-lt"/>
                        </a:rPr>
                        <a:t>525.3</a:t>
                      </a:r>
                      <a:endParaRPr lang="en-IN" sz="1050" b="0" i="0" u="none" strike="noStrike">
                        <a:solidFill>
                          <a:srgbClr val="000000"/>
                        </a:solidFill>
                        <a:effectLst/>
                        <a:latin typeface="+mj-lt"/>
                      </a:endParaRPr>
                    </a:p>
                  </a:txBody>
                  <a:tcPr marL="6350" marR="6350" marT="6350" marB="0" anchor="ctr"/>
                </a:tc>
                <a:tc>
                  <a:txBody>
                    <a:bodyPr/>
                    <a:lstStyle/>
                    <a:p>
                      <a:pPr lvl="0" algn="ctr">
                        <a:buNone/>
                      </a:pPr>
                      <a:r>
                        <a:rPr lang="en-IN" sz="1050" b="1" i="0" u="none" strike="noStrike">
                          <a:solidFill>
                            <a:srgbClr val="000000"/>
                          </a:solidFill>
                          <a:effectLst/>
                          <a:latin typeface="+mj-lt"/>
                        </a:rPr>
                        <a:t>839.1</a:t>
                      </a:r>
                      <a:endParaRPr lang="en-IN" sz="1050" b="0" i="0" u="none" strike="noStrike">
                        <a:solidFill>
                          <a:srgbClr val="000000"/>
                        </a:solidFill>
                        <a:effectLst/>
                        <a:latin typeface="+mj-lt"/>
                      </a:endParaRPr>
                    </a:p>
                  </a:txBody>
                  <a:tcPr marL="6350" marR="6350" marT="6350" marB="0" anchor="ctr"/>
                </a:tc>
                <a:extLst>
                  <a:ext uri="{0D108BD9-81ED-4DB2-BD59-A6C34878D82A}">
                    <a16:rowId xmlns:a16="http://schemas.microsoft.com/office/drawing/2014/main" val="3823220524"/>
                  </a:ext>
                </a:extLst>
              </a:tr>
              <a:tr h="293271">
                <a:tc>
                  <a:txBody>
                    <a:bodyPr/>
                    <a:lstStyle/>
                    <a:p>
                      <a:pPr lvl="0" algn="l">
                        <a:buNone/>
                      </a:pPr>
                      <a:r>
                        <a:rPr lang="en-IN" sz="1050" b="0" i="0" u="none" strike="noStrike">
                          <a:solidFill>
                            <a:srgbClr val="000000"/>
                          </a:solidFill>
                          <a:effectLst/>
                          <a:latin typeface="+mj-lt"/>
                          <a:ea typeface="Lato Regular"/>
                          <a:cs typeface="Lato Regular"/>
                        </a:rPr>
                        <a:t>% Growth YoY</a:t>
                      </a:r>
                    </a:p>
                  </a:txBody>
                  <a:tcPr marL="144000" marR="0" marT="0" marB="0" anchor="ctr"/>
                </a:tc>
                <a:tc>
                  <a:txBody>
                    <a:bodyPr/>
                    <a:lstStyle/>
                    <a:p>
                      <a:pPr lvl="0" algn="ctr">
                        <a:buNone/>
                      </a:pPr>
                      <a:r>
                        <a:rPr lang="en-IN" sz="1050" b="0" i="0" u="none" strike="noStrike">
                          <a:solidFill>
                            <a:srgbClr val="000000"/>
                          </a:solidFill>
                          <a:effectLst/>
                          <a:latin typeface="+mj-lt"/>
                        </a:rPr>
                        <a:t>69.8%</a:t>
                      </a:r>
                    </a:p>
                  </a:txBody>
                  <a:tcPr marL="6350" marR="6350" marT="6350" marB="0" anchor="ctr"/>
                </a:tc>
                <a:tc>
                  <a:txBody>
                    <a:bodyPr/>
                    <a:lstStyle/>
                    <a:p>
                      <a:pPr lvl="0" algn="ctr">
                        <a:buNone/>
                      </a:pPr>
                      <a:r>
                        <a:rPr lang="en-IN" sz="1050" b="0" i="0" u="none" strike="noStrike">
                          <a:solidFill>
                            <a:srgbClr val="000000"/>
                          </a:solidFill>
                          <a:effectLst/>
                          <a:latin typeface="+mj-lt"/>
                        </a:rPr>
                        <a:t>-6.2%</a:t>
                      </a:r>
                    </a:p>
                  </a:txBody>
                  <a:tcPr marL="6350" marR="6350" marT="6350" marB="0" anchor="ctr"/>
                </a:tc>
                <a:tc>
                  <a:txBody>
                    <a:bodyPr/>
                    <a:lstStyle/>
                    <a:p>
                      <a:pPr lvl="0" algn="ctr">
                        <a:buNone/>
                      </a:pPr>
                      <a:r>
                        <a:rPr lang="en-IN" sz="1050" b="0" i="0" u="none" strike="noStrike">
                          <a:solidFill>
                            <a:srgbClr val="000000"/>
                          </a:solidFill>
                          <a:effectLst/>
                          <a:latin typeface="+mj-lt"/>
                        </a:rPr>
                        <a:t>29.9%</a:t>
                      </a:r>
                    </a:p>
                  </a:txBody>
                  <a:tcPr marL="6350" marR="6350" marT="6350" marB="0" anchor="ctr"/>
                </a:tc>
                <a:tc>
                  <a:txBody>
                    <a:bodyPr/>
                    <a:lstStyle/>
                    <a:p>
                      <a:pPr lvl="0" algn="ctr">
                        <a:buNone/>
                      </a:pPr>
                      <a:r>
                        <a:rPr lang="en-IN" sz="1050" b="0" i="0" u="none" strike="noStrike">
                          <a:solidFill>
                            <a:srgbClr val="000000"/>
                          </a:solidFill>
                          <a:effectLst/>
                          <a:latin typeface="+mj-lt"/>
                        </a:rPr>
                        <a:t>-6.0%</a:t>
                      </a:r>
                    </a:p>
                  </a:txBody>
                  <a:tcPr marL="6350" marR="6350" marT="6350" marB="0" anchor="ctr"/>
                </a:tc>
                <a:tc>
                  <a:txBody>
                    <a:bodyPr/>
                    <a:lstStyle/>
                    <a:p>
                      <a:pPr lvl="0" algn="ctr">
                        <a:buNone/>
                      </a:pPr>
                      <a:r>
                        <a:rPr lang="en-IN" sz="1050" b="0" i="0" u="none" strike="noStrike">
                          <a:solidFill>
                            <a:srgbClr val="000000"/>
                          </a:solidFill>
                          <a:effectLst/>
                          <a:latin typeface="+mj-lt"/>
                        </a:rPr>
                        <a:t>59.7%</a:t>
                      </a:r>
                    </a:p>
                  </a:txBody>
                  <a:tcPr marL="6350" marR="6350" marT="6350" marB="0" anchor="ctr"/>
                </a:tc>
                <a:extLst>
                  <a:ext uri="{0D108BD9-81ED-4DB2-BD59-A6C34878D82A}">
                    <a16:rowId xmlns:a16="http://schemas.microsoft.com/office/drawing/2014/main" val="2159784742"/>
                  </a:ext>
                </a:extLst>
              </a:tr>
            </a:tbl>
          </a:graphicData>
        </a:graphic>
      </p:graphicFrame>
      <p:graphicFrame>
        <p:nvGraphicFramePr>
          <p:cNvPr id="15" name="Table 14">
            <a:extLst>
              <a:ext uri="{FF2B5EF4-FFF2-40B4-BE49-F238E27FC236}">
                <a16:creationId xmlns:a16="http://schemas.microsoft.com/office/drawing/2014/main" id="{5666FB91-B2BD-1457-331B-C23AF13AB4BD}"/>
              </a:ext>
            </a:extLst>
          </p:cNvPr>
          <p:cNvGraphicFramePr>
            <a:graphicFrameLocks noGrp="1"/>
          </p:cNvGraphicFramePr>
          <p:nvPr>
            <p:extLst>
              <p:ext uri="{D42A27DB-BD31-4B8C-83A1-F6EECF244321}">
                <p14:modId xmlns:p14="http://schemas.microsoft.com/office/powerpoint/2010/main" val="1229667139"/>
              </p:ext>
            </p:extLst>
          </p:nvPr>
        </p:nvGraphicFramePr>
        <p:xfrm>
          <a:off x="5539984" y="4144254"/>
          <a:ext cx="5842026" cy="2084312"/>
        </p:xfrm>
        <a:graphic>
          <a:graphicData uri="http://schemas.openxmlformats.org/drawingml/2006/table">
            <a:tbl>
              <a:tblPr firstRow="1" bandRow="1">
                <a:tableStyleId>{72833802-FEF1-4C79-8D5D-14CF1EAF98D9}</a:tableStyleId>
              </a:tblPr>
              <a:tblGrid>
                <a:gridCol w="1911076">
                  <a:extLst>
                    <a:ext uri="{9D8B030D-6E8A-4147-A177-3AD203B41FA5}">
                      <a16:colId xmlns:a16="http://schemas.microsoft.com/office/drawing/2014/main" val="3001066899"/>
                    </a:ext>
                  </a:extLst>
                </a:gridCol>
                <a:gridCol w="786190">
                  <a:extLst>
                    <a:ext uri="{9D8B030D-6E8A-4147-A177-3AD203B41FA5}">
                      <a16:colId xmlns:a16="http://schemas.microsoft.com/office/drawing/2014/main" val="700748351"/>
                    </a:ext>
                  </a:extLst>
                </a:gridCol>
                <a:gridCol w="786190">
                  <a:extLst>
                    <a:ext uri="{9D8B030D-6E8A-4147-A177-3AD203B41FA5}">
                      <a16:colId xmlns:a16="http://schemas.microsoft.com/office/drawing/2014/main" val="3274968397"/>
                    </a:ext>
                  </a:extLst>
                </a:gridCol>
                <a:gridCol w="786190">
                  <a:extLst>
                    <a:ext uri="{9D8B030D-6E8A-4147-A177-3AD203B41FA5}">
                      <a16:colId xmlns:a16="http://schemas.microsoft.com/office/drawing/2014/main" val="3623532732"/>
                    </a:ext>
                  </a:extLst>
                </a:gridCol>
                <a:gridCol w="786190">
                  <a:extLst>
                    <a:ext uri="{9D8B030D-6E8A-4147-A177-3AD203B41FA5}">
                      <a16:colId xmlns:a16="http://schemas.microsoft.com/office/drawing/2014/main" val="746035582"/>
                    </a:ext>
                  </a:extLst>
                </a:gridCol>
                <a:gridCol w="786190">
                  <a:extLst>
                    <a:ext uri="{9D8B030D-6E8A-4147-A177-3AD203B41FA5}">
                      <a16:colId xmlns:a16="http://schemas.microsoft.com/office/drawing/2014/main" val="3336224203"/>
                    </a:ext>
                  </a:extLst>
                </a:gridCol>
              </a:tblGrid>
              <a:tr h="255952">
                <a:tc>
                  <a:txBody>
                    <a:bodyPr/>
                    <a:lstStyle/>
                    <a:p>
                      <a:pPr lvl="0" algn="l">
                        <a:buNone/>
                      </a:pPr>
                      <a:r>
                        <a:rPr lang="en-US" sz="1050" b="1" u="none" strike="noStrike">
                          <a:solidFill>
                            <a:schemeClr val="bg1"/>
                          </a:solidFill>
                          <a:effectLst/>
                          <a:latin typeface="+mj-lt"/>
                          <a:ea typeface="Lato Regular"/>
                          <a:cs typeface="Lato Regular"/>
                        </a:rPr>
                        <a:t>INR Cr.</a:t>
                      </a:r>
                      <a:endParaRPr lang="en-US" sz="1050" b="1" i="0" u="none" strike="noStrike">
                        <a:solidFill>
                          <a:schemeClr val="bg1"/>
                        </a:solidFill>
                        <a:effectLst/>
                        <a:latin typeface="+mj-lt"/>
                        <a:ea typeface="Lato Regular"/>
                        <a:cs typeface="Lato Regular"/>
                      </a:endParaRPr>
                    </a:p>
                  </a:txBody>
                  <a:tcPr marL="108000" marR="6350" marT="6350" marB="0" anchor="ctr"/>
                </a:tc>
                <a:tc>
                  <a:txBody>
                    <a:bodyPr/>
                    <a:lstStyle/>
                    <a:p>
                      <a:pPr lvl="0" algn="ctr">
                        <a:buNone/>
                      </a:pPr>
                      <a:r>
                        <a:rPr lang="en-US" sz="1050" b="1" u="none" strike="noStrike">
                          <a:solidFill>
                            <a:schemeClr val="bg1"/>
                          </a:solidFill>
                          <a:effectLst/>
                          <a:latin typeface="+mj-lt"/>
                          <a:ea typeface="Lato Regular"/>
                          <a:cs typeface="Lato Regular"/>
                        </a:rPr>
                        <a:t>FY24</a:t>
                      </a:r>
                      <a:endParaRPr lang="en-US" sz="1050" b="1" i="0" u="none" strike="noStrike">
                        <a:solidFill>
                          <a:schemeClr val="bg1"/>
                        </a:solidFill>
                        <a:effectLst/>
                        <a:latin typeface="+mj-lt"/>
                        <a:ea typeface="Lato Regular"/>
                        <a:cs typeface="Lato Regular"/>
                      </a:endParaRPr>
                    </a:p>
                  </a:txBody>
                  <a:tcPr marL="6350" marR="6350" marT="6350" marB="0" anchor="ctr"/>
                </a:tc>
                <a:tc>
                  <a:txBody>
                    <a:bodyPr/>
                    <a:lstStyle/>
                    <a:p>
                      <a:pPr lvl="0" algn="ctr">
                        <a:buNone/>
                      </a:pPr>
                      <a:r>
                        <a:rPr lang="en-US" sz="1050" b="1" u="none" strike="noStrike">
                          <a:solidFill>
                            <a:schemeClr val="bg1"/>
                          </a:solidFill>
                          <a:effectLst/>
                          <a:latin typeface="+mj-lt"/>
                          <a:ea typeface="Lato Regular"/>
                          <a:cs typeface="Lato Regular"/>
                        </a:rPr>
                        <a:t>FY25</a:t>
                      </a:r>
                      <a:endParaRPr lang="en-US" sz="1050" b="1" i="0" u="none" strike="noStrike">
                        <a:solidFill>
                          <a:schemeClr val="bg1"/>
                        </a:solidFill>
                        <a:effectLst/>
                        <a:latin typeface="+mj-lt"/>
                        <a:ea typeface="Lato Regular"/>
                        <a:cs typeface="Lato Regular"/>
                      </a:endParaRPr>
                    </a:p>
                  </a:txBody>
                  <a:tcPr marL="6350" marR="6350" marT="6350" marB="0" anchor="ctr"/>
                </a:tc>
                <a:tc>
                  <a:txBody>
                    <a:bodyPr/>
                    <a:lstStyle/>
                    <a:p>
                      <a:pPr lvl="0" algn="ctr">
                        <a:buNone/>
                      </a:pPr>
                      <a:r>
                        <a:rPr lang="en-US" sz="1050" b="1" u="none" strike="noStrike">
                          <a:solidFill>
                            <a:schemeClr val="bg1"/>
                          </a:solidFill>
                          <a:effectLst/>
                          <a:latin typeface="+mj-lt"/>
                          <a:ea typeface="Lato Regular"/>
                          <a:cs typeface="Lato Regular"/>
                        </a:rPr>
                        <a:t>FY26</a:t>
                      </a:r>
                      <a:endParaRPr lang="en-US" sz="1050" b="1" i="0" u="none" strike="noStrike">
                        <a:solidFill>
                          <a:schemeClr val="bg1"/>
                        </a:solidFill>
                        <a:effectLst/>
                        <a:latin typeface="+mj-lt"/>
                        <a:ea typeface="Lato Regular"/>
                        <a:cs typeface="Lato Regular"/>
                      </a:endParaRPr>
                    </a:p>
                  </a:txBody>
                  <a:tcPr marL="6350" marR="6350" marT="6350" marB="0" anchor="ctr"/>
                </a:tc>
                <a:tc>
                  <a:txBody>
                    <a:bodyPr/>
                    <a:lstStyle/>
                    <a:p>
                      <a:pPr lvl="0" algn="ctr">
                        <a:buNone/>
                      </a:pPr>
                      <a:r>
                        <a:rPr lang="en-US" sz="1050" b="1" u="none" strike="noStrike">
                          <a:solidFill>
                            <a:schemeClr val="bg1"/>
                          </a:solidFill>
                          <a:effectLst/>
                          <a:latin typeface="+mj-lt"/>
                          <a:ea typeface="Lato Regular"/>
                          <a:cs typeface="Lato Regular"/>
                        </a:rPr>
                        <a:t>Q4FY25</a:t>
                      </a:r>
                      <a:endParaRPr lang="en-US" sz="1050" b="1" i="0" u="none" strike="noStrike">
                        <a:solidFill>
                          <a:schemeClr val="bg1"/>
                        </a:solidFill>
                        <a:effectLst/>
                        <a:latin typeface="+mj-lt"/>
                        <a:ea typeface="Lato Regular"/>
                        <a:cs typeface="Lato Regular"/>
                      </a:endParaRPr>
                    </a:p>
                  </a:txBody>
                  <a:tcPr marL="6350" marR="6350" marT="6350" marB="0" anchor="ctr"/>
                </a:tc>
                <a:tc>
                  <a:txBody>
                    <a:bodyPr/>
                    <a:lstStyle/>
                    <a:p>
                      <a:pPr lvl="0" algn="ctr">
                        <a:buNone/>
                      </a:pPr>
                      <a:r>
                        <a:rPr lang="en-US" sz="1050" b="1" u="none" strike="noStrike">
                          <a:solidFill>
                            <a:schemeClr val="bg1"/>
                          </a:solidFill>
                          <a:effectLst/>
                          <a:latin typeface="+mj-lt"/>
                          <a:ea typeface="Lato Regular"/>
                          <a:cs typeface="Lato Regular"/>
                        </a:rPr>
                        <a:t>Q4FY26</a:t>
                      </a:r>
                      <a:endParaRPr lang="en-US" sz="1050" b="1" i="0" u="none" strike="noStrike">
                        <a:solidFill>
                          <a:schemeClr val="bg1"/>
                        </a:solidFill>
                        <a:effectLst/>
                        <a:latin typeface="+mj-lt"/>
                        <a:ea typeface="Lato Regular"/>
                        <a:cs typeface="Lato Regular"/>
                      </a:endParaRPr>
                    </a:p>
                  </a:txBody>
                  <a:tcPr marL="6350" marR="6350" marT="6350" marB="0" anchor="ctr"/>
                </a:tc>
                <a:extLst>
                  <a:ext uri="{0D108BD9-81ED-4DB2-BD59-A6C34878D82A}">
                    <a16:rowId xmlns:a16="http://schemas.microsoft.com/office/drawing/2014/main" val="3735237806"/>
                  </a:ext>
                </a:extLst>
              </a:tr>
              <a:tr h="304727">
                <a:tc>
                  <a:txBody>
                    <a:bodyPr/>
                    <a:lstStyle/>
                    <a:p>
                      <a:pPr lvl="0" algn="l">
                        <a:buNone/>
                      </a:pPr>
                      <a:r>
                        <a:rPr lang="en-IN" sz="1050" b="1" i="0" u="none" strike="noStrike">
                          <a:solidFill>
                            <a:srgbClr val="000000"/>
                          </a:solidFill>
                          <a:effectLst/>
                          <a:latin typeface="+mj-lt"/>
                          <a:ea typeface="Lato Regular"/>
                          <a:cs typeface="Lato Regular"/>
                        </a:rPr>
                        <a:t>Net Revenue</a:t>
                      </a:r>
                    </a:p>
                  </a:txBody>
                  <a:tcPr marL="108000" marR="0" marT="0" marB="0" anchor="ctr"/>
                </a:tc>
                <a:tc>
                  <a:txBody>
                    <a:bodyPr/>
                    <a:lstStyle/>
                    <a:p>
                      <a:pPr lvl="0" algn="ctr">
                        <a:buNone/>
                      </a:pPr>
                      <a:r>
                        <a:rPr lang="en-IN" sz="1050" b="1" i="0" u="none" strike="noStrike">
                          <a:solidFill>
                            <a:srgbClr val="000000"/>
                          </a:solidFill>
                          <a:effectLst/>
                          <a:latin typeface="+mj-lt"/>
                        </a:rPr>
                        <a:t>12.3</a:t>
                      </a:r>
                    </a:p>
                  </a:txBody>
                  <a:tcPr marL="6350" marR="6350" marT="6350" marB="0" anchor="ctr"/>
                </a:tc>
                <a:tc>
                  <a:txBody>
                    <a:bodyPr/>
                    <a:lstStyle/>
                    <a:p>
                      <a:pPr lvl="0" algn="ctr">
                        <a:buNone/>
                      </a:pPr>
                      <a:r>
                        <a:rPr lang="en-IN" sz="1050" b="1" i="0" u="none" strike="noStrike">
                          <a:solidFill>
                            <a:srgbClr val="000000"/>
                          </a:solidFill>
                          <a:effectLst/>
                          <a:latin typeface="+mj-lt"/>
                        </a:rPr>
                        <a:t>15.2</a:t>
                      </a:r>
                      <a:endParaRPr lang="en-US"/>
                    </a:p>
                  </a:txBody>
                  <a:tcPr marL="6350" marR="6350" marT="6350" marB="0" anchor="ctr"/>
                </a:tc>
                <a:tc>
                  <a:txBody>
                    <a:bodyPr/>
                    <a:lstStyle/>
                    <a:p>
                      <a:pPr lvl="0" algn="ctr">
                        <a:buNone/>
                      </a:pPr>
                      <a:r>
                        <a:rPr lang="en-IN" sz="1050" b="1" i="0" u="none" strike="noStrike">
                          <a:solidFill>
                            <a:srgbClr val="000000"/>
                          </a:solidFill>
                          <a:effectLst/>
                          <a:latin typeface="+mj-lt"/>
                        </a:rPr>
                        <a:t>17.4</a:t>
                      </a:r>
                      <a:endParaRPr lang="en-US"/>
                    </a:p>
                  </a:txBody>
                  <a:tcPr marL="6350" marR="6350" marT="6350" marB="0" anchor="ctr"/>
                </a:tc>
                <a:tc>
                  <a:txBody>
                    <a:bodyPr/>
                    <a:lstStyle/>
                    <a:p>
                      <a:pPr lvl="0" algn="ctr">
                        <a:buNone/>
                      </a:pPr>
                      <a:r>
                        <a:rPr lang="en-IN" sz="1050" b="1" i="0" u="none" strike="noStrike">
                          <a:solidFill>
                            <a:srgbClr val="000000"/>
                          </a:solidFill>
                          <a:effectLst/>
                          <a:latin typeface="+mj-lt"/>
                        </a:rPr>
                        <a:t>3.2</a:t>
                      </a:r>
                    </a:p>
                  </a:txBody>
                  <a:tcPr marL="6350" marR="6350" marT="6350" marB="0" anchor="ctr"/>
                </a:tc>
                <a:tc>
                  <a:txBody>
                    <a:bodyPr/>
                    <a:lstStyle/>
                    <a:p>
                      <a:pPr lvl="0" algn="ctr">
                        <a:buNone/>
                      </a:pPr>
                      <a:r>
                        <a:rPr lang="en-IN" sz="1050" b="1" i="0" u="none" strike="noStrike">
                          <a:solidFill>
                            <a:srgbClr val="000000"/>
                          </a:solidFill>
                          <a:effectLst/>
                          <a:latin typeface="+mj-lt"/>
                        </a:rPr>
                        <a:t>5.3</a:t>
                      </a:r>
                    </a:p>
                  </a:txBody>
                  <a:tcPr marL="6350" marR="6350" marT="6350" marB="0" anchor="ctr"/>
                </a:tc>
                <a:extLst>
                  <a:ext uri="{0D108BD9-81ED-4DB2-BD59-A6C34878D82A}">
                    <a16:rowId xmlns:a16="http://schemas.microsoft.com/office/drawing/2014/main" val="2159784742"/>
                  </a:ext>
                </a:extLst>
              </a:tr>
              <a:tr h="304727">
                <a:tc>
                  <a:txBody>
                    <a:bodyPr/>
                    <a:lstStyle/>
                    <a:p>
                      <a:pPr lvl="0" algn="l">
                        <a:buNone/>
                      </a:pPr>
                      <a:r>
                        <a:rPr lang="en-IN" sz="1050" b="0" i="0" u="none" strike="noStrike">
                          <a:solidFill>
                            <a:srgbClr val="000000"/>
                          </a:solidFill>
                          <a:effectLst/>
                          <a:latin typeface="+mj-lt"/>
                          <a:ea typeface="Lato Regular"/>
                          <a:cs typeface="Lato Regular"/>
                        </a:rPr>
                        <a:t>% Growth YoY</a:t>
                      </a:r>
                    </a:p>
                  </a:txBody>
                  <a:tcPr marL="108000" marR="0" marT="0" marB="0" anchor="ctr"/>
                </a:tc>
                <a:tc>
                  <a:txBody>
                    <a:bodyPr/>
                    <a:lstStyle/>
                    <a:p>
                      <a:pPr lvl="0" algn="ctr">
                        <a:buNone/>
                      </a:pPr>
                      <a:r>
                        <a:rPr lang="en-IN" sz="1050" b="0" i="0" u="none" strike="noStrike">
                          <a:solidFill>
                            <a:srgbClr val="000000"/>
                          </a:solidFill>
                          <a:effectLst/>
                          <a:latin typeface="+mj-lt"/>
                        </a:rPr>
                        <a:t>59.4%</a:t>
                      </a:r>
                    </a:p>
                  </a:txBody>
                  <a:tcPr marL="6350" marR="6350" marT="6350" marB="0" anchor="ctr"/>
                </a:tc>
                <a:tc>
                  <a:txBody>
                    <a:bodyPr/>
                    <a:lstStyle/>
                    <a:p>
                      <a:pPr lvl="0" algn="ctr">
                        <a:buNone/>
                      </a:pPr>
                      <a:r>
                        <a:rPr lang="en-IN" sz="1050" b="0" i="0" u="none" strike="noStrike">
                          <a:solidFill>
                            <a:srgbClr val="000000"/>
                          </a:solidFill>
                          <a:effectLst/>
                          <a:latin typeface="+mj-lt"/>
                        </a:rPr>
                        <a:t>23.6%</a:t>
                      </a:r>
                    </a:p>
                  </a:txBody>
                  <a:tcPr marL="6350" marR="6350" marT="6350" marB="0" anchor="ctr"/>
                </a:tc>
                <a:tc>
                  <a:txBody>
                    <a:bodyPr/>
                    <a:lstStyle/>
                    <a:p>
                      <a:pPr lvl="0" algn="ctr">
                        <a:buNone/>
                      </a:pPr>
                      <a:r>
                        <a:rPr lang="en-IN" sz="1050" b="0" i="0" u="none" strike="noStrike">
                          <a:solidFill>
                            <a:srgbClr val="000000"/>
                          </a:solidFill>
                          <a:effectLst/>
                          <a:latin typeface="+mj-lt"/>
                        </a:rPr>
                        <a:t>14.0%</a:t>
                      </a:r>
                    </a:p>
                  </a:txBody>
                  <a:tcPr marL="6350" marR="6350" marT="6350" marB="0" anchor="ctr"/>
                </a:tc>
                <a:tc>
                  <a:txBody>
                    <a:bodyPr/>
                    <a:lstStyle/>
                    <a:p>
                      <a:pPr lvl="0" algn="ctr">
                        <a:buNone/>
                      </a:pPr>
                      <a:r>
                        <a:rPr lang="en-IN" sz="1050" b="0" i="0" u="none" strike="noStrike">
                          <a:solidFill>
                            <a:srgbClr val="000000"/>
                          </a:solidFill>
                          <a:effectLst/>
                          <a:latin typeface="+mj-lt"/>
                        </a:rPr>
                        <a:t>-22.6%</a:t>
                      </a:r>
                    </a:p>
                  </a:txBody>
                  <a:tcPr marL="6350" marR="6350" marT="6350" marB="0" anchor="ctr"/>
                </a:tc>
                <a:tc>
                  <a:txBody>
                    <a:bodyPr/>
                    <a:lstStyle/>
                    <a:p>
                      <a:pPr lvl="0" algn="ctr">
                        <a:buNone/>
                      </a:pPr>
                      <a:r>
                        <a:rPr lang="en-IN" sz="1050" b="0" i="0" u="none" strike="noStrike">
                          <a:solidFill>
                            <a:srgbClr val="000000"/>
                          </a:solidFill>
                          <a:effectLst/>
                          <a:latin typeface="+mj-lt"/>
                        </a:rPr>
                        <a:t>68.0%</a:t>
                      </a:r>
                    </a:p>
                  </a:txBody>
                  <a:tcPr marL="6350" marR="6350" marT="6350" marB="0" anchor="ctr"/>
                </a:tc>
                <a:extLst>
                  <a:ext uri="{0D108BD9-81ED-4DB2-BD59-A6C34878D82A}">
                    <a16:rowId xmlns:a16="http://schemas.microsoft.com/office/drawing/2014/main" val="2809398452"/>
                  </a:ext>
                </a:extLst>
              </a:tr>
              <a:tr h="304727">
                <a:tc>
                  <a:txBody>
                    <a:bodyPr/>
                    <a:lstStyle/>
                    <a:p>
                      <a:pPr lvl="0" algn="l">
                        <a:buNone/>
                      </a:pPr>
                      <a:r>
                        <a:rPr lang="en-IN" sz="1050" b="1" i="0" u="none" strike="noStrike">
                          <a:solidFill>
                            <a:srgbClr val="000000"/>
                          </a:solidFill>
                          <a:effectLst/>
                          <a:latin typeface="+mj-lt"/>
                          <a:ea typeface="Lato Regular"/>
                          <a:cs typeface="Lato Regular"/>
                        </a:rPr>
                        <a:t>Gross Profit</a:t>
                      </a:r>
                    </a:p>
                  </a:txBody>
                  <a:tcPr marL="108000" marR="0" marT="0" marB="0" anchor="ctr"/>
                </a:tc>
                <a:tc>
                  <a:txBody>
                    <a:bodyPr/>
                    <a:lstStyle/>
                    <a:p>
                      <a:pPr lvl="0" algn="ctr">
                        <a:buNone/>
                      </a:pPr>
                      <a:r>
                        <a:rPr lang="en-IN" sz="1050" b="1" i="0" u="none" strike="noStrike">
                          <a:solidFill>
                            <a:srgbClr val="000000"/>
                          </a:solidFill>
                          <a:effectLst/>
                          <a:latin typeface="+mj-lt"/>
                        </a:rPr>
                        <a:t>10.9</a:t>
                      </a:r>
                    </a:p>
                  </a:txBody>
                  <a:tcPr marL="6350" marR="6350" marT="6350" marB="0" anchor="ctr"/>
                </a:tc>
                <a:tc>
                  <a:txBody>
                    <a:bodyPr/>
                    <a:lstStyle/>
                    <a:p>
                      <a:pPr lvl="0" algn="ctr">
                        <a:buNone/>
                      </a:pPr>
                      <a:r>
                        <a:rPr lang="en-IN" sz="1050" b="1" i="0" u="none" strike="noStrike">
                          <a:solidFill>
                            <a:srgbClr val="000000"/>
                          </a:solidFill>
                          <a:effectLst/>
                          <a:latin typeface="+mj-lt"/>
                        </a:rPr>
                        <a:t>13.4</a:t>
                      </a:r>
                      <a:endParaRPr lang="en-US"/>
                    </a:p>
                  </a:txBody>
                  <a:tcPr marL="6350" marR="6350" marT="6350" marB="0" anchor="ctr"/>
                </a:tc>
                <a:tc>
                  <a:txBody>
                    <a:bodyPr/>
                    <a:lstStyle/>
                    <a:p>
                      <a:pPr lvl="0" algn="ctr">
                        <a:buNone/>
                      </a:pPr>
                      <a:r>
                        <a:rPr lang="en-IN" sz="1050" b="1" i="0" u="none" strike="noStrike">
                          <a:solidFill>
                            <a:srgbClr val="000000"/>
                          </a:solidFill>
                          <a:effectLst/>
                          <a:latin typeface="+mj-lt"/>
                        </a:rPr>
                        <a:t>15.3</a:t>
                      </a:r>
                      <a:endParaRPr lang="en-US"/>
                    </a:p>
                  </a:txBody>
                  <a:tcPr marL="6350" marR="6350" marT="6350" marB="0" anchor="ctr"/>
                </a:tc>
                <a:tc>
                  <a:txBody>
                    <a:bodyPr/>
                    <a:lstStyle/>
                    <a:p>
                      <a:pPr lvl="0" algn="ctr">
                        <a:buNone/>
                      </a:pPr>
                      <a:r>
                        <a:rPr lang="en-IN" sz="1050" b="1" i="0" u="none" strike="noStrike">
                          <a:solidFill>
                            <a:srgbClr val="000000"/>
                          </a:solidFill>
                          <a:effectLst/>
                          <a:latin typeface="+mj-lt"/>
                        </a:rPr>
                        <a:t>2.7</a:t>
                      </a:r>
                    </a:p>
                  </a:txBody>
                  <a:tcPr marL="6350" marR="6350" marT="6350" marB="0" anchor="ctr"/>
                </a:tc>
                <a:tc>
                  <a:txBody>
                    <a:bodyPr/>
                    <a:lstStyle/>
                    <a:p>
                      <a:pPr lvl="0" algn="ctr">
                        <a:buNone/>
                      </a:pPr>
                      <a:r>
                        <a:rPr lang="en-IN" sz="1050" b="1" i="0" u="none" strike="noStrike">
                          <a:solidFill>
                            <a:srgbClr val="000000"/>
                          </a:solidFill>
                          <a:effectLst/>
                          <a:latin typeface="+mj-lt"/>
                        </a:rPr>
                        <a:t>4.8</a:t>
                      </a:r>
                    </a:p>
                  </a:txBody>
                  <a:tcPr marL="6350" marR="6350" marT="6350" marB="0" anchor="ctr"/>
                </a:tc>
                <a:extLst>
                  <a:ext uri="{0D108BD9-81ED-4DB2-BD59-A6C34878D82A}">
                    <a16:rowId xmlns:a16="http://schemas.microsoft.com/office/drawing/2014/main" val="4076501595"/>
                  </a:ext>
                </a:extLst>
              </a:tr>
              <a:tr h="304727">
                <a:tc>
                  <a:txBody>
                    <a:bodyPr/>
                    <a:lstStyle/>
                    <a:p>
                      <a:pPr lvl="0" algn="l">
                        <a:buNone/>
                      </a:pPr>
                      <a:r>
                        <a:rPr lang="en-IN" sz="1050" b="0" i="0" u="none" strike="noStrike">
                          <a:solidFill>
                            <a:srgbClr val="000000"/>
                          </a:solidFill>
                          <a:effectLst/>
                          <a:latin typeface="+mj-lt"/>
                          <a:ea typeface="Lato Regular"/>
                          <a:cs typeface="Lato Regular"/>
                        </a:rPr>
                        <a:t>% Gross Margin</a:t>
                      </a:r>
                    </a:p>
                  </a:txBody>
                  <a:tcPr marL="108000" marR="0" marT="0" marB="0" anchor="ctr"/>
                </a:tc>
                <a:tc>
                  <a:txBody>
                    <a:bodyPr/>
                    <a:lstStyle/>
                    <a:p>
                      <a:pPr lvl="0" algn="ctr">
                        <a:buNone/>
                      </a:pPr>
                      <a:r>
                        <a:rPr lang="en-IN" sz="1050" b="0" i="0" u="none" strike="noStrike">
                          <a:solidFill>
                            <a:srgbClr val="000000"/>
                          </a:solidFill>
                          <a:effectLst/>
                          <a:latin typeface="+mj-lt"/>
                        </a:rPr>
                        <a:t>88.7%</a:t>
                      </a:r>
                    </a:p>
                  </a:txBody>
                  <a:tcPr marL="6350" marR="6350" marT="6350" marB="0" anchor="ctr"/>
                </a:tc>
                <a:tc>
                  <a:txBody>
                    <a:bodyPr/>
                    <a:lstStyle/>
                    <a:p>
                      <a:pPr lvl="0" algn="ctr">
                        <a:buNone/>
                      </a:pPr>
                      <a:r>
                        <a:rPr lang="en-IN" sz="1050" b="0" i="0" u="none" strike="noStrike">
                          <a:solidFill>
                            <a:srgbClr val="000000"/>
                          </a:solidFill>
                          <a:effectLst/>
                          <a:latin typeface="+mj-lt"/>
                        </a:rPr>
                        <a:t>87.6%</a:t>
                      </a:r>
                    </a:p>
                  </a:txBody>
                  <a:tcPr marL="6350" marR="6350" marT="6350" marB="0" anchor="ctr"/>
                </a:tc>
                <a:tc>
                  <a:txBody>
                    <a:bodyPr/>
                    <a:lstStyle/>
                    <a:p>
                      <a:pPr lvl="0" algn="ctr">
                        <a:buNone/>
                      </a:pPr>
                      <a:r>
                        <a:rPr lang="en-IN" sz="1050" b="0" i="0" u="none" strike="noStrike">
                          <a:solidFill>
                            <a:srgbClr val="000000"/>
                          </a:solidFill>
                          <a:effectLst/>
                          <a:latin typeface="+mj-lt"/>
                        </a:rPr>
                        <a:t>87.9%</a:t>
                      </a:r>
                    </a:p>
                  </a:txBody>
                  <a:tcPr marL="6350" marR="6350" marT="6350" marB="0" anchor="ctr"/>
                </a:tc>
                <a:tc>
                  <a:txBody>
                    <a:bodyPr/>
                    <a:lstStyle/>
                    <a:p>
                      <a:pPr lvl="0" algn="ctr">
                        <a:buNone/>
                      </a:pPr>
                      <a:r>
                        <a:rPr lang="en-IN" sz="1050" b="0" i="0" u="none" strike="noStrike">
                          <a:solidFill>
                            <a:srgbClr val="000000"/>
                          </a:solidFill>
                          <a:effectLst/>
                          <a:latin typeface="+mj-lt"/>
                        </a:rPr>
                        <a:t>85.4%</a:t>
                      </a:r>
                    </a:p>
                  </a:txBody>
                  <a:tcPr marL="6350" marR="6350" marT="6350" marB="0" anchor="ctr"/>
                </a:tc>
                <a:tc>
                  <a:txBody>
                    <a:bodyPr/>
                    <a:lstStyle/>
                    <a:p>
                      <a:pPr lvl="0" algn="ctr">
                        <a:buNone/>
                      </a:pPr>
                      <a:r>
                        <a:rPr lang="en-IN" sz="1050" b="0" i="0" u="none" strike="noStrike">
                          <a:solidFill>
                            <a:srgbClr val="000000"/>
                          </a:solidFill>
                          <a:effectLst/>
                          <a:latin typeface="+mj-lt"/>
                        </a:rPr>
                        <a:t>89.5%</a:t>
                      </a:r>
                    </a:p>
                  </a:txBody>
                  <a:tcPr marL="6350" marR="6350" marT="6350" marB="0" anchor="ctr"/>
                </a:tc>
                <a:extLst>
                  <a:ext uri="{0D108BD9-81ED-4DB2-BD59-A6C34878D82A}">
                    <a16:rowId xmlns:a16="http://schemas.microsoft.com/office/drawing/2014/main" val="3179895044"/>
                  </a:ext>
                </a:extLst>
              </a:tr>
              <a:tr h="304726">
                <a:tc>
                  <a:txBody>
                    <a:bodyPr/>
                    <a:lstStyle/>
                    <a:p>
                      <a:pPr lvl="0" algn="l">
                        <a:buNone/>
                      </a:pPr>
                      <a:r>
                        <a:rPr lang="en-IN" sz="1050" b="1" i="0" u="none" strike="noStrike">
                          <a:solidFill>
                            <a:srgbClr val="000000"/>
                          </a:solidFill>
                          <a:effectLst/>
                          <a:latin typeface="+mj-lt"/>
                          <a:ea typeface="Lato Regular"/>
                          <a:cs typeface="Lato Regular"/>
                        </a:rPr>
                        <a:t>EBITDA</a:t>
                      </a:r>
                      <a:endParaRPr lang="en-US"/>
                    </a:p>
                  </a:txBody>
                  <a:tcPr marL="108000" marR="0" marT="0" marB="0" anchor="ctr"/>
                </a:tc>
                <a:tc>
                  <a:txBody>
                    <a:bodyPr/>
                    <a:lstStyle/>
                    <a:p>
                      <a:pPr lvl="0" algn="ctr">
                        <a:buNone/>
                      </a:pPr>
                      <a:r>
                        <a:rPr lang="en-IN" sz="1050" b="1" i="0" u="none" strike="noStrike">
                          <a:solidFill>
                            <a:srgbClr val="000000"/>
                          </a:solidFill>
                          <a:effectLst/>
                          <a:latin typeface="+mj-lt"/>
                        </a:rPr>
                        <a:t>-18.5</a:t>
                      </a:r>
                      <a:endParaRPr lang="en-US"/>
                    </a:p>
                  </a:txBody>
                  <a:tcPr marL="6350" marR="6350" marT="6350" marB="0" anchor="ctr"/>
                </a:tc>
                <a:tc>
                  <a:txBody>
                    <a:bodyPr/>
                    <a:lstStyle/>
                    <a:p>
                      <a:pPr lvl="0" algn="ctr">
                        <a:buNone/>
                      </a:pPr>
                      <a:r>
                        <a:rPr lang="en-IN" sz="1050" b="1" i="0" u="none" strike="noStrike">
                          <a:solidFill>
                            <a:srgbClr val="000000"/>
                          </a:solidFill>
                          <a:effectLst/>
                          <a:latin typeface="+mj-lt"/>
                        </a:rPr>
                        <a:t>-15.8</a:t>
                      </a:r>
                      <a:endParaRPr lang="en-US"/>
                    </a:p>
                  </a:txBody>
                  <a:tcPr marL="6350" marR="6350" marT="6350" marB="0" anchor="ctr"/>
                </a:tc>
                <a:tc>
                  <a:txBody>
                    <a:bodyPr/>
                    <a:lstStyle/>
                    <a:p>
                      <a:pPr lvl="0" algn="ctr">
                        <a:buNone/>
                      </a:pPr>
                      <a:r>
                        <a:rPr lang="en-IN" sz="1050" b="1" i="0" u="none" strike="noStrike">
                          <a:solidFill>
                            <a:srgbClr val="000000"/>
                          </a:solidFill>
                          <a:effectLst/>
                          <a:latin typeface="+mj-lt"/>
                        </a:rPr>
                        <a:t>-13.7</a:t>
                      </a:r>
                      <a:endParaRPr lang="en-US"/>
                    </a:p>
                  </a:txBody>
                  <a:tcPr marL="6350" marR="6350" marT="6350" marB="0" anchor="ctr"/>
                </a:tc>
                <a:tc>
                  <a:txBody>
                    <a:bodyPr/>
                    <a:lstStyle/>
                    <a:p>
                      <a:pPr lvl="0" algn="ctr">
                        <a:buNone/>
                      </a:pPr>
                      <a:r>
                        <a:rPr lang="en-IN" sz="1050" b="1" i="0" u="none" strike="noStrike">
                          <a:solidFill>
                            <a:srgbClr val="000000"/>
                          </a:solidFill>
                          <a:effectLst/>
                          <a:latin typeface="+mj-lt"/>
                        </a:rPr>
                        <a:t>-4.2</a:t>
                      </a:r>
                      <a:endParaRPr lang="en-US"/>
                    </a:p>
                  </a:txBody>
                  <a:tcPr marL="6350" marR="6350" marT="6350" marB="0" anchor="ctr"/>
                </a:tc>
                <a:tc>
                  <a:txBody>
                    <a:bodyPr/>
                    <a:lstStyle/>
                    <a:p>
                      <a:pPr lvl="0" algn="ctr">
                        <a:buNone/>
                      </a:pPr>
                      <a:r>
                        <a:rPr lang="en-IN" sz="1050" b="1" i="0" u="none" strike="noStrike">
                          <a:solidFill>
                            <a:srgbClr val="000000"/>
                          </a:solidFill>
                          <a:effectLst/>
                          <a:latin typeface="+mj-lt"/>
                        </a:rPr>
                        <a:t>-2.2</a:t>
                      </a:r>
                      <a:endParaRPr lang="en-US"/>
                    </a:p>
                  </a:txBody>
                  <a:tcPr marL="6350" marR="6350" marT="6350" marB="0" anchor="ctr"/>
                </a:tc>
                <a:extLst>
                  <a:ext uri="{0D108BD9-81ED-4DB2-BD59-A6C34878D82A}">
                    <a16:rowId xmlns:a16="http://schemas.microsoft.com/office/drawing/2014/main" val="2004498521"/>
                  </a:ext>
                </a:extLst>
              </a:tr>
              <a:tr h="304726">
                <a:tc>
                  <a:txBody>
                    <a:bodyPr/>
                    <a:lstStyle/>
                    <a:p>
                      <a:pPr lvl="0" algn="l">
                        <a:buNone/>
                      </a:pPr>
                      <a:r>
                        <a:rPr lang="en-IN" sz="1050" b="0" i="0" u="none" strike="noStrike">
                          <a:solidFill>
                            <a:srgbClr val="000000"/>
                          </a:solidFill>
                          <a:effectLst/>
                          <a:latin typeface="+mj-lt"/>
                          <a:ea typeface="Lato Regular"/>
                          <a:cs typeface="Lato Regular"/>
                        </a:rPr>
                        <a:t>% EBITDA</a:t>
                      </a:r>
                      <a:endParaRPr lang="en-US"/>
                    </a:p>
                  </a:txBody>
                  <a:tcPr marL="108000" marR="0" marT="0" marB="0" anchor="ctr"/>
                </a:tc>
                <a:tc>
                  <a:txBody>
                    <a:bodyPr/>
                    <a:lstStyle/>
                    <a:p>
                      <a:pPr lvl="0" algn="ctr">
                        <a:buNone/>
                      </a:pPr>
                      <a:r>
                        <a:rPr lang="en-IN" sz="1050" b="0" i="0" u="none" strike="noStrike">
                          <a:solidFill>
                            <a:srgbClr val="000000"/>
                          </a:solidFill>
                          <a:effectLst/>
                          <a:latin typeface="+mj-lt"/>
                        </a:rPr>
                        <a:t>-150.5%</a:t>
                      </a:r>
                      <a:endParaRPr lang="en-US"/>
                    </a:p>
                  </a:txBody>
                  <a:tcPr marL="6350" marR="6350" marT="6350" marB="0" anchor="ctr"/>
                </a:tc>
                <a:tc>
                  <a:txBody>
                    <a:bodyPr/>
                    <a:lstStyle/>
                    <a:p>
                      <a:pPr lvl="0" algn="ctr">
                        <a:buNone/>
                      </a:pPr>
                      <a:r>
                        <a:rPr lang="en-IN" sz="1050" b="0" i="0" u="none" strike="noStrike">
                          <a:solidFill>
                            <a:srgbClr val="000000"/>
                          </a:solidFill>
                          <a:effectLst/>
                          <a:latin typeface="+mj-lt"/>
                        </a:rPr>
                        <a:t>-103.4%</a:t>
                      </a:r>
                      <a:endParaRPr lang="en-US"/>
                    </a:p>
                  </a:txBody>
                  <a:tcPr marL="6350" marR="6350" marT="6350" marB="0" anchor="ctr"/>
                </a:tc>
                <a:tc>
                  <a:txBody>
                    <a:bodyPr/>
                    <a:lstStyle/>
                    <a:p>
                      <a:pPr lvl="0" algn="ctr">
                        <a:buNone/>
                      </a:pPr>
                      <a:r>
                        <a:rPr lang="en-IN" sz="1050" b="0" i="0" u="none" strike="noStrike">
                          <a:solidFill>
                            <a:srgbClr val="000000"/>
                          </a:solidFill>
                          <a:effectLst/>
                          <a:latin typeface="+mj-lt"/>
                        </a:rPr>
                        <a:t>-78.6%</a:t>
                      </a:r>
                      <a:endParaRPr lang="en-US"/>
                    </a:p>
                  </a:txBody>
                  <a:tcPr marL="6350" marR="6350" marT="6350" marB="0" anchor="ctr"/>
                </a:tc>
                <a:tc>
                  <a:txBody>
                    <a:bodyPr/>
                    <a:lstStyle/>
                    <a:p>
                      <a:pPr lvl="0" algn="ctr">
                        <a:buNone/>
                      </a:pPr>
                      <a:r>
                        <a:rPr lang="en-IN" sz="1050" b="0" i="0" u="none" strike="noStrike">
                          <a:solidFill>
                            <a:srgbClr val="000000"/>
                          </a:solidFill>
                          <a:effectLst/>
                          <a:latin typeface="+mj-lt"/>
                        </a:rPr>
                        <a:t>-133.2%</a:t>
                      </a:r>
                      <a:endParaRPr lang="en-US"/>
                    </a:p>
                  </a:txBody>
                  <a:tcPr marL="6350" marR="6350" marT="6350" marB="0" anchor="ctr"/>
                </a:tc>
                <a:tc>
                  <a:txBody>
                    <a:bodyPr/>
                    <a:lstStyle/>
                    <a:p>
                      <a:pPr lvl="0" algn="ctr">
                        <a:buNone/>
                      </a:pPr>
                      <a:r>
                        <a:rPr lang="en-IN" sz="1050" b="0" i="0" u="none" strike="noStrike">
                          <a:solidFill>
                            <a:srgbClr val="000000"/>
                          </a:solidFill>
                          <a:effectLst/>
                          <a:latin typeface="+mj-lt"/>
                        </a:rPr>
                        <a:t>-40.2%</a:t>
                      </a:r>
                      <a:endParaRPr lang="en-US"/>
                    </a:p>
                  </a:txBody>
                  <a:tcPr marL="6350" marR="6350" marT="6350" marB="0" anchor="ctr"/>
                </a:tc>
                <a:extLst>
                  <a:ext uri="{0D108BD9-81ED-4DB2-BD59-A6C34878D82A}">
                    <a16:rowId xmlns:a16="http://schemas.microsoft.com/office/drawing/2014/main" val="1521717812"/>
                  </a:ext>
                </a:extLst>
              </a:tr>
            </a:tbl>
          </a:graphicData>
        </a:graphic>
      </p:graphicFrame>
      <p:pic>
        <p:nvPicPr>
          <p:cNvPr id="16" name="Picture 15" descr="Fintech">
            <a:extLst>
              <a:ext uri="{FF2B5EF4-FFF2-40B4-BE49-F238E27FC236}">
                <a16:creationId xmlns:a16="http://schemas.microsoft.com/office/drawing/2014/main" id="{A438D611-2996-3D30-EBF5-2EFF0D31811D}"/>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4679999" y="570876"/>
            <a:ext cx="1831235" cy="285367"/>
          </a:xfrm>
          <a:prstGeom prst="rect">
            <a:avLst/>
          </a:prstGeom>
          <a:noFill/>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201F006C-6BB2-53BD-94C0-E8221863A629}"/>
              </a:ext>
            </a:extLst>
          </p:cNvPr>
          <p:cNvSpPr>
            <a:spLocks noGrp="1"/>
          </p:cNvSpPr>
          <p:nvPr>
            <p:ph type="title"/>
          </p:nvPr>
        </p:nvSpPr>
        <p:spPr>
          <a:xfrm>
            <a:off x="371556" y="525420"/>
            <a:ext cx="8262481" cy="334515"/>
          </a:xfrm>
        </p:spPr>
        <p:txBody>
          <a:bodyPr/>
          <a:lstStyle/>
          <a:p>
            <a:r>
              <a:rPr lang="en-US"/>
              <a:t>UMBO ID Tech Pvt Ltd  </a:t>
            </a:r>
            <a:r>
              <a:rPr lang="en-US" err="1"/>
              <a:t>Riskcovry</a:t>
            </a:r>
          </a:p>
        </p:txBody>
      </p:sp>
    </p:spTree>
    <p:extLst>
      <p:ext uri="{BB962C8B-B14F-4D97-AF65-F5344CB8AC3E}">
        <p14:creationId xmlns:p14="http://schemas.microsoft.com/office/powerpoint/2010/main" val="2659552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7D7A1-CB54-A78F-45FE-E0380D6B17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0C0B6F-BD98-0FC2-2965-DB7EFF7F6400}"/>
              </a:ext>
            </a:extLst>
          </p:cNvPr>
          <p:cNvSpPr>
            <a:spLocks noGrp="1"/>
          </p:cNvSpPr>
          <p:nvPr>
            <p:ph type="title"/>
          </p:nvPr>
        </p:nvSpPr>
        <p:spPr>
          <a:xfrm>
            <a:off x="371556" y="525420"/>
            <a:ext cx="8262481" cy="334515"/>
          </a:xfrm>
        </p:spPr>
        <p:txBody>
          <a:bodyPr/>
          <a:lstStyle/>
          <a:p>
            <a:r>
              <a:rPr lang="en-US" err="1"/>
              <a:t>Ncome</a:t>
            </a:r>
            <a:r>
              <a:rPr lang="en-US"/>
              <a:t> Tech Solutions Private Limited- </a:t>
            </a:r>
            <a:r>
              <a:rPr lang="en-US" err="1"/>
              <a:t>Castler</a:t>
            </a:r>
            <a:endParaRPr lang="en-US"/>
          </a:p>
        </p:txBody>
      </p:sp>
      <p:sp>
        <p:nvSpPr>
          <p:cNvPr id="3" name="TextBox 2">
            <a:extLst>
              <a:ext uri="{FF2B5EF4-FFF2-40B4-BE49-F238E27FC236}">
                <a16:creationId xmlns:a16="http://schemas.microsoft.com/office/drawing/2014/main" id="{18DA330E-CF41-0E27-A674-2D8984E66198}"/>
              </a:ext>
            </a:extLst>
          </p:cNvPr>
          <p:cNvSpPr txBox="1"/>
          <p:nvPr/>
        </p:nvSpPr>
        <p:spPr>
          <a:xfrm>
            <a:off x="499141" y="1387387"/>
            <a:ext cx="3450246" cy="320216"/>
          </a:xfrm>
          <a:prstGeom prst="rect">
            <a:avLst/>
          </a:prstGeom>
          <a:noFill/>
        </p:spPr>
        <p:txBody>
          <a:bodyPr wrap="square" rtlCol="0">
            <a:spAutoFit/>
          </a:bodyPr>
          <a:lstStyle/>
          <a:p>
            <a:r>
              <a:rPr lang="en-IN" sz="1481" b="1">
                <a:solidFill>
                  <a:schemeClr val="tx2"/>
                </a:solidFill>
                <a:ea typeface="Lato Regular" panose="020F0502020204030203" pitchFamily="34" charset="0"/>
                <a:cs typeface="Lato Regular" panose="020F0502020204030203" pitchFamily="34" charset="0"/>
              </a:rPr>
              <a:t>Business Description</a:t>
            </a:r>
          </a:p>
        </p:txBody>
      </p:sp>
      <p:sp>
        <p:nvSpPr>
          <p:cNvPr id="4" name="TextBox 3">
            <a:extLst>
              <a:ext uri="{FF2B5EF4-FFF2-40B4-BE49-F238E27FC236}">
                <a16:creationId xmlns:a16="http://schemas.microsoft.com/office/drawing/2014/main" id="{CA0886B2-5CB1-6024-51EF-07BA08CACE3F}"/>
              </a:ext>
            </a:extLst>
          </p:cNvPr>
          <p:cNvSpPr txBox="1"/>
          <p:nvPr/>
        </p:nvSpPr>
        <p:spPr>
          <a:xfrm>
            <a:off x="499141" y="3805112"/>
            <a:ext cx="3450246" cy="320216"/>
          </a:xfrm>
          <a:prstGeom prst="rect">
            <a:avLst/>
          </a:prstGeom>
          <a:noFill/>
        </p:spPr>
        <p:txBody>
          <a:bodyPr wrap="square" rtlCol="0">
            <a:spAutoFit/>
          </a:bodyPr>
          <a:lstStyle/>
          <a:p>
            <a:r>
              <a:rPr lang="en-IN" sz="1481" b="1">
                <a:solidFill>
                  <a:schemeClr val="tx2"/>
                </a:solidFill>
                <a:ea typeface="Lato Regular" panose="020F0502020204030203" pitchFamily="34" charset="0"/>
                <a:cs typeface="Lato Regular" panose="020F0502020204030203" pitchFamily="34" charset="0"/>
              </a:rPr>
              <a:t>Performance Commentary</a:t>
            </a:r>
          </a:p>
        </p:txBody>
      </p:sp>
      <p:sp>
        <p:nvSpPr>
          <p:cNvPr id="5" name="TextBox 4">
            <a:extLst>
              <a:ext uri="{FF2B5EF4-FFF2-40B4-BE49-F238E27FC236}">
                <a16:creationId xmlns:a16="http://schemas.microsoft.com/office/drawing/2014/main" id="{72905697-9369-544F-F615-99FD563ECCAC}"/>
              </a:ext>
            </a:extLst>
          </p:cNvPr>
          <p:cNvSpPr txBox="1"/>
          <p:nvPr/>
        </p:nvSpPr>
        <p:spPr>
          <a:xfrm>
            <a:off x="5539984" y="3805112"/>
            <a:ext cx="3450246" cy="227883"/>
          </a:xfrm>
          <a:prstGeom prst="rect">
            <a:avLst/>
          </a:prstGeom>
          <a:noFill/>
        </p:spPr>
        <p:txBody>
          <a:bodyPr wrap="square" lIns="0" tIns="0" rIns="0" bIns="0" rtlCol="0">
            <a:spAutoFit/>
          </a:bodyPr>
          <a:lstStyle/>
          <a:p>
            <a:r>
              <a:rPr lang="en-IN" sz="1481" b="1">
                <a:solidFill>
                  <a:schemeClr val="tx2"/>
                </a:solidFill>
                <a:ea typeface="Lato Regular" panose="020F0502020204030203" pitchFamily="34" charset="0"/>
                <a:cs typeface="Lato Regular" panose="020F0502020204030203" pitchFamily="34" charset="0"/>
              </a:rPr>
              <a:t>Key Financial Highlights</a:t>
            </a:r>
          </a:p>
        </p:txBody>
      </p:sp>
      <p:sp>
        <p:nvSpPr>
          <p:cNvPr id="6" name="Rectangle 5">
            <a:extLst>
              <a:ext uri="{FF2B5EF4-FFF2-40B4-BE49-F238E27FC236}">
                <a16:creationId xmlns:a16="http://schemas.microsoft.com/office/drawing/2014/main" id="{97BF71EE-EFC1-E0C1-558F-E0EFAB40774B}"/>
              </a:ext>
            </a:extLst>
          </p:cNvPr>
          <p:cNvSpPr/>
          <p:nvPr/>
        </p:nvSpPr>
        <p:spPr>
          <a:xfrm>
            <a:off x="562116" y="1815136"/>
            <a:ext cx="4195514" cy="2369880"/>
          </a:xfrm>
          <a:prstGeom prst="rect">
            <a:avLst/>
          </a:prstGeom>
        </p:spPr>
        <p:txBody>
          <a:bodyPr wrap="square" lIns="0" tIns="0" rIns="0" bIns="0">
            <a:spAutoFit/>
          </a:bodyPr>
          <a:lstStyle/>
          <a:p>
            <a:pPr marL="171450" indent="-171450" algn="just">
              <a:spcAft>
                <a:spcPts val="600"/>
              </a:spcAft>
              <a:buFont typeface="Arial" panose="020B0604020202020204" pitchFamily="34" charset="0"/>
              <a:buChar char="•"/>
            </a:pPr>
            <a:r>
              <a:rPr lang="en-US" sz="1200" err="1">
                <a:solidFill>
                  <a:schemeClr val="bg2">
                    <a:lumMod val="10000"/>
                  </a:schemeClr>
                </a:solidFill>
                <a:ea typeface="Calibri"/>
                <a:cs typeface="Calibri"/>
                <a:sym typeface="Calibri"/>
              </a:rPr>
              <a:t>Castler</a:t>
            </a:r>
            <a:r>
              <a:rPr lang="en-US" sz="1200">
                <a:solidFill>
                  <a:schemeClr val="bg2">
                    <a:lumMod val="10000"/>
                  </a:schemeClr>
                </a:solidFill>
                <a:ea typeface="Calibri"/>
                <a:cs typeface="Calibri"/>
                <a:sym typeface="Calibri"/>
              </a:rPr>
              <a:t> operates a dual‑engine escrow platform, providing </a:t>
            </a:r>
            <a:r>
              <a:rPr lang="en-US" sz="1200" b="1">
                <a:solidFill>
                  <a:schemeClr val="bg2">
                    <a:lumMod val="10000"/>
                  </a:schemeClr>
                </a:solidFill>
                <a:ea typeface="Calibri"/>
                <a:cs typeface="Calibri"/>
                <a:sym typeface="Calibri"/>
              </a:rPr>
              <a:t>Money Escrow services </a:t>
            </a:r>
            <a:r>
              <a:rPr lang="en-US" sz="1200">
                <a:solidFill>
                  <a:schemeClr val="bg2">
                    <a:lumMod val="10000"/>
                  </a:schemeClr>
                </a:solidFill>
                <a:ea typeface="Calibri"/>
                <a:cs typeface="Calibri"/>
                <a:sym typeface="Calibri"/>
              </a:rPr>
              <a:t>for compliant, asset‑linked transactions and a global </a:t>
            </a:r>
            <a:r>
              <a:rPr lang="en-US" sz="1200" b="1">
                <a:solidFill>
                  <a:schemeClr val="bg2">
                    <a:lumMod val="10000"/>
                  </a:schemeClr>
                </a:solidFill>
                <a:ea typeface="Calibri"/>
                <a:cs typeface="Calibri"/>
                <a:sym typeface="Calibri"/>
              </a:rPr>
              <a:t>Software Escrow platform </a:t>
            </a:r>
            <a:r>
              <a:rPr lang="en-US" sz="1200">
                <a:solidFill>
                  <a:schemeClr val="bg2">
                    <a:lumMod val="10000"/>
                  </a:schemeClr>
                </a:solidFill>
                <a:ea typeface="Calibri"/>
                <a:cs typeface="Calibri"/>
                <a:sym typeface="Calibri"/>
              </a:rPr>
              <a:t>(</a:t>
            </a:r>
            <a:r>
              <a:rPr lang="en-US" sz="1200" err="1">
                <a:solidFill>
                  <a:schemeClr val="bg2">
                    <a:lumMod val="10000"/>
                  </a:schemeClr>
                </a:solidFill>
                <a:ea typeface="Calibri"/>
                <a:cs typeface="Calibri"/>
                <a:sym typeface="Calibri"/>
              </a:rPr>
              <a:t>CastlerCode</a:t>
            </a:r>
            <a:r>
              <a:rPr lang="en-US" sz="1200">
                <a:solidFill>
                  <a:schemeClr val="bg2">
                    <a:lumMod val="10000"/>
                  </a:schemeClr>
                </a:solidFill>
                <a:ea typeface="Calibri"/>
                <a:cs typeface="Calibri"/>
                <a:sym typeface="Calibri"/>
              </a:rPr>
              <a:t>) that safeguards critical software and digital assets.</a:t>
            </a:r>
          </a:p>
          <a:p>
            <a:pPr marL="171450" indent="-171450" algn="just">
              <a:spcAft>
                <a:spcPts val="600"/>
              </a:spcAft>
              <a:buFont typeface="Arial" panose="020B0604020202020204" pitchFamily="34" charset="0"/>
              <a:buChar char="•"/>
            </a:pPr>
            <a:r>
              <a:rPr lang="en-US" sz="1200" err="1">
                <a:solidFill>
                  <a:schemeClr val="bg2">
                    <a:lumMod val="10000"/>
                  </a:schemeClr>
                </a:solidFill>
                <a:ea typeface="Calibri"/>
                <a:cs typeface="Calibri"/>
                <a:sym typeface="Calibri"/>
              </a:rPr>
              <a:t>Castler</a:t>
            </a:r>
            <a:r>
              <a:rPr lang="en-US" sz="1200">
                <a:solidFill>
                  <a:schemeClr val="bg2">
                    <a:lumMod val="10000"/>
                  </a:schemeClr>
                </a:solidFill>
                <a:ea typeface="Calibri"/>
                <a:cs typeface="Calibri"/>
                <a:sym typeface="Calibri"/>
              </a:rPr>
              <a:t> just launched another product- SBOM analysis which helps organization </a:t>
            </a:r>
            <a:r>
              <a:rPr lang="en-GB" sz="1200">
                <a:solidFill>
                  <a:schemeClr val="bg2">
                    <a:lumMod val="10000"/>
                  </a:schemeClr>
                </a:solidFill>
                <a:ea typeface="Calibri"/>
                <a:cs typeface="Calibri"/>
                <a:sym typeface="Calibri"/>
              </a:rPr>
              <a:t>identify all the software components used in an application so risks and vulnerabilities can be easily understood and managed.</a:t>
            </a:r>
            <a:endParaRPr lang="en-US" sz="1200">
              <a:solidFill>
                <a:schemeClr val="bg2">
                  <a:lumMod val="10000"/>
                </a:schemeClr>
              </a:solidFill>
              <a:ea typeface="Calibri"/>
              <a:cs typeface="Calibri"/>
              <a:sym typeface="Calibri"/>
            </a:endParaRPr>
          </a:p>
          <a:p>
            <a:pPr marL="171450" indent="-171450" algn="just">
              <a:spcAft>
                <a:spcPts val="600"/>
              </a:spcAft>
              <a:buFont typeface="Arial" panose="020B0604020202020204" pitchFamily="34" charset="0"/>
              <a:buChar char="•"/>
            </a:pPr>
            <a:endParaRPr lang="en-US" sz="1200">
              <a:solidFill>
                <a:schemeClr val="bg2">
                  <a:lumMod val="10000"/>
                </a:schemeClr>
              </a:solidFill>
              <a:ea typeface="Calibri"/>
              <a:cs typeface="Calibri"/>
              <a:sym typeface="Calibri"/>
            </a:endParaRPr>
          </a:p>
        </p:txBody>
      </p:sp>
      <p:sp>
        <p:nvSpPr>
          <p:cNvPr id="7" name="TextBox 6">
            <a:extLst>
              <a:ext uri="{FF2B5EF4-FFF2-40B4-BE49-F238E27FC236}">
                <a16:creationId xmlns:a16="http://schemas.microsoft.com/office/drawing/2014/main" id="{67D37E45-0BA9-5036-2908-6CAC6E4F5BDA}"/>
              </a:ext>
            </a:extLst>
          </p:cNvPr>
          <p:cNvSpPr txBox="1"/>
          <p:nvPr/>
        </p:nvSpPr>
        <p:spPr>
          <a:xfrm>
            <a:off x="473741" y="4063420"/>
            <a:ext cx="4408262" cy="2723823"/>
          </a:xfrm>
          <a:prstGeom prst="rect">
            <a:avLst/>
          </a:prstGeom>
          <a:noFill/>
        </p:spPr>
        <p:txBody>
          <a:bodyPr wrap="square" lIns="91440" tIns="45720" rIns="91440" bIns="45720" rtlCol="0" anchor="t">
            <a:spAutoFit/>
          </a:bodyPr>
          <a:lstStyle/>
          <a:p>
            <a:pPr marL="171450" indent="-171450" algn="just">
              <a:spcAft>
                <a:spcPts val="600"/>
              </a:spcAft>
              <a:buFont typeface="Arial" panose="020B0604020202020204" pitchFamily="34" charset="0"/>
              <a:buChar char="•"/>
            </a:pPr>
            <a:r>
              <a:rPr lang="en-GB" sz="1200">
                <a:solidFill>
                  <a:schemeClr val="bg2">
                    <a:lumMod val="10000"/>
                  </a:schemeClr>
                </a:solidFill>
                <a:ea typeface="Calibri"/>
                <a:cs typeface="Calibri"/>
              </a:rPr>
              <a:t>The storm in the portfolio. Q4 revenue turned negative at -₹0.9 Cr as the company absorbed the RMG shutdown, discontinuation of TSP-led payout flows, and closure of the master escrow model. </a:t>
            </a:r>
            <a:endParaRPr lang="en-US" sz="1200">
              <a:solidFill>
                <a:schemeClr val="bg2">
                  <a:lumMod val="10000"/>
                </a:schemeClr>
              </a:solidFill>
              <a:ea typeface="Calibri"/>
              <a:cs typeface="Calibri"/>
            </a:endParaRPr>
          </a:p>
          <a:p>
            <a:pPr marL="171450" indent="-171450" algn="just">
              <a:spcAft>
                <a:spcPts val="600"/>
              </a:spcAft>
              <a:buFont typeface="Arial" panose="020B0604020202020204" pitchFamily="34" charset="0"/>
              <a:buChar char="•"/>
            </a:pPr>
            <a:r>
              <a:rPr lang="en-GB" sz="1200">
                <a:solidFill>
                  <a:schemeClr val="bg2">
                    <a:lumMod val="10000"/>
                  </a:schemeClr>
                </a:solidFill>
                <a:ea typeface="Calibri"/>
                <a:cs typeface="Calibri"/>
              </a:rPr>
              <a:t>EBITDA loss: -₹14.2 Cr for the year. This is industry-wide structural turbulence, not </a:t>
            </a:r>
            <a:r>
              <a:rPr lang="en-GB" sz="1200" err="1">
                <a:solidFill>
                  <a:schemeClr val="bg2">
                    <a:lumMod val="10000"/>
                  </a:schemeClr>
                </a:solidFill>
                <a:ea typeface="Calibri"/>
                <a:cs typeface="Calibri"/>
              </a:rPr>
              <a:t>Castler</a:t>
            </a:r>
            <a:r>
              <a:rPr lang="en-GB" sz="1200">
                <a:solidFill>
                  <a:schemeClr val="bg2">
                    <a:lumMod val="10000"/>
                  </a:schemeClr>
                </a:solidFill>
                <a:ea typeface="Calibri"/>
                <a:cs typeface="Calibri"/>
              </a:rPr>
              <a:t>-specific execution. The company is recalibrating its product mix and operating model to align with the new regulatory contours.</a:t>
            </a:r>
            <a:endParaRPr lang="en-US" sz="1200">
              <a:solidFill>
                <a:schemeClr val="bg2">
                  <a:lumMod val="10000"/>
                </a:schemeClr>
              </a:solidFill>
              <a:ea typeface="Calibri"/>
              <a:cs typeface="Calibri"/>
            </a:endParaRPr>
          </a:p>
          <a:p>
            <a:pPr marL="171450" indent="-171450" algn="just">
              <a:spcAft>
                <a:spcPts val="600"/>
              </a:spcAft>
              <a:buFont typeface="Arial" panose="020B0604020202020204" pitchFamily="34" charset="0"/>
              <a:buChar char="•"/>
            </a:pPr>
            <a:r>
              <a:rPr lang="en-GB" sz="1200">
                <a:solidFill>
                  <a:schemeClr val="bg2">
                    <a:lumMod val="10000"/>
                  </a:schemeClr>
                </a:solidFill>
                <a:ea typeface="Calibri"/>
                <a:cs typeface="Calibri"/>
              </a:rPr>
              <a:t>Marks is fond of saying that the riskiest moment to invest is when everyone agrees there is no risk. The corollary: the most interesting moment to underwrite a survivor is in the year their sector is rewritten. We are watching closely.</a:t>
            </a:r>
          </a:p>
          <a:p>
            <a:pPr marL="171450" indent="-171450" algn="just">
              <a:spcAft>
                <a:spcPts val="600"/>
              </a:spcAft>
              <a:buFont typeface="Arial" panose="020B0604020202020204" pitchFamily="34" charset="0"/>
              <a:buChar char="•"/>
            </a:pPr>
            <a:endParaRPr lang="en-GB" sz="1200">
              <a:solidFill>
                <a:schemeClr val="bg2">
                  <a:lumMod val="10000"/>
                </a:schemeClr>
              </a:solidFill>
              <a:ea typeface="Lato Regular"/>
              <a:cs typeface="Lato Regular"/>
            </a:endParaRPr>
          </a:p>
        </p:txBody>
      </p:sp>
      <p:cxnSp>
        <p:nvCxnSpPr>
          <p:cNvPr id="10" name="Straight Connector 9">
            <a:extLst>
              <a:ext uri="{FF2B5EF4-FFF2-40B4-BE49-F238E27FC236}">
                <a16:creationId xmlns:a16="http://schemas.microsoft.com/office/drawing/2014/main" id="{174B2AAD-91EC-BE14-2565-514D20C68A84}"/>
              </a:ext>
            </a:extLst>
          </p:cNvPr>
          <p:cNvCxnSpPr>
            <a:cxnSpLocks/>
          </p:cNvCxnSpPr>
          <p:nvPr/>
        </p:nvCxnSpPr>
        <p:spPr>
          <a:xfrm>
            <a:off x="6189126" y="536026"/>
            <a:ext cx="0" cy="320217"/>
          </a:xfrm>
          <a:prstGeom prst="line">
            <a:avLst/>
          </a:prstGeom>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6199CB0-0EC3-150A-E22A-022D2DE9B3BA}"/>
              </a:ext>
            </a:extLst>
          </p:cNvPr>
          <p:cNvSpPr txBox="1"/>
          <p:nvPr/>
        </p:nvSpPr>
        <p:spPr>
          <a:xfrm>
            <a:off x="5539984" y="1433554"/>
            <a:ext cx="3607078" cy="227883"/>
          </a:xfrm>
          <a:prstGeom prst="rect">
            <a:avLst/>
          </a:prstGeom>
          <a:noFill/>
        </p:spPr>
        <p:txBody>
          <a:bodyPr wrap="square" lIns="0" tIns="0" rIns="0" bIns="0" rtlCol="0">
            <a:spAutoFit/>
          </a:bodyPr>
          <a:lstStyle/>
          <a:p>
            <a:r>
              <a:rPr lang="en-IN" sz="1481" b="1">
                <a:solidFill>
                  <a:schemeClr val="tx2"/>
                </a:solidFill>
                <a:ea typeface="Lato Regular" panose="020F0502020204030203" pitchFamily="34" charset="0"/>
                <a:cs typeface="Lato Regular" panose="020F0502020204030203" pitchFamily="34" charset="0"/>
              </a:rPr>
              <a:t>Key Performance Indicators</a:t>
            </a:r>
          </a:p>
        </p:txBody>
      </p:sp>
      <p:pic>
        <p:nvPicPr>
          <p:cNvPr id="9" name="Picture 2" descr="Castler | Escrow Banking &amp; Payments Infrastructure">
            <a:extLst>
              <a:ext uri="{FF2B5EF4-FFF2-40B4-BE49-F238E27FC236}">
                <a16:creationId xmlns:a16="http://schemas.microsoft.com/office/drawing/2014/main" id="{F92324F0-B7EA-648F-3E72-F85A3590B9F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2557" b="31978"/>
          <a:stretch>
            <a:fillRect/>
          </a:stretch>
        </p:blipFill>
        <p:spPr bwMode="auto">
          <a:xfrm>
            <a:off x="6293160" y="320409"/>
            <a:ext cx="1435497" cy="50909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Table 13">
            <a:extLst>
              <a:ext uri="{FF2B5EF4-FFF2-40B4-BE49-F238E27FC236}">
                <a16:creationId xmlns:a16="http://schemas.microsoft.com/office/drawing/2014/main" id="{D4F4763D-7F3F-6D0D-FF99-31F5770C6A8A}"/>
              </a:ext>
            </a:extLst>
          </p:cNvPr>
          <p:cNvGraphicFramePr>
            <a:graphicFrameLocks noGrp="1"/>
          </p:cNvGraphicFramePr>
          <p:nvPr>
            <p:extLst>
              <p:ext uri="{D42A27DB-BD31-4B8C-83A1-F6EECF244321}">
                <p14:modId xmlns:p14="http://schemas.microsoft.com/office/powerpoint/2010/main" val="527127609"/>
              </p:ext>
            </p:extLst>
          </p:nvPr>
        </p:nvGraphicFramePr>
        <p:xfrm>
          <a:off x="5539984" y="1840227"/>
          <a:ext cx="5833725" cy="1500096"/>
        </p:xfrm>
        <a:graphic>
          <a:graphicData uri="http://schemas.openxmlformats.org/drawingml/2006/table">
            <a:tbl>
              <a:tblPr firstRow="1" bandRow="1">
                <a:tableStyleId>{69012ECD-51FC-41F1-AA8D-1B2483CD663E}</a:tableStyleId>
              </a:tblPr>
              <a:tblGrid>
                <a:gridCol w="2032635">
                  <a:extLst>
                    <a:ext uri="{9D8B030D-6E8A-4147-A177-3AD203B41FA5}">
                      <a16:colId xmlns:a16="http://schemas.microsoft.com/office/drawing/2014/main" val="3001066899"/>
                    </a:ext>
                  </a:extLst>
                </a:gridCol>
                <a:gridCol w="911806">
                  <a:extLst>
                    <a:ext uri="{9D8B030D-6E8A-4147-A177-3AD203B41FA5}">
                      <a16:colId xmlns:a16="http://schemas.microsoft.com/office/drawing/2014/main" val="700748351"/>
                    </a:ext>
                  </a:extLst>
                </a:gridCol>
                <a:gridCol w="722321">
                  <a:extLst>
                    <a:ext uri="{9D8B030D-6E8A-4147-A177-3AD203B41FA5}">
                      <a16:colId xmlns:a16="http://schemas.microsoft.com/office/drawing/2014/main" val="3274968397"/>
                    </a:ext>
                  </a:extLst>
                </a:gridCol>
                <a:gridCol w="722321">
                  <a:extLst>
                    <a:ext uri="{9D8B030D-6E8A-4147-A177-3AD203B41FA5}">
                      <a16:colId xmlns:a16="http://schemas.microsoft.com/office/drawing/2014/main" val="3623532732"/>
                    </a:ext>
                  </a:extLst>
                </a:gridCol>
                <a:gridCol w="722321">
                  <a:extLst>
                    <a:ext uri="{9D8B030D-6E8A-4147-A177-3AD203B41FA5}">
                      <a16:colId xmlns:a16="http://schemas.microsoft.com/office/drawing/2014/main" val="746035582"/>
                    </a:ext>
                  </a:extLst>
                </a:gridCol>
                <a:gridCol w="722321">
                  <a:extLst>
                    <a:ext uri="{9D8B030D-6E8A-4147-A177-3AD203B41FA5}">
                      <a16:colId xmlns:a16="http://schemas.microsoft.com/office/drawing/2014/main" val="2799431461"/>
                    </a:ext>
                  </a:extLst>
                </a:gridCol>
              </a:tblGrid>
              <a:tr h="262575">
                <a:tc>
                  <a:txBody>
                    <a:bodyPr/>
                    <a:lstStyle/>
                    <a:p>
                      <a:pPr algn="l" rtl="0" fontAlgn="base"/>
                      <a:r>
                        <a:rPr lang="en-US" sz="1050" b="1" i="0" u="none" strike="noStrike">
                          <a:solidFill>
                            <a:srgbClr val="FFFFFF"/>
                          </a:solidFill>
                          <a:effectLst/>
                          <a:latin typeface="Aptos" panose="02110004020202020204"/>
                        </a:rPr>
                        <a:t>KPIs</a:t>
                      </a:r>
                      <a:r>
                        <a:rPr lang="en-US" sz="1050" b="1" i="0">
                          <a:solidFill>
                            <a:srgbClr val="FFFFFF"/>
                          </a:solidFill>
                          <a:effectLst/>
                          <a:latin typeface="Aptos" panose="02110004020202020204"/>
                        </a:rPr>
                        <a:t>​</a:t>
                      </a:r>
                      <a:endParaRPr lang="en-US" b="1" i="0">
                        <a:solidFill>
                          <a:srgbClr val="FFFFFF"/>
                        </a:solidFill>
                        <a:effectLst/>
                      </a:endParaRPr>
                    </a:p>
                  </a:txBody>
                  <a:tcPr anchor="ctr"/>
                </a:tc>
                <a:tc>
                  <a:txBody>
                    <a:bodyPr/>
                    <a:lstStyle/>
                    <a:p>
                      <a:pPr algn="ctr" rtl="0" fontAlgn="base"/>
                      <a:r>
                        <a:rPr lang="en-US" sz="1050" b="1" i="0">
                          <a:solidFill>
                            <a:srgbClr val="FFFFFF"/>
                          </a:solidFill>
                          <a:effectLst/>
                        </a:rPr>
                        <a:t>FY24</a:t>
                      </a:r>
                    </a:p>
                  </a:txBody>
                  <a:tcPr anchor="ctr"/>
                </a:tc>
                <a:tc>
                  <a:txBody>
                    <a:bodyPr/>
                    <a:lstStyle/>
                    <a:p>
                      <a:pPr algn="ctr" rtl="0" fontAlgn="base"/>
                      <a:r>
                        <a:rPr lang="en-US" sz="1050" b="1" i="0" u="none" strike="noStrike">
                          <a:solidFill>
                            <a:srgbClr val="FFFFFF"/>
                          </a:solidFill>
                          <a:effectLst/>
                          <a:latin typeface="Aptos" panose="02110004020202020204"/>
                        </a:rPr>
                        <a:t>FY25</a:t>
                      </a:r>
                      <a:r>
                        <a:rPr lang="en-US" sz="1050" b="1" i="0">
                          <a:solidFill>
                            <a:srgbClr val="FFFFFF"/>
                          </a:solidFill>
                          <a:effectLst/>
                          <a:latin typeface="Aptos" panose="02110004020202020204"/>
                        </a:rPr>
                        <a:t>​</a:t>
                      </a:r>
                      <a:endParaRPr lang="en-US" b="1" i="0">
                        <a:solidFill>
                          <a:srgbClr val="FFFFFF"/>
                        </a:solidFill>
                        <a:effectLst/>
                      </a:endParaRPr>
                    </a:p>
                  </a:txBody>
                  <a:tcPr anchor="ctr"/>
                </a:tc>
                <a:tc>
                  <a:txBody>
                    <a:bodyPr/>
                    <a:lstStyle/>
                    <a:p>
                      <a:pPr algn="ctr" rtl="0" fontAlgn="base"/>
                      <a:r>
                        <a:rPr lang="en-IN" sz="1050" b="1" i="0" u="none" strike="noStrike">
                          <a:solidFill>
                            <a:srgbClr val="FFFFFF"/>
                          </a:solidFill>
                          <a:effectLst/>
                          <a:latin typeface="Aptos" panose="02110004020202020204"/>
                        </a:rPr>
                        <a:t>FY26</a:t>
                      </a:r>
                      <a:r>
                        <a:rPr lang="en-IN" sz="1050" b="1" i="0">
                          <a:solidFill>
                            <a:srgbClr val="FFFFFF"/>
                          </a:solidFill>
                          <a:effectLst/>
                          <a:latin typeface="Aptos" panose="02110004020202020204"/>
                        </a:rPr>
                        <a:t>​</a:t>
                      </a:r>
                      <a:endParaRPr lang="en-IN" b="1" i="0">
                        <a:solidFill>
                          <a:srgbClr val="FFFFFF"/>
                        </a:solidFill>
                        <a:effectLst/>
                      </a:endParaRPr>
                    </a:p>
                  </a:txBody>
                  <a:tcPr anchor="ctr"/>
                </a:tc>
                <a:tc>
                  <a:txBody>
                    <a:bodyPr/>
                    <a:lstStyle/>
                    <a:p>
                      <a:pPr algn="ctr" rtl="0" fontAlgn="base"/>
                      <a:r>
                        <a:rPr lang="en-IN" sz="1050" b="1" i="0" u="none" strike="noStrike">
                          <a:solidFill>
                            <a:srgbClr val="FFFFFF"/>
                          </a:solidFill>
                          <a:effectLst/>
                          <a:latin typeface="Aptos" panose="02110004020202020204"/>
                        </a:rPr>
                        <a:t>Q4FY25</a:t>
                      </a:r>
                      <a:r>
                        <a:rPr lang="en-IN" sz="1050" b="1" i="0">
                          <a:solidFill>
                            <a:srgbClr val="FFFFFF"/>
                          </a:solidFill>
                          <a:effectLst/>
                          <a:latin typeface="Aptos" panose="02110004020202020204"/>
                        </a:rPr>
                        <a:t>​</a:t>
                      </a:r>
                      <a:endParaRPr lang="en-IN" b="1" i="0">
                        <a:solidFill>
                          <a:srgbClr val="FFFFFF"/>
                        </a:solidFill>
                        <a:effectLst/>
                      </a:endParaRPr>
                    </a:p>
                  </a:txBody>
                  <a:tcPr anchor="ctr"/>
                </a:tc>
                <a:tc>
                  <a:txBody>
                    <a:bodyPr/>
                    <a:lstStyle/>
                    <a:p>
                      <a:pPr algn="ctr" rtl="0" fontAlgn="base"/>
                      <a:r>
                        <a:rPr lang="en-IN" sz="1050" b="1" i="0" u="none" strike="noStrike">
                          <a:solidFill>
                            <a:srgbClr val="FFFFFF"/>
                          </a:solidFill>
                          <a:effectLst/>
                          <a:latin typeface="Aptos" panose="02110004020202020204"/>
                        </a:rPr>
                        <a:t>Q4FY26</a:t>
                      </a:r>
                      <a:r>
                        <a:rPr lang="en-IN" sz="1050" b="1" i="0">
                          <a:solidFill>
                            <a:srgbClr val="FFFFFF"/>
                          </a:solidFill>
                          <a:effectLst/>
                          <a:latin typeface="Aptos" panose="02110004020202020204"/>
                        </a:rPr>
                        <a:t>​</a:t>
                      </a:r>
                      <a:endParaRPr lang="en-IN" b="1" i="0">
                        <a:solidFill>
                          <a:srgbClr val="FFFFFF"/>
                        </a:solidFill>
                        <a:effectLst/>
                      </a:endParaRPr>
                    </a:p>
                  </a:txBody>
                  <a:tcPr anchor="ctr"/>
                </a:tc>
                <a:extLst>
                  <a:ext uri="{0D108BD9-81ED-4DB2-BD59-A6C34878D82A}">
                    <a16:rowId xmlns:a16="http://schemas.microsoft.com/office/drawing/2014/main" val="3735237806"/>
                  </a:ext>
                </a:extLst>
              </a:tr>
              <a:tr h="262575">
                <a:tc>
                  <a:txBody>
                    <a:bodyPr/>
                    <a:lstStyle/>
                    <a:p>
                      <a:pPr algn="l" rtl="0" fontAlgn="base"/>
                      <a:r>
                        <a:rPr lang="en-GB" sz="1050" b="0" i="0" u="none" strike="noStrike">
                          <a:solidFill>
                            <a:srgbClr val="000000"/>
                          </a:solidFill>
                          <a:effectLst/>
                          <a:latin typeface="Aptos" panose="02110004020202020204"/>
                        </a:rPr>
                        <a:t>No. of New Clients Added</a:t>
                      </a:r>
                      <a:r>
                        <a:rPr lang="en-GB" sz="1050" b="0" i="0">
                          <a:solidFill>
                            <a:srgbClr val="2C2B69"/>
                          </a:solidFill>
                          <a:effectLst/>
                          <a:latin typeface="Aptos" panose="02110004020202020204"/>
                        </a:rPr>
                        <a:t>​</a:t>
                      </a:r>
                      <a:endParaRPr lang="en-GB" b="0" i="0">
                        <a:solidFill>
                          <a:srgbClr val="2C2B69"/>
                        </a:solidFill>
                        <a:effectLst/>
                      </a:endParaRPr>
                    </a:p>
                  </a:txBody>
                  <a:tcPr anchor="ctr"/>
                </a:tc>
                <a:tc>
                  <a:txBody>
                    <a:bodyPr/>
                    <a:lstStyle/>
                    <a:p>
                      <a:pPr algn="ctr" fontAlgn="b"/>
                      <a:r>
                        <a:rPr lang="en-IN" sz="900" b="0" i="0" u="none" strike="noStrike">
                          <a:solidFill>
                            <a:srgbClr val="000000"/>
                          </a:solidFill>
                          <a:effectLst/>
                          <a:latin typeface="Aptos Narrow"/>
                        </a:rPr>
                        <a:t>129</a:t>
                      </a:r>
                    </a:p>
                  </a:txBody>
                  <a:tcPr marL="9525" marR="9525" marT="9525" marB="0" anchor="ctr"/>
                </a:tc>
                <a:tc>
                  <a:txBody>
                    <a:bodyPr/>
                    <a:lstStyle/>
                    <a:p>
                      <a:pPr algn="ctr" rtl="0" fontAlgn="base"/>
                      <a:r>
                        <a:rPr lang="en-IN" sz="1050" b="0" i="0" u="none" strike="noStrike">
                          <a:solidFill>
                            <a:srgbClr val="000000"/>
                          </a:solidFill>
                          <a:effectLst/>
                          <a:latin typeface="Aptos" panose="02110004020202020204"/>
                        </a:rPr>
                        <a:t>315</a:t>
                      </a:r>
                      <a:r>
                        <a:rPr lang="en-IN" sz="1050" b="0" i="0">
                          <a:solidFill>
                            <a:srgbClr val="2C2B69"/>
                          </a:solidFill>
                          <a:effectLst/>
                          <a:latin typeface="Aptos" panose="02110004020202020204"/>
                        </a:rPr>
                        <a:t>​</a:t>
                      </a:r>
                      <a:endParaRPr lang="en-IN" b="0" i="0">
                        <a:solidFill>
                          <a:srgbClr val="2C2B69"/>
                        </a:solidFill>
                        <a:effectLst/>
                      </a:endParaRPr>
                    </a:p>
                  </a:txBody>
                  <a:tcPr anchor="ctr"/>
                </a:tc>
                <a:tc>
                  <a:txBody>
                    <a:bodyPr/>
                    <a:lstStyle/>
                    <a:p>
                      <a:pPr algn="ctr" rtl="0" fontAlgn="base"/>
                      <a:r>
                        <a:rPr lang="en-IN" sz="1050" b="0" i="0" u="none" strike="noStrike">
                          <a:solidFill>
                            <a:srgbClr val="000000"/>
                          </a:solidFill>
                          <a:effectLst/>
                          <a:latin typeface="Aptos" panose="02110004020202020204"/>
                        </a:rPr>
                        <a:t>153</a:t>
                      </a:r>
                      <a:r>
                        <a:rPr lang="en-IN" sz="1050" b="0" i="0">
                          <a:solidFill>
                            <a:srgbClr val="2C2B69"/>
                          </a:solidFill>
                          <a:effectLst/>
                          <a:latin typeface="Aptos" panose="02110004020202020204"/>
                        </a:rPr>
                        <a:t>​</a:t>
                      </a:r>
                      <a:endParaRPr lang="en-IN" b="0" i="0">
                        <a:solidFill>
                          <a:srgbClr val="2C2B69"/>
                        </a:solidFill>
                        <a:effectLst/>
                      </a:endParaRPr>
                    </a:p>
                  </a:txBody>
                  <a:tcPr anchor="ctr"/>
                </a:tc>
                <a:tc>
                  <a:txBody>
                    <a:bodyPr/>
                    <a:lstStyle/>
                    <a:p>
                      <a:pPr algn="ctr" rtl="0" fontAlgn="base"/>
                      <a:r>
                        <a:rPr lang="en-IN" sz="1050" b="0" i="0">
                          <a:solidFill>
                            <a:srgbClr val="2C2B69"/>
                          </a:solidFill>
                          <a:effectLst/>
                          <a:latin typeface="Aptos"/>
                        </a:rPr>
                        <a:t>60</a:t>
                      </a:r>
                    </a:p>
                  </a:txBody>
                  <a:tcPr anchor="ctr"/>
                </a:tc>
                <a:tc>
                  <a:txBody>
                    <a:bodyPr/>
                    <a:lstStyle/>
                    <a:p>
                      <a:pPr algn="ctr" rtl="0" fontAlgn="auto"/>
                      <a:r>
                        <a:rPr lang="en-IN" sz="1050" b="0" i="0" u="none" strike="noStrike">
                          <a:solidFill>
                            <a:srgbClr val="000000"/>
                          </a:solidFill>
                          <a:effectLst/>
                          <a:latin typeface="Aptos" panose="02110004020202020204"/>
                        </a:rPr>
                        <a:t>10 ​</a:t>
                      </a:r>
                    </a:p>
                  </a:txBody>
                  <a:tcPr anchor="ctr"/>
                </a:tc>
                <a:extLst>
                  <a:ext uri="{0D108BD9-81ED-4DB2-BD59-A6C34878D82A}">
                    <a16:rowId xmlns:a16="http://schemas.microsoft.com/office/drawing/2014/main" val="1299356094"/>
                  </a:ext>
                </a:extLst>
              </a:tr>
              <a:tr h="262575">
                <a:tc>
                  <a:txBody>
                    <a:bodyPr/>
                    <a:lstStyle/>
                    <a:p>
                      <a:pPr algn="l" rtl="0" fontAlgn="base"/>
                      <a:r>
                        <a:rPr lang="en-IN" sz="1050" b="0" i="0" u="none" strike="noStrike">
                          <a:solidFill>
                            <a:srgbClr val="000000"/>
                          </a:solidFill>
                          <a:effectLst/>
                          <a:latin typeface="Aptos" panose="02110004020202020204"/>
                        </a:rPr>
                        <a:t>Avg. Billed Customers</a:t>
                      </a:r>
                      <a:r>
                        <a:rPr lang="en-IN" sz="1050" b="0" i="0">
                          <a:solidFill>
                            <a:srgbClr val="2C2B69"/>
                          </a:solidFill>
                          <a:effectLst/>
                          <a:latin typeface="Aptos" panose="02110004020202020204"/>
                        </a:rPr>
                        <a:t>​</a:t>
                      </a:r>
                      <a:endParaRPr lang="en-IN" b="0" i="0">
                        <a:solidFill>
                          <a:srgbClr val="2C2B69"/>
                        </a:solidFill>
                        <a:effectLst/>
                      </a:endParaRPr>
                    </a:p>
                  </a:txBody>
                  <a:tcPr anchor="ctr"/>
                </a:tc>
                <a:tc>
                  <a:txBody>
                    <a:bodyPr/>
                    <a:lstStyle/>
                    <a:p>
                      <a:pPr algn="ctr" fontAlgn="b"/>
                      <a:r>
                        <a:rPr lang="en-IN" sz="900" b="0" i="0" u="none" strike="noStrike">
                          <a:solidFill>
                            <a:srgbClr val="000000"/>
                          </a:solidFill>
                          <a:effectLst/>
                          <a:latin typeface="Aptos Narrow"/>
                        </a:rPr>
                        <a:t>81</a:t>
                      </a:r>
                    </a:p>
                  </a:txBody>
                  <a:tcPr marL="9525" marR="9525" marT="9525" marB="0" anchor="ctr"/>
                </a:tc>
                <a:tc>
                  <a:txBody>
                    <a:bodyPr/>
                    <a:lstStyle/>
                    <a:p>
                      <a:pPr algn="ctr" rtl="0" fontAlgn="base"/>
                      <a:r>
                        <a:rPr lang="en-IN" sz="1050" b="0" i="0" u="none" strike="noStrike">
                          <a:solidFill>
                            <a:srgbClr val="000000"/>
                          </a:solidFill>
                          <a:effectLst/>
                          <a:latin typeface="Aptos" panose="02110004020202020204"/>
                        </a:rPr>
                        <a:t>86</a:t>
                      </a:r>
                      <a:r>
                        <a:rPr lang="en-IN" sz="1050" b="0" i="0">
                          <a:solidFill>
                            <a:srgbClr val="2C2B69"/>
                          </a:solidFill>
                          <a:effectLst/>
                          <a:latin typeface="Aptos" panose="02110004020202020204"/>
                        </a:rPr>
                        <a:t>​</a:t>
                      </a:r>
                      <a:endParaRPr lang="en-IN" b="0" i="0">
                        <a:solidFill>
                          <a:srgbClr val="2C2B69"/>
                        </a:solidFill>
                        <a:effectLst/>
                      </a:endParaRPr>
                    </a:p>
                  </a:txBody>
                  <a:tcPr anchor="ctr"/>
                </a:tc>
                <a:tc>
                  <a:txBody>
                    <a:bodyPr/>
                    <a:lstStyle/>
                    <a:p>
                      <a:pPr algn="ctr" rtl="0" fontAlgn="base"/>
                      <a:r>
                        <a:rPr lang="en-IN" sz="1050" b="0" i="0" u="none" strike="noStrike">
                          <a:solidFill>
                            <a:srgbClr val="000000"/>
                          </a:solidFill>
                          <a:effectLst/>
                          <a:latin typeface="Aptos" panose="02110004020202020204"/>
                        </a:rPr>
                        <a:t>74</a:t>
                      </a:r>
                      <a:r>
                        <a:rPr lang="en-IN" sz="1050" b="0" i="0">
                          <a:solidFill>
                            <a:srgbClr val="2C2B69"/>
                          </a:solidFill>
                          <a:effectLst/>
                          <a:latin typeface="Aptos" panose="02110004020202020204"/>
                        </a:rPr>
                        <a:t>​</a:t>
                      </a:r>
                      <a:endParaRPr lang="en-IN" b="0" i="0">
                        <a:solidFill>
                          <a:srgbClr val="2C2B69"/>
                        </a:solidFill>
                        <a:effectLst/>
                      </a:endParaRPr>
                    </a:p>
                  </a:txBody>
                  <a:tcPr anchor="ctr"/>
                </a:tc>
                <a:tc>
                  <a:txBody>
                    <a:bodyPr/>
                    <a:lstStyle/>
                    <a:p>
                      <a:pPr algn="ctr" rtl="0" fontAlgn="base"/>
                      <a:r>
                        <a:rPr lang="en-IN" sz="1050" b="0" i="0">
                          <a:solidFill>
                            <a:srgbClr val="2C2B69"/>
                          </a:solidFill>
                          <a:effectLst/>
                          <a:latin typeface="Aptos"/>
                        </a:rPr>
                        <a:t>85</a:t>
                      </a:r>
                    </a:p>
                  </a:txBody>
                  <a:tcPr anchor="ctr"/>
                </a:tc>
                <a:tc>
                  <a:txBody>
                    <a:bodyPr/>
                    <a:lstStyle/>
                    <a:p>
                      <a:pPr algn="ctr" rtl="0" fontAlgn="auto"/>
                      <a:r>
                        <a:rPr lang="en-IN" sz="1050" b="0" i="0" u="none" strike="noStrike">
                          <a:solidFill>
                            <a:srgbClr val="000000"/>
                          </a:solidFill>
                          <a:effectLst/>
                          <a:latin typeface="Aptos" panose="02110004020202020204"/>
                        </a:rPr>
                        <a:t>46 ​</a:t>
                      </a:r>
                    </a:p>
                  </a:txBody>
                  <a:tcPr anchor="ctr"/>
                </a:tc>
                <a:extLst>
                  <a:ext uri="{0D108BD9-81ED-4DB2-BD59-A6C34878D82A}">
                    <a16:rowId xmlns:a16="http://schemas.microsoft.com/office/drawing/2014/main" val="930605583"/>
                  </a:ext>
                </a:extLst>
              </a:tr>
              <a:tr h="262575">
                <a:tc>
                  <a:txBody>
                    <a:bodyPr/>
                    <a:lstStyle/>
                    <a:p>
                      <a:pPr algn="l" rtl="0" fontAlgn="base"/>
                      <a:r>
                        <a:rPr lang="en-IN" sz="1050" b="0" i="0" u="none" strike="noStrike">
                          <a:solidFill>
                            <a:srgbClr val="000000"/>
                          </a:solidFill>
                          <a:effectLst/>
                          <a:latin typeface="Aptos" panose="02110004020202020204"/>
                        </a:rPr>
                        <a:t>No. of Escrow transactions</a:t>
                      </a:r>
                      <a:endParaRPr lang="en-IN" b="0" i="0">
                        <a:solidFill>
                          <a:srgbClr val="2C2B69"/>
                        </a:solidFill>
                        <a:effectLst/>
                      </a:endParaRPr>
                    </a:p>
                    <a:p>
                      <a:pPr lvl="0" algn="l">
                        <a:buNone/>
                      </a:pPr>
                      <a:r>
                        <a:rPr lang="en-IN" sz="1100" b="0" i="0" u="none" strike="noStrike" noProof="0">
                          <a:solidFill>
                            <a:srgbClr val="000000"/>
                          </a:solidFill>
                          <a:effectLst/>
                          <a:latin typeface="Aptos" panose="02110004020202020204"/>
                        </a:rPr>
                        <a:t>(in Cr)</a:t>
                      </a:r>
                      <a:r>
                        <a:rPr lang="en-IN" sz="1100" b="0" i="0" u="none" strike="noStrike" noProof="0">
                          <a:solidFill>
                            <a:srgbClr val="2C2B69"/>
                          </a:solidFill>
                          <a:effectLst/>
                          <a:latin typeface="Aptos" panose="02110004020202020204"/>
                        </a:rPr>
                        <a:t> </a:t>
                      </a:r>
                      <a:r>
                        <a:rPr lang="en-IN" sz="1050" b="0" i="0">
                          <a:solidFill>
                            <a:srgbClr val="2C2B69"/>
                          </a:solidFill>
                          <a:effectLst/>
                          <a:latin typeface="Aptos" panose="02110004020202020204"/>
                        </a:rPr>
                        <a:t>​</a:t>
                      </a:r>
                      <a:endParaRPr lang="en-IN" b="0" i="0">
                        <a:solidFill>
                          <a:srgbClr val="2C2B69"/>
                        </a:solidFill>
                        <a:effectLst/>
                      </a:endParaRPr>
                    </a:p>
                  </a:txBody>
                  <a:tcPr anchor="ctr"/>
                </a:tc>
                <a:tc>
                  <a:txBody>
                    <a:bodyPr/>
                    <a:lstStyle/>
                    <a:p>
                      <a:pPr algn="ctr" fontAlgn="b"/>
                      <a:r>
                        <a:rPr lang="en-IN" sz="1050" b="0" i="0" u="none" strike="noStrike">
                          <a:solidFill>
                            <a:srgbClr val="000000"/>
                          </a:solidFill>
                          <a:effectLst/>
                          <a:latin typeface="Aptos Narrow"/>
                        </a:rPr>
                        <a:t>0.03</a:t>
                      </a:r>
                    </a:p>
                  </a:txBody>
                  <a:tcPr marL="9525" marR="9525" marT="9525" marB="0" anchor="ctr"/>
                </a:tc>
                <a:tc>
                  <a:txBody>
                    <a:bodyPr/>
                    <a:lstStyle/>
                    <a:p>
                      <a:pPr algn="ctr" rtl="0" fontAlgn="base"/>
                      <a:r>
                        <a:rPr lang="en-IN" sz="1050" b="0" i="0" u="none" strike="noStrike">
                          <a:solidFill>
                            <a:srgbClr val="000000"/>
                          </a:solidFill>
                          <a:effectLst/>
                          <a:latin typeface="Aptos" panose="02110004020202020204"/>
                        </a:rPr>
                        <a:t>0.38</a:t>
                      </a:r>
                      <a:r>
                        <a:rPr lang="en-IN" sz="1050" b="0" i="0">
                          <a:solidFill>
                            <a:srgbClr val="2C2B69"/>
                          </a:solidFill>
                          <a:effectLst/>
                          <a:latin typeface="Aptos" panose="02110004020202020204"/>
                        </a:rPr>
                        <a:t>​</a:t>
                      </a:r>
                      <a:endParaRPr lang="en-IN" sz="1050" b="0" i="0">
                        <a:solidFill>
                          <a:srgbClr val="2C2B69"/>
                        </a:solidFill>
                        <a:effectLst/>
                      </a:endParaRPr>
                    </a:p>
                  </a:txBody>
                  <a:tcPr anchor="ctr"/>
                </a:tc>
                <a:tc>
                  <a:txBody>
                    <a:bodyPr/>
                    <a:lstStyle/>
                    <a:p>
                      <a:pPr algn="ctr" rtl="0" fontAlgn="base"/>
                      <a:r>
                        <a:rPr lang="en-IN" sz="1050" b="0" i="0" u="none" strike="noStrike">
                          <a:solidFill>
                            <a:srgbClr val="000000"/>
                          </a:solidFill>
                          <a:effectLst/>
                          <a:latin typeface="Aptos" panose="02110004020202020204"/>
                        </a:rPr>
                        <a:t>1.36</a:t>
                      </a:r>
                      <a:r>
                        <a:rPr lang="en-IN" sz="1050" b="0" i="0">
                          <a:solidFill>
                            <a:srgbClr val="2C2B69"/>
                          </a:solidFill>
                          <a:effectLst/>
                          <a:latin typeface="Aptos" panose="02110004020202020204"/>
                        </a:rPr>
                        <a:t>​</a:t>
                      </a:r>
                      <a:endParaRPr lang="en-IN" sz="1050" b="0" i="0">
                        <a:solidFill>
                          <a:srgbClr val="2C2B69"/>
                        </a:solidFill>
                        <a:effectLst/>
                      </a:endParaRPr>
                    </a:p>
                  </a:txBody>
                  <a:tcPr anchor="ctr"/>
                </a:tc>
                <a:tc>
                  <a:txBody>
                    <a:bodyPr/>
                    <a:lstStyle/>
                    <a:p>
                      <a:pPr algn="ctr" rtl="0" fontAlgn="base"/>
                      <a:r>
                        <a:rPr lang="en-IN" sz="1050" b="0" i="0">
                          <a:solidFill>
                            <a:srgbClr val="2C2B69"/>
                          </a:solidFill>
                          <a:effectLst/>
                          <a:latin typeface="Aptos"/>
                        </a:rPr>
                        <a:t>0.23</a:t>
                      </a:r>
                    </a:p>
                  </a:txBody>
                  <a:tcPr anchor="ctr"/>
                </a:tc>
                <a:tc>
                  <a:txBody>
                    <a:bodyPr/>
                    <a:lstStyle/>
                    <a:p>
                      <a:pPr algn="ctr" rtl="0" fontAlgn="auto"/>
                      <a:r>
                        <a:rPr lang="en-IN" sz="1050" b="0" i="0" u="none" strike="noStrike">
                          <a:solidFill>
                            <a:srgbClr val="000000"/>
                          </a:solidFill>
                          <a:effectLst/>
                          <a:latin typeface="Aptos" panose="02110004020202020204"/>
                        </a:rPr>
                        <a:t>0.02 ​</a:t>
                      </a:r>
                    </a:p>
                  </a:txBody>
                  <a:tcPr anchor="ctr"/>
                </a:tc>
                <a:extLst>
                  <a:ext uri="{0D108BD9-81ED-4DB2-BD59-A6C34878D82A}">
                    <a16:rowId xmlns:a16="http://schemas.microsoft.com/office/drawing/2014/main" val="3872373918"/>
                  </a:ext>
                </a:extLst>
              </a:tr>
              <a:tr h="293271">
                <a:tc>
                  <a:txBody>
                    <a:bodyPr/>
                    <a:lstStyle/>
                    <a:p>
                      <a:pPr algn="l" rtl="0" fontAlgn="base"/>
                      <a:r>
                        <a:rPr lang="en-IN" sz="1050" b="0" i="0" u="none" strike="noStrike">
                          <a:solidFill>
                            <a:srgbClr val="000000"/>
                          </a:solidFill>
                          <a:effectLst/>
                          <a:latin typeface="Aptos" panose="02110004020202020204"/>
                        </a:rPr>
                        <a:t>GTV (in Cr)</a:t>
                      </a:r>
                      <a:r>
                        <a:rPr lang="en-IN" sz="1050" b="0" i="0">
                          <a:solidFill>
                            <a:srgbClr val="2C2B69"/>
                          </a:solidFill>
                          <a:effectLst/>
                          <a:latin typeface="Aptos" panose="02110004020202020204"/>
                        </a:rPr>
                        <a:t>​</a:t>
                      </a:r>
                      <a:endParaRPr lang="en-IN" b="0" i="0">
                        <a:solidFill>
                          <a:srgbClr val="2C2B69"/>
                        </a:solidFill>
                        <a:effectLst/>
                      </a:endParaRPr>
                    </a:p>
                  </a:txBody>
                  <a:tcPr anchor="ctr"/>
                </a:tc>
                <a:tc>
                  <a:txBody>
                    <a:bodyPr/>
                    <a:lstStyle/>
                    <a:p>
                      <a:pPr algn="ctr" fontAlgn="b"/>
                      <a:r>
                        <a:rPr lang="en-IN" sz="900" b="0" i="0" u="none" strike="noStrike">
                          <a:solidFill>
                            <a:srgbClr val="000000"/>
                          </a:solidFill>
                          <a:effectLst/>
                          <a:latin typeface="Aptos Narrow"/>
                        </a:rPr>
                        <a:t>8,512</a:t>
                      </a:r>
                    </a:p>
                  </a:txBody>
                  <a:tcPr marL="9525" marR="9525" marT="9525" marB="0" anchor="ctr"/>
                </a:tc>
                <a:tc>
                  <a:txBody>
                    <a:bodyPr/>
                    <a:lstStyle/>
                    <a:p>
                      <a:pPr algn="ctr" rtl="0" fontAlgn="base"/>
                      <a:r>
                        <a:rPr lang="en-IN" sz="1050" b="0" i="0" u="none" strike="noStrike">
                          <a:solidFill>
                            <a:srgbClr val="000000"/>
                          </a:solidFill>
                          <a:effectLst/>
                          <a:latin typeface="Aptos" panose="02110004020202020204"/>
                        </a:rPr>
                        <a:t>14,856</a:t>
                      </a:r>
                      <a:r>
                        <a:rPr lang="en-IN" sz="1050" b="0" i="0">
                          <a:solidFill>
                            <a:srgbClr val="2C2B69"/>
                          </a:solidFill>
                          <a:effectLst/>
                          <a:latin typeface="Aptos" panose="02110004020202020204"/>
                        </a:rPr>
                        <a:t>​</a:t>
                      </a:r>
                      <a:endParaRPr lang="en-IN" b="0" i="0">
                        <a:solidFill>
                          <a:srgbClr val="2C2B69"/>
                        </a:solidFill>
                        <a:effectLst/>
                      </a:endParaRPr>
                    </a:p>
                  </a:txBody>
                  <a:tcPr anchor="ctr"/>
                </a:tc>
                <a:tc>
                  <a:txBody>
                    <a:bodyPr/>
                    <a:lstStyle/>
                    <a:p>
                      <a:pPr algn="ctr" rtl="0" fontAlgn="base"/>
                      <a:r>
                        <a:rPr lang="en-IN" sz="1050" b="0" i="0" u="none" strike="noStrike">
                          <a:solidFill>
                            <a:srgbClr val="000000"/>
                          </a:solidFill>
                          <a:effectLst/>
                          <a:latin typeface="Aptos" panose="02110004020202020204"/>
                        </a:rPr>
                        <a:t>40,592</a:t>
                      </a:r>
                      <a:r>
                        <a:rPr lang="en-IN" sz="1050" b="0" i="0">
                          <a:solidFill>
                            <a:srgbClr val="2C2B69"/>
                          </a:solidFill>
                          <a:effectLst/>
                          <a:latin typeface="Aptos" panose="02110004020202020204"/>
                        </a:rPr>
                        <a:t>​</a:t>
                      </a:r>
                      <a:endParaRPr lang="en-IN" b="0" i="0">
                        <a:solidFill>
                          <a:srgbClr val="2C2B69"/>
                        </a:solidFill>
                        <a:effectLst/>
                      </a:endParaRPr>
                    </a:p>
                  </a:txBody>
                  <a:tcPr anchor="ctr"/>
                </a:tc>
                <a:tc>
                  <a:txBody>
                    <a:bodyPr/>
                    <a:lstStyle/>
                    <a:p>
                      <a:pPr algn="ctr" rtl="0" fontAlgn="auto"/>
                      <a:r>
                        <a:rPr lang="en-IN" sz="1050" b="0" i="0" u="none" strike="noStrike">
                          <a:solidFill>
                            <a:srgbClr val="000000"/>
                          </a:solidFill>
                          <a:effectLst/>
                          <a:latin typeface="Aptos" panose="02110004020202020204"/>
                        </a:rPr>
                        <a:t>5,622</a:t>
                      </a:r>
                    </a:p>
                  </a:txBody>
                  <a:tcPr anchor="ctr"/>
                </a:tc>
                <a:tc>
                  <a:txBody>
                    <a:bodyPr/>
                    <a:lstStyle/>
                    <a:p>
                      <a:pPr algn="ctr" rtl="0" fontAlgn="auto"/>
                      <a:r>
                        <a:rPr lang="en-IN" sz="1050" b="0" i="0" u="none" strike="noStrike">
                          <a:solidFill>
                            <a:srgbClr val="000000"/>
                          </a:solidFill>
                          <a:effectLst/>
                          <a:latin typeface="Aptos" panose="02110004020202020204"/>
                        </a:rPr>
                        <a:t>7,280 ​</a:t>
                      </a:r>
                    </a:p>
                  </a:txBody>
                  <a:tcPr anchor="ctr"/>
                </a:tc>
                <a:extLst>
                  <a:ext uri="{0D108BD9-81ED-4DB2-BD59-A6C34878D82A}">
                    <a16:rowId xmlns:a16="http://schemas.microsoft.com/office/drawing/2014/main" val="2159784742"/>
                  </a:ext>
                </a:extLst>
              </a:tr>
            </a:tbl>
          </a:graphicData>
        </a:graphic>
      </p:graphicFrame>
      <p:graphicFrame>
        <p:nvGraphicFramePr>
          <p:cNvPr id="15" name="Table 14">
            <a:extLst>
              <a:ext uri="{FF2B5EF4-FFF2-40B4-BE49-F238E27FC236}">
                <a16:creationId xmlns:a16="http://schemas.microsoft.com/office/drawing/2014/main" id="{15A8ADF0-126C-CEE6-7C81-709A708A4642}"/>
              </a:ext>
            </a:extLst>
          </p:cNvPr>
          <p:cNvGraphicFramePr>
            <a:graphicFrameLocks noGrp="1"/>
          </p:cNvGraphicFramePr>
          <p:nvPr>
            <p:extLst>
              <p:ext uri="{D42A27DB-BD31-4B8C-83A1-F6EECF244321}">
                <p14:modId xmlns:p14="http://schemas.microsoft.com/office/powerpoint/2010/main" val="3951832652"/>
              </p:ext>
            </p:extLst>
          </p:nvPr>
        </p:nvGraphicFramePr>
        <p:xfrm>
          <a:off x="5539984" y="4144254"/>
          <a:ext cx="5842026" cy="1474860"/>
        </p:xfrm>
        <a:graphic>
          <a:graphicData uri="http://schemas.openxmlformats.org/drawingml/2006/table">
            <a:tbl>
              <a:tblPr firstRow="1" bandRow="1">
                <a:tableStyleId>{72833802-FEF1-4C79-8D5D-14CF1EAF98D9}</a:tableStyleId>
              </a:tblPr>
              <a:tblGrid>
                <a:gridCol w="1911076">
                  <a:extLst>
                    <a:ext uri="{9D8B030D-6E8A-4147-A177-3AD203B41FA5}">
                      <a16:colId xmlns:a16="http://schemas.microsoft.com/office/drawing/2014/main" val="3001066899"/>
                    </a:ext>
                  </a:extLst>
                </a:gridCol>
                <a:gridCol w="786190">
                  <a:extLst>
                    <a:ext uri="{9D8B030D-6E8A-4147-A177-3AD203B41FA5}">
                      <a16:colId xmlns:a16="http://schemas.microsoft.com/office/drawing/2014/main" val="700748351"/>
                    </a:ext>
                  </a:extLst>
                </a:gridCol>
                <a:gridCol w="786190">
                  <a:extLst>
                    <a:ext uri="{9D8B030D-6E8A-4147-A177-3AD203B41FA5}">
                      <a16:colId xmlns:a16="http://schemas.microsoft.com/office/drawing/2014/main" val="3274968397"/>
                    </a:ext>
                  </a:extLst>
                </a:gridCol>
                <a:gridCol w="786190">
                  <a:extLst>
                    <a:ext uri="{9D8B030D-6E8A-4147-A177-3AD203B41FA5}">
                      <a16:colId xmlns:a16="http://schemas.microsoft.com/office/drawing/2014/main" val="3623532732"/>
                    </a:ext>
                  </a:extLst>
                </a:gridCol>
                <a:gridCol w="786190">
                  <a:extLst>
                    <a:ext uri="{9D8B030D-6E8A-4147-A177-3AD203B41FA5}">
                      <a16:colId xmlns:a16="http://schemas.microsoft.com/office/drawing/2014/main" val="746035582"/>
                    </a:ext>
                  </a:extLst>
                </a:gridCol>
                <a:gridCol w="786190">
                  <a:extLst>
                    <a:ext uri="{9D8B030D-6E8A-4147-A177-3AD203B41FA5}">
                      <a16:colId xmlns:a16="http://schemas.microsoft.com/office/drawing/2014/main" val="3336224203"/>
                    </a:ext>
                  </a:extLst>
                </a:gridCol>
              </a:tblGrid>
              <a:tr h="255952">
                <a:tc>
                  <a:txBody>
                    <a:bodyPr/>
                    <a:lstStyle/>
                    <a:p>
                      <a:pPr algn="l" rtl="0" fontAlgn="base"/>
                      <a:r>
                        <a:rPr lang="en-US" sz="1050" b="1" i="0" u="none" strike="noStrike">
                          <a:solidFill>
                            <a:srgbClr val="FFFFFF"/>
                          </a:solidFill>
                          <a:effectLst/>
                          <a:latin typeface="+mj-lt"/>
                        </a:rPr>
                        <a:t>INR Cr.</a:t>
                      </a:r>
                      <a:r>
                        <a:rPr lang="en-US" sz="1050" b="1" i="0">
                          <a:solidFill>
                            <a:srgbClr val="FFFFFF"/>
                          </a:solidFill>
                          <a:effectLst/>
                          <a:latin typeface="+mj-lt"/>
                        </a:rPr>
                        <a:t>​</a:t>
                      </a:r>
                    </a:p>
                  </a:txBody>
                  <a:tcPr anchor="ctr"/>
                </a:tc>
                <a:tc>
                  <a:txBody>
                    <a:bodyPr/>
                    <a:lstStyle/>
                    <a:p>
                      <a:pPr algn="ctr" rtl="0" fontAlgn="base"/>
                      <a:r>
                        <a:rPr lang="en-US" sz="1050" b="1" i="0">
                          <a:solidFill>
                            <a:srgbClr val="FFFFFF"/>
                          </a:solidFill>
                          <a:effectLst/>
                          <a:latin typeface="+mj-lt"/>
                        </a:rPr>
                        <a:t>FY24</a:t>
                      </a:r>
                    </a:p>
                  </a:txBody>
                  <a:tcPr anchor="ctr"/>
                </a:tc>
                <a:tc>
                  <a:txBody>
                    <a:bodyPr/>
                    <a:lstStyle/>
                    <a:p>
                      <a:pPr algn="ctr" rtl="0" fontAlgn="base"/>
                      <a:r>
                        <a:rPr lang="en-US" sz="1050" b="1" i="0" u="none" strike="noStrike">
                          <a:solidFill>
                            <a:srgbClr val="FFFFFF"/>
                          </a:solidFill>
                          <a:effectLst/>
                          <a:latin typeface="+mj-lt"/>
                        </a:rPr>
                        <a:t>FY25</a:t>
                      </a:r>
                      <a:r>
                        <a:rPr lang="en-US" sz="1050" b="1" i="0">
                          <a:solidFill>
                            <a:srgbClr val="FFFFFF"/>
                          </a:solidFill>
                          <a:effectLst/>
                          <a:latin typeface="+mj-lt"/>
                        </a:rPr>
                        <a:t>​</a:t>
                      </a:r>
                    </a:p>
                  </a:txBody>
                  <a:tcPr anchor="ctr"/>
                </a:tc>
                <a:tc>
                  <a:txBody>
                    <a:bodyPr/>
                    <a:lstStyle/>
                    <a:p>
                      <a:pPr algn="ctr" rtl="0" fontAlgn="base"/>
                      <a:r>
                        <a:rPr lang="en-US" sz="1050" b="1" i="0" u="none" strike="noStrike">
                          <a:solidFill>
                            <a:srgbClr val="FFFFFF"/>
                          </a:solidFill>
                          <a:effectLst/>
                          <a:latin typeface="+mj-lt"/>
                        </a:rPr>
                        <a:t>FY26</a:t>
                      </a:r>
                      <a:r>
                        <a:rPr lang="en-US" sz="1050" b="1" i="0">
                          <a:solidFill>
                            <a:srgbClr val="FFFFFF"/>
                          </a:solidFill>
                          <a:effectLst/>
                          <a:latin typeface="+mj-lt"/>
                        </a:rPr>
                        <a:t>​</a:t>
                      </a:r>
                    </a:p>
                  </a:txBody>
                  <a:tcPr anchor="ctr"/>
                </a:tc>
                <a:tc>
                  <a:txBody>
                    <a:bodyPr/>
                    <a:lstStyle/>
                    <a:p>
                      <a:pPr algn="ctr" rtl="0" fontAlgn="base"/>
                      <a:r>
                        <a:rPr lang="en-IN" sz="1050" b="1" i="0" u="none" strike="noStrike">
                          <a:solidFill>
                            <a:srgbClr val="FFFFFF"/>
                          </a:solidFill>
                          <a:effectLst/>
                          <a:latin typeface="+mj-lt"/>
                        </a:rPr>
                        <a:t>Q4FY25</a:t>
                      </a:r>
                      <a:r>
                        <a:rPr lang="en-IN" sz="1050" b="1" i="0">
                          <a:solidFill>
                            <a:srgbClr val="FFFFFF"/>
                          </a:solidFill>
                          <a:effectLst/>
                          <a:latin typeface="+mj-lt"/>
                        </a:rPr>
                        <a:t>​</a:t>
                      </a:r>
                    </a:p>
                  </a:txBody>
                  <a:tcPr anchor="ctr"/>
                </a:tc>
                <a:tc>
                  <a:txBody>
                    <a:bodyPr/>
                    <a:lstStyle/>
                    <a:p>
                      <a:pPr algn="ctr" rtl="0" fontAlgn="base"/>
                      <a:r>
                        <a:rPr lang="en-IN" sz="1050" b="1" i="0" u="none" strike="noStrike">
                          <a:solidFill>
                            <a:srgbClr val="FFFFFF"/>
                          </a:solidFill>
                          <a:effectLst/>
                          <a:latin typeface="+mj-lt"/>
                        </a:rPr>
                        <a:t>Q4FY26</a:t>
                      </a:r>
                      <a:r>
                        <a:rPr lang="en-IN" sz="1050" b="1" i="0">
                          <a:solidFill>
                            <a:srgbClr val="FFFFFF"/>
                          </a:solidFill>
                          <a:effectLst/>
                          <a:latin typeface="+mj-lt"/>
                        </a:rPr>
                        <a:t>​</a:t>
                      </a:r>
                    </a:p>
                  </a:txBody>
                  <a:tcPr anchor="ctr"/>
                </a:tc>
                <a:extLst>
                  <a:ext uri="{0D108BD9-81ED-4DB2-BD59-A6C34878D82A}">
                    <a16:rowId xmlns:a16="http://schemas.microsoft.com/office/drawing/2014/main" val="3735237806"/>
                  </a:ext>
                </a:extLst>
              </a:tr>
              <a:tr h="304727">
                <a:tc>
                  <a:txBody>
                    <a:bodyPr/>
                    <a:lstStyle/>
                    <a:p>
                      <a:pPr algn="l" rtl="0" fontAlgn="base"/>
                      <a:r>
                        <a:rPr lang="en-US" sz="1050" b="1" i="0" u="none" strike="noStrike">
                          <a:solidFill>
                            <a:srgbClr val="171717"/>
                          </a:solidFill>
                          <a:effectLst/>
                          <a:latin typeface="+mj-lt"/>
                        </a:rPr>
                        <a:t>Net Revenue</a:t>
                      </a:r>
                      <a:r>
                        <a:rPr lang="en-US" sz="1050" b="0" i="0">
                          <a:solidFill>
                            <a:srgbClr val="2C2B69"/>
                          </a:solidFill>
                          <a:effectLst/>
                          <a:latin typeface="+mj-lt"/>
                        </a:rPr>
                        <a:t>​</a:t>
                      </a:r>
                    </a:p>
                  </a:txBody>
                  <a:tcPr anchor="ctr"/>
                </a:tc>
                <a:tc>
                  <a:txBody>
                    <a:bodyPr/>
                    <a:lstStyle/>
                    <a:p>
                      <a:pPr algn="ctr" fontAlgn="b"/>
                      <a:r>
                        <a:rPr lang="en-IN" sz="1050" b="1" i="0" u="none" strike="noStrike">
                          <a:solidFill>
                            <a:srgbClr val="000000"/>
                          </a:solidFill>
                          <a:effectLst/>
                          <a:latin typeface="+mj-lt"/>
                        </a:rPr>
                        <a:t>3.7</a:t>
                      </a:r>
                    </a:p>
                  </a:txBody>
                  <a:tcPr marL="9525" marR="9525" marT="9525" marB="0" anchor="ctr"/>
                </a:tc>
                <a:tc>
                  <a:txBody>
                    <a:bodyPr/>
                    <a:lstStyle/>
                    <a:p>
                      <a:pPr algn="ctr" rtl="0" fontAlgn="base"/>
                      <a:r>
                        <a:rPr lang="en-IN" sz="1050" b="1" i="0" u="none" strike="noStrike">
                          <a:solidFill>
                            <a:srgbClr val="171717"/>
                          </a:solidFill>
                          <a:effectLst/>
                          <a:latin typeface="+mj-lt"/>
                        </a:rPr>
                        <a:t>12.9</a:t>
                      </a:r>
                      <a:r>
                        <a:rPr lang="en-IN" sz="1050" b="1" i="0">
                          <a:solidFill>
                            <a:srgbClr val="2C2B69"/>
                          </a:solidFill>
                          <a:effectLst/>
                          <a:latin typeface="+mj-lt"/>
                        </a:rPr>
                        <a:t>​</a:t>
                      </a:r>
                    </a:p>
                  </a:txBody>
                  <a:tcPr anchor="ctr"/>
                </a:tc>
                <a:tc>
                  <a:txBody>
                    <a:bodyPr/>
                    <a:lstStyle/>
                    <a:p>
                      <a:pPr algn="ctr" rtl="0" fontAlgn="base"/>
                      <a:r>
                        <a:rPr lang="en-IN" sz="1050" b="1" i="0" u="none" strike="noStrike">
                          <a:solidFill>
                            <a:srgbClr val="171717"/>
                          </a:solidFill>
                          <a:effectLst/>
                          <a:latin typeface="+mj-lt"/>
                        </a:rPr>
                        <a:t>9.8</a:t>
                      </a:r>
                      <a:r>
                        <a:rPr lang="en-IN" sz="1050" b="1" i="0">
                          <a:solidFill>
                            <a:srgbClr val="2C2B69"/>
                          </a:solidFill>
                          <a:effectLst/>
                          <a:latin typeface="+mj-lt"/>
                        </a:rPr>
                        <a:t>​</a:t>
                      </a:r>
                    </a:p>
                  </a:txBody>
                  <a:tcPr anchor="ctr"/>
                </a:tc>
                <a:tc>
                  <a:txBody>
                    <a:bodyPr/>
                    <a:lstStyle/>
                    <a:p>
                      <a:pPr algn="ctr" rtl="0" fontAlgn="base"/>
                      <a:r>
                        <a:rPr lang="en-IN" sz="1050" b="1" i="0">
                          <a:solidFill>
                            <a:srgbClr val="2C2B69"/>
                          </a:solidFill>
                          <a:effectLst/>
                          <a:latin typeface="+mj-lt"/>
                        </a:rPr>
                        <a:t>3.9</a:t>
                      </a:r>
                    </a:p>
                  </a:txBody>
                  <a:tcPr anchor="ctr"/>
                </a:tc>
                <a:tc>
                  <a:txBody>
                    <a:bodyPr/>
                    <a:lstStyle/>
                    <a:p>
                      <a:pPr algn="ctr" rtl="0" fontAlgn="base"/>
                      <a:r>
                        <a:rPr lang="en-IN" sz="1050" b="1" i="0" u="none" strike="noStrike">
                          <a:solidFill>
                            <a:srgbClr val="000000"/>
                          </a:solidFill>
                          <a:effectLst/>
                          <a:latin typeface="+mj-lt"/>
                        </a:rPr>
                        <a:t>-0.9</a:t>
                      </a:r>
                      <a:r>
                        <a:rPr lang="en-IN" sz="1050" b="1" i="0">
                          <a:solidFill>
                            <a:srgbClr val="2C2B69"/>
                          </a:solidFill>
                          <a:effectLst/>
                          <a:latin typeface="+mj-lt"/>
                        </a:rPr>
                        <a:t>​</a:t>
                      </a:r>
                    </a:p>
                  </a:txBody>
                  <a:tcPr anchor="ctr"/>
                </a:tc>
                <a:extLst>
                  <a:ext uri="{0D108BD9-81ED-4DB2-BD59-A6C34878D82A}">
                    <a16:rowId xmlns:a16="http://schemas.microsoft.com/office/drawing/2014/main" val="2159784742"/>
                  </a:ext>
                </a:extLst>
              </a:tr>
              <a:tr h="304727">
                <a:tc>
                  <a:txBody>
                    <a:bodyPr/>
                    <a:lstStyle/>
                    <a:p>
                      <a:pPr algn="l" rtl="0" fontAlgn="base"/>
                      <a:r>
                        <a:rPr lang="en-US" sz="1050" b="0" i="0" u="none" strike="noStrike">
                          <a:solidFill>
                            <a:srgbClr val="171717"/>
                          </a:solidFill>
                          <a:effectLst/>
                          <a:latin typeface="+mj-lt"/>
                        </a:rPr>
                        <a:t>% Growth YoY</a:t>
                      </a:r>
                      <a:r>
                        <a:rPr lang="en-US" sz="1050" b="0" i="0">
                          <a:solidFill>
                            <a:srgbClr val="2C2B69"/>
                          </a:solidFill>
                          <a:effectLst/>
                          <a:latin typeface="+mj-lt"/>
                        </a:rPr>
                        <a:t>​</a:t>
                      </a:r>
                    </a:p>
                  </a:txBody>
                  <a:tcPr anchor="ctr"/>
                </a:tc>
                <a:tc>
                  <a:txBody>
                    <a:bodyPr/>
                    <a:lstStyle/>
                    <a:p>
                      <a:pPr algn="ctr" fontAlgn="b"/>
                      <a:r>
                        <a:rPr lang="en-IN" sz="1050" b="0" i="0" u="none" strike="noStrike">
                          <a:solidFill>
                            <a:srgbClr val="000000"/>
                          </a:solidFill>
                          <a:effectLst/>
                          <a:latin typeface="+mj-lt"/>
                        </a:rPr>
                        <a:t>171.0%</a:t>
                      </a:r>
                    </a:p>
                  </a:txBody>
                  <a:tcPr marL="9525" marR="9525" marT="9525" marB="0" anchor="ctr"/>
                </a:tc>
                <a:tc>
                  <a:txBody>
                    <a:bodyPr/>
                    <a:lstStyle/>
                    <a:p>
                      <a:pPr algn="ctr" rtl="0" fontAlgn="base"/>
                      <a:r>
                        <a:rPr lang="en-IN" sz="1050" b="0" i="0" u="none" strike="noStrike">
                          <a:solidFill>
                            <a:srgbClr val="171717"/>
                          </a:solidFill>
                          <a:effectLst/>
                          <a:latin typeface="+mj-lt"/>
                        </a:rPr>
                        <a:t>244.9%</a:t>
                      </a:r>
                      <a:r>
                        <a:rPr lang="en-IN" sz="1050" b="0" i="0">
                          <a:solidFill>
                            <a:srgbClr val="2C2B69"/>
                          </a:solidFill>
                          <a:effectLst/>
                          <a:latin typeface="+mj-lt"/>
                        </a:rPr>
                        <a:t>​</a:t>
                      </a:r>
                    </a:p>
                  </a:txBody>
                  <a:tcPr anchor="ctr"/>
                </a:tc>
                <a:tc>
                  <a:txBody>
                    <a:bodyPr/>
                    <a:lstStyle/>
                    <a:p>
                      <a:pPr algn="ctr" rtl="0" fontAlgn="base"/>
                      <a:r>
                        <a:rPr lang="en-IN" sz="1050" b="0" i="0" u="none" strike="noStrike">
                          <a:solidFill>
                            <a:srgbClr val="171717"/>
                          </a:solidFill>
                          <a:effectLst/>
                          <a:latin typeface="+mj-lt"/>
                        </a:rPr>
                        <a:t>-24%</a:t>
                      </a:r>
                      <a:r>
                        <a:rPr lang="en-IN" sz="1050" b="0" i="0">
                          <a:solidFill>
                            <a:srgbClr val="2C2B69"/>
                          </a:solidFill>
                          <a:effectLst/>
                          <a:latin typeface="+mj-lt"/>
                        </a:rPr>
                        <a:t>​</a:t>
                      </a:r>
                    </a:p>
                  </a:txBody>
                  <a:tcPr anchor="ctr"/>
                </a:tc>
                <a:tc>
                  <a:txBody>
                    <a:bodyPr/>
                    <a:lstStyle/>
                    <a:p>
                      <a:pPr algn="ctr" rtl="0" fontAlgn="base"/>
                      <a:r>
                        <a:rPr lang="en-IN" sz="1050" b="0" i="0">
                          <a:solidFill>
                            <a:srgbClr val="2C2B69"/>
                          </a:solidFill>
                          <a:effectLst/>
                          <a:latin typeface="+mj-lt"/>
                        </a:rPr>
                        <a:t>167.5%</a:t>
                      </a:r>
                    </a:p>
                  </a:txBody>
                  <a:tcPr anchor="ctr"/>
                </a:tc>
                <a:tc>
                  <a:txBody>
                    <a:bodyPr/>
                    <a:lstStyle/>
                    <a:p>
                      <a:pPr algn="ctr" rtl="0" fontAlgn="base"/>
                      <a:r>
                        <a:rPr lang="en-IN" sz="1050" b="0" i="0" u="none" strike="noStrike">
                          <a:solidFill>
                            <a:srgbClr val="000000"/>
                          </a:solidFill>
                          <a:effectLst/>
                          <a:latin typeface="+mj-lt"/>
                        </a:rPr>
                        <a:t>-124.6%</a:t>
                      </a:r>
                      <a:r>
                        <a:rPr lang="en-IN" sz="1050" b="0" i="0">
                          <a:solidFill>
                            <a:srgbClr val="2C2B69"/>
                          </a:solidFill>
                          <a:effectLst/>
                          <a:latin typeface="+mj-lt"/>
                        </a:rPr>
                        <a:t>​</a:t>
                      </a:r>
                    </a:p>
                  </a:txBody>
                  <a:tcPr anchor="ctr"/>
                </a:tc>
                <a:extLst>
                  <a:ext uri="{0D108BD9-81ED-4DB2-BD59-A6C34878D82A}">
                    <a16:rowId xmlns:a16="http://schemas.microsoft.com/office/drawing/2014/main" val="2809398452"/>
                  </a:ext>
                </a:extLst>
              </a:tr>
              <a:tr h="304727">
                <a:tc>
                  <a:txBody>
                    <a:bodyPr/>
                    <a:lstStyle/>
                    <a:p>
                      <a:pPr algn="l" rtl="0" fontAlgn="base"/>
                      <a:r>
                        <a:rPr lang="en-US" sz="1050" b="1" i="0" u="none" strike="noStrike">
                          <a:solidFill>
                            <a:srgbClr val="171717"/>
                          </a:solidFill>
                          <a:effectLst/>
                          <a:latin typeface="+mj-lt"/>
                        </a:rPr>
                        <a:t>EBITDA</a:t>
                      </a:r>
                      <a:r>
                        <a:rPr lang="en-US" sz="1050" b="0" i="0">
                          <a:solidFill>
                            <a:srgbClr val="2C2B69"/>
                          </a:solidFill>
                          <a:effectLst/>
                          <a:latin typeface="+mj-lt"/>
                        </a:rPr>
                        <a:t>​</a:t>
                      </a:r>
                    </a:p>
                  </a:txBody>
                  <a:tcPr anchor="ctr"/>
                </a:tc>
                <a:tc>
                  <a:txBody>
                    <a:bodyPr/>
                    <a:lstStyle/>
                    <a:p>
                      <a:pPr algn="ctr" fontAlgn="b"/>
                      <a:r>
                        <a:rPr lang="en-IN" sz="1050" b="1" i="0" u="none" strike="noStrike">
                          <a:solidFill>
                            <a:srgbClr val="000000"/>
                          </a:solidFill>
                          <a:effectLst/>
                          <a:latin typeface="+mj-lt"/>
                        </a:rPr>
                        <a:t>-4.9</a:t>
                      </a:r>
                    </a:p>
                  </a:txBody>
                  <a:tcPr marL="9525" marR="9525" marT="9525" marB="0" anchor="ctr"/>
                </a:tc>
                <a:tc>
                  <a:txBody>
                    <a:bodyPr/>
                    <a:lstStyle/>
                    <a:p>
                      <a:pPr algn="ctr" rtl="0" fontAlgn="base"/>
                      <a:r>
                        <a:rPr lang="en-IN" sz="1050" b="1" i="0" u="none" strike="noStrike">
                          <a:solidFill>
                            <a:srgbClr val="171717"/>
                          </a:solidFill>
                          <a:effectLst/>
                          <a:latin typeface="+mj-lt"/>
                        </a:rPr>
                        <a:t>-7.8</a:t>
                      </a:r>
                      <a:r>
                        <a:rPr lang="en-IN" sz="1050" b="1" i="0">
                          <a:solidFill>
                            <a:srgbClr val="2C2B69"/>
                          </a:solidFill>
                          <a:effectLst/>
                          <a:latin typeface="+mj-lt"/>
                        </a:rPr>
                        <a:t>​</a:t>
                      </a:r>
                    </a:p>
                  </a:txBody>
                  <a:tcPr anchor="ctr"/>
                </a:tc>
                <a:tc>
                  <a:txBody>
                    <a:bodyPr/>
                    <a:lstStyle/>
                    <a:p>
                      <a:pPr algn="ctr" rtl="0" fontAlgn="base"/>
                      <a:r>
                        <a:rPr lang="en-IN" sz="1050" b="1" i="0" u="none" strike="noStrike">
                          <a:solidFill>
                            <a:srgbClr val="171717"/>
                          </a:solidFill>
                          <a:effectLst/>
                          <a:latin typeface="+mj-lt"/>
                        </a:rPr>
                        <a:t>-14.2</a:t>
                      </a:r>
                      <a:r>
                        <a:rPr lang="en-IN" sz="1050" b="1" i="0">
                          <a:solidFill>
                            <a:srgbClr val="2C2B69"/>
                          </a:solidFill>
                          <a:effectLst/>
                          <a:latin typeface="+mj-lt"/>
                        </a:rPr>
                        <a:t>​</a:t>
                      </a:r>
                    </a:p>
                  </a:txBody>
                  <a:tcPr anchor="ctr"/>
                </a:tc>
                <a:tc>
                  <a:txBody>
                    <a:bodyPr/>
                    <a:lstStyle/>
                    <a:p>
                      <a:pPr algn="ctr" rtl="0" fontAlgn="base"/>
                      <a:r>
                        <a:rPr lang="en-IN" sz="1050" b="1" i="0">
                          <a:solidFill>
                            <a:srgbClr val="2C2B69"/>
                          </a:solidFill>
                          <a:effectLst/>
                          <a:latin typeface="+mj-lt"/>
                        </a:rPr>
                        <a:t>-3.1</a:t>
                      </a:r>
                    </a:p>
                  </a:txBody>
                  <a:tcPr anchor="ctr"/>
                </a:tc>
                <a:tc>
                  <a:txBody>
                    <a:bodyPr/>
                    <a:lstStyle/>
                    <a:p>
                      <a:pPr algn="ctr" rtl="0" fontAlgn="base"/>
                      <a:r>
                        <a:rPr lang="en-IN" sz="1050" b="1" i="0" u="none" strike="noStrike">
                          <a:solidFill>
                            <a:srgbClr val="000000"/>
                          </a:solidFill>
                          <a:effectLst/>
                          <a:latin typeface="+mj-lt"/>
                        </a:rPr>
                        <a:t>-4.4</a:t>
                      </a:r>
                      <a:r>
                        <a:rPr lang="en-IN" sz="1050" b="1" i="0">
                          <a:solidFill>
                            <a:srgbClr val="2C2B69"/>
                          </a:solidFill>
                          <a:effectLst/>
                          <a:latin typeface="+mj-lt"/>
                        </a:rPr>
                        <a:t>​</a:t>
                      </a:r>
                    </a:p>
                  </a:txBody>
                  <a:tcPr anchor="ctr"/>
                </a:tc>
                <a:extLst>
                  <a:ext uri="{0D108BD9-81ED-4DB2-BD59-A6C34878D82A}">
                    <a16:rowId xmlns:a16="http://schemas.microsoft.com/office/drawing/2014/main" val="4076501595"/>
                  </a:ext>
                </a:extLst>
              </a:tr>
              <a:tr h="304727">
                <a:tc>
                  <a:txBody>
                    <a:bodyPr/>
                    <a:lstStyle/>
                    <a:p>
                      <a:pPr algn="l" rtl="0" fontAlgn="base"/>
                      <a:r>
                        <a:rPr lang="en-US" sz="1050" b="0" i="0" u="none" strike="noStrike">
                          <a:solidFill>
                            <a:srgbClr val="171717"/>
                          </a:solidFill>
                          <a:effectLst/>
                          <a:latin typeface="+mj-lt"/>
                        </a:rPr>
                        <a:t>% EBITDA</a:t>
                      </a:r>
                      <a:r>
                        <a:rPr lang="en-US" sz="1050" b="0" i="0">
                          <a:solidFill>
                            <a:srgbClr val="2C2B69"/>
                          </a:solidFill>
                          <a:effectLst/>
                          <a:latin typeface="+mj-lt"/>
                        </a:rPr>
                        <a:t>​</a:t>
                      </a:r>
                    </a:p>
                  </a:txBody>
                  <a:tcPr anchor="ctr"/>
                </a:tc>
                <a:tc>
                  <a:txBody>
                    <a:bodyPr/>
                    <a:lstStyle/>
                    <a:p>
                      <a:pPr algn="ctr" fontAlgn="b"/>
                      <a:r>
                        <a:rPr lang="en-IN" sz="1050" b="0" i="0" u="none" strike="noStrike">
                          <a:solidFill>
                            <a:srgbClr val="000000"/>
                          </a:solidFill>
                          <a:effectLst/>
                          <a:latin typeface="+mj-lt"/>
                        </a:rPr>
                        <a:t>-131.3%</a:t>
                      </a:r>
                    </a:p>
                  </a:txBody>
                  <a:tcPr marL="9525" marR="9525" marT="9525" marB="0" anchor="ctr"/>
                </a:tc>
                <a:tc>
                  <a:txBody>
                    <a:bodyPr/>
                    <a:lstStyle/>
                    <a:p>
                      <a:pPr algn="ctr" rtl="0" fontAlgn="base"/>
                      <a:r>
                        <a:rPr lang="en-IN" sz="1050" b="0" i="0" u="none" strike="noStrike">
                          <a:solidFill>
                            <a:srgbClr val="171717"/>
                          </a:solidFill>
                          <a:effectLst/>
                          <a:latin typeface="+mj-lt"/>
                        </a:rPr>
                        <a:t>-60.5%</a:t>
                      </a:r>
                      <a:r>
                        <a:rPr lang="en-IN" sz="1050" b="0" i="0">
                          <a:solidFill>
                            <a:srgbClr val="2C2B69"/>
                          </a:solidFill>
                          <a:effectLst/>
                          <a:latin typeface="+mj-lt"/>
                        </a:rPr>
                        <a:t>​</a:t>
                      </a:r>
                    </a:p>
                  </a:txBody>
                  <a:tcPr anchor="ctr"/>
                </a:tc>
                <a:tc>
                  <a:txBody>
                    <a:bodyPr/>
                    <a:lstStyle/>
                    <a:p>
                      <a:pPr algn="ctr" rtl="0" fontAlgn="base"/>
                      <a:r>
                        <a:rPr lang="en-IN" sz="1050" b="0" i="0" u="none" strike="noStrike">
                          <a:solidFill>
                            <a:srgbClr val="171717"/>
                          </a:solidFill>
                          <a:effectLst/>
                          <a:latin typeface="+mj-lt"/>
                        </a:rPr>
                        <a:t>-145.2%</a:t>
                      </a:r>
                      <a:r>
                        <a:rPr lang="en-IN" sz="1050" b="0" i="0">
                          <a:solidFill>
                            <a:srgbClr val="2C2B69"/>
                          </a:solidFill>
                          <a:effectLst/>
                          <a:latin typeface="+mj-lt"/>
                        </a:rPr>
                        <a:t>​</a:t>
                      </a:r>
                    </a:p>
                  </a:txBody>
                  <a:tcPr anchor="ctr"/>
                </a:tc>
                <a:tc>
                  <a:txBody>
                    <a:bodyPr/>
                    <a:lstStyle/>
                    <a:p>
                      <a:pPr algn="ctr" rtl="0" fontAlgn="base"/>
                      <a:r>
                        <a:rPr lang="en-IN" sz="1050" b="0" i="0">
                          <a:solidFill>
                            <a:srgbClr val="2C2B69"/>
                          </a:solidFill>
                          <a:effectLst/>
                          <a:latin typeface="+mj-lt"/>
                        </a:rPr>
                        <a:t>-77.2%</a:t>
                      </a:r>
                    </a:p>
                  </a:txBody>
                  <a:tcPr anchor="ctr"/>
                </a:tc>
                <a:tc>
                  <a:txBody>
                    <a:bodyPr/>
                    <a:lstStyle/>
                    <a:p>
                      <a:pPr algn="ctr" rtl="0" fontAlgn="base"/>
                      <a:r>
                        <a:rPr lang="en-IN" sz="1050" b="0" i="0" u="none" strike="noStrike">
                          <a:solidFill>
                            <a:srgbClr val="000000"/>
                          </a:solidFill>
                          <a:effectLst/>
                          <a:latin typeface="+mj-lt"/>
                        </a:rPr>
                        <a:t>-444.9%</a:t>
                      </a:r>
                      <a:r>
                        <a:rPr lang="en-IN" sz="1050" b="0" i="0">
                          <a:solidFill>
                            <a:srgbClr val="2C2B69"/>
                          </a:solidFill>
                          <a:effectLst/>
                          <a:latin typeface="+mj-lt"/>
                        </a:rPr>
                        <a:t>​</a:t>
                      </a:r>
                    </a:p>
                  </a:txBody>
                  <a:tcPr anchor="ctr"/>
                </a:tc>
                <a:extLst>
                  <a:ext uri="{0D108BD9-81ED-4DB2-BD59-A6C34878D82A}">
                    <a16:rowId xmlns:a16="http://schemas.microsoft.com/office/drawing/2014/main" val="3179895044"/>
                  </a:ext>
                </a:extLst>
              </a:tr>
            </a:tbl>
          </a:graphicData>
        </a:graphic>
      </p:graphicFrame>
    </p:spTree>
    <p:extLst>
      <p:ext uri="{BB962C8B-B14F-4D97-AF65-F5344CB8AC3E}">
        <p14:creationId xmlns:p14="http://schemas.microsoft.com/office/powerpoint/2010/main" val="32018876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2E8C9-CD5A-E226-3107-3D05AAF0366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BC06630-C3E2-4E48-5075-6439E3FC4627}"/>
              </a:ext>
            </a:extLst>
          </p:cNvPr>
          <p:cNvSpPr txBox="1"/>
          <p:nvPr/>
        </p:nvSpPr>
        <p:spPr>
          <a:xfrm>
            <a:off x="499141" y="1387387"/>
            <a:ext cx="3450246" cy="320216"/>
          </a:xfrm>
          <a:prstGeom prst="rect">
            <a:avLst/>
          </a:prstGeom>
          <a:noFill/>
        </p:spPr>
        <p:txBody>
          <a:bodyPr wrap="square" rtlCol="0">
            <a:spAutoFit/>
          </a:bodyPr>
          <a:lstStyle/>
          <a:p>
            <a:r>
              <a:rPr lang="en-IN" sz="1481" b="1">
                <a:solidFill>
                  <a:schemeClr val="tx2"/>
                </a:solidFill>
                <a:ea typeface="Lato Regular" panose="020F0502020204030203" pitchFamily="34" charset="0"/>
                <a:cs typeface="Lato Regular" panose="020F0502020204030203" pitchFamily="34" charset="0"/>
              </a:rPr>
              <a:t>Business Description</a:t>
            </a:r>
          </a:p>
        </p:txBody>
      </p:sp>
      <p:sp>
        <p:nvSpPr>
          <p:cNvPr id="4" name="TextBox 3">
            <a:extLst>
              <a:ext uri="{FF2B5EF4-FFF2-40B4-BE49-F238E27FC236}">
                <a16:creationId xmlns:a16="http://schemas.microsoft.com/office/drawing/2014/main" id="{556B82D1-6C7C-8B6A-4DD3-6EB8DB531939}"/>
              </a:ext>
            </a:extLst>
          </p:cNvPr>
          <p:cNvSpPr txBox="1"/>
          <p:nvPr/>
        </p:nvSpPr>
        <p:spPr>
          <a:xfrm>
            <a:off x="499141" y="3805112"/>
            <a:ext cx="3450246" cy="320216"/>
          </a:xfrm>
          <a:prstGeom prst="rect">
            <a:avLst/>
          </a:prstGeom>
          <a:noFill/>
        </p:spPr>
        <p:txBody>
          <a:bodyPr wrap="square" rtlCol="0">
            <a:spAutoFit/>
          </a:bodyPr>
          <a:lstStyle/>
          <a:p>
            <a:r>
              <a:rPr lang="en-IN" sz="1481" b="1">
                <a:solidFill>
                  <a:schemeClr val="tx2"/>
                </a:solidFill>
                <a:ea typeface="Lato Regular" panose="020F0502020204030203" pitchFamily="34" charset="0"/>
                <a:cs typeface="Lato Regular" panose="020F0502020204030203" pitchFamily="34" charset="0"/>
              </a:rPr>
              <a:t>Performance Commentary</a:t>
            </a:r>
          </a:p>
        </p:txBody>
      </p:sp>
      <p:sp>
        <p:nvSpPr>
          <p:cNvPr id="5" name="TextBox 4">
            <a:extLst>
              <a:ext uri="{FF2B5EF4-FFF2-40B4-BE49-F238E27FC236}">
                <a16:creationId xmlns:a16="http://schemas.microsoft.com/office/drawing/2014/main" id="{D43C5B12-D57E-3BDF-6F4D-DB8ACAB43510}"/>
              </a:ext>
            </a:extLst>
          </p:cNvPr>
          <p:cNvSpPr txBox="1"/>
          <p:nvPr/>
        </p:nvSpPr>
        <p:spPr>
          <a:xfrm>
            <a:off x="5539984" y="3805112"/>
            <a:ext cx="3450246" cy="227883"/>
          </a:xfrm>
          <a:prstGeom prst="rect">
            <a:avLst/>
          </a:prstGeom>
          <a:noFill/>
        </p:spPr>
        <p:txBody>
          <a:bodyPr wrap="square" lIns="0" tIns="0" rIns="0" bIns="0" rtlCol="0">
            <a:spAutoFit/>
          </a:bodyPr>
          <a:lstStyle/>
          <a:p>
            <a:r>
              <a:rPr lang="en-IN" sz="1481" b="1">
                <a:solidFill>
                  <a:schemeClr val="tx2"/>
                </a:solidFill>
                <a:ea typeface="Lato Regular" panose="020F0502020204030203" pitchFamily="34" charset="0"/>
                <a:cs typeface="Lato Regular" panose="020F0502020204030203" pitchFamily="34" charset="0"/>
              </a:rPr>
              <a:t>Key Financial Highlights</a:t>
            </a:r>
          </a:p>
        </p:txBody>
      </p:sp>
      <p:sp>
        <p:nvSpPr>
          <p:cNvPr id="6" name="Rectangle 5">
            <a:extLst>
              <a:ext uri="{FF2B5EF4-FFF2-40B4-BE49-F238E27FC236}">
                <a16:creationId xmlns:a16="http://schemas.microsoft.com/office/drawing/2014/main" id="{991D64E6-426D-68EE-A6AA-2F52D3F6DF5B}"/>
              </a:ext>
            </a:extLst>
          </p:cNvPr>
          <p:cNvSpPr/>
          <p:nvPr/>
        </p:nvSpPr>
        <p:spPr>
          <a:xfrm>
            <a:off x="562116" y="1815136"/>
            <a:ext cx="4195514" cy="2000548"/>
          </a:xfrm>
          <a:prstGeom prst="rect">
            <a:avLst/>
          </a:prstGeom>
        </p:spPr>
        <p:txBody>
          <a:bodyPr wrap="square" lIns="0" tIns="0" rIns="0" bIns="0" anchor="t">
            <a:spAutoFit/>
          </a:bodyPr>
          <a:lstStyle/>
          <a:p>
            <a:pPr marL="171450" indent="-171450" algn="just">
              <a:spcAft>
                <a:spcPts val="600"/>
              </a:spcAft>
              <a:buFont typeface="Arial,Sans-Serif" panose="020B0604020202020204" pitchFamily="34" charset="0"/>
              <a:buChar char="•"/>
            </a:pPr>
            <a:r>
              <a:rPr lang="en-US" sz="1200">
                <a:solidFill>
                  <a:schemeClr val="bg2">
                    <a:lumMod val="10000"/>
                  </a:schemeClr>
                </a:solidFill>
                <a:ea typeface="Calibri"/>
                <a:cs typeface="Calibri"/>
                <a:sym typeface="Calibri"/>
              </a:rPr>
              <a:t>The company is into Supply Chain Financing. It offers digital MSME loans and Invoice Financing solutions to the growing Indian Mid-Small Cap Market. Supply chain finance targets access to suitable instruments to manage working capital requirements, which is the key to tackling the finance gap among MSMEs. </a:t>
            </a:r>
          </a:p>
          <a:p>
            <a:pPr marL="171450" indent="-171450" algn="just">
              <a:spcAft>
                <a:spcPts val="600"/>
              </a:spcAft>
              <a:buFont typeface="Arial,Sans-Serif" panose="020B0604020202020204" pitchFamily="34" charset="0"/>
              <a:buChar char="•"/>
            </a:pPr>
            <a:r>
              <a:rPr lang="en-US" sz="1200">
                <a:solidFill>
                  <a:schemeClr val="bg2">
                    <a:lumMod val="10000"/>
                  </a:schemeClr>
                </a:solidFill>
                <a:ea typeface="Calibri"/>
                <a:cs typeface="Calibri"/>
                <a:sym typeface="Calibri"/>
              </a:rPr>
              <a:t>Supply chain finance benefits both buyers and sellers in the supply chain by incorporating the history of performance and interdependence of relationships within a supply chain</a:t>
            </a:r>
            <a:endParaRPr lang="en-US" sz="1200">
              <a:solidFill>
                <a:schemeClr val="bg2">
                  <a:lumMod val="10000"/>
                </a:schemeClr>
              </a:solidFill>
              <a:ea typeface="Calibri"/>
              <a:cs typeface="Calibri"/>
            </a:endParaRPr>
          </a:p>
          <a:p>
            <a:pPr marL="171450" indent="-171450" algn="just">
              <a:spcAft>
                <a:spcPts val="600"/>
              </a:spcAft>
              <a:buFont typeface="Arial" panose="020B0604020202020204" pitchFamily="34" charset="0"/>
              <a:buChar char="•"/>
            </a:pPr>
            <a:endParaRPr lang="en-US" sz="1200">
              <a:solidFill>
                <a:schemeClr val="bg2">
                  <a:lumMod val="10000"/>
                </a:schemeClr>
              </a:solidFill>
              <a:ea typeface="Calibri"/>
              <a:cs typeface="Calibri"/>
            </a:endParaRPr>
          </a:p>
        </p:txBody>
      </p:sp>
      <p:sp>
        <p:nvSpPr>
          <p:cNvPr id="7" name="TextBox 6">
            <a:extLst>
              <a:ext uri="{FF2B5EF4-FFF2-40B4-BE49-F238E27FC236}">
                <a16:creationId xmlns:a16="http://schemas.microsoft.com/office/drawing/2014/main" id="{ECE19B62-E9D3-D075-EAE8-AA452EB3085F}"/>
              </a:ext>
            </a:extLst>
          </p:cNvPr>
          <p:cNvSpPr txBox="1"/>
          <p:nvPr/>
        </p:nvSpPr>
        <p:spPr>
          <a:xfrm>
            <a:off x="473741" y="4063420"/>
            <a:ext cx="4408262" cy="2246769"/>
          </a:xfrm>
          <a:prstGeom prst="rect">
            <a:avLst/>
          </a:prstGeom>
          <a:noFill/>
        </p:spPr>
        <p:txBody>
          <a:bodyPr wrap="square" lIns="91440" tIns="45720" rIns="91440" bIns="45720" rtlCol="0" anchor="t">
            <a:spAutoFit/>
          </a:bodyPr>
          <a:lstStyle/>
          <a:p>
            <a:pPr marL="171450" indent="-171450" algn="just">
              <a:spcAft>
                <a:spcPts val="600"/>
              </a:spcAft>
              <a:buFont typeface="Arial,Sans-Serif" panose="020B0604020202020204" pitchFamily="34" charset="0"/>
              <a:buChar char="•"/>
            </a:pPr>
            <a:r>
              <a:rPr lang="en-IN" sz="1200">
                <a:solidFill>
                  <a:srgbClr val="242424"/>
                </a:solidFill>
                <a:highlight>
                  <a:srgbClr val="FFFFFF"/>
                </a:highlight>
                <a:ea typeface="Calibri"/>
                <a:cs typeface="Calibri"/>
              </a:rPr>
              <a:t>Supply chain finance, doing what supply chain finance does when distribution is built right. </a:t>
            </a:r>
            <a:r>
              <a:rPr lang="en-IN" sz="1200" b="1">
                <a:solidFill>
                  <a:srgbClr val="242424"/>
                </a:solidFill>
                <a:highlight>
                  <a:srgbClr val="FFFFFF"/>
                </a:highlight>
                <a:ea typeface="Calibri"/>
                <a:cs typeface="Calibri"/>
              </a:rPr>
              <a:t>Disbursals scaled ~76% YoY to ₹3,792.7 Cr</a:t>
            </a:r>
            <a:r>
              <a:rPr lang="en-IN" sz="1200">
                <a:solidFill>
                  <a:srgbClr val="242424"/>
                </a:solidFill>
                <a:highlight>
                  <a:srgbClr val="FFFFFF"/>
                </a:highlight>
                <a:ea typeface="Calibri"/>
                <a:cs typeface="Calibri"/>
              </a:rPr>
              <a:t> (a </a:t>
            </a:r>
            <a:r>
              <a:rPr lang="en-IN" sz="1200" b="1">
                <a:solidFill>
                  <a:srgbClr val="242424"/>
                </a:solidFill>
                <a:highlight>
                  <a:srgbClr val="FFFFFF"/>
                </a:highlight>
                <a:ea typeface="Calibri"/>
                <a:cs typeface="Calibri"/>
              </a:rPr>
              <a:t>~12x jump from FY24</a:t>
            </a:r>
            <a:r>
              <a:rPr lang="en-IN" sz="1200">
                <a:solidFill>
                  <a:srgbClr val="242424"/>
                </a:solidFill>
                <a:highlight>
                  <a:srgbClr val="FFFFFF"/>
                </a:highlight>
                <a:ea typeface="Calibri"/>
                <a:cs typeface="Calibri"/>
              </a:rPr>
              <a:t>).</a:t>
            </a:r>
            <a:endParaRPr lang="en-US" sz="1200">
              <a:solidFill>
                <a:srgbClr val="2C2B69"/>
              </a:solidFill>
              <a:ea typeface="Calibri"/>
              <a:cs typeface="Calibri"/>
            </a:endParaRPr>
          </a:p>
          <a:p>
            <a:pPr marL="171450" indent="-171450" algn="just">
              <a:spcAft>
                <a:spcPts val="600"/>
              </a:spcAft>
              <a:buFont typeface="Arial,Sans-Serif" panose="020B0604020202020204" pitchFamily="34" charset="0"/>
              <a:buChar char="•"/>
            </a:pPr>
            <a:r>
              <a:rPr lang="en-IN" sz="1200">
                <a:solidFill>
                  <a:srgbClr val="242424"/>
                </a:solidFill>
                <a:highlight>
                  <a:srgbClr val="FFFFFF"/>
                </a:highlight>
                <a:ea typeface="Calibri"/>
                <a:cs typeface="Calibri"/>
              </a:rPr>
              <a:t> Invoice volumes </a:t>
            </a:r>
            <a:r>
              <a:rPr lang="en-IN" sz="1200" b="1">
                <a:solidFill>
                  <a:srgbClr val="242424"/>
                </a:solidFill>
                <a:highlight>
                  <a:srgbClr val="FFFFFF"/>
                </a:highlight>
                <a:ea typeface="Calibri"/>
                <a:cs typeface="Calibri"/>
              </a:rPr>
              <a:t>2.1x YoY</a:t>
            </a:r>
            <a:r>
              <a:rPr lang="en-IN" sz="1200">
                <a:solidFill>
                  <a:srgbClr val="242424"/>
                </a:solidFill>
                <a:highlight>
                  <a:srgbClr val="FFFFFF"/>
                </a:highlight>
                <a:ea typeface="Calibri"/>
                <a:cs typeface="Calibri"/>
              </a:rPr>
              <a:t> to 1,88,521. </a:t>
            </a:r>
          </a:p>
          <a:p>
            <a:pPr marL="171450" indent="-171450" algn="just">
              <a:spcAft>
                <a:spcPts val="600"/>
              </a:spcAft>
              <a:buFont typeface="Arial,Sans-Serif" panose="020B0604020202020204" pitchFamily="34" charset="0"/>
              <a:buChar char="•"/>
            </a:pPr>
            <a:r>
              <a:rPr lang="en-IN" sz="1200">
                <a:solidFill>
                  <a:srgbClr val="242424"/>
                </a:solidFill>
                <a:highlight>
                  <a:srgbClr val="FFFFFF"/>
                </a:highlight>
                <a:ea typeface="Calibri"/>
                <a:cs typeface="Calibri"/>
              </a:rPr>
              <a:t>Dealer network up 15% to 2,521.</a:t>
            </a:r>
          </a:p>
          <a:p>
            <a:pPr marL="171450" indent="-171450" algn="just">
              <a:spcAft>
                <a:spcPts val="600"/>
              </a:spcAft>
              <a:buFont typeface="Arial,Sans-Serif" panose="020B0604020202020204" pitchFamily="34" charset="0"/>
              <a:buChar char="•"/>
            </a:pPr>
            <a:r>
              <a:rPr lang="en-IN" sz="1200">
                <a:solidFill>
                  <a:srgbClr val="242424"/>
                </a:solidFill>
                <a:highlight>
                  <a:srgbClr val="FFFFFF"/>
                </a:highlight>
                <a:ea typeface="Calibri"/>
                <a:cs typeface="Calibri"/>
              </a:rPr>
              <a:t> The MSME working-capital gap in India is a multi-decade structural opportunity, and there is no shortcut to distribution — only patience and underwriting discipline. Both are in evidence here.</a:t>
            </a:r>
          </a:p>
          <a:p>
            <a:pPr marL="171450" indent="-171450" algn="just">
              <a:spcAft>
                <a:spcPts val="600"/>
              </a:spcAft>
              <a:buFont typeface="Arial" panose="020B0604020202020204" pitchFamily="34" charset="0"/>
              <a:buChar char="•"/>
            </a:pPr>
            <a:endParaRPr lang="en-GB" sz="1200">
              <a:solidFill>
                <a:schemeClr val="bg2">
                  <a:lumMod val="10000"/>
                </a:schemeClr>
              </a:solidFill>
              <a:ea typeface="Lato Regular"/>
              <a:cs typeface="Lato Regular"/>
            </a:endParaRPr>
          </a:p>
        </p:txBody>
      </p:sp>
      <p:cxnSp>
        <p:nvCxnSpPr>
          <p:cNvPr id="10" name="Straight Connector 9">
            <a:extLst>
              <a:ext uri="{FF2B5EF4-FFF2-40B4-BE49-F238E27FC236}">
                <a16:creationId xmlns:a16="http://schemas.microsoft.com/office/drawing/2014/main" id="{6D5E24D4-CED4-34B7-A929-2216F6BB708B}"/>
              </a:ext>
            </a:extLst>
          </p:cNvPr>
          <p:cNvCxnSpPr>
            <a:cxnSpLocks/>
          </p:cNvCxnSpPr>
          <p:nvPr/>
        </p:nvCxnSpPr>
        <p:spPr>
          <a:xfrm>
            <a:off x="6948730" y="536026"/>
            <a:ext cx="0" cy="320217"/>
          </a:xfrm>
          <a:prstGeom prst="line">
            <a:avLst/>
          </a:prstGeom>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02D4DC7-42D7-4B1C-FC1A-C0565FD4BAA2}"/>
              </a:ext>
            </a:extLst>
          </p:cNvPr>
          <p:cNvSpPr txBox="1"/>
          <p:nvPr/>
        </p:nvSpPr>
        <p:spPr>
          <a:xfrm>
            <a:off x="5539984" y="1433554"/>
            <a:ext cx="3607078" cy="227883"/>
          </a:xfrm>
          <a:prstGeom prst="rect">
            <a:avLst/>
          </a:prstGeom>
          <a:noFill/>
        </p:spPr>
        <p:txBody>
          <a:bodyPr wrap="square" lIns="0" tIns="0" rIns="0" bIns="0" rtlCol="0">
            <a:spAutoFit/>
          </a:bodyPr>
          <a:lstStyle/>
          <a:p>
            <a:r>
              <a:rPr lang="en-IN" sz="1481" b="1">
                <a:solidFill>
                  <a:schemeClr val="tx2"/>
                </a:solidFill>
                <a:ea typeface="Lato Regular" panose="020F0502020204030203" pitchFamily="34" charset="0"/>
                <a:cs typeface="Lato Regular" panose="020F0502020204030203" pitchFamily="34" charset="0"/>
              </a:rPr>
              <a:t>Key Performance Indicators</a:t>
            </a:r>
          </a:p>
        </p:txBody>
      </p:sp>
      <p:graphicFrame>
        <p:nvGraphicFramePr>
          <p:cNvPr id="14" name="Table 13">
            <a:extLst>
              <a:ext uri="{FF2B5EF4-FFF2-40B4-BE49-F238E27FC236}">
                <a16:creationId xmlns:a16="http://schemas.microsoft.com/office/drawing/2014/main" id="{A5A6C559-0A6C-9D8B-5F04-DF857355ADD1}"/>
              </a:ext>
            </a:extLst>
          </p:cNvPr>
          <p:cNvGraphicFramePr>
            <a:graphicFrameLocks noGrp="1"/>
          </p:cNvGraphicFramePr>
          <p:nvPr>
            <p:extLst>
              <p:ext uri="{D42A27DB-BD31-4B8C-83A1-F6EECF244321}">
                <p14:modId xmlns:p14="http://schemas.microsoft.com/office/powerpoint/2010/main" val="879151531"/>
              </p:ext>
            </p:extLst>
          </p:nvPr>
        </p:nvGraphicFramePr>
        <p:xfrm>
          <a:off x="5539984" y="1840227"/>
          <a:ext cx="5833725" cy="1343571"/>
        </p:xfrm>
        <a:graphic>
          <a:graphicData uri="http://schemas.openxmlformats.org/drawingml/2006/table">
            <a:tbl>
              <a:tblPr firstRow="1" bandRow="1">
                <a:tableStyleId>{69012ECD-51FC-41F1-AA8D-1B2483CD663E}</a:tableStyleId>
              </a:tblPr>
              <a:tblGrid>
                <a:gridCol w="2032635">
                  <a:extLst>
                    <a:ext uri="{9D8B030D-6E8A-4147-A177-3AD203B41FA5}">
                      <a16:colId xmlns:a16="http://schemas.microsoft.com/office/drawing/2014/main" val="3001066899"/>
                    </a:ext>
                  </a:extLst>
                </a:gridCol>
                <a:gridCol w="911806">
                  <a:extLst>
                    <a:ext uri="{9D8B030D-6E8A-4147-A177-3AD203B41FA5}">
                      <a16:colId xmlns:a16="http://schemas.microsoft.com/office/drawing/2014/main" val="700748351"/>
                    </a:ext>
                  </a:extLst>
                </a:gridCol>
                <a:gridCol w="722321">
                  <a:extLst>
                    <a:ext uri="{9D8B030D-6E8A-4147-A177-3AD203B41FA5}">
                      <a16:colId xmlns:a16="http://schemas.microsoft.com/office/drawing/2014/main" val="3274968397"/>
                    </a:ext>
                  </a:extLst>
                </a:gridCol>
                <a:gridCol w="722321">
                  <a:extLst>
                    <a:ext uri="{9D8B030D-6E8A-4147-A177-3AD203B41FA5}">
                      <a16:colId xmlns:a16="http://schemas.microsoft.com/office/drawing/2014/main" val="3623532732"/>
                    </a:ext>
                  </a:extLst>
                </a:gridCol>
                <a:gridCol w="722321">
                  <a:extLst>
                    <a:ext uri="{9D8B030D-6E8A-4147-A177-3AD203B41FA5}">
                      <a16:colId xmlns:a16="http://schemas.microsoft.com/office/drawing/2014/main" val="746035582"/>
                    </a:ext>
                  </a:extLst>
                </a:gridCol>
                <a:gridCol w="722321">
                  <a:extLst>
                    <a:ext uri="{9D8B030D-6E8A-4147-A177-3AD203B41FA5}">
                      <a16:colId xmlns:a16="http://schemas.microsoft.com/office/drawing/2014/main" val="2799431461"/>
                    </a:ext>
                  </a:extLst>
                </a:gridCol>
              </a:tblGrid>
              <a:tr h="262575">
                <a:tc>
                  <a:txBody>
                    <a:bodyPr/>
                    <a:lstStyle/>
                    <a:p>
                      <a:pPr lvl="0" algn="l">
                        <a:buNone/>
                      </a:pPr>
                      <a:r>
                        <a:rPr lang="en-US" sz="1100" b="0" i="0" u="none" strike="noStrike">
                          <a:solidFill>
                            <a:schemeClr val="bg1"/>
                          </a:solidFill>
                          <a:effectLst/>
                          <a:latin typeface="Aptos" panose="02110004020202020204"/>
                          <a:ea typeface="Lato Regular"/>
                          <a:cs typeface="Lato Regular"/>
                        </a:rPr>
                        <a:t>KPIs</a:t>
                      </a:r>
                      <a:endParaRPr lang="en-US" sz="1100" b="0">
                        <a:solidFill>
                          <a:schemeClr val="bg1"/>
                        </a:solidFill>
                        <a:ea typeface="Lato Regular"/>
                        <a:cs typeface="Lato Regular"/>
                      </a:endParaRPr>
                    </a:p>
                  </a:txBody>
                  <a:tcPr marL="108000" marR="6350" marT="6350" marB="0" anchor="ctr"/>
                </a:tc>
                <a:tc>
                  <a:txBody>
                    <a:bodyPr/>
                    <a:lstStyle/>
                    <a:p>
                      <a:pPr lvl="0" algn="ctr">
                        <a:buNone/>
                      </a:pPr>
                      <a:r>
                        <a:rPr lang="en-US" sz="1100" b="1" i="0" u="none" strike="noStrike">
                          <a:solidFill>
                            <a:schemeClr val="bg1"/>
                          </a:solidFill>
                          <a:effectLst/>
                          <a:latin typeface="Aptos"/>
                          <a:ea typeface="Lato Regular"/>
                          <a:cs typeface="Lato Regular"/>
                        </a:rPr>
                        <a:t>FY24</a:t>
                      </a:r>
                    </a:p>
                  </a:txBody>
                  <a:tcPr marL="6350" marR="6350" marT="6350" marB="0" anchor="ctr"/>
                </a:tc>
                <a:tc>
                  <a:txBody>
                    <a:bodyPr/>
                    <a:lstStyle/>
                    <a:p>
                      <a:pPr lvl="0" algn="ctr">
                        <a:buNone/>
                      </a:pPr>
                      <a:r>
                        <a:rPr lang="en-US" sz="1100" b="1" i="0" u="none" strike="noStrike">
                          <a:solidFill>
                            <a:schemeClr val="bg1"/>
                          </a:solidFill>
                          <a:effectLst/>
                          <a:latin typeface="Aptos" panose="02110004020202020204"/>
                          <a:ea typeface="Lato Regular"/>
                          <a:cs typeface="Lato Regular"/>
                        </a:rPr>
                        <a:t>FY25</a:t>
                      </a:r>
                      <a:endParaRPr lang="en-US" sz="1100">
                        <a:solidFill>
                          <a:schemeClr val="bg1"/>
                        </a:solidFill>
                        <a:ea typeface="Lato Regular"/>
                        <a:cs typeface="Lato Regular"/>
                      </a:endParaRPr>
                    </a:p>
                  </a:txBody>
                  <a:tcPr marL="6350" marR="6350" marT="6350" marB="0" anchor="ctr"/>
                </a:tc>
                <a:tc>
                  <a:txBody>
                    <a:bodyPr/>
                    <a:lstStyle/>
                    <a:p>
                      <a:pPr lvl="0" algn="ctr">
                        <a:buNone/>
                      </a:pPr>
                      <a:r>
                        <a:rPr lang="en-US" sz="1100" b="1" i="0" u="none" strike="noStrike">
                          <a:solidFill>
                            <a:schemeClr val="bg1"/>
                          </a:solidFill>
                          <a:effectLst/>
                          <a:latin typeface="Aptos"/>
                          <a:ea typeface="Lato Regular"/>
                          <a:cs typeface="Lato Regular"/>
                        </a:rPr>
                        <a:t>FY26</a:t>
                      </a:r>
                    </a:p>
                  </a:txBody>
                  <a:tcPr marL="6350" marR="6350" marT="6350" marB="0" anchor="ctr"/>
                </a:tc>
                <a:tc>
                  <a:txBody>
                    <a:bodyPr/>
                    <a:lstStyle/>
                    <a:p>
                      <a:pPr lvl="0" algn="ctr">
                        <a:buNone/>
                      </a:pPr>
                      <a:r>
                        <a:rPr lang="en-US" sz="1100" b="1" i="0" u="none" strike="noStrike">
                          <a:solidFill>
                            <a:schemeClr val="bg1"/>
                          </a:solidFill>
                          <a:effectLst/>
                          <a:latin typeface="Aptos" panose="02110004020202020204"/>
                          <a:ea typeface="Lato Regular"/>
                          <a:cs typeface="Lato Regular"/>
                        </a:rPr>
                        <a:t>Q4FY25</a:t>
                      </a:r>
                      <a:endParaRPr lang="en-US" sz="1100">
                        <a:solidFill>
                          <a:schemeClr val="bg1"/>
                        </a:solidFill>
                        <a:ea typeface="Lato Regular"/>
                        <a:cs typeface="Lato Regular"/>
                      </a:endParaRPr>
                    </a:p>
                  </a:txBody>
                  <a:tcPr marL="6350" marR="6350" marT="6350" marB="0" anchor="ctr"/>
                </a:tc>
                <a:tc>
                  <a:txBody>
                    <a:bodyPr/>
                    <a:lstStyle/>
                    <a:p>
                      <a:pPr lvl="0" algn="ctr">
                        <a:buNone/>
                      </a:pPr>
                      <a:r>
                        <a:rPr lang="en-US" sz="1100" b="1" i="0" u="none" strike="noStrike">
                          <a:solidFill>
                            <a:schemeClr val="bg1"/>
                          </a:solidFill>
                          <a:effectLst/>
                          <a:latin typeface="Aptos"/>
                          <a:ea typeface="Lato Regular"/>
                          <a:cs typeface="Lato Regular"/>
                        </a:rPr>
                        <a:t>Q4FY26</a:t>
                      </a:r>
                    </a:p>
                  </a:txBody>
                  <a:tcPr marL="6350" marR="6350" marT="6350" marB="0" anchor="ctr"/>
                </a:tc>
                <a:extLst>
                  <a:ext uri="{0D108BD9-81ED-4DB2-BD59-A6C34878D82A}">
                    <a16:rowId xmlns:a16="http://schemas.microsoft.com/office/drawing/2014/main" val="3735237806"/>
                  </a:ext>
                </a:extLst>
              </a:tr>
              <a:tr h="262575">
                <a:tc>
                  <a:txBody>
                    <a:bodyPr/>
                    <a:lstStyle/>
                    <a:p>
                      <a:pPr lvl="0" algn="l">
                        <a:buNone/>
                      </a:pPr>
                      <a:r>
                        <a:rPr lang="en-IN" sz="1100" b="0" i="0" u="none" strike="noStrike">
                          <a:solidFill>
                            <a:srgbClr val="000000"/>
                          </a:solidFill>
                          <a:effectLst/>
                          <a:latin typeface="Aptos" panose="02110004020202020204"/>
                          <a:ea typeface="Lato Regular"/>
                          <a:cs typeface="Lato Regular"/>
                        </a:rPr>
                        <a:t>Disbursals</a:t>
                      </a:r>
                      <a:endParaRPr lang="en-US"/>
                    </a:p>
                  </a:txBody>
                  <a:tcPr marL="108000" marR="0" marT="0" marB="0" anchor="ctr"/>
                </a:tc>
                <a:tc>
                  <a:txBody>
                    <a:bodyPr/>
                    <a:lstStyle/>
                    <a:p>
                      <a:pPr lvl="0" algn="ctr">
                        <a:buNone/>
                      </a:pPr>
                      <a:r>
                        <a:rPr lang="en-IN" sz="1100" b="0" i="0" u="none" strike="noStrike">
                          <a:solidFill>
                            <a:srgbClr val="000000"/>
                          </a:solidFill>
                          <a:effectLst/>
                          <a:latin typeface="Aptos"/>
                          <a:ea typeface="Lato Regular"/>
                          <a:cs typeface="Lato Regular"/>
                        </a:rPr>
                        <a:t>316.8</a:t>
                      </a:r>
                      <a:endParaRPr lang="en-IN" sz="900" b="0" i="0" u="none" strike="noStrike">
                        <a:solidFill>
                          <a:srgbClr val="000000"/>
                        </a:solidFill>
                        <a:effectLst/>
                        <a:latin typeface="Aptos Narrow"/>
                      </a:endParaRPr>
                    </a:p>
                  </a:txBody>
                  <a:tcPr marL="0" marR="0" marT="0" marB="0" anchor="ctr"/>
                </a:tc>
                <a:tc>
                  <a:txBody>
                    <a:bodyPr/>
                    <a:lstStyle/>
                    <a:p>
                      <a:pPr lvl="0" algn="ctr">
                        <a:buNone/>
                      </a:pPr>
                      <a:r>
                        <a:rPr lang="en-IN" sz="1100" b="0" i="0" u="none" strike="noStrike">
                          <a:solidFill>
                            <a:srgbClr val="000000"/>
                          </a:solidFill>
                          <a:effectLst/>
                          <a:latin typeface="Aptos" panose="02110004020202020204"/>
                          <a:ea typeface="Lato Regular"/>
                          <a:cs typeface="Lato Regular"/>
                        </a:rPr>
                        <a:t>2155.3</a:t>
                      </a:r>
                      <a:endParaRPr lang="en-US"/>
                    </a:p>
                  </a:txBody>
                  <a:tcPr marL="0" marR="0" marT="0" marB="0" anchor="ctr"/>
                </a:tc>
                <a:tc>
                  <a:txBody>
                    <a:bodyPr/>
                    <a:lstStyle/>
                    <a:p>
                      <a:pPr lvl="0" algn="ctr">
                        <a:buNone/>
                      </a:pPr>
                      <a:r>
                        <a:rPr lang="en-US" sz="1100" b="0" i="0" u="none" strike="noStrike">
                          <a:solidFill>
                            <a:srgbClr val="000000"/>
                          </a:solidFill>
                          <a:effectLst/>
                          <a:latin typeface="Aptos" panose="02110004020202020204"/>
                          <a:ea typeface="Lato Regular"/>
                          <a:cs typeface="Lato Regular"/>
                        </a:rPr>
                        <a:t>3792.7</a:t>
                      </a:r>
                      <a:endParaRPr lang="en-US"/>
                    </a:p>
                  </a:txBody>
                  <a:tcPr marL="0" marR="0" marT="0" marB="0" anchor="ctr"/>
                </a:tc>
                <a:tc>
                  <a:txBody>
                    <a:bodyPr/>
                    <a:lstStyle/>
                    <a:p>
                      <a:pPr lvl="0" algn="ctr">
                        <a:buNone/>
                      </a:pPr>
                      <a:r>
                        <a:rPr lang="en-IN" sz="1100" b="0" i="0" u="none" strike="noStrike">
                          <a:solidFill>
                            <a:srgbClr val="000000"/>
                          </a:solidFill>
                          <a:effectLst/>
                          <a:latin typeface="Aptos"/>
                        </a:rPr>
                        <a:t>813.2</a:t>
                      </a:r>
                      <a:endParaRPr lang="en-IN" sz="1050" b="0" i="0">
                        <a:solidFill>
                          <a:srgbClr val="2C2B69"/>
                        </a:solidFill>
                        <a:effectLst/>
                        <a:latin typeface="Aptos"/>
                      </a:endParaRPr>
                    </a:p>
                  </a:txBody>
                  <a:tcPr marL="0" marR="0" marT="0" marB="0" anchor="ctr"/>
                </a:tc>
                <a:tc>
                  <a:txBody>
                    <a:bodyPr/>
                    <a:lstStyle/>
                    <a:p>
                      <a:pPr lvl="0" algn="ctr">
                        <a:buNone/>
                      </a:pPr>
                      <a:r>
                        <a:rPr lang="en-IN" sz="1100" b="0" i="0" u="none" strike="noStrike">
                          <a:solidFill>
                            <a:srgbClr val="000000"/>
                          </a:solidFill>
                          <a:effectLst/>
                          <a:latin typeface="Aptos" panose="02110004020202020204"/>
                        </a:rPr>
                        <a:t>928.8</a:t>
                      </a:r>
                      <a:endParaRPr lang="en-IN" sz="1050" b="0" i="0" u="none" strike="noStrike">
                        <a:solidFill>
                          <a:srgbClr val="000000"/>
                        </a:solidFill>
                        <a:effectLst/>
                        <a:latin typeface="Aptos" panose="02110004020202020204"/>
                      </a:endParaRPr>
                    </a:p>
                  </a:txBody>
                  <a:tcPr marL="0" marR="0" marT="0" marB="0" anchor="ctr"/>
                </a:tc>
                <a:extLst>
                  <a:ext uri="{0D108BD9-81ED-4DB2-BD59-A6C34878D82A}">
                    <a16:rowId xmlns:a16="http://schemas.microsoft.com/office/drawing/2014/main" val="1299356094"/>
                  </a:ext>
                </a:extLst>
              </a:tr>
              <a:tr h="262575">
                <a:tc>
                  <a:txBody>
                    <a:bodyPr/>
                    <a:lstStyle/>
                    <a:p>
                      <a:pPr lvl="0" algn="l">
                        <a:buNone/>
                      </a:pPr>
                      <a:r>
                        <a:rPr lang="en-IN" sz="1100" b="0" i="0" u="none" strike="noStrike">
                          <a:solidFill>
                            <a:srgbClr val="000000"/>
                          </a:solidFill>
                          <a:effectLst/>
                          <a:latin typeface="Aptos" panose="02110004020202020204"/>
                          <a:ea typeface="Lato Regular"/>
                          <a:cs typeface="Lato Regular"/>
                        </a:rPr>
                        <a:t>AUM</a:t>
                      </a:r>
                      <a:endParaRPr lang="en-US"/>
                    </a:p>
                  </a:txBody>
                  <a:tcPr marL="108000" marR="0" marT="0" marB="0" anchor="ctr"/>
                </a:tc>
                <a:tc>
                  <a:txBody>
                    <a:bodyPr/>
                    <a:lstStyle/>
                    <a:p>
                      <a:pPr lvl="0" algn="ctr">
                        <a:buNone/>
                      </a:pPr>
                      <a:r>
                        <a:rPr lang="en-IN" sz="1100" b="0" i="0" u="none" strike="noStrike">
                          <a:solidFill>
                            <a:srgbClr val="000000"/>
                          </a:solidFill>
                          <a:effectLst/>
                          <a:latin typeface="Aptos"/>
                          <a:ea typeface="Lato Regular"/>
                          <a:cs typeface="Lato Regular"/>
                        </a:rPr>
                        <a:t>99.2</a:t>
                      </a:r>
                      <a:endParaRPr lang="en-IN" sz="900" b="0" i="0" u="none" strike="noStrike">
                        <a:solidFill>
                          <a:srgbClr val="000000"/>
                        </a:solidFill>
                        <a:effectLst/>
                        <a:latin typeface="Aptos Narrow"/>
                      </a:endParaRPr>
                    </a:p>
                  </a:txBody>
                  <a:tcPr marL="0" marR="0" marT="0" marB="0" anchor="ctr"/>
                </a:tc>
                <a:tc>
                  <a:txBody>
                    <a:bodyPr/>
                    <a:lstStyle/>
                    <a:p>
                      <a:pPr lvl="0" algn="ctr">
                        <a:buNone/>
                      </a:pPr>
                      <a:r>
                        <a:rPr lang="en-IN" sz="1100" b="0" i="0" u="none" strike="noStrike">
                          <a:solidFill>
                            <a:srgbClr val="000000"/>
                          </a:solidFill>
                          <a:effectLst/>
                          <a:latin typeface="Aptos" panose="02110004020202020204"/>
                          <a:ea typeface="Lato Regular"/>
                          <a:cs typeface="Lato Regular"/>
                        </a:rPr>
                        <a:t>369.2</a:t>
                      </a:r>
                      <a:endParaRPr lang="en-US"/>
                    </a:p>
                  </a:txBody>
                  <a:tcPr marL="0" marR="0" marT="0" marB="0" anchor="ctr"/>
                </a:tc>
                <a:tc>
                  <a:txBody>
                    <a:bodyPr/>
                    <a:lstStyle/>
                    <a:p>
                      <a:pPr lvl="0" algn="ctr">
                        <a:buNone/>
                      </a:pPr>
                      <a:r>
                        <a:rPr lang="en-US" sz="1100" b="0" i="0" u="none" strike="noStrike">
                          <a:solidFill>
                            <a:srgbClr val="000000"/>
                          </a:solidFill>
                          <a:effectLst/>
                          <a:latin typeface="Aptos" panose="02110004020202020204"/>
                          <a:ea typeface="Lato Regular"/>
                          <a:cs typeface="Lato Regular"/>
                        </a:rPr>
                        <a:t>408.9</a:t>
                      </a:r>
                      <a:endParaRPr lang="en-US"/>
                    </a:p>
                  </a:txBody>
                  <a:tcPr marL="0" marR="0" marT="0" marB="0" anchor="ctr"/>
                </a:tc>
                <a:tc>
                  <a:txBody>
                    <a:bodyPr/>
                    <a:lstStyle/>
                    <a:p>
                      <a:pPr lvl="0" algn="ctr">
                        <a:buNone/>
                      </a:pPr>
                      <a:r>
                        <a:rPr lang="en-IN" sz="1100" b="0" i="0" u="none" strike="noStrike">
                          <a:solidFill>
                            <a:srgbClr val="000000"/>
                          </a:solidFill>
                          <a:effectLst/>
                          <a:latin typeface="Aptos"/>
                        </a:rPr>
                        <a:t>369.2</a:t>
                      </a:r>
                      <a:endParaRPr lang="en-IN" sz="1050" b="0" i="0">
                        <a:solidFill>
                          <a:srgbClr val="2C2B69"/>
                        </a:solidFill>
                        <a:effectLst/>
                        <a:latin typeface="Aptos"/>
                      </a:endParaRPr>
                    </a:p>
                  </a:txBody>
                  <a:tcPr marL="0" marR="0" marT="0" marB="0" anchor="ctr"/>
                </a:tc>
                <a:tc>
                  <a:txBody>
                    <a:bodyPr/>
                    <a:lstStyle/>
                    <a:p>
                      <a:pPr lvl="0" algn="ctr">
                        <a:buNone/>
                      </a:pPr>
                      <a:r>
                        <a:rPr lang="en-IN" sz="1100" b="0" i="0" u="none" strike="noStrike">
                          <a:solidFill>
                            <a:srgbClr val="000000"/>
                          </a:solidFill>
                          <a:effectLst/>
                          <a:latin typeface="Aptos" panose="02110004020202020204"/>
                        </a:rPr>
                        <a:t>408.9</a:t>
                      </a:r>
                      <a:endParaRPr lang="en-IN" sz="1050" b="0" i="0" u="none" strike="noStrike">
                        <a:solidFill>
                          <a:srgbClr val="000000"/>
                        </a:solidFill>
                        <a:effectLst/>
                        <a:latin typeface="Aptos" panose="02110004020202020204"/>
                      </a:endParaRPr>
                    </a:p>
                  </a:txBody>
                  <a:tcPr marL="0" marR="0" marT="0" marB="0" anchor="ctr"/>
                </a:tc>
                <a:extLst>
                  <a:ext uri="{0D108BD9-81ED-4DB2-BD59-A6C34878D82A}">
                    <a16:rowId xmlns:a16="http://schemas.microsoft.com/office/drawing/2014/main" val="930605583"/>
                  </a:ext>
                </a:extLst>
              </a:tr>
              <a:tr h="262575">
                <a:tc>
                  <a:txBody>
                    <a:bodyPr/>
                    <a:lstStyle/>
                    <a:p>
                      <a:pPr lvl="0" algn="l">
                        <a:buNone/>
                      </a:pPr>
                      <a:r>
                        <a:rPr lang="en-IN" sz="1100" b="0" i="0" u="none" strike="noStrike">
                          <a:solidFill>
                            <a:srgbClr val="000000"/>
                          </a:solidFill>
                          <a:effectLst/>
                          <a:latin typeface="Aptos" panose="02110004020202020204"/>
                          <a:ea typeface="Lato Regular"/>
                          <a:cs typeface="Lato Regular"/>
                        </a:rPr>
                        <a:t>No of Dealers</a:t>
                      </a:r>
                      <a:endParaRPr lang="en-US"/>
                    </a:p>
                  </a:txBody>
                  <a:tcPr marL="108000" marR="0" marT="0" marB="0" anchor="ctr"/>
                </a:tc>
                <a:tc>
                  <a:txBody>
                    <a:bodyPr/>
                    <a:lstStyle/>
                    <a:p>
                      <a:pPr lvl="0" algn="ctr">
                        <a:buNone/>
                      </a:pPr>
                      <a:r>
                        <a:rPr lang="en-IN" sz="1100" b="0" i="0" u="none" strike="noStrike">
                          <a:solidFill>
                            <a:srgbClr val="000000"/>
                          </a:solidFill>
                          <a:effectLst/>
                          <a:latin typeface="Aptos"/>
                          <a:ea typeface="Lato Regular"/>
                          <a:cs typeface="Lato Regular"/>
                        </a:rPr>
                        <a:t>673</a:t>
                      </a:r>
                      <a:endParaRPr lang="en-IN" sz="1050" b="0" i="0" u="none" strike="noStrike">
                        <a:solidFill>
                          <a:srgbClr val="000000"/>
                        </a:solidFill>
                        <a:effectLst/>
                        <a:latin typeface="Aptos Narrow"/>
                      </a:endParaRPr>
                    </a:p>
                  </a:txBody>
                  <a:tcPr marL="0" marR="0" marT="0" marB="0" anchor="ctr"/>
                </a:tc>
                <a:tc>
                  <a:txBody>
                    <a:bodyPr/>
                    <a:lstStyle/>
                    <a:p>
                      <a:pPr lvl="0" algn="ctr">
                        <a:buNone/>
                      </a:pPr>
                      <a:r>
                        <a:rPr lang="en-IN" sz="1100" b="0" i="0" u="none" strike="noStrike">
                          <a:solidFill>
                            <a:srgbClr val="000000"/>
                          </a:solidFill>
                          <a:effectLst/>
                          <a:latin typeface="Aptos" panose="02110004020202020204"/>
                          <a:ea typeface="Lato Regular"/>
                          <a:cs typeface="Lato Regular"/>
                        </a:rPr>
                        <a:t>2,194</a:t>
                      </a:r>
                      <a:endParaRPr lang="en-US"/>
                    </a:p>
                  </a:txBody>
                  <a:tcPr marL="0" marR="0" marT="0" marB="0" anchor="ctr"/>
                </a:tc>
                <a:tc>
                  <a:txBody>
                    <a:bodyPr/>
                    <a:lstStyle/>
                    <a:p>
                      <a:pPr lvl="0" algn="ctr">
                        <a:buNone/>
                      </a:pPr>
                      <a:r>
                        <a:rPr lang="en-US" sz="1100" b="0" i="0" u="none" strike="noStrike">
                          <a:solidFill>
                            <a:srgbClr val="000000"/>
                          </a:solidFill>
                          <a:effectLst/>
                          <a:latin typeface="Aptos" panose="02110004020202020204"/>
                          <a:ea typeface="Lato Regular"/>
                          <a:cs typeface="Lato Regular"/>
                        </a:rPr>
                        <a:t>2,521</a:t>
                      </a:r>
                      <a:endParaRPr lang="en-US"/>
                    </a:p>
                  </a:txBody>
                  <a:tcPr marL="0" marR="0" marT="0" marB="0" anchor="ctr"/>
                </a:tc>
                <a:tc>
                  <a:txBody>
                    <a:bodyPr/>
                    <a:lstStyle/>
                    <a:p>
                      <a:pPr lvl="0" algn="ctr">
                        <a:buNone/>
                      </a:pPr>
                      <a:r>
                        <a:rPr lang="en-IN" sz="1100" b="0" i="0" u="none" strike="noStrike">
                          <a:solidFill>
                            <a:srgbClr val="000000"/>
                          </a:solidFill>
                          <a:effectLst/>
                          <a:latin typeface="Aptos"/>
                        </a:rPr>
                        <a:t>2,194</a:t>
                      </a:r>
                      <a:endParaRPr lang="en-IN" sz="1050" b="0" i="0">
                        <a:solidFill>
                          <a:srgbClr val="2C2B69"/>
                        </a:solidFill>
                        <a:effectLst/>
                        <a:latin typeface="Aptos"/>
                      </a:endParaRPr>
                    </a:p>
                  </a:txBody>
                  <a:tcPr marL="0" marR="0" marT="0" marB="0" anchor="ctr"/>
                </a:tc>
                <a:tc>
                  <a:txBody>
                    <a:bodyPr/>
                    <a:lstStyle/>
                    <a:p>
                      <a:pPr lvl="0" algn="ctr">
                        <a:buNone/>
                      </a:pPr>
                      <a:r>
                        <a:rPr lang="en-IN" sz="1100" b="0" i="0" u="none" strike="noStrike">
                          <a:solidFill>
                            <a:srgbClr val="000000"/>
                          </a:solidFill>
                          <a:effectLst/>
                          <a:latin typeface="Aptos" panose="02110004020202020204"/>
                        </a:rPr>
                        <a:t>2,521</a:t>
                      </a:r>
                      <a:endParaRPr lang="en-IN" sz="1050" b="0" i="0" u="none" strike="noStrike">
                        <a:solidFill>
                          <a:srgbClr val="000000"/>
                        </a:solidFill>
                        <a:effectLst/>
                        <a:latin typeface="Aptos" panose="02110004020202020204"/>
                      </a:endParaRPr>
                    </a:p>
                  </a:txBody>
                  <a:tcPr marL="0" marR="0" marT="0" marB="0" anchor="ctr"/>
                </a:tc>
                <a:extLst>
                  <a:ext uri="{0D108BD9-81ED-4DB2-BD59-A6C34878D82A}">
                    <a16:rowId xmlns:a16="http://schemas.microsoft.com/office/drawing/2014/main" val="3872373918"/>
                  </a:ext>
                </a:extLst>
              </a:tr>
              <a:tr h="293271">
                <a:tc>
                  <a:txBody>
                    <a:bodyPr/>
                    <a:lstStyle/>
                    <a:p>
                      <a:pPr lvl="0" algn="l">
                        <a:buNone/>
                      </a:pPr>
                      <a:r>
                        <a:rPr lang="en-IN" sz="1100" b="0" i="0" u="none" strike="noStrike">
                          <a:solidFill>
                            <a:srgbClr val="000000"/>
                          </a:solidFill>
                          <a:effectLst/>
                          <a:latin typeface="Aptos" panose="02110004020202020204"/>
                          <a:ea typeface="Lato Regular"/>
                          <a:cs typeface="Lato Regular"/>
                        </a:rPr>
                        <a:t>No. of Invoices</a:t>
                      </a:r>
                      <a:endParaRPr lang="en-US"/>
                    </a:p>
                  </a:txBody>
                  <a:tcPr marL="108000" marR="0" marT="0" marB="0" anchor="ctr"/>
                </a:tc>
                <a:tc>
                  <a:txBody>
                    <a:bodyPr/>
                    <a:lstStyle/>
                    <a:p>
                      <a:pPr lvl="0" algn="ctr">
                        <a:buNone/>
                      </a:pPr>
                      <a:r>
                        <a:rPr lang="en-IN" sz="1100" b="0" i="0" u="none" strike="noStrike">
                          <a:solidFill>
                            <a:srgbClr val="000000"/>
                          </a:solidFill>
                          <a:effectLst/>
                          <a:latin typeface="Aptos"/>
                          <a:ea typeface="Lato Regular"/>
                          <a:cs typeface="Lato Regular"/>
                        </a:rPr>
                        <a:t>11,150</a:t>
                      </a:r>
                      <a:endParaRPr lang="en-IN" sz="900" b="0" i="0" u="none" strike="noStrike">
                        <a:solidFill>
                          <a:srgbClr val="000000"/>
                        </a:solidFill>
                        <a:effectLst/>
                        <a:latin typeface="Aptos Narrow"/>
                      </a:endParaRPr>
                    </a:p>
                  </a:txBody>
                  <a:tcPr marL="0" marR="0" marT="0" marB="0" anchor="ctr"/>
                </a:tc>
                <a:tc>
                  <a:txBody>
                    <a:bodyPr/>
                    <a:lstStyle/>
                    <a:p>
                      <a:pPr lvl="0" algn="ctr">
                        <a:buNone/>
                      </a:pPr>
                      <a:r>
                        <a:rPr lang="en-IN" sz="1100" b="0" i="0" u="none" strike="noStrike">
                          <a:solidFill>
                            <a:srgbClr val="000000"/>
                          </a:solidFill>
                          <a:effectLst/>
                          <a:latin typeface="Aptos" panose="02110004020202020204"/>
                          <a:ea typeface="Lato Regular"/>
                          <a:cs typeface="Lato Regular"/>
                        </a:rPr>
                        <a:t>91,378</a:t>
                      </a:r>
                      <a:endParaRPr lang="en-US"/>
                    </a:p>
                  </a:txBody>
                  <a:tcPr marL="0" marR="0" marT="0" marB="0" anchor="ctr"/>
                </a:tc>
                <a:tc>
                  <a:txBody>
                    <a:bodyPr/>
                    <a:lstStyle/>
                    <a:p>
                      <a:pPr lvl="0" algn="ctr">
                        <a:buNone/>
                      </a:pPr>
                      <a:r>
                        <a:rPr lang="en-US" sz="1100" b="0" i="0" u="none" strike="noStrike">
                          <a:solidFill>
                            <a:srgbClr val="000000"/>
                          </a:solidFill>
                          <a:effectLst/>
                          <a:latin typeface="Aptos" panose="02110004020202020204"/>
                          <a:ea typeface="Lato Regular"/>
                          <a:cs typeface="Lato Regular"/>
                        </a:rPr>
                        <a:t>1,88,521</a:t>
                      </a:r>
                      <a:endParaRPr lang="en-US"/>
                    </a:p>
                  </a:txBody>
                  <a:tcPr marL="0" marR="0" marT="0" marB="0" anchor="ctr"/>
                </a:tc>
                <a:tc>
                  <a:txBody>
                    <a:bodyPr/>
                    <a:lstStyle/>
                    <a:p>
                      <a:pPr lvl="0" algn="ctr">
                        <a:buNone/>
                      </a:pPr>
                      <a:r>
                        <a:rPr lang="en-IN" sz="1100" b="0" i="0" u="none" strike="noStrike">
                          <a:solidFill>
                            <a:srgbClr val="000000"/>
                          </a:solidFill>
                          <a:effectLst/>
                          <a:latin typeface="Aptos" panose="02110004020202020204"/>
                        </a:rPr>
                        <a:t>35,788</a:t>
                      </a:r>
                      <a:endParaRPr lang="en-IN" sz="1050" b="0" i="0" u="none" strike="noStrike">
                        <a:solidFill>
                          <a:srgbClr val="000000"/>
                        </a:solidFill>
                        <a:effectLst/>
                        <a:latin typeface="Aptos" panose="02110004020202020204"/>
                      </a:endParaRPr>
                    </a:p>
                  </a:txBody>
                  <a:tcPr marL="0" marR="0" marT="0" marB="0" anchor="ctr"/>
                </a:tc>
                <a:tc>
                  <a:txBody>
                    <a:bodyPr/>
                    <a:lstStyle/>
                    <a:p>
                      <a:pPr lvl="0" algn="ctr">
                        <a:buNone/>
                      </a:pPr>
                      <a:r>
                        <a:rPr lang="en-IN" sz="1100" b="0" i="0" u="none" strike="noStrike">
                          <a:solidFill>
                            <a:srgbClr val="000000"/>
                          </a:solidFill>
                          <a:effectLst/>
                          <a:latin typeface="Aptos" panose="02110004020202020204"/>
                        </a:rPr>
                        <a:t>46,135</a:t>
                      </a:r>
                      <a:endParaRPr lang="en-IN" sz="1050" b="0" i="0" u="none" strike="noStrike">
                        <a:solidFill>
                          <a:srgbClr val="000000"/>
                        </a:solidFill>
                        <a:effectLst/>
                        <a:latin typeface="Aptos" panose="02110004020202020204"/>
                      </a:endParaRPr>
                    </a:p>
                  </a:txBody>
                  <a:tcPr marL="0" marR="0" marT="0" marB="0" anchor="ctr"/>
                </a:tc>
                <a:extLst>
                  <a:ext uri="{0D108BD9-81ED-4DB2-BD59-A6C34878D82A}">
                    <a16:rowId xmlns:a16="http://schemas.microsoft.com/office/drawing/2014/main" val="2159784742"/>
                  </a:ext>
                </a:extLst>
              </a:tr>
            </a:tbl>
          </a:graphicData>
        </a:graphic>
      </p:graphicFrame>
      <p:graphicFrame>
        <p:nvGraphicFramePr>
          <p:cNvPr id="15" name="Table 14">
            <a:extLst>
              <a:ext uri="{FF2B5EF4-FFF2-40B4-BE49-F238E27FC236}">
                <a16:creationId xmlns:a16="http://schemas.microsoft.com/office/drawing/2014/main" id="{96036CF0-8594-F6FE-65F3-EB2624590B7C}"/>
              </a:ext>
            </a:extLst>
          </p:cNvPr>
          <p:cNvGraphicFramePr>
            <a:graphicFrameLocks noGrp="1"/>
          </p:cNvGraphicFramePr>
          <p:nvPr>
            <p:extLst>
              <p:ext uri="{D42A27DB-BD31-4B8C-83A1-F6EECF244321}">
                <p14:modId xmlns:p14="http://schemas.microsoft.com/office/powerpoint/2010/main" val="1013071053"/>
              </p:ext>
            </p:extLst>
          </p:nvPr>
        </p:nvGraphicFramePr>
        <p:xfrm>
          <a:off x="5539984" y="4144254"/>
          <a:ext cx="5842026" cy="2084312"/>
        </p:xfrm>
        <a:graphic>
          <a:graphicData uri="http://schemas.openxmlformats.org/drawingml/2006/table">
            <a:tbl>
              <a:tblPr firstRow="1" bandRow="1">
                <a:tableStyleId>{72833802-FEF1-4C79-8D5D-14CF1EAF98D9}</a:tableStyleId>
              </a:tblPr>
              <a:tblGrid>
                <a:gridCol w="1911076">
                  <a:extLst>
                    <a:ext uri="{9D8B030D-6E8A-4147-A177-3AD203B41FA5}">
                      <a16:colId xmlns:a16="http://schemas.microsoft.com/office/drawing/2014/main" val="3001066899"/>
                    </a:ext>
                  </a:extLst>
                </a:gridCol>
                <a:gridCol w="786190">
                  <a:extLst>
                    <a:ext uri="{9D8B030D-6E8A-4147-A177-3AD203B41FA5}">
                      <a16:colId xmlns:a16="http://schemas.microsoft.com/office/drawing/2014/main" val="700748351"/>
                    </a:ext>
                  </a:extLst>
                </a:gridCol>
                <a:gridCol w="786190">
                  <a:extLst>
                    <a:ext uri="{9D8B030D-6E8A-4147-A177-3AD203B41FA5}">
                      <a16:colId xmlns:a16="http://schemas.microsoft.com/office/drawing/2014/main" val="3274968397"/>
                    </a:ext>
                  </a:extLst>
                </a:gridCol>
                <a:gridCol w="786190">
                  <a:extLst>
                    <a:ext uri="{9D8B030D-6E8A-4147-A177-3AD203B41FA5}">
                      <a16:colId xmlns:a16="http://schemas.microsoft.com/office/drawing/2014/main" val="3623532732"/>
                    </a:ext>
                  </a:extLst>
                </a:gridCol>
                <a:gridCol w="786190">
                  <a:extLst>
                    <a:ext uri="{9D8B030D-6E8A-4147-A177-3AD203B41FA5}">
                      <a16:colId xmlns:a16="http://schemas.microsoft.com/office/drawing/2014/main" val="746035582"/>
                    </a:ext>
                  </a:extLst>
                </a:gridCol>
                <a:gridCol w="786190">
                  <a:extLst>
                    <a:ext uri="{9D8B030D-6E8A-4147-A177-3AD203B41FA5}">
                      <a16:colId xmlns:a16="http://schemas.microsoft.com/office/drawing/2014/main" val="3336224203"/>
                    </a:ext>
                  </a:extLst>
                </a:gridCol>
              </a:tblGrid>
              <a:tr h="255952">
                <a:tc>
                  <a:txBody>
                    <a:bodyPr/>
                    <a:lstStyle/>
                    <a:p>
                      <a:pPr lvl="0" algn="l">
                        <a:buNone/>
                      </a:pPr>
                      <a:r>
                        <a:rPr lang="en-US" sz="1100" b="0" i="0" u="none" strike="noStrike">
                          <a:solidFill>
                            <a:schemeClr val="bg1"/>
                          </a:solidFill>
                          <a:effectLst/>
                          <a:latin typeface="Aptos"/>
                          <a:ea typeface="Lato Regular"/>
                          <a:cs typeface="Lato Regular"/>
                        </a:rPr>
                        <a:t>INR Cr.</a:t>
                      </a:r>
                      <a:endParaRPr lang="en-US" sz="1100" b="0" i="0">
                        <a:solidFill>
                          <a:schemeClr val="bg1"/>
                        </a:solidFill>
                        <a:effectLst/>
                        <a:latin typeface="Aptos"/>
                        <a:ea typeface="Lato Regular"/>
                        <a:cs typeface="Lato Regular"/>
                      </a:endParaRPr>
                    </a:p>
                  </a:txBody>
                  <a:tcPr marL="144000" marR="6350" marT="6350" marB="0" anchor="ctr"/>
                </a:tc>
                <a:tc>
                  <a:txBody>
                    <a:bodyPr/>
                    <a:lstStyle/>
                    <a:p>
                      <a:pPr lvl="0" algn="ctr">
                        <a:buNone/>
                      </a:pPr>
                      <a:r>
                        <a:rPr lang="en-US" sz="1100" b="1" i="0" u="none" strike="noStrike">
                          <a:solidFill>
                            <a:schemeClr val="bg1"/>
                          </a:solidFill>
                          <a:effectLst/>
                          <a:latin typeface="Aptos"/>
                          <a:ea typeface="Lato Regular"/>
                          <a:cs typeface="Lato Regular"/>
                        </a:rPr>
                        <a:t>FY24</a:t>
                      </a:r>
                    </a:p>
                  </a:txBody>
                  <a:tcPr marL="6350" marR="6350" marT="6350" marB="0" anchor="ctr"/>
                </a:tc>
                <a:tc>
                  <a:txBody>
                    <a:bodyPr/>
                    <a:lstStyle/>
                    <a:p>
                      <a:pPr lvl="0" algn="ctr">
                        <a:buNone/>
                      </a:pPr>
                      <a:r>
                        <a:rPr lang="en-US" sz="1100" b="1" i="0" u="none" strike="noStrike">
                          <a:solidFill>
                            <a:schemeClr val="bg1"/>
                          </a:solidFill>
                          <a:effectLst/>
                          <a:latin typeface="Aptos"/>
                          <a:ea typeface="Lato Regular"/>
                          <a:cs typeface="Lato Regular"/>
                        </a:rPr>
                        <a:t>FY25</a:t>
                      </a:r>
                      <a:endParaRPr lang="en-US" sz="1100" b="1" i="0">
                        <a:solidFill>
                          <a:schemeClr val="bg1"/>
                        </a:solidFill>
                        <a:effectLst/>
                        <a:latin typeface="Aptos"/>
                        <a:ea typeface="Lato Regular"/>
                        <a:cs typeface="Lato Regular"/>
                      </a:endParaRPr>
                    </a:p>
                  </a:txBody>
                  <a:tcPr marL="6350" marR="6350" marT="6350" marB="0" anchor="ctr"/>
                </a:tc>
                <a:tc>
                  <a:txBody>
                    <a:bodyPr/>
                    <a:lstStyle/>
                    <a:p>
                      <a:pPr lvl="0" algn="ctr">
                        <a:buNone/>
                      </a:pPr>
                      <a:r>
                        <a:rPr lang="en-US" sz="1100" b="1" i="0" u="none" strike="noStrike">
                          <a:solidFill>
                            <a:schemeClr val="bg1"/>
                          </a:solidFill>
                          <a:effectLst/>
                          <a:latin typeface="Aptos"/>
                          <a:ea typeface="Lato Regular"/>
                          <a:cs typeface="Lato Regular"/>
                        </a:rPr>
                        <a:t>FY26</a:t>
                      </a:r>
                    </a:p>
                  </a:txBody>
                  <a:tcPr marL="6350" marR="6350" marT="6350" marB="0" anchor="ctr"/>
                </a:tc>
                <a:tc>
                  <a:txBody>
                    <a:bodyPr/>
                    <a:lstStyle/>
                    <a:p>
                      <a:pPr lvl="0" algn="ctr">
                        <a:buNone/>
                      </a:pPr>
                      <a:r>
                        <a:rPr lang="en-US" sz="1100" b="1" i="0" u="none" strike="noStrike">
                          <a:solidFill>
                            <a:schemeClr val="bg1"/>
                          </a:solidFill>
                          <a:effectLst/>
                          <a:latin typeface="Aptos"/>
                          <a:ea typeface="Lato Regular"/>
                          <a:cs typeface="Lato Regular"/>
                        </a:rPr>
                        <a:t>Q4FY25</a:t>
                      </a:r>
                      <a:endParaRPr lang="en-US" sz="1100" b="1" i="0">
                        <a:solidFill>
                          <a:schemeClr val="bg1"/>
                        </a:solidFill>
                        <a:effectLst/>
                        <a:latin typeface="Aptos"/>
                        <a:ea typeface="Lato Regular"/>
                        <a:cs typeface="Lato Regular"/>
                      </a:endParaRPr>
                    </a:p>
                  </a:txBody>
                  <a:tcPr marL="6350" marR="6350" marT="6350" marB="0" anchor="ctr"/>
                </a:tc>
                <a:tc>
                  <a:txBody>
                    <a:bodyPr/>
                    <a:lstStyle/>
                    <a:p>
                      <a:pPr lvl="0" algn="ctr">
                        <a:buNone/>
                      </a:pPr>
                      <a:r>
                        <a:rPr lang="en-US" sz="1100" b="1" i="0" u="none" strike="noStrike">
                          <a:solidFill>
                            <a:schemeClr val="bg1"/>
                          </a:solidFill>
                          <a:effectLst/>
                          <a:latin typeface="Aptos"/>
                          <a:ea typeface="Lato Regular"/>
                          <a:cs typeface="Lato Regular"/>
                        </a:rPr>
                        <a:t>Q4FY26</a:t>
                      </a:r>
                    </a:p>
                  </a:txBody>
                  <a:tcPr marL="6350" marR="6350" marT="6350" marB="0" anchor="ctr"/>
                </a:tc>
                <a:extLst>
                  <a:ext uri="{0D108BD9-81ED-4DB2-BD59-A6C34878D82A}">
                    <a16:rowId xmlns:a16="http://schemas.microsoft.com/office/drawing/2014/main" val="3735237806"/>
                  </a:ext>
                </a:extLst>
              </a:tr>
              <a:tr h="304727">
                <a:tc>
                  <a:txBody>
                    <a:bodyPr/>
                    <a:lstStyle/>
                    <a:p>
                      <a:pPr lvl="0" algn="l">
                        <a:buNone/>
                      </a:pPr>
                      <a:r>
                        <a:rPr lang="en-IN" sz="1100" b="0" i="0" u="none" strike="noStrike">
                          <a:solidFill>
                            <a:srgbClr val="000000"/>
                          </a:solidFill>
                          <a:effectLst/>
                          <a:latin typeface="Aptos"/>
                          <a:ea typeface="Lato Regular"/>
                          <a:cs typeface="Lato Regular"/>
                        </a:rPr>
                        <a:t>Int Income</a:t>
                      </a:r>
                      <a:endParaRPr lang="en-US" sz="1050" b="0" i="0">
                        <a:solidFill>
                          <a:srgbClr val="2C2B69"/>
                        </a:solidFill>
                        <a:effectLst/>
                        <a:latin typeface="+mj-lt"/>
                      </a:endParaRPr>
                    </a:p>
                  </a:txBody>
                  <a:tcPr marL="144000" marR="0" marT="0" marB="0" anchor="ctr"/>
                </a:tc>
                <a:tc>
                  <a:txBody>
                    <a:bodyPr/>
                    <a:lstStyle/>
                    <a:p>
                      <a:pPr lvl="0" algn="ctr">
                        <a:buNone/>
                      </a:pPr>
                      <a:r>
                        <a:rPr lang="en-IN" sz="1100" b="0" i="0" u="none" strike="noStrike">
                          <a:solidFill>
                            <a:srgbClr val="000000"/>
                          </a:solidFill>
                          <a:effectLst/>
                          <a:latin typeface="Aptos"/>
                          <a:ea typeface="Lato Regular"/>
                          <a:cs typeface="Lato Regular"/>
                        </a:rPr>
                        <a:t>3.8</a:t>
                      </a:r>
                      <a:endParaRPr lang="en-IN" sz="1050" b="1" i="0" u="none" strike="noStrike">
                        <a:solidFill>
                          <a:srgbClr val="000000"/>
                        </a:solidFill>
                        <a:effectLst/>
                        <a:latin typeface="+mj-lt"/>
                      </a:endParaRPr>
                    </a:p>
                  </a:txBody>
                  <a:tcPr marL="0" marR="0" marT="0" marB="0" anchor="ctr"/>
                </a:tc>
                <a:tc>
                  <a:txBody>
                    <a:bodyPr/>
                    <a:lstStyle/>
                    <a:p>
                      <a:pPr lvl="0" algn="ctr">
                        <a:buNone/>
                      </a:pPr>
                      <a:r>
                        <a:rPr lang="en-IN" sz="1100" b="0" i="0" u="none" strike="noStrike">
                          <a:solidFill>
                            <a:srgbClr val="000000"/>
                          </a:solidFill>
                          <a:effectLst/>
                          <a:latin typeface="Aptos"/>
                          <a:ea typeface="Lato Regular"/>
                          <a:cs typeface="Lato Regular"/>
                        </a:rPr>
                        <a:t>29.3</a:t>
                      </a:r>
                      <a:endParaRPr lang="en-IN" sz="1050" b="1" i="0">
                        <a:solidFill>
                          <a:srgbClr val="2C2B69"/>
                        </a:solidFill>
                        <a:effectLst/>
                        <a:latin typeface="+mj-lt"/>
                      </a:endParaRPr>
                    </a:p>
                  </a:txBody>
                  <a:tcPr marL="0" marR="0" marT="0" marB="0" anchor="ctr"/>
                </a:tc>
                <a:tc>
                  <a:txBody>
                    <a:bodyPr/>
                    <a:lstStyle/>
                    <a:p>
                      <a:pPr lvl="0" algn="ctr">
                        <a:buNone/>
                      </a:pPr>
                      <a:r>
                        <a:rPr lang="en-IN" sz="1100" b="0" i="0" u="none" strike="noStrike">
                          <a:solidFill>
                            <a:srgbClr val="000000"/>
                          </a:solidFill>
                          <a:effectLst/>
                          <a:latin typeface="Aptos"/>
                        </a:rPr>
                        <a:t>54.6</a:t>
                      </a:r>
                      <a:endParaRPr lang="en-IN" sz="1050" b="1" i="0">
                        <a:solidFill>
                          <a:srgbClr val="2C2B69"/>
                        </a:solidFill>
                        <a:effectLst/>
                        <a:latin typeface="+mj-lt"/>
                      </a:endParaRPr>
                    </a:p>
                  </a:txBody>
                  <a:tcPr marL="0" marR="0" marT="0" marB="0" anchor="ctr"/>
                </a:tc>
                <a:tc>
                  <a:txBody>
                    <a:bodyPr/>
                    <a:lstStyle/>
                    <a:p>
                      <a:pPr lvl="0" algn="ctr">
                        <a:buNone/>
                      </a:pPr>
                      <a:r>
                        <a:rPr lang="en-IN" sz="1100" b="0" i="0" u="none" strike="noStrike">
                          <a:solidFill>
                            <a:srgbClr val="000000"/>
                          </a:solidFill>
                          <a:effectLst/>
                          <a:latin typeface="Aptos"/>
                        </a:rPr>
                        <a:t>10.3</a:t>
                      </a:r>
                      <a:endParaRPr lang="en-IN" sz="1050" b="1" i="0">
                        <a:solidFill>
                          <a:srgbClr val="2C2B69"/>
                        </a:solidFill>
                        <a:effectLst/>
                        <a:latin typeface="+mj-lt"/>
                      </a:endParaRPr>
                    </a:p>
                  </a:txBody>
                  <a:tcPr marL="0" marR="0" marT="0" marB="0" anchor="ctr"/>
                </a:tc>
                <a:tc>
                  <a:txBody>
                    <a:bodyPr/>
                    <a:lstStyle/>
                    <a:p>
                      <a:pPr lvl="0" algn="ctr">
                        <a:buNone/>
                      </a:pPr>
                      <a:r>
                        <a:rPr lang="en-IN" sz="1100" b="0" i="0" u="none" strike="noStrike">
                          <a:solidFill>
                            <a:srgbClr val="000000"/>
                          </a:solidFill>
                          <a:effectLst/>
                          <a:latin typeface="Aptos"/>
                        </a:rPr>
                        <a:t>13.2</a:t>
                      </a:r>
                      <a:endParaRPr lang="en-IN" sz="1050" b="1" i="0">
                        <a:solidFill>
                          <a:srgbClr val="2C2B69"/>
                        </a:solidFill>
                        <a:effectLst/>
                        <a:latin typeface="+mj-lt"/>
                      </a:endParaRPr>
                    </a:p>
                  </a:txBody>
                  <a:tcPr marL="0" marR="0" marT="0" marB="0" anchor="ctr"/>
                </a:tc>
                <a:extLst>
                  <a:ext uri="{0D108BD9-81ED-4DB2-BD59-A6C34878D82A}">
                    <a16:rowId xmlns:a16="http://schemas.microsoft.com/office/drawing/2014/main" val="2159784742"/>
                  </a:ext>
                </a:extLst>
              </a:tr>
              <a:tr h="304727">
                <a:tc>
                  <a:txBody>
                    <a:bodyPr/>
                    <a:lstStyle/>
                    <a:p>
                      <a:pPr lvl="0" algn="l">
                        <a:buNone/>
                      </a:pPr>
                      <a:r>
                        <a:rPr lang="en-IN" sz="1100" b="0" i="0" u="none" strike="noStrike">
                          <a:solidFill>
                            <a:srgbClr val="000000"/>
                          </a:solidFill>
                          <a:effectLst/>
                          <a:latin typeface="Aptos"/>
                          <a:ea typeface="Lato Regular"/>
                          <a:cs typeface="Lato Regular"/>
                        </a:rPr>
                        <a:t>Int Exp</a:t>
                      </a:r>
                      <a:endParaRPr lang="en-US" sz="1050" b="0" i="0">
                        <a:solidFill>
                          <a:srgbClr val="2C2B69"/>
                        </a:solidFill>
                        <a:effectLst/>
                        <a:latin typeface="+mj-lt"/>
                      </a:endParaRPr>
                    </a:p>
                  </a:txBody>
                  <a:tcPr marL="144000" marR="0" marT="0" marB="0" anchor="ctr"/>
                </a:tc>
                <a:tc>
                  <a:txBody>
                    <a:bodyPr/>
                    <a:lstStyle/>
                    <a:p>
                      <a:pPr lvl="0" algn="ctr">
                        <a:buNone/>
                      </a:pPr>
                      <a:r>
                        <a:rPr lang="en-IN" sz="1100" b="0" i="0" u="none" strike="noStrike">
                          <a:solidFill>
                            <a:srgbClr val="000000"/>
                          </a:solidFill>
                          <a:effectLst/>
                          <a:latin typeface="Aptos"/>
                          <a:ea typeface="Lato Regular"/>
                          <a:cs typeface="Lato Regular"/>
                        </a:rPr>
                        <a:t>3.1</a:t>
                      </a:r>
                      <a:endParaRPr lang="en-IN" sz="1050" b="0" i="0" u="none" strike="noStrike">
                        <a:solidFill>
                          <a:srgbClr val="000000"/>
                        </a:solidFill>
                        <a:effectLst/>
                        <a:latin typeface="+mj-lt"/>
                      </a:endParaRPr>
                    </a:p>
                  </a:txBody>
                  <a:tcPr marL="0" marR="0" marT="0" marB="0" anchor="ctr"/>
                </a:tc>
                <a:tc>
                  <a:txBody>
                    <a:bodyPr/>
                    <a:lstStyle/>
                    <a:p>
                      <a:pPr lvl="0" algn="ctr">
                        <a:buNone/>
                      </a:pPr>
                      <a:r>
                        <a:rPr lang="en-IN" sz="1100" b="0" i="0" u="none" strike="noStrike">
                          <a:solidFill>
                            <a:srgbClr val="000000"/>
                          </a:solidFill>
                          <a:effectLst/>
                          <a:latin typeface="Aptos"/>
                          <a:ea typeface="Lato Regular"/>
                          <a:cs typeface="Lato Regular"/>
                        </a:rPr>
                        <a:t>25.1</a:t>
                      </a:r>
                      <a:endParaRPr lang="en-IN" sz="1050" b="0" i="0">
                        <a:solidFill>
                          <a:srgbClr val="2C2B69"/>
                        </a:solidFill>
                        <a:effectLst/>
                        <a:latin typeface="+mj-lt"/>
                      </a:endParaRPr>
                    </a:p>
                  </a:txBody>
                  <a:tcPr marL="0" marR="0" marT="0" marB="0" anchor="ctr"/>
                </a:tc>
                <a:tc>
                  <a:txBody>
                    <a:bodyPr/>
                    <a:lstStyle/>
                    <a:p>
                      <a:pPr lvl="0" algn="ctr">
                        <a:buNone/>
                      </a:pPr>
                      <a:r>
                        <a:rPr lang="en-IN" sz="1100" b="0" i="0" u="none" strike="noStrike">
                          <a:solidFill>
                            <a:srgbClr val="000000"/>
                          </a:solidFill>
                          <a:effectLst/>
                          <a:latin typeface="Aptos"/>
                        </a:rPr>
                        <a:t>48.1</a:t>
                      </a:r>
                      <a:endParaRPr lang="en-IN" sz="1050" b="0" i="0">
                        <a:solidFill>
                          <a:srgbClr val="2C2B69"/>
                        </a:solidFill>
                        <a:effectLst/>
                        <a:latin typeface="+mj-lt"/>
                      </a:endParaRPr>
                    </a:p>
                  </a:txBody>
                  <a:tcPr marL="0" marR="0" marT="0" marB="0" anchor="ctr"/>
                </a:tc>
                <a:tc>
                  <a:txBody>
                    <a:bodyPr/>
                    <a:lstStyle/>
                    <a:p>
                      <a:pPr lvl="0" algn="ctr">
                        <a:buNone/>
                      </a:pPr>
                      <a:r>
                        <a:rPr lang="en-IN" sz="1100" b="0" i="0" u="none" strike="noStrike">
                          <a:solidFill>
                            <a:srgbClr val="000000"/>
                          </a:solidFill>
                          <a:effectLst/>
                          <a:latin typeface="Aptos"/>
                        </a:rPr>
                        <a:t>8.9</a:t>
                      </a:r>
                      <a:endParaRPr lang="en-IN" sz="1050" b="0" i="0">
                        <a:solidFill>
                          <a:srgbClr val="2C2B69"/>
                        </a:solidFill>
                        <a:effectLst/>
                        <a:latin typeface="+mj-lt"/>
                      </a:endParaRPr>
                    </a:p>
                  </a:txBody>
                  <a:tcPr marL="0" marR="0" marT="0" marB="0" anchor="ctr"/>
                </a:tc>
                <a:tc>
                  <a:txBody>
                    <a:bodyPr/>
                    <a:lstStyle/>
                    <a:p>
                      <a:pPr lvl="0" algn="ctr">
                        <a:buNone/>
                      </a:pPr>
                      <a:r>
                        <a:rPr lang="en-IN" sz="1100" b="0" i="0" u="none" strike="noStrike">
                          <a:solidFill>
                            <a:srgbClr val="000000"/>
                          </a:solidFill>
                          <a:effectLst/>
                          <a:latin typeface="Aptos"/>
                        </a:rPr>
                        <a:t>11.7</a:t>
                      </a:r>
                      <a:endParaRPr lang="en-IN" sz="1050" b="0" i="0">
                        <a:solidFill>
                          <a:srgbClr val="2C2B69"/>
                        </a:solidFill>
                        <a:effectLst/>
                        <a:latin typeface="+mj-lt"/>
                      </a:endParaRPr>
                    </a:p>
                  </a:txBody>
                  <a:tcPr marL="0" marR="0" marT="0" marB="0" anchor="ctr"/>
                </a:tc>
                <a:extLst>
                  <a:ext uri="{0D108BD9-81ED-4DB2-BD59-A6C34878D82A}">
                    <a16:rowId xmlns:a16="http://schemas.microsoft.com/office/drawing/2014/main" val="2809398452"/>
                  </a:ext>
                </a:extLst>
              </a:tr>
              <a:tr h="304727">
                <a:tc>
                  <a:txBody>
                    <a:bodyPr/>
                    <a:lstStyle/>
                    <a:p>
                      <a:pPr lvl="0" algn="l">
                        <a:buNone/>
                      </a:pPr>
                      <a:r>
                        <a:rPr lang="en-IN" sz="1100" b="1" i="0" u="none" strike="noStrike">
                          <a:solidFill>
                            <a:srgbClr val="000000"/>
                          </a:solidFill>
                          <a:effectLst/>
                          <a:latin typeface="Aptos"/>
                          <a:ea typeface="Lato Regular"/>
                          <a:cs typeface="Lato Regular"/>
                        </a:rPr>
                        <a:t>Net Int Inc</a:t>
                      </a:r>
                      <a:endParaRPr lang="en-US" sz="1050" b="0" i="0">
                        <a:solidFill>
                          <a:srgbClr val="2C2B69"/>
                        </a:solidFill>
                        <a:effectLst/>
                        <a:latin typeface="+mj-lt"/>
                      </a:endParaRPr>
                    </a:p>
                  </a:txBody>
                  <a:tcPr marL="144000" marR="0" marT="0" marB="0" anchor="ctr"/>
                </a:tc>
                <a:tc>
                  <a:txBody>
                    <a:bodyPr/>
                    <a:lstStyle/>
                    <a:p>
                      <a:pPr lvl="0" algn="ctr">
                        <a:buNone/>
                      </a:pPr>
                      <a:r>
                        <a:rPr lang="en-IN" sz="1100" b="1" i="0" u="none" strike="noStrike">
                          <a:solidFill>
                            <a:srgbClr val="000000"/>
                          </a:solidFill>
                          <a:effectLst/>
                          <a:latin typeface="Aptos"/>
                          <a:ea typeface="Lato Regular"/>
                          <a:cs typeface="Lato Regular"/>
                        </a:rPr>
                        <a:t>0.7</a:t>
                      </a:r>
                      <a:endParaRPr lang="en-IN" sz="1050" b="1" i="0" u="none" strike="noStrike">
                        <a:solidFill>
                          <a:srgbClr val="000000"/>
                        </a:solidFill>
                        <a:effectLst/>
                        <a:latin typeface="+mj-lt"/>
                      </a:endParaRPr>
                    </a:p>
                  </a:txBody>
                  <a:tcPr marL="0" marR="0" marT="0" marB="0" anchor="ctr"/>
                </a:tc>
                <a:tc>
                  <a:txBody>
                    <a:bodyPr/>
                    <a:lstStyle/>
                    <a:p>
                      <a:pPr lvl="0" algn="ctr">
                        <a:buNone/>
                      </a:pPr>
                      <a:r>
                        <a:rPr lang="en-IN" sz="1100" b="1" i="0" u="none" strike="noStrike">
                          <a:solidFill>
                            <a:srgbClr val="000000"/>
                          </a:solidFill>
                          <a:effectLst/>
                          <a:latin typeface="Aptos"/>
                          <a:ea typeface="Lato Regular"/>
                          <a:cs typeface="Lato Regular"/>
                        </a:rPr>
                        <a:t>4.2</a:t>
                      </a:r>
                      <a:endParaRPr lang="en-IN" sz="1050" b="1" i="0">
                        <a:solidFill>
                          <a:srgbClr val="2C2B69"/>
                        </a:solidFill>
                        <a:effectLst/>
                        <a:latin typeface="+mj-lt"/>
                      </a:endParaRPr>
                    </a:p>
                  </a:txBody>
                  <a:tcPr marL="0" marR="0" marT="0" marB="0" anchor="ctr"/>
                </a:tc>
                <a:tc>
                  <a:txBody>
                    <a:bodyPr/>
                    <a:lstStyle/>
                    <a:p>
                      <a:pPr lvl="0" algn="ctr">
                        <a:buNone/>
                      </a:pPr>
                      <a:r>
                        <a:rPr lang="en-IN" sz="1100" b="1" i="0" u="none" strike="noStrike">
                          <a:solidFill>
                            <a:srgbClr val="000000"/>
                          </a:solidFill>
                          <a:effectLst/>
                          <a:latin typeface="Aptos"/>
                        </a:rPr>
                        <a:t>6.4</a:t>
                      </a:r>
                      <a:endParaRPr lang="en-IN" sz="1050" b="1" i="0">
                        <a:solidFill>
                          <a:srgbClr val="2C2B69"/>
                        </a:solidFill>
                        <a:effectLst/>
                        <a:latin typeface="+mj-lt"/>
                      </a:endParaRPr>
                    </a:p>
                  </a:txBody>
                  <a:tcPr marL="0" marR="0" marT="0" marB="0" anchor="ctr"/>
                </a:tc>
                <a:tc>
                  <a:txBody>
                    <a:bodyPr/>
                    <a:lstStyle/>
                    <a:p>
                      <a:pPr lvl="0" algn="ctr">
                        <a:buNone/>
                      </a:pPr>
                      <a:r>
                        <a:rPr lang="en-IN" sz="1100" b="1" i="0" u="none" strike="noStrike">
                          <a:solidFill>
                            <a:srgbClr val="000000"/>
                          </a:solidFill>
                          <a:effectLst/>
                          <a:latin typeface="Aptos"/>
                        </a:rPr>
                        <a:t>1.4</a:t>
                      </a:r>
                      <a:endParaRPr lang="en-IN" sz="1050" b="1" i="0">
                        <a:solidFill>
                          <a:srgbClr val="2C2B69"/>
                        </a:solidFill>
                        <a:effectLst/>
                        <a:latin typeface="+mj-lt"/>
                      </a:endParaRPr>
                    </a:p>
                  </a:txBody>
                  <a:tcPr marL="0" marR="0" marT="0" marB="0" anchor="ctr"/>
                </a:tc>
                <a:tc>
                  <a:txBody>
                    <a:bodyPr/>
                    <a:lstStyle/>
                    <a:p>
                      <a:pPr lvl="0" algn="ctr">
                        <a:buNone/>
                      </a:pPr>
                      <a:r>
                        <a:rPr lang="en-IN" sz="1100" b="1" i="0" u="none" strike="noStrike">
                          <a:solidFill>
                            <a:srgbClr val="000000"/>
                          </a:solidFill>
                          <a:effectLst/>
                          <a:latin typeface="Aptos"/>
                        </a:rPr>
                        <a:t>1.5</a:t>
                      </a:r>
                      <a:endParaRPr lang="en-IN" sz="1050" b="1" i="0">
                        <a:solidFill>
                          <a:srgbClr val="2C2B69"/>
                        </a:solidFill>
                        <a:effectLst/>
                        <a:latin typeface="+mj-lt"/>
                      </a:endParaRPr>
                    </a:p>
                  </a:txBody>
                  <a:tcPr marL="0" marR="0" marT="0" marB="0" anchor="ctr"/>
                </a:tc>
                <a:extLst>
                  <a:ext uri="{0D108BD9-81ED-4DB2-BD59-A6C34878D82A}">
                    <a16:rowId xmlns:a16="http://schemas.microsoft.com/office/drawing/2014/main" val="4076501595"/>
                  </a:ext>
                </a:extLst>
              </a:tr>
              <a:tr h="304726">
                <a:tc>
                  <a:txBody>
                    <a:bodyPr/>
                    <a:lstStyle/>
                    <a:p>
                      <a:pPr lvl="0" algn="l">
                        <a:buNone/>
                      </a:pPr>
                      <a:r>
                        <a:rPr lang="en-IN" sz="1100" b="0" i="0" u="none" strike="noStrike">
                          <a:solidFill>
                            <a:srgbClr val="000000"/>
                          </a:solidFill>
                          <a:effectLst/>
                          <a:latin typeface="Aptos"/>
                          <a:ea typeface="Lato Regular"/>
                          <a:cs typeface="Lato Regular"/>
                        </a:rPr>
                        <a:t>Other Income</a:t>
                      </a:r>
                      <a:endParaRPr lang="en-US"/>
                    </a:p>
                  </a:txBody>
                  <a:tcPr marL="144000" marR="0" marT="0" marB="0" anchor="ctr"/>
                </a:tc>
                <a:tc>
                  <a:txBody>
                    <a:bodyPr/>
                    <a:lstStyle/>
                    <a:p>
                      <a:pPr lvl="0" algn="ctr">
                        <a:buNone/>
                      </a:pPr>
                      <a:r>
                        <a:rPr lang="en-IN" sz="1100" b="0" i="0" u="none" strike="noStrike">
                          <a:solidFill>
                            <a:srgbClr val="000000"/>
                          </a:solidFill>
                          <a:effectLst/>
                          <a:latin typeface="Aptos"/>
                          <a:ea typeface="Lato Regular"/>
                          <a:cs typeface="Lato Regular"/>
                        </a:rPr>
                        <a:t>1.6</a:t>
                      </a:r>
                      <a:endParaRPr lang="en-US"/>
                    </a:p>
                  </a:txBody>
                  <a:tcPr marL="0" marR="0" marT="0" marB="0" anchor="ctr"/>
                </a:tc>
                <a:tc>
                  <a:txBody>
                    <a:bodyPr/>
                    <a:lstStyle/>
                    <a:p>
                      <a:pPr lvl="0" algn="ctr">
                        <a:buNone/>
                      </a:pPr>
                      <a:r>
                        <a:rPr lang="en-IN" sz="1100" b="0" i="0" u="none" strike="noStrike">
                          <a:solidFill>
                            <a:srgbClr val="000000"/>
                          </a:solidFill>
                          <a:effectLst/>
                          <a:latin typeface="Aptos"/>
                          <a:ea typeface="Lato Regular"/>
                          <a:cs typeface="Lato Regular"/>
                        </a:rPr>
                        <a:t>4.8</a:t>
                      </a:r>
                      <a:endParaRPr lang="en-US"/>
                    </a:p>
                  </a:txBody>
                  <a:tcPr marL="0" marR="0" marT="0" marB="0" anchor="ctr"/>
                </a:tc>
                <a:tc>
                  <a:txBody>
                    <a:bodyPr/>
                    <a:lstStyle/>
                    <a:p>
                      <a:pPr lvl="0" algn="ctr">
                        <a:buNone/>
                      </a:pPr>
                      <a:r>
                        <a:rPr lang="en-IN" sz="1100" b="0" i="0" u="none" strike="noStrike">
                          <a:solidFill>
                            <a:srgbClr val="000000"/>
                          </a:solidFill>
                          <a:effectLst/>
                          <a:latin typeface="Aptos"/>
                        </a:rPr>
                        <a:t>7.0</a:t>
                      </a:r>
                      <a:endParaRPr lang="en-US"/>
                    </a:p>
                  </a:txBody>
                  <a:tcPr marL="0" marR="0" marT="0" marB="0" anchor="ctr"/>
                </a:tc>
                <a:tc>
                  <a:txBody>
                    <a:bodyPr/>
                    <a:lstStyle/>
                    <a:p>
                      <a:pPr lvl="0" algn="ctr">
                        <a:buNone/>
                      </a:pPr>
                      <a:r>
                        <a:rPr lang="en-IN" sz="1100" b="0" i="0" u="none" strike="noStrike">
                          <a:solidFill>
                            <a:srgbClr val="000000"/>
                          </a:solidFill>
                          <a:effectLst/>
                          <a:latin typeface="Aptos"/>
                        </a:rPr>
                        <a:t>1.8</a:t>
                      </a:r>
                      <a:endParaRPr lang="en-US"/>
                    </a:p>
                  </a:txBody>
                  <a:tcPr marL="0" marR="0" marT="0" marB="0" anchor="ctr"/>
                </a:tc>
                <a:tc>
                  <a:txBody>
                    <a:bodyPr/>
                    <a:lstStyle/>
                    <a:p>
                      <a:pPr lvl="0" algn="ctr">
                        <a:buNone/>
                      </a:pPr>
                      <a:r>
                        <a:rPr lang="en-IN" sz="1100" b="0" i="0" u="none" strike="noStrike">
                          <a:solidFill>
                            <a:srgbClr val="000000"/>
                          </a:solidFill>
                          <a:effectLst/>
                          <a:latin typeface="Aptos"/>
                        </a:rPr>
                        <a:t>1.7</a:t>
                      </a:r>
                      <a:endParaRPr lang="en-US"/>
                    </a:p>
                  </a:txBody>
                  <a:tcPr marL="0" marR="0" marT="0" marB="0" anchor="ctr"/>
                </a:tc>
                <a:extLst>
                  <a:ext uri="{0D108BD9-81ED-4DB2-BD59-A6C34878D82A}">
                    <a16:rowId xmlns:a16="http://schemas.microsoft.com/office/drawing/2014/main" val="871720426"/>
                  </a:ext>
                </a:extLst>
              </a:tr>
              <a:tr h="304727">
                <a:tc>
                  <a:txBody>
                    <a:bodyPr/>
                    <a:lstStyle/>
                    <a:p>
                      <a:pPr lvl="0" algn="l">
                        <a:buNone/>
                      </a:pPr>
                      <a:r>
                        <a:rPr lang="en-IN" sz="1100" b="0" i="0" u="none" strike="noStrike">
                          <a:solidFill>
                            <a:srgbClr val="000000"/>
                          </a:solidFill>
                          <a:effectLst/>
                          <a:latin typeface="Aptos"/>
                          <a:ea typeface="Lato Regular"/>
                          <a:cs typeface="Lato Regular"/>
                        </a:rPr>
                        <a:t>Other Expense</a:t>
                      </a:r>
                      <a:endParaRPr lang="en-US" sz="1050" b="0" i="0">
                        <a:solidFill>
                          <a:srgbClr val="2C2B69"/>
                        </a:solidFill>
                        <a:effectLst/>
                        <a:latin typeface="+mj-lt"/>
                      </a:endParaRPr>
                    </a:p>
                  </a:txBody>
                  <a:tcPr marL="144000" marR="0" marT="0" marB="0" anchor="ctr"/>
                </a:tc>
                <a:tc>
                  <a:txBody>
                    <a:bodyPr/>
                    <a:lstStyle/>
                    <a:p>
                      <a:pPr lvl="0" algn="ctr">
                        <a:buNone/>
                      </a:pPr>
                      <a:r>
                        <a:rPr lang="en-IN" sz="1100" b="0" i="0" u="none" strike="noStrike">
                          <a:solidFill>
                            <a:srgbClr val="000000"/>
                          </a:solidFill>
                          <a:effectLst/>
                          <a:latin typeface="Aptos"/>
                          <a:ea typeface="Lato Regular"/>
                          <a:cs typeface="Lato Regular"/>
                        </a:rPr>
                        <a:t>7.7</a:t>
                      </a:r>
                      <a:endParaRPr lang="en-IN" sz="1050" b="0" i="0" u="none" strike="noStrike">
                        <a:solidFill>
                          <a:srgbClr val="000000"/>
                        </a:solidFill>
                        <a:effectLst/>
                        <a:latin typeface="+mj-lt"/>
                      </a:endParaRPr>
                    </a:p>
                  </a:txBody>
                  <a:tcPr marL="0" marR="0" marT="0" marB="0" anchor="ctr"/>
                </a:tc>
                <a:tc>
                  <a:txBody>
                    <a:bodyPr/>
                    <a:lstStyle/>
                    <a:p>
                      <a:pPr lvl="0" algn="ctr">
                        <a:buNone/>
                      </a:pPr>
                      <a:r>
                        <a:rPr lang="en-IN" sz="1100" b="0" i="0" u="none" strike="noStrike">
                          <a:solidFill>
                            <a:srgbClr val="000000"/>
                          </a:solidFill>
                          <a:effectLst/>
                          <a:latin typeface="Aptos"/>
                          <a:ea typeface="Lato Regular"/>
                          <a:cs typeface="Lato Regular"/>
                        </a:rPr>
                        <a:t>17.1</a:t>
                      </a:r>
                      <a:endParaRPr lang="en-IN" sz="1050" b="0" i="0">
                        <a:solidFill>
                          <a:srgbClr val="2C2B69"/>
                        </a:solidFill>
                        <a:effectLst/>
                        <a:latin typeface="+mj-lt"/>
                      </a:endParaRPr>
                    </a:p>
                  </a:txBody>
                  <a:tcPr marL="0" marR="0" marT="0" marB="0" anchor="ctr"/>
                </a:tc>
                <a:tc>
                  <a:txBody>
                    <a:bodyPr/>
                    <a:lstStyle/>
                    <a:p>
                      <a:pPr lvl="0" algn="ctr">
                        <a:buNone/>
                      </a:pPr>
                      <a:r>
                        <a:rPr lang="en-IN" sz="1100" b="0" i="0" u="none" strike="noStrike">
                          <a:solidFill>
                            <a:srgbClr val="000000"/>
                          </a:solidFill>
                          <a:effectLst/>
                          <a:latin typeface="Aptos"/>
                        </a:rPr>
                        <a:t>24.6</a:t>
                      </a:r>
                      <a:endParaRPr lang="en-IN" sz="1050" b="0" i="0">
                        <a:solidFill>
                          <a:srgbClr val="2C2B69"/>
                        </a:solidFill>
                        <a:effectLst/>
                        <a:latin typeface="+mj-lt"/>
                      </a:endParaRPr>
                    </a:p>
                  </a:txBody>
                  <a:tcPr marL="0" marR="0" marT="0" marB="0" anchor="ctr"/>
                </a:tc>
                <a:tc>
                  <a:txBody>
                    <a:bodyPr/>
                    <a:lstStyle/>
                    <a:p>
                      <a:pPr lvl="0" algn="ctr">
                        <a:buNone/>
                      </a:pPr>
                      <a:r>
                        <a:rPr lang="en-IN" sz="1100" b="0" i="0" u="none" strike="noStrike">
                          <a:solidFill>
                            <a:srgbClr val="000000"/>
                          </a:solidFill>
                          <a:effectLst/>
                          <a:latin typeface="Aptos"/>
                        </a:rPr>
                        <a:t>5.3</a:t>
                      </a:r>
                      <a:endParaRPr lang="en-IN" sz="1050" b="0" i="0">
                        <a:solidFill>
                          <a:srgbClr val="2C2B69"/>
                        </a:solidFill>
                        <a:effectLst/>
                        <a:latin typeface="+mj-lt"/>
                      </a:endParaRPr>
                    </a:p>
                  </a:txBody>
                  <a:tcPr marL="0" marR="0" marT="0" marB="0" anchor="ctr"/>
                </a:tc>
                <a:tc>
                  <a:txBody>
                    <a:bodyPr/>
                    <a:lstStyle/>
                    <a:p>
                      <a:pPr lvl="0" algn="ctr">
                        <a:buNone/>
                      </a:pPr>
                      <a:r>
                        <a:rPr lang="en-IN" sz="1100" b="0" i="0" u="none" strike="noStrike">
                          <a:solidFill>
                            <a:srgbClr val="000000"/>
                          </a:solidFill>
                          <a:effectLst/>
                          <a:latin typeface="Aptos"/>
                        </a:rPr>
                        <a:t>6.2</a:t>
                      </a:r>
                      <a:endParaRPr lang="en-IN" sz="1050" b="0" i="0">
                        <a:solidFill>
                          <a:srgbClr val="2C2B69"/>
                        </a:solidFill>
                        <a:effectLst/>
                        <a:latin typeface="+mj-lt"/>
                      </a:endParaRPr>
                    </a:p>
                  </a:txBody>
                  <a:tcPr marL="0" marR="0" marT="0" marB="0" anchor="ctr"/>
                </a:tc>
                <a:extLst>
                  <a:ext uri="{0D108BD9-81ED-4DB2-BD59-A6C34878D82A}">
                    <a16:rowId xmlns:a16="http://schemas.microsoft.com/office/drawing/2014/main" val="3179895044"/>
                  </a:ext>
                </a:extLst>
              </a:tr>
              <a:tr h="304726">
                <a:tc>
                  <a:txBody>
                    <a:bodyPr/>
                    <a:lstStyle/>
                    <a:p>
                      <a:pPr lvl="0" algn="l">
                        <a:buNone/>
                      </a:pPr>
                      <a:r>
                        <a:rPr lang="en-IN" sz="1100" b="1" i="0" u="none" strike="noStrike">
                          <a:solidFill>
                            <a:srgbClr val="000000"/>
                          </a:solidFill>
                          <a:effectLst/>
                          <a:latin typeface="Aptos"/>
                          <a:ea typeface="Lato Regular"/>
                          <a:cs typeface="Lato Regular"/>
                        </a:rPr>
                        <a:t>Net Profit</a:t>
                      </a:r>
                      <a:endParaRPr lang="en-US"/>
                    </a:p>
                  </a:txBody>
                  <a:tcPr marL="144000" marR="0" marT="0" marB="0" anchor="ctr"/>
                </a:tc>
                <a:tc>
                  <a:txBody>
                    <a:bodyPr/>
                    <a:lstStyle/>
                    <a:p>
                      <a:pPr lvl="0" algn="ctr">
                        <a:buNone/>
                      </a:pPr>
                      <a:r>
                        <a:rPr lang="en-IN" sz="1100" b="1" i="0" u="none" strike="noStrike">
                          <a:solidFill>
                            <a:srgbClr val="000000"/>
                          </a:solidFill>
                          <a:effectLst/>
                          <a:latin typeface="Aptos"/>
                          <a:ea typeface="Lato Regular"/>
                          <a:cs typeface="Lato Regular"/>
                        </a:rPr>
                        <a:t>-5.4</a:t>
                      </a:r>
                      <a:endParaRPr lang="en-US"/>
                    </a:p>
                  </a:txBody>
                  <a:tcPr marL="0" marR="0" marT="0" marB="0" anchor="ctr"/>
                </a:tc>
                <a:tc>
                  <a:txBody>
                    <a:bodyPr/>
                    <a:lstStyle/>
                    <a:p>
                      <a:pPr lvl="0" algn="ctr">
                        <a:buNone/>
                      </a:pPr>
                      <a:r>
                        <a:rPr lang="en-IN" sz="1100" b="1" i="0" u="none" strike="noStrike">
                          <a:solidFill>
                            <a:srgbClr val="000000"/>
                          </a:solidFill>
                          <a:effectLst/>
                          <a:latin typeface="Aptos"/>
                          <a:ea typeface="Lato Regular"/>
                          <a:cs typeface="Lato Regular"/>
                        </a:rPr>
                        <a:t>-8.1</a:t>
                      </a:r>
                      <a:endParaRPr lang="en-US"/>
                    </a:p>
                  </a:txBody>
                  <a:tcPr marL="0" marR="0" marT="0" marB="0" anchor="ctr"/>
                </a:tc>
                <a:tc>
                  <a:txBody>
                    <a:bodyPr/>
                    <a:lstStyle/>
                    <a:p>
                      <a:pPr lvl="0" algn="ctr">
                        <a:buNone/>
                      </a:pPr>
                      <a:r>
                        <a:rPr lang="en-IN" sz="1100" b="1" i="0" u="none" strike="noStrike">
                          <a:solidFill>
                            <a:srgbClr val="000000"/>
                          </a:solidFill>
                          <a:effectLst/>
                          <a:latin typeface="Aptos"/>
                        </a:rPr>
                        <a:t>-11.1</a:t>
                      </a:r>
                      <a:endParaRPr lang="en-US"/>
                    </a:p>
                  </a:txBody>
                  <a:tcPr marL="0" marR="0" marT="0" marB="0" anchor="ctr"/>
                </a:tc>
                <a:tc>
                  <a:txBody>
                    <a:bodyPr/>
                    <a:lstStyle/>
                    <a:p>
                      <a:pPr lvl="0" algn="ctr">
                        <a:buNone/>
                      </a:pPr>
                      <a:r>
                        <a:rPr lang="en-IN" sz="1100" b="1" i="0" u="none" strike="noStrike">
                          <a:solidFill>
                            <a:srgbClr val="000000"/>
                          </a:solidFill>
                          <a:effectLst/>
                          <a:latin typeface="Aptos"/>
                        </a:rPr>
                        <a:t>-2.1</a:t>
                      </a:r>
                      <a:endParaRPr lang="en-US"/>
                    </a:p>
                  </a:txBody>
                  <a:tcPr marL="0" marR="0" marT="0" marB="0" anchor="ctr"/>
                </a:tc>
                <a:tc>
                  <a:txBody>
                    <a:bodyPr/>
                    <a:lstStyle/>
                    <a:p>
                      <a:pPr lvl="0" algn="ctr">
                        <a:buNone/>
                      </a:pPr>
                      <a:r>
                        <a:rPr lang="en-IN" sz="1100" b="1" i="0" u="none" strike="noStrike">
                          <a:solidFill>
                            <a:srgbClr val="000000"/>
                          </a:solidFill>
                          <a:effectLst/>
                          <a:latin typeface="Aptos"/>
                        </a:rPr>
                        <a:t>-3.1</a:t>
                      </a:r>
                      <a:endParaRPr lang="en-US"/>
                    </a:p>
                  </a:txBody>
                  <a:tcPr marL="0" marR="0" marT="0" marB="0" anchor="ctr"/>
                </a:tc>
                <a:extLst>
                  <a:ext uri="{0D108BD9-81ED-4DB2-BD59-A6C34878D82A}">
                    <a16:rowId xmlns:a16="http://schemas.microsoft.com/office/drawing/2014/main" val="709345767"/>
                  </a:ext>
                </a:extLst>
              </a:tr>
            </a:tbl>
          </a:graphicData>
        </a:graphic>
      </p:graphicFrame>
      <p:sp>
        <p:nvSpPr>
          <p:cNvPr id="16" name="Title 1">
            <a:extLst>
              <a:ext uri="{FF2B5EF4-FFF2-40B4-BE49-F238E27FC236}">
                <a16:creationId xmlns:a16="http://schemas.microsoft.com/office/drawing/2014/main" id="{CA32C426-FF0D-233F-B644-1213954D3645}"/>
              </a:ext>
            </a:extLst>
          </p:cNvPr>
          <p:cNvSpPr>
            <a:spLocks noGrp="1"/>
          </p:cNvSpPr>
          <p:nvPr>
            <p:ph type="title"/>
          </p:nvPr>
        </p:nvSpPr>
        <p:spPr>
          <a:xfrm>
            <a:off x="371556" y="510626"/>
            <a:ext cx="8272382" cy="334515"/>
          </a:xfrm>
        </p:spPr>
        <p:txBody>
          <a:bodyPr/>
          <a:lstStyle/>
          <a:p>
            <a:r>
              <a:rPr lang="en-US" err="1"/>
              <a:t>Xtracap</a:t>
            </a:r>
            <a:r>
              <a:rPr lang="en-US"/>
              <a:t> Fintech India Private Limited– Bridge2Capital</a:t>
            </a:r>
          </a:p>
        </p:txBody>
      </p:sp>
      <p:pic>
        <p:nvPicPr>
          <p:cNvPr id="18" name="Picture 2" descr="Tech Assets | Xtracap Fintech">
            <a:extLst>
              <a:ext uri="{FF2B5EF4-FFF2-40B4-BE49-F238E27FC236}">
                <a16:creationId xmlns:a16="http://schemas.microsoft.com/office/drawing/2014/main" id="{F50D3F67-E6F3-60E8-8AA7-2620F23EEAB7}"/>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7039784" y="504358"/>
            <a:ext cx="1597377" cy="351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4126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9F422-1AA1-CA7F-A340-5B3261A5E48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95B293D-96A7-0182-49C3-C4D1350DFC63}"/>
              </a:ext>
            </a:extLst>
          </p:cNvPr>
          <p:cNvSpPr txBox="1"/>
          <p:nvPr/>
        </p:nvSpPr>
        <p:spPr>
          <a:xfrm>
            <a:off x="499141" y="1387387"/>
            <a:ext cx="3450246" cy="320216"/>
          </a:xfrm>
          <a:prstGeom prst="rect">
            <a:avLst/>
          </a:prstGeom>
          <a:noFill/>
        </p:spPr>
        <p:txBody>
          <a:bodyPr wrap="square" rtlCol="0">
            <a:spAutoFit/>
          </a:bodyPr>
          <a:lstStyle/>
          <a:p>
            <a:r>
              <a:rPr lang="en-IN" sz="1481" b="1">
                <a:solidFill>
                  <a:schemeClr val="tx2"/>
                </a:solidFill>
                <a:ea typeface="Lato Regular" panose="020F0502020204030203" pitchFamily="34" charset="0"/>
                <a:cs typeface="Lato Regular" panose="020F0502020204030203" pitchFamily="34" charset="0"/>
              </a:rPr>
              <a:t>Business Description</a:t>
            </a:r>
          </a:p>
        </p:txBody>
      </p:sp>
      <p:sp>
        <p:nvSpPr>
          <p:cNvPr id="4" name="TextBox 3">
            <a:extLst>
              <a:ext uri="{FF2B5EF4-FFF2-40B4-BE49-F238E27FC236}">
                <a16:creationId xmlns:a16="http://schemas.microsoft.com/office/drawing/2014/main" id="{6AA56794-F88E-727D-CD9F-11EEFC671BE8}"/>
              </a:ext>
            </a:extLst>
          </p:cNvPr>
          <p:cNvSpPr txBox="1"/>
          <p:nvPr/>
        </p:nvSpPr>
        <p:spPr>
          <a:xfrm>
            <a:off x="499141" y="3805112"/>
            <a:ext cx="3450246" cy="320216"/>
          </a:xfrm>
          <a:prstGeom prst="rect">
            <a:avLst/>
          </a:prstGeom>
          <a:noFill/>
        </p:spPr>
        <p:txBody>
          <a:bodyPr wrap="square" rtlCol="0">
            <a:spAutoFit/>
          </a:bodyPr>
          <a:lstStyle/>
          <a:p>
            <a:r>
              <a:rPr lang="en-IN" sz="1481" b="1">
                <a:solidFill>
                  <a:schemeClr val="tx2"/>
                </a:solidFill>
                <a:ea typeface="Lato Regular" panose="020F0502020204030203" pitchFamily="34" charset="0"/>
                <a:cs typeface="Lato Regular" panose="020F0502020204030203" pitchFamily="34" charset="0"/>
              </a:rPr>
              <a:t>Performance Commentary</a:t>
            </a:r>
          </a:p>
        </p:txBody>
      </p:sp>
      <p:sp>
        <p:nvSpPr>
          <p:cNvPr id="5" name="TextBox 4">
            <a:extLst>
              <a:ext uri="{FF2B5EF4-FFF2-40B4-BE49-F238E27FC236}">
                <a16:creationId xmlns:a16="http://schemas.microsoft.com/office/drawing/2014/main" id="{25526DF9-A976-C7BB-5FEA-6B5DF5C70287}"/>
              </a:ext>
            </a:extLst>
          </p:cNvPr>
          <p:cNvSpPr txBox="1"/>
          <p:nvPr/>
        </p:nvSpPr>
        <p:spPr>
          <a:xfrm>
            <a:off x="5539984" y="3805112"/>
            <a:ext cx="3450246" cy="227883"/>
          </a:xfrm>
          <a:prstGeom prst="rect">
            <a:avLst/>
          </a:prstGeom>
          <a:noFill/>
        </p:spPr>
        <p:txBody>
          <a:bodyPr wrap="square" lIns="0" tIns="0" rIns="0" bIns="0" rtlCol="0">
            <a:spAutoFit/>
          </a:bodyPr>
          <a:lstStyle/>
          <a:p>
            <a:r>
              <a:rPr lang="en-IN" sz="1481" b="1">
                <a:solidFill>
                  <a:schemeClr val="tx2"/>
                </a:solidFill>
                <a:ea typeface="Lato Regular" panose="020F0502020204030203" pitchFamily="34" charset="0"/>
                <a:cs typeface="Lato Regular" panose="020F0502020204030203" pitchFamily="34" charset="0"/>
              </a:rPr>
              <a:t>Key Financial Highlights</a:t>
            </a:r>
          </a:p>
        </p:txBody>
      </p:sp>
      <p:sp>
        <p:nvSpPr>
          <p:cNvPr id="6" name="Rectangle 5">
            <a:extLst>
              <a:ext uri="{FF2B5EF4-FFF2-40B4-BE49-F238E27FC236}">
                <a16:creationId xmlns:a16="http://schemas.microsoft.com/office/drawing/2014/main" id="{DD2ED7B4-1FDA-3F4B-647D-3B287CD11A4F}"/>
              </a:ext>
            </a:extLst>
          </p:cNvPr>
          <p:cNvSpPr/>
          <p:nvPr/>
        </p:nvSpPr>
        <p:spPr>
          <a:xfrm>
            <a:off x="562116" y="1815136"/>
            <a:ext cx="4195514" cy="2077492"/>
          </a:xfrm>
          <a:prstGeom prst="rect">
            <a:avLst/>
          </a:prstGeom>
        </p:spPr>
        <p:txBody>
          <a:bodyPr wrap="square" lIns="0" tIns="0" rIns="0" bIns="0" anchor="t">
            <a:spAutoFit/>
          </a:bodyPr>
          <a:lstStyle/>
          <a:p>
            <a:pPr marL="171450" indent="-171450" algn="just">
              <a:spcAft>
                <a:spcPts val="600"/>
              </a:spcAft>
              <a:buFont typeface="Arial,Sans-Serif" panose="020B0604020202020204" pitchFamily="34" charset="0"/>
              <a:buChar char="•"/>
            </a:pPr>
            <a:r>
              <a:rPr lang="en-US" sz="1200">
                <a:solidFill>
                  <a:schemeClr val="bg2">
                    <a:lumMod val="10000"/>
                  </a:schemeClr>
                </a:solidFill>
                <a:ea typeface="Calibri"/>
                <a:cs typeface="Calibri"/>
                <a:sym typeface="Calibri"/>
              </a:rPr>
              <a:t>GQ offers online platform for fee payment solutions to k-12 schools and universities. It enables parents and guardians to pay the school fees in monthly instalments. It also partners with educational institutions to make fee payment procedures easy</a:t>
            </a:r>
          </a:p>
          <a:p>
            <a:pPr marL="171450" indent="-171450" algn="just">
              <a:spcAft>
                <a:spcPts val="600"/>
              </a:spcAft>
              <a:buFont typeface="Arial,Sans-Serif" panose="020B0604020202020204" pitchFamily="34" charset="0"/>
              <a:buChar char="•"/>
            </a:pPr>
            <a:r>
              <a:rPr lang="en-US" sz="1200">
                <a:solidFill>
                  <a:schemeClr val="bg2">
                    <a:lumMod val="10000"/>
                  </a:schemeClr>
                </a:solidFill>
                <a:ea typeface="Calibri"/>
                <a:cs typeface="Calibri"/>
                <a:sym typeface="Calibri"/>
              </a:rPr>
              <a:t>The company uses stringent underwriting process, wherein it underwrites the parents credit score to offer fee financing solution</a:t>
            </a:r>
            <a:endParaRPr lang="en-US" sz="1200">
              <a:solidFill>
                <a:schemeClr val="bg2">
                  <a:lumMod val="10000"/>
                </a:schemeClr>
              </a:solidFill>
              <a:ea typeface="Calibri"/>
              <a:cs typeface="Calibri"/>
            </a:endParaRPr>
          </a:p>
          <a:p>
            <a:pPr marL="171450" indent="-171450" algn="just">
              <a:spcAft>
                <a:spcPts val="600"/>
              </a:spcAft>
              <a:buFont typeface="Arial,Sans-Serif" panose="020B0604020202020204" pitchFamily="34" charset="0"/>
              <a:buChar char="•"/>
            </a:pPr>
            <a:r>
              <a:rPr lang="en-US" sz="1200">
                <a:solidFill>
                  <a:schemeClr val="bg2">
                    <a:lumMod val="10000"/>
                  </a:schemeClr>
                </a:solidFill>
                <a:ea typeface="Calibri"/>
                <a:cs typeface="Calibri"/>
                <a:sym typeface="Calibri"/>
              </a:rPr>
              <a:t>It has 6000+ partnered </a:t>
            </a:r>
            <a:r>
              <a:rPr lang="en-US" sz="1200" err="1">
                <a:solidFill>
                  <a:schemeClr val="bg2">
                    <a:lumMod val="10000"/>
                  </a:schemeClr>
                </a:solidFill>
                <a:ea typeface="Calibri"/>
                <a:cs typeface="Calibri"/>
                <a:sym typeface="Calibri"/>
              </a:rPr>
              <a:t>instititions</a:t>
            </a:r>
            <a:endParaRPr lang="en-US" err="1">
              <a:solidFill>
                <a:schemeClr val="bg2">
                  <a:lumMod val="10000"/>
                </a:schemeClr>
              </a:solidFill>
            </a:endParaRPr>
          </a:p>
          <a:p>
            <a:pPr marL="171450" indent="-171450" algn="just">
              <a:spcAft>
                <a:spcPts val="600"/>
              </a:spcAft>
              <a:buFont typeface="Arial" panose="020B0604020202020204" pitchFamily="34" charset="0"/>
              <a:buChar char="•"/>
            </a:pPr>
            <a:endParaRPr lang="en-US" sz="1200">
              <a:solidFill>
                <a:schemeClr val="bg2">
                  <a:lumMod val="10000"/>
                </a:schemeClr>
              </a:solidFill>
              <a:ea typeface="Calibri"/>
              <a:cs typeface="Calibri"/>
            </a:endParaRPr>
          </a:p>
        </p:txBody>
      </p:sp>
      <p:sp>
        <p:nvSpPr>
          <p:cNvPr id="7" name="TextBox 6">
            <a:extLst>
              <a:ext uri="{FF2B5EF4-FFF2-40B4-BE49-F238E27FC236}">
                <a16:creationId xmlns:a16="http://schemas.microsoft.com/office/drawing/2014/main" id="{70D6E448-1A32-C75A-C610-8E64A8D2B645}"/>
              </a:ext>
            </a:extLst>
          </p:cNvPr>
          <p:cNvSpPr txBox="1"/>
          <p:nvPr/>
        </p:nvSpPr>
        <p:spPr>
          <a:xfrm>
            <a:off x="473741" y="4063420"/>
            <a:ext cx="4408262" cy="2169825"/>
          </a:xfrm>
          <a:prstGeom prst="rect">
            <a:avLst/>
          </a:prstGeom>
          <a:noFill/>
        </p:spPr>
        <p:txBody>
          <a:bodyPr wrap="square" lIns="91440" tIns="45720" rIns="91440" bIns="45720" rtlCol="0" anchor="t">
            <a:spAutoFit/>
          </a:bodyPr>
          <a:lstStyle/>
          <a:p>
            <a:pPr marL="171450" indent="-171450" algn="just">
              <a:spcAft>
                <a:spcPts val="600"/>
              </a:spcAft>
              <a:buFont typeface="Arial,Sans-Serif" panose="020B0604020202020204" pitchFamily="34" charset="0"/>
              <a:buChar char="•"/>
            </a:pPr>
            <a:r>
              <a:rPr lang="en-IN" sz="1200" b="1">
                <a:solidFill>
                  <a:srgbClr val="242424"/>
                </a:solidFill>
                <a:highlight>
                  <a:srgbClr val="FFFFFF"/>
                </a:highlight>
                <a:ea typeface="Calibri"/>
                <a:cs typeface="Calibri"/>
              </a:rPr>
              <a:t>Disbursals up 43.8% YoY to ₹1,738.3 Cr</a:t>
            </a:r>
            <a:r>
              <a:rPr lang="en-IN" sz="1200">
                <a:solidFill>
                  <a:srgbClr val="242424"/>
                </a:solidFill>
                <a:highlight>
                  <a:srgbClr val="FFFFFF"/>
                </a:highlight>
                <a:ea typeface="Calibri"/>
                <a:cs typeface="Calibri"/>
              </a:rPr>
              <a:t> across 6,000+ partnered institutions. </a:t>
            </a:r>
            <a:endParaRPr lang="en-US" sz="1200">
              <a:solidFill>
                <a:srgbClr val="2C2B69"/>
              </a:solidFill>
              <a:ea typeface="Calibri"/>
              <a:cs typeface="Calibri"/>
            </a:endParaRPr>
          </a:p>
          <a:p>
            <a:pPr marL="171450" indent="-171450" algn="just">
              <a:spcAft>
                <a:spcPts val="600"/>
              </a:spcAft>
              <a:buFont typeface="Arial,Sans-Serif" panose="020B0604020202020204" pitchFamily="34" charset="0"/>
              <a:buChar char="•"/>
            </a:pPr>
            <a:r>
              <a:rPr lang="en-IN" sz="1200">
                <a:solidFill>
                  <a:srgbClr val="242424"/>
                </a:solidFill>
                <a:highlight>
                  <a:srgbClr val="FFFFFF"/>
                </a:highlight>
                <a:ea typeface="Calibri"/>
                <a:cs typeface="Calibri"/>
              </a:rPr>
              <a:t>Strategic pivot toward the more predictable </a:t>
            </a:r>
            <a:r>
              <a:rPr lang="en-IN" sz="1200" b="1">
                <a:solidFill>
                  <a:srgbClr val="242424"/>
                </a:solidFill>
                <a:highlight>
                  <a:srgbClr val="FFFFFF"/>
                </a:highlight>
                <a:ea typeface="Calibri"/>
                <a:cs typeface="Calibri"/>
              </a:rPr>
              <a:t>K-12 schools segment</a:t>
            </a:r>
            <a:r>
              <a:rPr lang="en-IN" sz="1200">
                <a:solidFill>
                  <a:srgbClr val="242424"/>
                </a:solidFill>
                <a:highlight>
                  <a:srgbClr val="FFFFFF"/>
                </a:highlight>
                <a:ea typeface="Calibri"/>
                <a:cs typeface="Calibri"/>
              </a:rPr>
              <a:t> (now 83.5% of mix, up from 65.8%), with the college segment intentionally moderated to 5.5%. Gross margin expanded to </a:t>
            </a:r>
            <a:r>
              <a:rPr lang="en-IN" sz="1200" b="1">
                <a:solidFill>
                  <a:srgbClr val="242424"/>
                </a:solidFill>
                <a:highlight>
                  <a:srgbClr val="FFFFFF"/>
                </a:highlight>
                <a:ea typeface="Calibri"/>
                <a:cs typeface="Calibri"/>
              </a:rPr>
              <a:t>93.8%</a:t>
            </a:r>
            <a:r>
              <a:rPr lang="en-IN" sz="1200">
                <a:solidFill>
                  <a:srgbClr val="242424"/>
                </a:solidFill>
                <a:highlight>
                  <a:srgbClr val="FFFFFF"/>
                </a:highlight>
                <a:ea typeface="Calibri"/>
                <a:cs typeface="Calibri"/>
              </a:rPr>
              <a:t>. </a:t>
            </a:r>
            <a:endParaRPr lang="en-US" sz="1200">
              <a:solidFill>
                <a:srgbClr val="2C2B69"/>
              </a:solidFill>
              <a:ea typeface="Calibri"/>
              <a:cs typeface="Calibri"/>
            </a:endParaRPr>
          </a:p>
          <a:p>
            <a:pPr marL="171450" indent="-171450" algn="just">
              <a:spcAft>
                <a:spcPts val="600"/>
              </a:spcAft>
              <a:buFont typeface="Arial,Sans-Serif" panose="020B0604020202020204" pitchFamily="34" charset="0"/>
              <a:buChar char="•"/>
            </a:pPr>
            <a:r>
              <a:rPr lang="en-IN" sz="1200">
                <a:solidFill>
                  <a:srgbClr val="242424"/>
                </a:solidFill>
                <a:highlight>
                  <a:srgbClr val="FFFFFF"/>
                </a:highlight>
                <a:ea typeface="Calibri"/>
                <a:cs typeface="Calibri"/>
              </a:rPr>
              <a:t>EBITDA loss narrowed. This is the classic education finance trade — accept slower top-line in exchange for better credit quality and collection economics. We support the choice.</a:t>
            </a:r>
            <a:endParaRPr lang="en-US" sz="1200">
              <a:solidFill>
                <a:srgbClr val="2C2B69"/>
              </a:solidFill>
              <a:ea typeface="Calibri"/>
              <a:cs typeface="Calibri"/>
            </a:endParaRPr>
          </a:p>
          <a:p>
            <a:pPr marL="171450" indent="-171450" algn="just">
              <a:spcAft>
                <a:spcPts val="600"/>
              </a:spcAft>
              <a:buFont typeface="Arial" panose="020B0604020202020204" pitchFamily="34" charset="0"/>
              <a:buChar char="•"/>
            </a:pPr>
            <a:endParaRPr lang="en-GB" sz="1200">
              <a:solidFill>
                <a:schemeClr val="bg2">
                  <a:lumMod val="10000"/>
                </a:schemeClr>
              </a:solidFill>
              <a:ea typeface="Lato Regular"/>
              <a:cs typeface="Lato Regular"/>
            </a:endParaRPr>
          </a:p>
        </p:txBody>
      </p:sp>
      <p:cxnSp>
        <p:nvCxnSpPr>
          <p:cNvPr id="10" name="Straight Connector 9">
            <a:extLst>
              <a:ext uri="{FF2B5EF4-FFF2-40B4-BE49-F238E27FC236}">
                <a16:creationId xmlns:a16="http://schemas.microsoft.com/office/drawing/2014/main" id="{21040D2C-B73A-D954-B712-998B72996E86}"/>
              </a:ext>
            </a:extLst>
          </p:cNvPr>
          <p:cNvCxnSpPr>
            <a:cxnSpLocks/>
          </p:cNvCxnSpPr>
          <p:nvPr/>
        </p:nvCxnSpPr>
        <p:spPr>
          <a:xfrm>
            <a:off x="7332126" y="536026"/>
            <a:ext cx="0" cy="320217"/>
          </a:xfrm>
          <a:prstGeom prst="line">
            <a:avLst/>
          </a:prstGeom>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02255CC-683D-5C61-752B-1060F923033C}"/>
              </a:ext>
            </a:extLst>
          </p:cNvPr>
          <p:cNvSpPr txBox="1"/>
          <p:nvPr/>
        </p:nvSpPr>
        <p:spPr>
          <a:xfrm>
            <a:off x="5539984" y="1433554"/>
            <a:ext cx="3607078" cy="227883"/>
          </a:xfrm>
          <a:prstGeom prst="rect">
            <a:avLst/>
          </a:prstGeom>
          <a:noFill/>
        </p:spPr>
        <p:txBody>
          <a:bodyPr wrap="square" lIns="0" tIns="0" rIns="0" bIns="0" rtlCol="0">
            <a:spAutoFit/>
          </a:bodyPr>
          <a:lstStyle/>
          <a:p>
            <a:r>
              <a:rPr lang="en-IN" sz="1481" b="1">
                <a:solidFill>
                  <a:schemeClr val="tx2"/>
                </a:solidFill>
                <a:ea typeface="Lato Regular" panose="020F0502020204030203" pitchFamily="34" charset="0"/>
                <a:cs typeface="Lato Regular" panose="020F0502020204030203" pitchFamily="34" charset="0"/>
              </a:rPr>
              <a:t>Key Performance Indicators</a:t>
            </a:r>
          </a:p>
        </p:txBody>
      </p:sp>
      <p:graphicFrame>
        <p:nvGraphicFramePr>
          <p:cNvPr id="14" name="Table 13">
            <a:extLst>
              <a:ext uri="{FF2B5EF4-FFF2-40B4-BE49-F238E27FC236}">
                <a16:creationId xmlns:a16="http://schemas.microsoft.com/office/drawing/2014/main" id="{71A3B1BE-FC12-6FEB-D057-CB09751D7EB6}"/>
              </a:ext>
            </a:extLst>
          </p:cNvPr>
          <p:cNvGraphicFramePr>
            <a:graphicFrameLocks noGrp="1"/>
          </p:cNvGraphicFramePr>
          <p:nvPr>
            <p:extLst>
              <p:ext uri="{D42A27DB-BD31-4B8C-83A1-F6EECF244321}">
                <p14:modId xmlns:p14="http://schemas.microsoft.com/office/powerpoint/2010/main" val="507889278"/>
              </p:ext>
            </p:extLst>
          </p:nvPr>
        </p:nvGraphicFramePr>
        <p:xfrm>
          <a:off x="5539984" y="1840227"/>
          <a:ext cx="5833725" cy="1343571"/>
        </p:xfrm>
        <a:graphic>
          <a:graphicData uri="http://schemas.openxmlformats.org/drawingml/2006/table">
            <a:tbl>
              <a:tblPr firstRow="1" bandRow="1">
                <a:tableStyleId>{69012ECD-51FC-41F1-AA8D-1B2483CD663E}</a:tableStyleId>
              </a:tblPr>
              <a:tblGrid>
                <a:gridCol w="2032635">
                  <a:extLst>
                    <a:ext uri="{9D8B030D-6E8A-4147-A177-3AD203B41FA5}">
                      <a16:colId xmlns:a16="http://schemas.microsoft.com/office/drawing/2014/main" val="3001066899"/>
                    </a:ext>
                  </a:extLst>
                </a:gridCol>
                <a:gridCol w="911806">
                  <a:extLst>
                    <a:ext uri="{9D8B030D-6E8A-4147-A177-3AD203B41FA5}">
                      <a16:colId xmlns:a16="http://schemas.microsoft.com/office/drawing/2014/main" val="700748351"/>
                    </a:ext>
                  </a:extLst>
                </a:gridCol>
                <a:gridCol w="722321">
                  <a:extLst>
                    <a:ext uri="{9D8B030D-6E8A-4147-A177-3AD203B41FA5}">
                      <a16:colId xmlns:a16="http://schemas.microsoft.com/office/drawing/2014/main" val="3274968397"/>
                    </a:ext>
                  </a:extLst>
                </a:gridCol>
                <a:gridCol w="722321">
                  <a:extLst>
                    <a:ext uri="{9D8B030D-6E8A-4147-A177-3AD203B41FA5}">
                      <a16:colId xmlns:a16="http://schemas.microsoft.com/office/drawing/2014/main" val="3623532732"/>
                    </a:ext>
                  </a:extLst>
                </a:gridCol>
                <a:gridCol w="722321">
                  <a:extLst>
                    <a:ext uri="{9D8B030D-6E8A-4147-A177-3AD203B41FA5}">
                      <a16:colId xmlns:a16="http://schemas.microsoft.com/office/drawing/2014/main" val="746035582"/>
                    </a:ext>
                  </a:extLst>
                </a:gridCol>
                <a:gridCol w="722321">
                  <a:extLst>
                    <a:ext uri="{9D8B030D-6E8A-4147-A177-3AD203B41FA5}">
                      <a16:colId xmlns:a16="http://schemas.microsoft.com/office/drawing/2014/main" val="2799431461"/>
                    </a:ext>
                  </a:extLst>
                </a:gridCol>
              </a:tblGrid>
              <a:tr h="262575">
                <a:tc>
                  <a:txBody>
                    <a:bodyPr/>
                    <a:lstStyle/>
                    <a:p>
                      <a:pPr lvl="0" algn="l">
                        <a:buNone/>
                      </a:pPr>
                      <a:r>
                        <a:rPr lang="en-US" sz="1050" b="1" i="0" u="none" strike="noStrike">
                          <a:solidFill>
                            <a:schemeClr val="bg1"/>
                          </a:solidFill>
                          <a:effectLst/>
                          <a:latin typeface="Aptos" panose="02110004020202020204"/>
                          <a:ea typeface="Lato Regular"/>
                          <a:cs typeface="Lato Regular"/>
                        </a:rPr>
                        <a:t>KPIs</a:t>
                      </a:r>
                      <a:endParaRPr lang="en-US" sz="1050" b="1"/>
                    </a:p>
                  </a:txBody>
                  <a:tcPr marL="108000" marR="6350" marT="6350" marB="0" anchor="ctr"/>
                </a:tc>
                <a:tc>
                  <a:txBody>
                    <a:bodyPr/>
                    <a:lstStyle/>
                    <a:p>
                      <a:pPr lvl="0" algn="ctr">
                        <a:buNone/>
                      </a:pPr>
                      <a:r>
                        <a:rPr lang="en-US" sz="1050" b="1" u="none" strike="noStrike">
                          <a:solidFill>
                            <a:schemeClr val="bg1"/>
                          </a:solidFill>
                          <a:effectLst/>
                          <a:latin typeface="Aptos"/>
                          <a:ea typeface="Lato Regular"/>
                          <a:cs typeface="Lato Regular"/>
                        </a:rPr>
                        <a:t>FY24</a:t>
                      </a:r>
                    </a:p>
                  </a:txBody>
                  <a:tcPr marL="6350" marR="6350" marT="6350" marB="0" anchor="ctr"/>
                </a:tc>
                <a:tc>
                  <a:txBody>
                    <a:bodyPr/>
                    <a:lstStyle/>
                    <a:p>
                      <a:pPr lvl="0" algn="ctr">
                        <a:buNone/>
                      </a:pPr>
                      <a:r>
                        <a:rPr lang="en-US" sz="1050" b="1" u="none" strike="noStrike">
                          <a:solidFill>
                            <a:schemeClr val="bg1"/>
                          </a:solidFill>
                          <a:effectLst/>
                          <a:latin typeface="Aptos"/>
                          <a:ea typeface="Lato Regular"/>
                          <a:cs typeface="Lato Regular"/>
                        </a:rPr>
                        <a:t>FY25</a:t>
                      </a:r>
                    </a:p>
                  </a:txBody>
                  <a:tcPr marL="6350" marR="6350" marT="6350" marB="0" anchor="ctr"/>
                </a:tc>
                <a:tc>
                  <a:txBody>
                    <a:bodyPr/>
                    <a:lstStyle/>
                    <a:p>
                      <a:pPr lvl="0" algn="ctr">
                        <a:buNone/>
                      </a:pPr>
                      <a:r>
                        <a:rPr lang="en-US" sz="1050" b="1" i="0" u="none" strike="noStrike">
                          <a:solidFill>
                            <a:schemeClr val="bg1"/>
                          </a:solidFill>
                          <a:effectLst/>
                          <a:latin typeface="Aptos"/>
                          <a:ea typeface="Lato Regular"/>
                          <a:cs typeface="Lato Regular"/>
                        </a:rPr>
                        <a:t>FY26</a:t>
                      </a:r>
                    </a:p>
                  </a:txBody>
                  <a:tcPr marL="6350" marR="6350" marT="6350" marB="0" anchor="ctr"/>
                </a:tc>
                <a:tc>
                  <a:txBody>
                    <a:bodyPr/>
                    <a:lstStyle/>
                    <a:p>
                      <a:pPr lvl="0" algn="ctr">
                        <a:buNone/>
                      </a:pPr>
                      <a:r>
                        <a:rPr lang="en-US" sz="1050" b="1" u="none" strike="noStrike">
                          <a:solidFill>
                            <a:schemeClr val="bg1"/>
                          </a:solidFill>
                          <a:effectLst/>
                          <a:latin typeface="Aptos"/>
                          <a:ea typeface="Lato Regular"/>
                          <a:cs typeface="Lato Regular"/>
                        </a:rPr>
                        <a:t>Q4FY25</a:t>
                      </a:r>
                    </a:p>
                  </a:txBody>
                  <a:tcPr marL="6350" marR="6350" marT="6350" marB="0" anchor="ctr"/>
                </a:tc>
                <a:tc>
                  <a:txBody>
                    <a:bodyPr/>
                    <a:lstStyle/>
                    <a:p>
                      <a:pPr lvl="0" algn="ctr">
                        <a:buNone/>
                      </a:pPr>
                      <a:r>
                        <a:rPr lang="en-US" sz="1050" b="1" u="none" strike="noStrike">
                          <a:solidFill>
                            <a:schemeClr val="bg1"/>
                          </a:solidFill>
                          <a:effectLst/>
                          <a:latin typeface="Aptos"/>
                          <a:ea typeface="Lato Regular"/>
                          <a:cs typeface="Lato Regular"/>
                        </a:rPr>
                        <a:t>Q4FY26</a:t>
                      </a:r>
                    </a:p>
                  </a:txBody>
                  <a:tcPr marL="6350" marR="6350" marT="6350" marB="0" anchor="ctr"/>
                </a:tc>
                <a:extLst>
                  <a:ext uri="{0D108BD9-81ED-4DB2-BD59-A6C34878D82A}">
                    <a16:rowId xmlns:a16="http://schemas.microsoft.com/office/drawing/2014/main" val="3735237806"/>
                  </a:ext>
                </a:extLst>
              </a:tr>
              <a:tr h="262575">
                <a:tc>
                  <a:txBody>
                    <a:bodyPr/>
                    <a:lstStyle/>
                    <a:p>
                      <a:pPr lvl="0" algn="l">
                        <a:buNone/>
                      </a:pPr>
                      <a:r>
                        <a:rPr lang="en-IN" sz="1050" b="0" i="0" u="none" strike="noStrike">
                          <a:solidFill>
                            <a:srgbClr val="000000"/>
                          </a:solidFill>
                          <a:effectLst/>
                          <a:latin typeface="+mj-lt"/>
                          <a:ea typeface="Lato Regular"/>
                          <a:cs typeface="Lato Regular"/>
                        </a:rPr>
                        <a:t>Total Disbursals</a:t>
                      </a:r>
                      <a:endParaRPr lang="en-US" sz="1050">
                        <a:latin typeface="+mj-lt"/>
                      </a:endParaRPr>
                    </a:p>
                  </a:txBody>
                  <a:tcPr marL="108000" marR="0" marT="0" marB="0" anchor="ctr"/>
                </a:tc>
                <a:tc>
                  <a:txBody>
                    <a:bodyPr/>
                    <a:lstStyle/>
                    <a:p>
                      <a:pPr lvl="0" algn="ctr">
                        <a:buNone/>
                      </a:pPr>
                      <a:r>
                        <a:rPr lang="en-IN" sz="1050" b="0" i="0" u="none" strike="noStrike">
                          <a:solidFill>
                            <a:srgbClr val="000000"/>
                          </a:solidFill>
                          <a:effectLst/>
                          <a:latin typeface="+mj-lt"/>
                        </a:rPr>
                        <a:t>826.6</a:t>
                      </a:r>
                      <a:endParaRPr lang="en-US"/>
                    </a:p>
                  </a:txBody>
                  <a:tcPr marL="6350" marR="6350" marT="6350" marB="0" anchor="ctr"/>
                </a:tc>
                <a:tc>
                  <a:txBody>
                    <a:bodyPr/>
                    <a:lstStyle/>
                    <a:p>
                      <a:pPr lvl="0" algn="ctr">
                        <a:buNone/>
                      </a:pPr>
                      <a:r>
                        <a:rPr lang="en-IN" sz="1050" b="0" i="0" u="none" strike="noStrike">
                          <a:solidFill>
                            <a:srgbClr val="000000"/>
                          </a:solidFill>
                          <a:effectLst/>
                          <a:latin typeface="+mj-lt"/>
                        </a:rPr>
                        <a:t>1208.7</a:t>
                      </a:r>
                      <a:endParaRPr lang="en-US"/>
                    </a:p>
                  </a:txBody>
                  <a:tcPr marL="6350" marR="6350" marT="6350" marB="0" anchor="ctr"/>
                </a:tc>
                <a:tc>
                  <a:txBody>
                    <a:bodyPr/>
                    <a:lstStyle/>
                    <a:p>
                      <a:pPr lvl="0" algn="ctr">
                        <a:buNone/>
                      </a:pPr>
                      <a:r>
                        <a:rPr lang="en-IN" sz="1050" b="0" i="0" u="none" strike="noStrike">
                          <a:solidFill>
                            <a:srgbClr val="000000"/>
                          </a:solidFill>
                          <a:effectLst/>
                          <a:latin typeface="+mj-lt"/>
                        </a:rPr>
                        <a:t>1738.3</a:t>
                      </a:r>
                      <a:endParaRPr lang="en-US"/>
                    </a:p>
                  </a:txBody>
                  <a:tcPr marL="6350" marR="6350" marT="6350" marB="0" anchor="ctr"/>
                </a:tc>
                <a:tc>
                  <a:txBody>
                    <a:bodyPr/>
                    <a:lstStyle/>
                    <a:p>
                      <a:pPr lvl="0" algn="ctr">
                        <a:buNone/>
                      </a:pPr>
                      <a:r>
                        <a:rPr lang="en-IN" sz="1050" b="0" i="0" u="none" strike="noStrike">
                          <a:solidFill>
                            <a:srgbClr val="000000"/>
                          </a:solidFill>
                          <a:effectLst/>
                          <a:latin typeface="+mj-lt"/>
                        </a:rPr>
                        <a:t>238.2</a:t>
                      </a:r>
                      <a:endParaRPr lang="en-US"/>
                    </a:p>
                  </a:txBody>
                  <a:tcPr marL="6350" marR="6350" marT="6350" marB="0" anchor="ctr"/>
                </a:tc>
                <a:tc>
                  <a:txBody>
                    <a:bodyPr/>
                    <a:lstStyle/>
                    <a:p>
                      <a:pPr lvl="0" algn="ctr">
                        <a:buNone/>
                      </a:pPr>
                      <a:r>
                        <a:rPr lang="en-IN" sz="1050" b="0" i="0" u="none" strike="noStrike">
                          <a:solidFill>
                            <a:srgbClr val="000000"/>
                          </a:solidFill>
                          <a:effectLst/>
                          <a:latin typeface="+mj-lt"/>
                        </a:rPr>
                        <a:t>311.8</a:t>
                      </a:r>
                      <a:endParaRPr lang="en-US"/>
                    </a:p>
                  </a:txBody>
                  <a:tcPr marL="6350" marR="6350" marT="6350" marB="0" anchor="ctr"/>
                </a:tc>
                <a:extLst>
                  <a:ext uri="{0D108BD9-81ED-4DB2-BD59-A6C34878D82A}">
                    <a16:rowId xmlns:a16="http://schemas.microsoft.com/office/drawing/2014/main" val="1299356094"/>
                  </a:ext>
                </a:extLst>
              </a:tr>
              <a:tr h="262575">
                <a:tc>
                  <a:txBody>
                    <a:bodyPr/>
                    <a:lstStyle/>
                    <a:p>
                      <a:pPr lvl="0" algn="l">
                        <a:buNone/>
                      </a:pPr>
                      <a:r>
                        <a:rPr lang="en-IN" sz="1050" b="0" i="0" u="none" strike="noStrike">
                          <a:solidFill>
                            <a:srgbClr val="000000"/>
                          </a:solidFill>
                          <a:effectLst/>
                          <a:latin typeface="+mj-lt"/>
                          <a:ea typeface="Lato Regular"/>
                          <a:cs typeface="Lato Regular"/>
                        </a:rPr>
                        <a:t>Schools</a:t>
                      </a:r>
                      <a:endParaRPr lang="en-US"/>
                    </a:p>
                  </a:txBody>
                  <a:tcPr marL="108000" marR="0" marT="0" marB="0" anchor="ctr"/>
                </a:tc>
                <a:tc>
                  <a:txBody>
                    <a:bodyPr/>
                    <a:lstStyle/>
                    <a:p>
                      <a:pPr lvl="0" algn="ctr">
                        <a:buNone/>
                      </a:pPr>
                      <a:r>
                        <a:rPr lang="en-IN" sz="1050" b="0" i="0" u="none" strike="noStrike">
                          <a:solidFill>
                            <a:srgbClr val="000000"/>
                          </a:solidFill>
                          <a:effectLst/>
                          <a:latin typeface="+mj-lt"/>
                        </a:rPr>
                        <a:t>67.9%</a:t>
                      </a:r>
                      <a:endParaRPr lang="en-US"/>
                    </a:p>
                  </a:txBody>
                  <a:tcPr marL="6350" marR="6350" marT="6350" marB="0" anchor="ctr"/>
                </a:tc>
                <a:tc>
                  <a:txBody>
                    <a:bodyPr/>
                    <a:lstStyle/>
                    <a:p>
                      <a:pPr lvl="0" algn="ctr">
                        <a:buNone/>
                      </a:pPr>
                      <a:r>
                        <a:rPr lang="en-IN" sz="1050" b="0" i="0" u="none" strike="noStrike">
                          <a:solidFill>
                            <a:srgbClr val="000000"/>
                          </a:solidFill>
                          <a:effectLst/>
                          <a:latin typeface="+mj-lt"/>
                        </a:rPr>
                        <a:t>65.8%</a:t>
                      </a:r>
                      <a:endParaRPr lang="en-US"/>
                    </a:p>
                  </a:txBody>
                  <a:tcPr marL="6350" marR="6350" marT="6350" marB="0" anchor="ctr"/>
                </a:tc>
                <a:tc>
                  <a:txBody>
                    <a:bodyPr/>
                    <a:lstStyle/>
                    <a:p>
                      <a:pPr lvl="0" algn="ctr">
                        <a:buNone/>
                      </a:pPr>
                      <a:r>
                        <a:rPr lang="en-IN" sz="1050" b="0" i="0" u="none" strike="noStrike">
                          <a:solidFill>
                            <a:srgbClr val="000000"/>
                          </a:solidFill>
                          <a:effectLst/>
                          <a:latin typeface="+mj-lt"/>
                        </a:rPr>
                        <a:t>83.5%</a:t>
                      </a:r>
                      <a:endParaRPr lang="en-US"/>
                    </a:p>
                  </a:txBody>
                  <a:tcPr marL="6350" marR="6350" marT="6350" marB="0" anchor="ctr"/>
                </a:tc>
                <a:tc>
                  <a:txBody>
                    <a:bodyPr/>
                    <a:lstStyle/>
                    <a:p>
                      <a:pPr lvl="0" algn="ctr">
                        <a:buNone/>
                      </a:pPr>
                      <a:r>
                        <a:rPr lang="en-IN" sz="1050" b="0" i="0" u="none" strike="noStrike">
                          <a:solidFill>
                            <a:srgbClr val="000000"/>
                          </a:solidFill>
                          <a:effectLst/>
                          <a:latin typeface="+mj-lt"/>
                        </a:rPr>
                        <a:t>63.4%</a:t>
                      </a:r>
                      <a:endParaRPr lang="en-US"/>
                    </a:p>
                  </a:txBody>
                  <a:tcPr marL="6350" marR="6350" marT="6350" marB="0" anchor="ctr"/>
                </a:tc>
                <a:tc>
                  <a:txBody>
                    <a:bodyPr/>
                    <a:lstStyle/>
                    <a:p>
                      <a:pPr lvl="0" algn="ctr">
                        <a:buNone/>
                      </a:pPr>
                      <a:r>
                        <a:rPr lang="en-IN" sz="1050" b="0" i="0" u="none" strike="noStrike">
                          <a:solidFill>
                            <a:srgbClr val="000000"/>
                          </a:solidFill>
                          <a:effectLst/>
                          <a:latin typeface="+mj-lt"/>
                        </a:rPr>
                        <a:t>83.5%</a:t>
                      </a:r>
                      <a:endParaRPr lang="en-US"/>
                    </a:p>
                  </a:txBody>
                  <a:tcPr marL="6350" marR="6350" marT="6350" marB="0" anchor="ctr"/>
                </a:tc>
                <a:extLst>
                  <a:ext uri="{0D108BD9-81ED-4DB2-BD59-A6C34878D82A}">
                    <a16:rowId xmlns:a16="http://schemas.microsoft.com/office/drawing/2014/main" val="930605583"/>
                  </a:ext>
                </a:extLst>
              </a:tr>
              <a:tr h="262575">
                <a:tc>
                  <a:txBody>
                    <a:bodyPr/>
                    <a:lstStyle/>
                    <a:p>
                      <a:pPr lvl="0" algn="l">
                        <a:buNone/>
                      </a:pPr>
                      <a:r>
                        <a:rPr lang="en-IN" sz="1050" b="0" i="0" u="none" strike="noStrike">
                          <a:solidFill>
                            <a:srgbClr val="000000"/>
                          </a:solidFill>
                          <a:effectLst/>
                          <a:latin typeface="+mj-lt"/>
                          <a:ea typeface="Lato Regular"/>
                          <a:cs typeface="Lato Regular"/>
                        </a:rPr>
                        <a:t>Colleges</a:t>
                      </a:r>
                      <a:endParaRPr lang="en-US"/>
                    </a:p>
                  </a:txBody>
                  <a:tcPr marL="108000" marR="0" marT="0" marB="0" anchor="ctr"/>
                </a:tc>
                <a:tc>
                  <a:txBody>
                    <a:bodyPr/>
                    <a:lstStyle/>
                    <a:p>
                      <a:pPr lvl="0" algn="ctr">
                        <a:buNone/>
                      </a:pPr>
                      <a:r>
                        <a:rPr lang="en-IN" sz="1050" b="0" i="0" u="none" strike="noStrike">
                          <a:solidFill>
                            <a:srgbClr val="000000"/>
                          </a:solidFill>
                          <a:effectLst/>
                          <a:latin typeface="+mj-lt"/>
                        </a:rPr>
                        <a:t>26.3%</a:t>
                      </a:r>
                      <a:endParaRPr lang="en-US"/>
                    </a:p>
                  </a:txBody>
                  <a:tcPr marL="6350" marR="6350" marT="6350" marB="0" anchor="ctr"/>
                </a:tc>
                <a:tc>
                  <a:txBody>
                    <a:bodyPr/>
                    <a:lstStyle/>
                    <a:p>
                      <a:pPr lvl="0" algn="ctr">
                        <a:buNone/>
                      </a:pPr>
                      <a:r>
                        <a:rPr lang="en-IN" sz="1050" b="0" i="0" u="none" strike="noStrike">
                          <a:solidFill>
                            <a:srgbClr val="000000"/>
                          </a:solidFill>
                          <a:effectLst/>
                          <a:latin typeface="+mj-lt"/>
                        </a:rPr>
                        <a:t>29.0%</a:t>
                      </a:r>
                      <a:endParaRPr lang="en-US"/>
                    </a:p>
                  </a:txBody>
                  <a:tcPr marL="6350" marR="6350" marT="6350" marB="0" anchor="ctr"/>
                </a:tc>
                <a:tc>
                  <a:txBody>
                    <a:bodyPr/>
                    <a:lstStyle/>
                    <a:p>
                      <a:pPr lvl="0" algn="ctr">
                        <a:buNone/>
                      </a:pPr>
                      <a:r>
                        <a:rPr lang="en-IN" sz="1050" b="0" i="0" u="none" strike="noStrike">
                          <a:solidFill>
                            <a:srgbClr val="000000"/>
                          </a:solidFill>
                          <a:effectLst/>
                          <a:latin typeface="+mj-lt"/>
                        </a:rPr>
                        <a:t>5.5%</a:t>
                      </a:r>
                      <a:endParaRPr lang="en-US"/>
                    </a:p>
                  </a:txBody>
                  <a:tcPr marL="6350" marR="6350" marT="6350" marB="0" anchor="ctr"/>
                </a:tc>
                <a:tc>
                  <a:txBody>
                    <a:bodyPr/>
                    <a:lstStyle/>
                    <a:p>
                      <a:pPr lvl="0" algn="ctr">
                        <a:buNone/>
                      </a:pPr>
                      <a:r>
                        <a:rPr lang="en-IN" sz="1050" b="0" i="0" u="none" strike="noStrike">
                          <a:solidFill>
                            <a:srgbClr val="000000"/>
                          </a:solidFill>
                          <a:effectLst/>
                          <a:latin typeface="+mj-lt"/>
                        </a:rPr>
                        <a:t>21.8%</a:t>
                      </a:r>
                      <a:endParaRPr lang="en-US"/>
                    </a:p>
                  </a:txBody>
                  <a:tcPr marL="6350" marR="6350" marT="6350" marB="0" anchor="ctr"/>
                </a:tc>
                <a:tc>
                  <a:txBody>
                    <a:bodyPr/>
                    <a:lstStyle/>
                    <a:p>
                      <a:pPr lvl="0" algn="ctr">
                        <a:buNone/>
                      </a:pPr>
                      <a:r>
                        <a:rPr lang="en-IN" sz="1050" b="0" i="0" u="none" strike="noStrike">
                          <a:solidFill>
                            <a:srgbClr val="000000"/>
                          </a:solidFill>
                          <a:effectLst/>
                          <a:latin typeface="+mj-lt"/>
                        </a:rPr>
                        <a:t>5.5%</a:t>
                      </a:r>
                      <a:endParaRPr lang="en-US"/>
                    </a:p>
                  </a:txBody>
                  <a:tcPr marL="6350" marR="6350" marT="6350" marB="0" anchor="ctr"/>
                </a:tc>
                <a:extLst>
                  <a:ext uri="{0D108BD9-81ED-4DB2-BD59-A6C34878D82A}">
                    <a16:rowId xmlns:a16="http://schemas.microsoft.com/office/drawing/2014/main" val="3872373918"/>
                  </a:ext>
                </a:extLst>
              </a:tr>
              <a:tr h="293271">
                <a:tc>
                  <a:txBody>
                    <a:bodyPr/>
                    <a:lstStyle/>
                    <a:p>
                      <a:pPr lvl="0" algn="l">
                        <a:buNone/>
                      </a:pPr>
                      <a:r>
                        <a:rPr lang="en-IN" sz="1050" b="0" i="0" u="none" strike="noStrike" err="1">
                          <a:solidFill>
                            <a:srgbClr val="000000"/>
                          </a:solidFill>
                          <a:effectLst/>
                          <a:latin typeface="+mj-lt"/>
                          <a:ea typeface="Lato Regular"/>
                          <a:cs typeface="Lato Regular"/>
                        </a:rPr>
                        <a:t>Edtech</a:t>
                      </a:r>
                      <a:r>
                        <a:rPr lang="en-IN" sz="1050" b="0" i="0" u="none" strike="noStrike">
                          <a:solidFill>
                            <a:srgbClr val="000000"/>
                          </a:solidFill>
                          <a:effectLst/>
                          <a:latin typeface="+mj-lt"/>
                          <a:ea typeface="Lato Regular"/>
                          <a:cs typeface="Lato Regular"/>
                        </a:rPr>
                        <a:t> Platforms</a:t>
                      </a:r>
                      <a:endParaRPr lang="en-US"/>
                    </a:p>
                  </a:txBody>
                  <a:tcPr marL="108000" marR="0" marT="0" marB="0" anchor="ctr"/>
                </a:tc>
                <a:tc>
                  <a:txBody>
                    <a:bodyPr/>
                    <a:lstStyle/>
                    <a:p>
                      <a:pPr lvl="0" algn="ctr">
                        <a:buNone/>
                      </a:pPr>
                      <a:r>
                        <a:rPr lang="en-IN" sz="1050" b="0" i="0" u="none" strike="noStrike">
                          <a:solidFill>
                            <a:srgbClr val="000000"/>
                          </a:solidFill>
                          <a:effectLst/>
                          <a:latin typeface="+mj-lt"/>
                        </a:rPr>
                        <a:t>5.9%</a:t>
                      </a:r>
                      <a:endParaRPr lang="en-US"/>
                    </a:p>
                  </a:txBody>
                  <a:tcPr marL="6350" marR="6350" marT="6350" marB="0" anchor="ctr"/>
                </a:tc>
                <a:tc>
                  <a:txBody>
                    <a:bodyPr/>
                    <a:lstStyle/>
                    <a:p>
                      <a:pPr lvl="0" algn="ctr">
                        <a:buNone/>
                      </a:pPr>
                      <a:r>
                        <a:rPr lang="en-IN" sz="1050" b="0" i="0" u="none" strike="noStrike">
                          <a:solidFill>
                            <a:srgbClr val="000000"/>
                          </a:solidFill>
                          <a:effectLst/>
                          <a:latin typeface="+mj-lt"/>
                        </a:rPr>
                        <a:t>5.2%</a:t>
                      </a:r>
                      <a:endParaRPr lang="en-US"/>
                    </a:p>
                  </a:txBody>
                  <a:tcPr marL="6350" marR="6350" marT="6350" marB="0" anchor="ctr"/>
                </a:tc>
                <a:tc>
                  <a:txBody>
                    <a:bodyPr/>
                    <a:lstStyle/>
                    <a:p>
                      <a:pPr lvl="0" algn="ctr">
                        <a:buNone/>
                      </a:pPr>
                      <a:r>
                        <a:rPr lang="en-IN" sz="1050" b="0" i="0" u="none" strike="noStrike">
                          <a:solidFill>
                            <a:srgbClr val="000000"/>
                          </a:solidFill>
                          <a:effectLst/>
                          <a:latin typeface="+mj-lt"/>
                        </a:rPr>
                        <a:t>11.0%</a:t>
                      </a:r>
                      <a:endParaRPr lang="en-US"/>
                    </a:p>
                  </a:txBody>
                  <a:tcPr marL="6350" marR="6350" marT="6350" marB="0" anchor="ctr"/>
                </a:tc>
                <a:tc>
                  <a:txBody>
                    <a:bodyPr/>
                    <a:lstStyle/>
                    <a:p>
                      <a:pPr lvl="0" algn="ctr">
                        <a:buNone/>
                      </a:pPr>
                      <a:r>
                        <a:rPr lang="en-IN" sz="1050" b="0" i="0" u="none" strike="noStrike">
                          <a:solidFill>
                            <a:srgbClr val="000000"/>
                          </a:solidFill>
                          <a:effectLst/>
                          <a:latin typeface="+mj-lt"/>
                        </a:rPr>
                        <a:t>14.8%</a:t>
                      </a:r>
                      <a:endParaRPr lang="en-US"/>
                    </a:p>
                  </a:txBody>
                  <a:tcPr marL="6350" marR="6350" marT="6350" marB="0" anchor="ctr"/>
                </a:tc>
                <a:tc>
                  <a:txBody>
                    <a:bodyPr/>
                    <a:lstStyle/>
                    <a:p>
                      <a:pPr lvl="0" algn="ctr">
                        <a:buNone/>
                      </a:pPr>
                      <a:r>
                        <a:rPr lang="en-IN" sz="1050" b="0" i="0" u="none" strike="noStrike">
                          <a:solidFill>
                            <a:srgbClr val="000000"/>
                          </a:solidFill>
                          <a:effectLst/>
                          <a:latin typeface="+mj-lt"/>
                        </a:rPr>
                        <a:t>11.0%</a:t>
                      </a:r>
                      <a:endParaRPr lang="en-US"/>
                    </a:p>
                  </a:txBody>
                  <a:tcPr marL="6350" marR="6350" marT="6350" marB="0" anchor="ctr"/>
                </a:tc>
                <a:extLst>
                  <a:ext uri="{0D108BD9-81ED-4DB2-BD59-A6C34878D82A}">
                    <a16:rowId xmlns:a16="http://schemas.microsoft.com/office/drawing/2014/main" val="2159784742"/>
                  </a:ext>
                </a:extLst>
              </a:tr>
            </a:tbl>
          </a:graphicData>
        </a:graphic>
      </p:graphicFrame>
      <p:graphicFrame>
        <p:nvGraphicFramePr>
          <p:cNvPr id="15" name="Table 14">
            <a:extLst>
              <a:ext uri="{FF2B5EF4-FFF2-40B4-BE49-F238E27FC236}">
                <a16:creationId xmlns:a16="http://schemas.microsoft.com/office/drawing/2014/main" id="{B60AC267-AB92-853F-81E6-3A2470E1CEA8}"/>
              </a:ext>
            </a:extLst>
          </p:cNvPr>
          <p:cNvGraphicFramePr>
            <a:graphicFrameLocks noGrp="1"/>
          </p:cNvGraphicFramePr>
          <p:nvPr>
            <p:extLst>
              <p:ext uri="{D42A27DB-BD31-4B8C-83A1-F6EECF244321}">
                <p14:modId xmlns:p14="http://schemas.microsoft.com/office/powerpoint/2010/main" val="4085355194"/>
              </p:ext>
            </p:extLst>
          </p:nvPr>
        </p:nvGraphicFramePr>
        <p:xfrm>
          <a:off x="5539984" y="4144254"/>
          <a:ext cx="5842026" cy="2084312"/>
        </p:xfrm>
        <a:graphic>
          <a:graphicData uri="http://schemas.openxmlformats.org/drawingml/2006/table">
            <a:tbl>
              <a:tblPr firstRow="1" bandRow="1">
                <a:tableStyleId>{72833802-FEF1-4C79-8D5D-14CF1EAF98D9}</a:tableStyleId>
              </a:tblPr>
              <a:tblGrid>
                <a:gridCol w="1911076">
                  <a:extLst>
                    <a:ext uri="{9D8B030D-6E8A-4147-A177-3AD203B41FA5}">
                      <a16:colId xmlns:a16="http://schemas.microsoft.com/office/drawing/2014/main" val="3001066899"/>
                    </a:ext>
                  </a:extLst>
                </a:gridCol>
                <a:gridCol w="786190">
                  <a:extLst>
                    <a:ext uri="{9D8B030D-6E8A-4147-A177-3AD203B41FA5}">
                      <a16:colId xmlns:a16="http://schemas.microsoft.com/office/drawing/2014/main" val="700748351"/>
                    </a:ext>
                  </a:extLst>
                </a:gridCol>
                <a:gridCol w="786190">
                  <a:extLst>
                    <a:ext uri="{9D8B030D-6E8A-4147-A177-3AD203B41FA5}">
                      <a16:colId xmlns:a16="http://schemas.microsoft.com/office/drawing/2014/main" val="3274968397"/>
                    </a:ext>
                  </a:extLst>
                </a:gridCol>
                <a:gridCol w="786190">
                  <a:extLst>
                    <a:ext uri="{9D8B030D-6E8A-4147-A177-3AD203B41FA5}">
                      <a16:colId xmlns:a16="http://schemas.microsoft.com/office/drawing/2014/main" val="3623532732"/>
                    </a:ext>
                  </a:extLst>
                </a:gridCol>
                <a:gridCol w="786190">
                  <a:extLst>
                    <a:ext uri="{9D8B030D-6E8A-4147-A177-3AD203B41FA5}">
                      <a16:colId xmlns:a16="http://schemas.microsoft.com/office/drawing/2014/main" val="746035582"/>
                    </a:ext>
                  </a:extLst>
                </a:gridCol>
                <a:gridCol w="786190">
                  <a:extLst>
                    <a:ext uri="{9D8B030D-6E8A-4147-A177-3AD203B41FA5}">
                      <a16:colId xmlns:a16="http://schemas.microsoft.com/office/drawing/2014/main" val="3336224203"/>
                    </a:ext>
                  </a:extLst>
                </a:gridCol>
              </a:tblGrid>
              <a:tr h="255952">
                <a:tc>
                  <a:txBody>
                    <a:bodyPr/>
                    <a:lstStyle/>
                    <a:p>
                      <a:pPr lvl="0" algn="l">
                        <a:buNone/>
                      </a:pPr>
                      <a:r>
                        <a:rPr lang="en-US" sz="1050" b="1" u="none" strike="noStrike">
                          <a:solidFill>
                            <a:schemeClr val="bg1"/>
                          </a:solidFill>
                          <a:effectLst/>
                          <a:latin typeface="+mn-lt"/>
                          <a:ea typeface="Lato Regular"/>
                          <a:cs typeface="Lato Regular"/>
                        </a:rPr>
                        <a:t>INR Cr.</a:t>
                      </a:r>
                    </a:p>
                  </a:txBody>
                  <a:tcPr marL="6350" marR="6350" marT="6350" marB="0" anchor="ctr"/>
                </a:tc>
                <a:tc>
                  <a:txBody>
                    <a:bodyPr/>
                    <a:lstStyle/>
                    <a:p>
                      <a:pPr lvl="0" algn="ctr">
                        <a:buNone/>
                      </a:pPr>
                      <a:r>
                        <a:rPr lang="en-US" sz="1050" b="1" u="none" strike="noStrike">
                          <a:solidFill>
                            <a:schemeClr val="bg1"/>
                          </a:solidFill>
                          <a:effectLst/>
                          <a:latin typeface="Aptos"/>
                          <a:ea typeface="Lato Regular"/>
                          <a:cs typeface="Lato Regular"/>
                        </a:rPr>
                        <a:t>FY24</a:t>
                      </a:r>
                    </a:p>
                  </a:txBody>
                  <a:tcPr marL="6350" marR="6350" marT="6350" marB="0" anchor="ctr"/>
                </a:tc>
                <a:tc>
                  <a:txBody>
                    <a:bodyPr/>
                    <a:lstStyle/>
                    <a:p>
                      <a:pPr lvl="0" algn="ctr">
                        <a:buNone/>
                      </a:pPr>
                      <a:r>
                        <a:rPr lang="en-US" sz="1050" b="1" u="none" strike="noStrike">
                          <a:solidFill>
                            <a:schemeClr val="bg1"/>
                          </a:solidFill>
                          <a:effectLst/>
                          <a:latin typeface="Aptos"/>
                          <a:ea typeface="Lato Regular"/>
                          <a:cs typeface="Lato Regular"/>
                        </a:rPr>
                        <a:t>FY25</a:t>
                      </a:r>
                    </a:p>
                  </a:txBody>
                  <a:tcPr marL="6350" marR="6350" marT="6350" marB="0" anchor="ctr"/>
                </a:tc>
                <a:tc>
                  <a:txBody>
                    <a:bodyPr/>
                    <a:lstStyle/>
                    <a:p>
                      <a:pPr lvl="0" algn="ctr">
                        <a:buNone/>
                      </a:pPr>
                      <a:r>
                        <a:rPr lang="en-US" sz="1050" b="1" i="0" u="none" strike="noStrike">
                          <a:solidFill>
                            <a:schemeClr val="bg1"/>
                          </a:solidFill>
                          <a:effectLst/>
                          <a:latin typeface="Aptos"/>
                          <a:ea typeface="Lato Regular"/>
                          <a:cs typeface="Lato Regular"/>
                        </a:rPr>
                        <a:t>FY26</a:t>
                      </a:r>
                    </a:p>
                  </a:txBody>
                  <a:tcPr marL="6350" marR="6350" marT="6350" marB="0" anchor="ctr"/>
                </a:tc>
                <a:tc>
                  <a:txBody>
                    <a:bodyPr/>
                    <a:lstStyle/>
                    <a:p>
                      <a:pPr lvl="0" algn="ctr">
                        <a:buNone/>
                      </a:pPr>
                      <a:r>
                        <a:rPr lang="en-US" sz="1050" b="1" u="none" strike="noStrike">
                          <a:solidFill>
                            <a:schemeClr val="bg1"/>
                          </a:solidFill>
                          <a:effectLst/>
                          <a:latin typeface="Aptos"/>
                          <a:ea typeface="Lato Regular"/>
                          <a:cs typeface="Lato Regular"/>
                        </a:rPr>
                        <a:t>Q4FY25</a:t>
                      </a:r>
                    </a:p>
                  </a:txBody>
                  <a:tcPr marL="6350" marR="6350" marT="6350" marB="0" anchor="ctr"/>
                </a:tc>
                <a:tc>
                  <a:txBody>
                    <a:bodyPr/>
                    <a:lstStyle/>
                    <a:p>
                      <a:pPr lvl="0" algn="ctr">
                        <a:buNone/>
                      </a:pPr>
                      <a:r>
                        <a:rPr lang="en-US" sz="1050" b="1" u="none" strike="noStrike">
                          <a:solidFill>
                            <a:schemeClr val="bg1"/>
                          </a:solidFill>
                          <a:effectLst/>
                          <a:latin typeface="Aptos"/>
                          <a:ea typeface="Lato Regular"/>
                          <a:cs typeface="Lato Regular"/>
                        </a:rPr>
                        <a:t>Q4FY26</a:t>
                      </a:r>
                    </a:p>
                  </a:txBody>
                  <a:tcPr marL="6350" marR="6350" marT="6350" marB="0" anchor="ctr"/>
                </a:tc>
                <a:extLst>
                  <a:ext uri="{0D108BD9-81ED-4DB2-BD59-A6C34878D82A}">
                    <a16:rowId xmlns:a16="http://schemas.microsoft.com/office/drawing/2014/main" val="3735237806"/>
                  </a:ext>
                </a:extLst>
              </a:tr>
              <a:tr h="304727">
                <a:tc>
                  <a:txBody>
                    <a:bodyPr/>
                    <a:lstStyle/>
                    <a:p>
                      <a:pPr lvl="0" algn="l">
                        <a:buNone/>
                      </a:pPr>
                      <a:r>
                        <a:rPr lang="en-IN" sz="1050" b="1" i="0" u="none" strike="noStrike">
                          <a:solidFill>
                            <a:srgbClr val="000000"/>
                          </a:solidFill>
                          <a:effectLst/>
                          <a:latin typeface="+mn-lt"/>
                          <a:ea typeface="Lato Regular"/>
                          <a:cs typeface="Lato Regular"/>
                        </a:rPr>
                        <a:t>Net Revenue</a:t>
                      </a:r>
                      <a:endParaRPr lang="en-US"/>
                    </a:p>
                  </a:txBody>
                  <a:tcPr marL="76200" marR="0" marT="0" marB="0" anchor="ctr"/>
                </a:tc>
                <a:tc>
                  <a:txBody>
                    <a:bodyPr/>
                    <a:lstStyle/>
                    <a:p>
                      <a:pPr lvl="0" algn="ctr">
                        <a:buNone/>
                      </a:pPr>
                      <a:r>
                        <a:rPr lang="en-IN" sz="1100" b="1" i="0" u="none" strike="noStrike">
                          <a:solidFill>
                            <a:srgbClr val="000000"/>
                          </a:solidFill>
                          <a:effectLst/>
                          <a:latin typeface="Calibri"/>
                        </a:rPr>
                        <a:t>17.6</a:t>
                      </a:r>
                      <a:endParaRPr lang="en-US"/>
                    </a:p>
                  </a:txBody>
                  <a:tcPr marL="6350" marR="6350" marT="6350" marB="0" anchor="ctr"/>
                </a:tc>
                <a:tc>
                  <a:txBody>
                    <a:bodyPr/>
                    <a:lstStyle/>
                    <a:p>
                      <a:pPr lvl="0" algn="ctr">
                        <a:buNone/>
                      </a:pPr>
                      <a:r>
                        <a:rPr lang="en-IN" sz="1100" b="1" i="0" u="none" strike="noStrike">
                          <a:solidFill>
                            <a:srgbClr val="000000"/>
                          </a:solidFill>
                          <a:effectLst/>
                          <a:latin typeface="Calibri"/>
                        </a:rPr>
                        <a:t>21.8</a:t>
                      </a:r>
                      <a:endParaRPr lang="en-US"/>
                    </a:p>
                  </a:txBody>
                  <a:tcPr marL="6350" marR="6350" marT="6350" marB="0" anchor="ctr"/>
                </a:tc>
                <a:tc>
                  <a:txBody>
                    <a:bodyPr/>
                    <a:lstStyle/>
                    <a:p>
                      <a:pPr lvl="0" algn="ctr">
                        <a:buNone/>
                      </a:pPr>
                      <a:r>
                        <a:rPr lang="en-IN" sz="1100" b="1" i="0" u="none" strike="noStrike">
                          <a:solidFill>
                            <a:srgbClr val="000000"/>
                          </a:solidFill>
                          <a:effectLst/>
                          <a:latin typeface="Calibri"/>
                        </a:rPr>
                        <a:t>32.5</a:t>
                      </a:r>
                      <a:endParaRPr lang="en-US"/>
                    </a:p>
                  </a:txBody>
                  <a:tcPr marL="6350" marR="6350" marT="6350" marB="0" anchor="ctr"/>
                </a:tc>
                <a:tc>
                  <a:txBody>
                    <a:bodyPr/>
                    <a:lstStyle/>
                    <a:p>
                      <a:pPr lvl="0" algn="ctr">
                        <a:buNone/>
                      </a:pPr>
                      <a:r>
                        <a:rPr lang="en-IN" sz="1100" b="1" i="0" u="none" strike="noStrike">
                          <a:solidFill>
                            <a:srgbClr val="000000"/>
                          </a:solidFill>
                          <a:effectLst/>
                          <a:latin typeface="Calibri"/>
                        </a:rPr>
                        <a:t>4.2</a:t>
                      </a:r>
                      <a:endParaRPr lang="en-US"/>
                    </a:p>
                  </a:txBody>
                  <a:tcPr marL="6350" marR="6350" marT="6350" marB="0" anchor="ctr"/>
                </a:tc>
                <a:tc>
                  <a:txBody>
                    <a:bodyPr/>
                    <a:lstStyle/>
                    <a:p>
                      <a:pPr lvl="0" algn="ctr">
                        <a:buNone/>
                      </a:pPr>
                      <a:r>
                        <a:rPr lang="en-IN" sz="1100" b="1" i="0" u="none" strike="noStrike">
                          <a:solidFill>
                            <a:srgbClr val="000000"/>
                          </a:solidFill>
                          <a:effectLst/>
                          <a:latin typeface="Calibri"/>
                        </a:rPr>
                        <a:t>5.9</a:t>
                      </a:r>
                      <a:endParaRPr lang="en-US"/>
                    </a:p>
                  </a:txBody>
                  <a:tcPr marL="6350" marR="6350" marT="6350" marB="0" anchor="ctr"/>
                </a:tc>
                <a:extLst>
                  <a:ext uri="{0D108BD9-81ED-4DB2-BD59-A6C34878D82A}">
                    <a16:rowId xmlns:a16="http://schemas.microsoft.com/office/drawing/2014/main" val="2159784742"/>
                  </a:ext>
                </a:extLst>
              </a:tr>
              <a:tr h="304727">
                <a:tc>
                  <a:txBody>
                    <a:bodyPr/>
                    <a:lstStyle/>
                    <a:p>
                      <a:pPr lvl="0" algn="l">
                        <a:buNone/>
                      </a:pPr>
                      <a:r>
                        <a:rPr lang="en-IN" sz="1050" b="0" i="0" u="none" strike="noStrike">
                          <a:solidFill>
                            <a:srgbClr val="000000"/>
                          </a:solidFill>
                          <a:effectLst/>
                          <a:latin typeface="+mn-lt"/>
                          <a:ea typeface="Lato Regular"/>
                          <a:cs typeface="Lato Regular"/>
                        </a:rPr>
                        <a:t>% Growth </a:t>
                      </a:r>
                      <a:endParaRPr lang="en-US"/>
                    </a:p>
                  </a:txBody>
                  <a:tcPr marL="76200" marR="0" marT="0" marB="0" anchor="ctr"/>
                </a:tc>
                <a:tc>
                  <a:txBody>
                    <a:bodyPr/>
                    <a:lstStyle/>
                    <a:p>
                      <a:pPr lvl="0" algn="ctr">
                        <a:buNone/>
                      </a:pPr>
                      <a:r>
                        <a:rPr lang="en-IN" sz="1100" b="0" i="0" u="none" strike="noStrike">
                          <a:solidFill>
                            <a:srgbClr val="000000"/>
                          </a:solidFill>
                          <a:effectLst/>
                          <a:latin typeface="Calibri"/>
                        </a:rPr>
                        <a:t>96.1%</a:t>
                      </a:r>
                      <a:endParaRPr lang="en-US"/>
                    </a:p>
                  </a:txBody>
                  <a:tcPr marL="6350" marR="6350" marT="6350" marB="0" anchor="ctr"/>
                </a:tc>
                <a:tc>
                  <a:txBody>
                    <a:bodyPr/>
                    <a:lstStyle/>
                    <a:p>
                      <a:pPr lvl="0" algn="ctr">
                        <a:buNone/>
                      </a:pPr>
                      <a:r>
                        <a:rPr lang="en-IN" sz="1100" b="0" i="0" u="none" strike="noStrike">
                          <a:solidFill>
                            <a:srgbClr val="000000"/>
                          </a:solidFill>
                          <a:effectLst/>
                          <a:latin typeface="Calibri"/>
                        </a:rPr>
                        <a:t>23.4%</a:t>
                      </a:r>
                      <a:endParaRPr lang="en-US"/>
                    </a:p>
                  </a:txBody>
                  <a:tcPr marL="6350" marR="6350" marT="6350" marB="0" anchor="ctr"/>
                </a:tc>
                <a:tc>
                  <a:txBody>
                    <a:bodyPr/>
                    <a:lstStyle/>
                    <a:p>
                      <a:pPr lvl="0" algn="ctr">
                        <a:buNone/>
                      </a:pPr>
                      <a:r>
                        <a:rPr lang="en-IN" sz="1100" b="0" i="0" u="none" strike="noStrike">
                          <a:solidFill>
                            <a:srgbClr val="000000"/>
                          </a:solidFill>
                          <a:effectLst/>
                          <a:latin typeface="Calibri"/>
                        </a:rPr>
                        <a:t>49.4%</a:t>
                      </a:r>
                      <a:endParaRPr lang="en-US"/>
                    </a:p>
                  </a:txBody>
                  <a:tcPr marL="6350" marR="6350" marT="6350" marB="0" anchor="ctr"/>
                </a:tc>
                <a:tc>
                  <a:txBody>
                    <a:bodyPr/>
                    <a:lstStyle/>
                    <a:p>
                      <a:pPr lvl="0" algn="ctr">
                        <a:buNone/>
                      </a:pPr>
                      <a:r>
                        <a:rPr lang="en-IN" sz="1100" b="0" i="0" u="none" strike="noStrike">
                          <a:solidFill>
                            <a:srgbClr val="000000"/>
                          </a:solidFill>
                          <a:effectLst/>
                          <a:latin typeface="Calibri"/>
                        </a:rPr>
                        <a:t>37.4%</a:t>
                      </a:r>
                      <a:endParaRPr lang="en-US"/>
                    </a:p>
                  </a:txBody>
                  <a:tcPr marL="6350" marR="6350" marT="6350" marB="0" anchor="ctr"/>
                </a:tc>
                <a:tc>
                  <a:txBody>
                    <a:bodyPr/>
                    <a:lstStyle/>
                    <a:p>
                      <a:pPr lvl="0" algn="ctr">
                        <a:buNone/>
                      </a:pPr>
                      <a:r>
                        <a:rPr lang="en-IN" sz="1100" b="0" i="0" u="none" strike="noStrike">
                          <a:solidFill>
                            <a:srgbClr val="000000"/>
                          </a:solidFill>
                          <a:effectLst/>
                          <a:latin typeface="Calibri"/>
                        </a:rPr>
                        <a:t>38.7%</a:t>
                      </a:r>
                      <a:endParaRPr lang="en-US"/>
                    </a:p>
                  </a:txBody>
                  <a:tcPr marL="6350" marR="6350" marT="6350" marB="0" anchor="ctr"/>
                </a:tc>
                <a:extLst>
                  <a:ext uri="{0D108BD9-81ED-4DB2-BD59-A6C34878D82A}">
                    <a16:rowId xmlns:a16="http://schemas.microsoft.com/office/drawing/2014/main" val="2809398452"/>
                  </a:ext>
                </a:extLst>
              </a:tr>
              <a:tr h="304727">
                <a:tc>
                  <a:txBody>
                    <a:bodyPr/>
                    <a:lstStyle/>
                    <a:p>
                      <a:pPr lvl="0" algn="l">
                        <a:buNone/>
                      </a:pPr>
                      <a:r>
                        <a:rPr lang="en-IN" sz="1050" b="1" i="0" u="none" strike="noStrike">
                          <a:solidFill>
                            <a:srgbClr val="000000"/>
                          </a:solidFill>
                          <a:effectLst/>
                          <a:latin typeface="+mn-lt"/>
                          <a:ea typeface="Lato Regular"/>
                          <a:cs typeface="Lato Regular"/>
                        </a:rPr>
                        <a:t>Gross Profit</a:t>
                      </a:r>
                      <a:endParaRPr lang="en-US"/>
                    </a:p>
                  </a:txBody>
                  <a:tcPr marL="76200" marR="0" marT="0" marB="0" anchor="ctr"/>
                </a:tc>
                <a:tc>
                  <a:txBody>
                    <a:bodyPr/>
                    <a:lstStyle/>
                    <a:p>
                      <a:pPr lvl="0" algn="ctr">
                        <a:buNone/>
                      </a:pPr>
                      <a:r>
                        <a:rPr lang="en-IN" sz="1100" b="1" i="0" u="none" strike="noStrike">
                          <a:solidFill>
                            <a:srgbClr val="000000"/>
                          </a:solidFill>
                          <a:effectLst/>
                          <a:latin typeface="Calibri"/>
                        </a:rPr>
                        <a:t>15.9</a:t>
                      </a:r>
                      <a:endParaRPr lang="en-US"/>
                    </a:p>
                  </a:txBody>
                  <a:tcPr marL="6350" marR="6350" marT="6350" marB="0" anchor="ctr"/>
                </a:tc>
                <a:tc>
                  <a:txBody>
                    <a:bodyPr/>
                    <a:lstStyle/>
                    <a:p>
                      <a:pPr lvl="0" algn="ctr">
                        <a:buNone/>
                      </a:pPr>
                      <a:r>
                        <a:rPr lang="en-IN" sz="1100" b="1" i="0" u="none" strike="noStrike">
                          <a:solidFill>
                            <a:srgbClr val="000000"/>
                          </a:solidFill>
                          <a:effectLst/>
                          <a:latin typeface="Calibri"/>
                        </a:rPr>
                        <a:t>20.1</a:t>
                      </a:r>
                      <a:endParaRPr lang="en-US"/>
                    </a:p>
                  </a:txBody>
                  <a:tcPr marL="6350" marR="6350" marT="6350" marB="0" anchor="ctr"/>
                </a:tc>
                <a:tc>
                  <a:txBody>
                    <a:bodyPr/>
                    <a:lstStyle/>
                    <a:p>
                      <a:pPr lvl="0" algn="ctr">
                        <a:buNone/>
                      </a:pPr>
                      <a:r>
                        <a:rPr lang="en-IN" sz="1100" b="1" i="0" u="none" strike="noStrike">
                          <a:solidFill>
                            <a:srgbClr val="000000"/>
                          </a:solidFill>
                          <a:effectLst/>
                          <a:latin typeface="Calibri"/>
                        </a:rPr>
                        <a:t>30.5</a:t>
                      </a:r>
                      <a:endParaRPr lang="en-US"/>
                    </a:p>
                  </a:txBody>
                  <a:tcPr marL="6350" marR="6350" marT="6350" marB="0" anchor="ctr"/>
                </a:tc>
                <a:tc>
                  <a:txBody>
                    <a:bodyPr/>
                    <a:lstStyle/>
                    <a:p>
                      <a:pPr lvl="0" algn="ctr">
                        <a:buNone/>
                      </a:pPr>
                      <a:r>
                        <a:rPr lang="en-IN" sz="1100" b="1" i="0" u="none" strike="noStrike">
                          <a:solidFill>
                            <a:srgbClr val="000000"/>
                          </a:solidFill>
                          <a:effectLst/>
                          <a:latin typeface="Calibri"/>
                        </a:rPr>
                        <a:t>3.9</a:t>
                      </a:r>
                      <a:endParaRPr lang="en-US"/>
                    </a:p>
                  </a:txBody>
                  <a:tcPr marL="6350" marR="6350" marT="6350" marB="0" anchor="ctr"/>
                </a:tc>
                <a:tc>
                  <a:txBody>
                    <a:bodyPr/>
                    <a:lstStyle/>
                    <a:p>
                      <a:pPr lvl="0" algn="ctr">
                        <a:buNone/>
                      </a:pPr>
                      <a:r>
                        <a:rPr lang="en-IN" sz="1100" b="1" i="0" u="none" strike="noStrike">
                          <a:solidFill>
                            <a:srgbClr val="000000"/>
                          </a:solidFill>
                          <a:effectLst/>
                          <a:latin typeface="Calibri"/>
                        </a:rPr>
                        <a:t>5.5</a:t>
                      </a:r>
                      <a:endParaRPr lang="en-US"/>
                    </a:p>
                  </a:txBody>
                  <a:tcPr marL="6350" marR="6350" marT="6350" marB="0" anchor="ctr"/>
                </a:tc>
                <a:extLst>
                  <a:ext uri="{0D108BD9-81ED-4DB2-BD59-A6C34878D82A}">
                    <a16:rowId xmlns:a16="http://schemas.microsoft.com/office/drawing/2014/main" val="4076501595"/>
                  </a:ext>
                </a:extLst>
              </a:tr>
              <a:tr h="304726">
                <a:tc>
                  <a:txBody>
                    <a:bodyPr/>
                    <a:lstStyle/>
                    <a:p>
                      <a:pPr lvl="0" algn="l">
                        <a:buNone/>
                      </a:pPr>
                      <a:r>
                        <a:rPr lang="en-IN" sz="1050" b="0" i="0" u="none" strike="noStrike">
                          <a:solidFill>
                            <a:srgbClr val="000000"/>
                          </a:solidFill>
                          <a:effectLst/>
                          <a:latin typeface="+mn-lt"/>
                          <a:ea typeface="Lato Regular"/>
                          <a:cs typeface="Lato Regular"/>
                        </a:rPr>
                        <a:t>% Gross Margin</a:t>
                      </a:r>
                      <a:endParaRPr lang="en-US"/>
                    </a:p>
                  </a:txBody>
                  <a:tcPr marL="76200" marR="0" marT="0" marB="0" anchor="ctr"/>
                </a:tc>
                <a:tc>
                  <a:txBody>
                    <a:bodyPr/>
                    <a:lstStyle/>
                    <a:p>
                      <a:pPr lvl="0" algn="ctr">
                        <a:buNone/>
                      </a:pPr>
                      <a:r>
                        <a:rPr lang="en-IN" sz="1100" b="0" i="0" u="none" strike="noStrike">
                          <a:solidFill>
                            <a:srgbClr val="000000"/>
                          </a:solidFill>
                          <a:effectLst/>
                          <a:latin typeface="Calibri"/>
                        </a:rPr>
                        <a:t>89.9%</a:t>
                      </a:r>
                      <a:endParaRPr lang="en-US"/>
                    </a:p>
                  </a:txBody>
                  <a:tcPr marL="6350" marR="6350" marT="6350" marB="0" anchor="ctr"/>
                </a:tc>
                <a:tc>
                  <a:txBody>
                    <a:bodyPr/>
                    <a:lstStyle/>
                    <a:p>
                      <a:pPr lvl="0" algn="ctr">
                        <a:buNone/>
                      </a:pPr>
                      <a:r>
                        <a:rPr lang="en-IN" sz="1100" b="0" i="0" u="none" strike="noStrike">
                          <a:solidFill>
                            <a:srgbClr val="000000"/>
                          </a:solidFill>
                          <a:effectLst/>
                          <a:latin typeface="Calibri"/>
                        </a:rPr>
                        <a:t>92.3%</a:t>
                      </a:r>
                      <a:endParaRPr lang="en-US"/>
                    </a:p>
                  </a:txBody>
                  <a:tcPr marL="6350" marR="6350" marT="6350" marB="0" anchor="ctr"/>
                </a:tc>
                <a:tc>
                  <a:txBody>
                    <a:bodyPr/>
                    <a:lstStyle/>
                    <a:p>
                      <a:pPr lvl="0" algn="ctr">
                        <a:buNone/>
                      </a:pPr>
                      <a:r>
                        <a:rPr lang="en-IN" sz="1100" b="0" i="0" u="none" strike="noStrike">
                          <a:solidFill>
                            <a:srgbClr val="000000"/>
                          </a:solidFill>
                          <a:effectLst/>
                          <a:latin typeface="Calibri"/>
                        </a:rPr>
                        <a:t>93.8%</a:t>
                      </a:r>
                      <a:endParaRPr lang="en-US"/>
                    </a:p>
                  </a:txBody>
                  <a:tcPr marL="6350" marR="6350" marT="6350" marB="0" anchor="ctr"/>
                </a:tc>
                <a:tc>
                  <a:txBody>
                    <a:bodyPr/>
                    <a:lstStyle/>
                    <a:p>
                      <a:pPr lvl="0" algn="ctr">
                        <a:buNone/>
                      </a:pPr>
                      <a:r>
                        <a:rPr lang="en-IN" sz="1100" b="0" i="0" u="none" strike="noStrike">
                          <a:solidFill>
                            <a:srgbClr val="000000"/>
                          </a:solidFill>
                          <a:effectLst/>
                          <a:latin typeface="Calibri"/>
                        </a:rPr>
                        <a:t>91.4%</a:t>
                      </a:r>
                      <a:endParaRPr lang="en-US"/>
                    </a:p>
                  </a:txBody>
                  <a:tcPr marL="6350" marR="6350" marT="6350" marB="0" anchor="ctr"/>
                </a:tc>
                <a:tc>
                  <a:txBody>
                    <a:bodyPr/>
                    <a:lstStyle/>
                    <a:p>
                      <a:pPr lvl="0" algn="ctr">
                        <a:buNone/>
                      </a:pPr>
                      <a:r>
                        <a:rPr lang="en-IN" sz="1100" b="0" i="0" u="none" strike="noStrike">
                          <a:solidFill>
                            <a:srgbClr val="000000"/>
                          </a:solidFill>
                          <a:effectLst/>
                          <a:latin typeface="Calibri"/>
                        </a:rPr>
                        <a:t>93.7%</a:t>
                      </a:r>
                      <a:endParaRPr lang="en-US"/>
                    </a:p>
                  </a:txBody>
                  <a:tcPr marL="6350" marR="6350" marT="6350" marB="0" anchor="ctr"/>
                </a:tc>
                <a:extLst>
                  <a:ext uri="{0D108BD9-81ED-4DB2-BD59-A6C34878D82A}">
                    <a16:rowId xmlns:a16="http://schemas.microsoft.com/office/drawing/2014/main" val="871720426"/>
                  </a:ext>
                </a:extLst>
              </a:tr>
              <a:tr h="304727">
                <a:tc>
                  <a:txBody>
                    <a:bodyPr/>
                    <a:lstStyle/>
                    <a:p>
                      <a:pPr lvl="0" algn="l">
                        <a:buNone/>
                      </a:pPr>
                      <a:r>
                        <a:rPr lang="en-IN" sz="1050" b="1" i="0" u="none" strike="noStrike">
                          <a:solidFill>
                            <a:srgbClr val="000000"/>
                          </a:solidFill>
                          <a:effectLst/>
                          <a:latin typeface="+mn-lt"/>
                          <a:ea typeface="Lato Regular"/>
                          <a:cs typeface="Lato Regular"/>
                        </a:rPr>
                        <a:t>EBITDA</a:t>
                      </a:r>
                      <a:endParaRPr lang="en-US"/>
                    </a:p>
                  </a:txBody>
                  <a:tcPr marL="76200" marR="0" marT="0" marB="0" anchor="ctr"/>
                </a:tc>
                <a:tc>
                  <a:txBody>
                    <a:bodyPr/>
                    <a:lstStyle/>
                    <a:p>
                      <a:pPr lvl="0" algn="ctr">
                        <a:buNone/>
                      </a:pPr>
                      <a:r>
                        <a:rPr lang="en-IN" sz="1100" b="1" i="0" u="none" strike="noStrike">
                          <a:solidFill>
                            <a:srgbClr val="000000"/>
                          </a:solidFill>
                          <a:effectLst/>
                          <a:latin typeface="Calibri"/>
                        </a:rPr>
                        <a:t>-33.3</a:t>
                      </a:r>
                      <a:endParaRPr lang="en-US"/>
                    </a:p>
                  </a:txBody>
                  <a:tcPr marL="6350" marR="6350" marT="6350" marB="0" anchor="ctr"/>
                </a:tc>
                <a:tc>
                  <a:txBody>
                    <a:bodyPr/>
                    <a:lstStyle/>
                    <a:p>
                      <a:pPr lvl="0" algn="ctr">
                        <a:buNone/>
                      </a:pPr>
                      <a:r>
                        <a:rPr lang="en-IN" sz="1100" b="1" i="0" u="none" strike="noStrike">
                          <a:solidFill>
                            <a:srgbClr val="000000"/>
                          </a:solidFill>
                          <a:effectLst/>
                          <a:latin typeface="Calibri"/>
                        </a:rPr>
                        <a:t>-30.5</a:t>
                      </a:r>
                      <a:endParaRPr lang="en-US"/>
                    </a:p>
                  </a:txBody>
                  <a:tcPr marL="6350" marR="6350" marT="6350" marB="0" anchor="ctr"/>
                </a:tc>
                <a:tc>
                  <a:txBody>
                    <a:bodyPr/>
                    <a:lstStyle/>
                    <a:p>
                      <a:pPr lvl="0" algn="ctr">
                        <a:buNone/>
                      </a:pPr>
                      <a:r>
                        <a:rPr lang="en-IN" sz="1100" b="1" i="0" u="none" strike="noStrike">
                          <a:solidFill>
                            <a:srgbClr val="000000"/>
                          </a:solidFill>
                          <a:effectLst/>
                          <a:latin typeface="Calibri"/>
                        </a:rPr>
                        <a:t>-26.8</a:t>
                      </a:r>
                      <a:endParaRPr lang="en-US"/>
                    </a:p>
                  </a:txBody>
                  <a:tcPr marL="6350" marR="6350" marT="6350" marB="0" anchor="ctr"/>
                </a:tc>
                <a:tc>
                  <a:txBody>
                    <a:bodyPr/>
                    <a:lstStyle/>
                    <a:p>
                      <a:pPr lvl="0" algn="ctr">
                        <a:buNone/>
                      </a:pPr>
                      <a:r>
                        <a:rPr lang="en-IN" sz="1100" b="1" i="0" u="none" strike="noStrike">
                          <a:solidFill>
                            <a:srgbClr val="000000"/>
                          </a:solidFill>
                          <a:effectLst/>
                          <a:latin typeface="Calibri"/>
                        </a:rPr>
                        <a:t>-9.5</a:t>
                      </a:r>
                      <a:endParaRPr lang="en-US"/>
                    </a:p>
                  </a:txBody>
                  <a:tcPr marL="6350" marR="6350" marT="6350" marB="0" anchor="ctr"/>
                </a:tc>
                <a:tc>
                  <a:txBody>
                    <a:bodyPr/>
                    <a:lstStyle/>
                    <a:p>
                      <a:pPr lvl="0" algn="ctr">
                        <a:buNone/>
                      </a:pPr>
                      <a:r>
                        <a:rPr lang="en-IN" sz="1100" b="1" i="0" u="none" strike="noStrike">
                          <a:solidFill>
                            <a:srgbClr val="000000"/>
                          </a:solidFill>
                          <a:effectLst/>
                          <a:latin typeface="Calibri"/>
                        </a:rPr>
                        <a:t>-10.6</a:t>
                      </a:r>
                      <a:endParaRPr lang="en-US"/>
                    </a:p>
                  </a:txBody>
                  <a:tcPr marL="6350" marR="6350" marT="6350" marB="0" anchor="ctr"/>
                </a:tc>
                <a:extLst>
                  <a:ext uri="{0D108BD9-81ED-4DB2-BD59-A6C34878D82A}">
                    <a16:rowId xmlns:a16="http://schemas.microsoft.com/office/drawing/2014/main" val="3179895044"/>
                  </a:ext>
                </a:extLst>
              </a:tr>
              <a:tr h="304726">
                <a:tc>
                  <a:txBody>
                    <a:bodyPr/>
                    <a:lstStyle/>
                    <a:p>
                      <a:pPr lvl="0" algn="l">
                        <a:buNone/>
                      </a:pPr>
                      <a:r>
                        <a:rPr lang="en-IN" sz="1050" b="0" i="0" u="none" strike="noStrike">
                          <a:solidFill>
                            <a:srgbClr val="000000"/>
                          </a:solidFill>
                          <a:effectLst/>
                          <a:latin typeface="+mn-lt"/>
                          <a:ea typeface="Lato Regular"/>
                          <a:cs typeface="Lato Regular"/>
                        </a:rPr>
                        <a:t>% EBITDA</a:t>
                      </a:r>
                      <a:endParaRPr lang="en-US"/>
                    </a:p>
                  </a:txBody>
                  <a:tcPr marL="76200" marR="0" marT="0" marB="0" anchor="ctr"/>
                </a:tc>
                <a:tc>
                  <a:txBody>
                    <a:bodyPr/>
                    <a:lstStyle/>
                    <a:p>
                      <a:pPr lvl="0" algn="ctr">
                        <a:buNone/>
                      </a:pPr>
                      <a:r>
                        <a:rPr lang="en-IN" sz="1100" b="0" i="0" u="none" strike="noStrike">
                          <a:solidFill>
                            <a:srgbClr val="000000"/>
                          </a:solidFill>
                          <a:effectLst/>
                          <a:latin typeface="Calibri"/>
                        </a:rPr>
                        <a:t>-188.5%</a:t>
                      </a:r>
                      <a:endParaRPr lang="en-US"/>
                    </a:p>
                  </a:txBody>
                  <a:tcPr marL="6350" marR="6350" marT="6350" marB="0" anchor="ctr"/>
                </a:tc>
                <a:tc>
                  <a:txBody>
                    <a:bodyPr/>
                    <a:lstStyle/>
                    <a:p>
                      <a:pPr lvl="0" algn="ctr">
                        <a:buNone/>
                      </a:pPr>
                      <a:r>
                        <a:rPr lang="en-IN" sz="1100" b="0" i="0" u="none" strike="noStrike">
                          <a:solidFill>
                            <a:srgbClr val="000000"/>
                          </a:solidFill>
                          <a:effectLst/>
                          <a:latin typeface="Calibri"/>
                        </a:rPr>
                        <a:t>-140.1%</a:t>
                      </a:r>
                      <a:endParaRPr lang="en-US"/>
                    </a:p>
                  </a:txBody>
                  <a:tcPr marL="6350" marR="6350" marT="6350" marB="0" anchor="ctr"/>
                </a:tc>
                <a:tc>
                  <a:txBody>
                    <a:bodyPr/>
                    <a:lstStyle/>
                    <a:p>
                      <a:pPr lvl="0" algn="ctr">
                        <a:buNone/>
                      </a:pPr>
                      <a:r>
                        <a:rPr lang="en-IN" sz="1100" b="0" i="0" u="none" strike="noStrike">
                          <a:solidFill>
                            <a:srgbClr val="000000"/>
                          </a:solidFill>
                          <a:effectLst/>
                          <a:latin typeface="Calibri"/>
                        </a:rPr>
                        <a:t>-82.2%</a:t>
                      </a:r>
                      <a:endParaRPr lang="en-US"/>
                    </a:p>
                  </a:txBody>
                  <a:tcPr marL="6350" marR="6350" marT="6350" marB="0" anchor="ctr"/>
                </a:tc>
                <a:tc>
                  <a:txBody>
                    <a:bodyPr/>
                    <a:lstStyle/>
                    <a:p>
                      <a:pPr lvl="0" algn="ctr">
                        <a:buNone/>
                      </a:pPr>
                      <a:r>
                        <a:rPr lang="en-IN" sz="1100" b="0" i="0" u="none" strike="noStrike">
                          <a:solidFill>
                            <a:srgbClr val="000000"/>
                          </a:solidFill>
                          <a:effectLst/>
                          <a:latin typeface="Calibri"/>
                        </a:rPr>
                        <a:t>-225.9%</a:t>
                      </a:r>
                      <a:endParaRPr lang="en-US"/>
                    </a:p>
                  </a:txBody>
                  <a:tcPr marL="6350" marR="6350" marT="6350" marB="0" anchor="ctr"/>
                </a:tc>
                <a:tc>
                  <a:txBody>
                    <a:bodyPr/>
                    <a:lstStyle/>
                    <a:p>
                      <a:pPr lvl="0" algn="ctr">
                        <a:buNone/>
                      </a:pPr>
                      <a:r>
                        <a:rPr lang="en-IN" sz="1100" b="0" i="0" u="none" strike="noStrike">
                          <a:solidFill>
                            <a:srgbClr val="000000"/>
                          </a:solidFill>
                          <a:effectLst/>
                          <a:latin typeface="Calibri"/>
                        </a:rPr>
                        <a:t>-181.9%</a:t>
                      </a:r>
                      <a:endParaRPr lang="en-US"/>
                    </a:p>
                  </a:txBody>
                  <a:tcPr marL="6350" marR="6350" marT="6350" marB="0" anchor="ctr"/>
                </a:tc>
                <a:extLst>
                  <a:ext uri="{0D108BD9-81ED-4DB2-BD59-A6C34878D82A}">
                    <a16:rowId xmlns:a16="http://schemas.microsoft.com/office/drawing/2014/main" val="709345767"/>
                  </a:ext>
                </a:extLst>
              </a:tr>
            </a:tbl>
          </a:graphicData>
        </a:graphic>
      </p:graphicFrame>
      <p:sp>
        <p:nvSpPr>
          <p:cNvPr id="16" name="Title 1">
            <a:extLst>
              <a:ext uri="{FF2B5EF4-FFF2-40B4-BE49-F238E27FC236}">
                <a16:creationId xmlns:a16="http://schemas.microsoft.com/office/drawing/2014/main" id="{C59FB1D6-20AC-6818-44DF-FA3C3E250838}"/>
              </a:ext>
            </a:extLst>
          </p:cNvPr>
          <p:cNvSpPr>
            <a:spLocks noGrp="1"/>
          </p:cNvSpPr>
          <p:nvPr>
            <p:ph type="title"/>
          </p:nvPr>
        </p:nvSpPr>
        <p:spPr>
          <a:xfrm>
            <a:off x="371556" y="510626"/>
            <a:ext cx="8272382" cy="334515"/>
          </a:xfrm>
        </p:spPr>
        <p:txBody>
          <a:bodyPr/>
          <a:lstStyle/>
          <a:p>
            <a:r>
              <a:rPr lang="en-US" err="1"/>
              <a:t>Grayquest</a:t>
            </a:r>
            <a:r>
              <a:rPr lang="en-US"/>
              <a:t> Education FinancePrivate Limited– </a:t>
            </a:r>
            <a:r>
              <a:rPr lang="en-US" err="1"/>
              <a:t>Grayquest</a:t>
            </a:r>
            <a:endParaRPr lang="en-US"/>
          </a:p>
        </p:txBody>
      </p:sp>
      <p:pic>
        <p:nvPicPr>
          <p:cNvPr id="2" name="Picture 1" descr="Exclusive: GrayQuest raises Series A ...">
            <a:extLst>
              <a:ext uri="{FF2B5EF4-FFF2-40B4-BE49-F238E27FC236}">
                <a16:creationId xmlns:a16="http://schemas.microsoft.com/office/drawing/2014/main" id="{583576D9-BBA2-1C25-B633-3D6B7113376D}"/>
              </a:ext>
            </a:extLst>
          </p:cNvPr>
          <p:cNvPicPr>
            <a:picLocks noChangeAspect="1"/>
          </p:cNvPicPr>
          <p:nvPr/>
        </p:nvPicPr>
        <p:blipFill>
          <a:blip r:embed="rId3"/>
          <a:srcRect l="11020" t="23338" r="9205" b="28571"/>
          <a:stretch>
            <a:fillRect/>
          </a:stretch>
        </p:blipFill>
        <p:spPr>
          <a:xfrm>
            <a:off x="7405207" y="281276"/>
            <a:ext cx="1812505" cy="570164"/>
          </a:xfrm>
          <a:prstGeom prst="rect">
            <a:avLst/>
          </a:prstGeom>
        </p:spPr>
      </p:pic>
    </p:spTree>
    <p:extLst>
      <p:ext uri="{BB962C8B-B14F-4D97-AF65-F5344CB8AC3E}">
        <p14:creationId xmlns:p14="http://schemas.microsoft.com/office/powerpoint/2010/main" val="29079762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A5BE1-3F40-DB89-BE70-C3D53273F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C80F29-E04A-D429-B1D9-B320D57CC151}"/>
              </a:ext>
            </a:extLst>
          </p:cNvPr>
          <p:cNvSpPr>
            <a:spLocks noGrp="1"/>
          </p:cNvSpPr>
          <p:nvPr>
            <p:ph type="title"/>
          </p:nvPr>
        </p:nvSpPr>
        <p:spPr>
          <a:xfrm>
            <a:off x="371557" y="525420"/>
            <a:ext cx="5785508" cy="666914"/>
          </a:xfrm>
        </p:spPr>
        <p:txBody>
          <a:bodyPr/>
          <a:lstStyle/>
          <a:p>
            <a:r>
              <a:rPr lang="en-US"/>
              <a:t>Apex Future Labs Private Limited – </a:t>
            </a:r>
            <a:r>
              <a:rPr lang="en-US" err="1"/>
              <a:t>Vitra.ai</a:t>
            </a:r>
            <a:endParaRPr lang="en-US"/>
          </a:p>
        </p:txBody>
      </p:sp>
      <p:sp>
        <p:nvSpPr>
          <p:cNvPr id="3" name="TextBox 2">
            <a:extLst>
              <a:ext uri="{FF2B5EF4-FFF2-40B4-BE49-F238E27FC236}">
                <a16:creationId xmlns:a16="http://schemas.microsoft.com/office/drawing/2014/main" id="{AE5A08D8-AE38-3266-1605-8F6314F5EBCA}"/>
              </a:ext>
            </a:extLst>
          </p:cNvPr>
          <p:cNvSpPr txBox="1"/>
          <p:nvPr/>
        </p:nvSpPr>
        <p:spPr>
          <a:xfrm>
            <a:off x="499141" y="1387387"/>
            <a:ext cx="3450246" cy="320216"/>
          </a:xfrm>
          <a:prstGeom prst="rect">
            <a:avLst/>
          </a:prstGeom>
          <a:noFill/>
        </p:spPr>
        <p:txBody>
          <a:bodyPr wrap="square" rtlCol="0">
            <a:spAutoFit/>
          </a:bodyPr>
          <a:lstStyle/>
          <a:p>
            <a:r>
              <a:rPr lang="en-IN" sz="1481" b="1">
                <a:solidFill>
                  <a:schemeClr val="tx2"/>
                </a:solidFill>
                <a:ea typeface="Lato Regular" panose="020F0502020204030203" pitchFamily="34" charset="0"/>
                <a:cs typeface="Lato Regular" panose="020F0502020204030203" pitchFamily="34" charset="0"/>
              </a:rPr>
              <a:t>Business Description</a:t>
            </a:r>
          </a:p>
        </p:txBody>
      </p:sp>
      <p:sp>
        <p:nvSpPr>
          <p:cNvPr id="4" name="TextBox 3">
            <a:extLst>
              <a:ext uri="{FF2B5EF4-FFF2-40B4-BE49-F238E27FC236}">
                <a16:creationId xmlns:a16="http://schemas.microsoft.com/office/drawing/2014/main" id="{3D1DC7AB-36C1-F16C-C1C9-542F5E7773E0}"/>
              </a:ext>
            </a:extLst>
          </p:cNvPr>
          <p:cNvSpPr txBox="1"/>
          <p:nvPr/>
        </p:nvSpPr>
        <p:spPr>
          <a:xfrm>
            <a:off x="557756" y="3800282"/>
            <a:ext cx="3450246" cy="320216"/>
          </a:xfrm>
          <a:prstGeom prst="rect">
            <a:avLst/>
          </a:prstGeom>
          <a:noFill/>
        </p:spPr>
        <p:txBody>
          <a:bodyPr wrap="square" rtlCol="0">
            <a:spAutoFit/>
          </a:bodyPr>
          <a:lstStyle/>
          <a:p>
            <a:r>
              <a:rPr lang="en-IN" sz="1481" b="1">
                <a:solidFill>
                  <a:schemeClr val="tx2"/>
                </a:solidFill>
                <a:ea typeface="Lato Regular" panose="020F0502020204030203" pitchFamily="34" charset="0"/>
                <a:cs typeface="Lato Regular" panose="020F0502020204030203" pitchFamily="34" charset="0"/>
              </a:rPr>
              <a:t>Performance Commentary</a:t>
            </a:r>
          </a:p>
        </p:txBody>
      </p:sp>
      <p:sp>
        <p:nvSpPr>
          <p:cNvPr id="5" name="TextBox 4">
            <a:extLst>
              <a:ext uri="{FF2B5EF4-FFF2-40B4-BE49-F238E27FC236}">
                <a16:creationId xmlns:a16="http://schemas.microsoft.com/office/drawing/2014/main" id="{11880987-0212-3F4C-31D1-4A3CD6FE3B21}"/>
              </a:ext>
            </a:extLst>
          </p:cNvPr>
          <p:cNvSpPr txBox="1"/>
          <p:nvPr/>
        </p:nvSpPr>
        <p:spPr>
          <a:xfrm>
            <a:off x="5539984" y="3805112"/>
            <a:ext cx="3450246" cy="227883"/>
          </a:xfrm>
          <a:prstGeom prst="rect">
            <a:avLst/>
          </a:prstGeom>
          <a:noFill/>
        </p:spPr>
        <p:txBody>
          <a:bodyPr wrap="square" lIns="0" tIns="0" rIns="0" bIns="0" rtlCol="0">
            <a:spAutoFit/>
          </a:bodyPr>
          <a:lstStyle/>
          <a:p>
            <a:r>
              <a:rPr lang="en-IN" sz="1481" b="1">
                <a:solidFill>
                  <a:schemeClr val="tx2"/>
                </a:solidFill>
                <a:ea typeface="Lato Regular" panose="020F0502020204030203" pitchFamily="34" charset="0"/>
                <a:cs typeface="Lato Regular" panose="020F0502020204030203" pitchFamily="34" charset="0"/>
              </a:rPr>
              <a:t>Key Financial Highlights</a:t>
            </a:r>
          </a:p>
        </p:txBody>
      </p:sp>
      <p:sp>
        <p:nvSpPr>
          <p:cNvPr id="6" name="Rectangle 5">
            <a:extLst>
              <a:ext uri="{FF2B5EF4-FFF2-40B4-BE49-F238E27FC236}">
                <a16:creationId xmlns:a16="http://schemas.microsoft.com/office/drawing/2014/main" id="{3A4749E8-2636-B674-38AA-A33D74D3F0FD}"/>
              </a:ext>
            </a:extLst>
          </p:cNvPr>
          <p:cNvSpPr/>
          <p:nvPr/>
        </p:nvSpPr>
        <p:spPr>
          <a:xfrm>
            <a:off x="511316" y="1736982"/>
            <a:ext cx="4200398" cy="2000548"/>
          </a:xfrm>
          <a:prstGeom prst="rect">
            <a:avLst/>
          </a:prstGeom>
        </p:spPr>
        <p:txBody>
          <a:bodyPr wrap="square" lIns="0" tIns="0" rIns="0" bIns="0" anchor="t">
            <a:spAutoFit/>
          </a:bodyPr>
          <a:lstStyle/>
          <a:p>
            <a:pPr marL="171450" indent="-171450" algn="just">
              <a:spcAft>
                <a:spcPts val="600"/>
              </a:spcAft>
              <a:buFont typeface="Arial" panose="020B0604020202020204" pitchFamily="34" charset="0"/>
              <a:buChar char="•"/>
            </a:pPr>
            <a:r>
              <a:rPr lang="en-US" sz="1200">
                <a:solidFill>
                  <a:schemeClr val="bg2">
                    <a:lumMod val="10000"/>
                  </a:schemeClr>
                </a:solidFill>
                <a:ea typeface="Calibri"/>
                <a:cs typeface="Calibri"/>
                <a:sym typeface="Calibri"/>
              </a:rPr>
              <a:t>Company has developed a Generative AI model deployed as a SaaS use case available across industries to fulfill its language translation needs across spectrum like image, text and videos</a:t>
            </a:r>
          </a:p>
          <a:p>
            <a:pPr marL="171450" indent="-171450" algn="just">
              <a:spcAft>
                <a:spcPts val="600"/>
              </a:spcAft>
              <a:buFont typeface="Arial" panose="020B0604020202020204" pitchFamily="34" charset="0"/>
              <a:buChar char="•"/>
            </a:pPr>
            <a:r>
              <a:rPr lang="en-US" sz="1200">
                <a:solidFill>
                  <a:schemeClr val="bg2">
                    <a:lumMod val="10000"/>
                  </a:schemeClr>
                </a:solidFill>
                <a:ea typeface="Calibri"/>
                <a:cs typeface="Calibri"/>
                <a:sym typeface="Calibri"/>
              </a:rPr>
              <a:t>The company translates text, images, videos and websites within few clicks and seconds in more than 100+ vernacular language across the world. Its API-partnered with various image SaaS companies like Adobe, Canva, Figma </a:t>
            </a:r>
            <a:r>
              <a:rPr lang="en-US" sz="1200" err="1">
                <a:solidFill>
                  <a:schemeClr val="bg2">
                    <a:lumMod val="10000"/>
                  </a:schemeClr>
                </a:solidFill>
                <a:ea typeface="Calibri"/>
                <a:cs typeface="Calibri"/>
                <a:sym typeface="Calibri"/>
              </a:rPr>
              <a:t>etc</a:t>
            </a:r>
            <a:r>
              <a:rPr lang="en-US" sz="1200">
                <a:solidFill>
                  <a:schemeClr val="bg2">
                    <a:lumMod val="10000"/>
                  </a:schemeClr>
                </a:solidFill>
                <a:ea typeface="Calibri"/>
                <a:cs typeface="Calibri"/>
                <a:sym typeface="Calibri"/>
              </a:rPr>
              <a:t> </a:t>
            </a:r>
          </a:p>
          <a:p>
            <a:pPr marL="171450" indent="-171450" algn="just">
              <a:spcAft>
                <a:spcPts val="600"/>
              </a:spcAft>
              <a:buFont typeface="Arial" panose="020B0604020202020204" pitchFamily="34" charset="0"/>
              <a:buChar char="•"/>
            </a:pPr>
            <a:r>
              <a:rPr lang="en-US" sz="1200">
                <a:solidFill>
                  <a:schemeClr val="bg2">
                    <a:lumMod val="10000"/>
                  </a:schemeClr>
                </a:solidFill>
                <a:ea typeface="Calibri"/>
                <a:cs typeface="Calibri"/>
                <a:sym typeface="Calibri"/>
              </a:rPr>
              <a:t>Vitra has 4 main products – 1. Translate Image ; 2. Translate Text ; 3. Translate Videos ; 4. Translate Website</a:t>
            </a:r>
            <a:endParaRPr lang="en-US" sz="1200">
              <a:solidFill>
                <a:schemeClr val="bg2">
                  <a:lumMod val="10000"/>
                </a:schemeClr>
              </a:solidFill>
              <a:ea typeface="Calibri"/>
              <a:cs typeface="Calibri"/>
            </a:endParaRPr>
          </a:p>
        </p:txBody>
      </p:sp>
      <p:sp>
        <p:nvSpPr>
          <p:cNvPr id="7" name="TextBox 6">
            <a:extLst>
              <a:ext uri="{FF2B5EF4-FFF2-40B4-BE49-F238E27FC236}">
                <a16:creationId xmlns:a16="http://schemas.microsoft.com/office/drawing/2014/main" id="{E2838656-C0A3-0EC9-2147-0F7C441E7B8D}"/>
              </a:ext>
            </a:extLst>
          </p:cNvPr>
          <p:cNvSpPr txBox="1"/>
          <p:nvPr/>
        </p:nvSpPr>
        <p:spPr>
          <a:xfrm>
            <a:off x="377134" y="4140651"/>
            <a:ext cx="4408262" cy="2616101"/>
          </a:xfrm>
          <a:prstGeom prst="rect">
            <a:avLst/>
          </a:prstGeom>
          <a:noFill/>
        </p:spPr>
        <p:txBody>
          <a:bodyPr wrap="square" lIns="91440" tIns="45720" rIns="91440" bIns="45720" rtlCol="0" anchor="t">
            <a:spAutoFit/>
          </a:bodyPr>
          <a:lstStyle/>
          <a:p>
            <a:pPr marL="171450" indent="-171450" algn="just">
              <a:spcAft>
                <a:spcPts val="600"/>
              </a:spcAft>
              <a:buFont typeface="Arial,Sans-Serif" panose="020B0604020202020204" pitchFamily="34" charset="0"/>
              <a:buChar char="•"/>
            </a:pPr>
            <a:r>
              <a:rPr lang="en-IN" sz="1200" b="1">
                <a:solidFill>
                  <a:srgbClr val="242424"/>
                </a:solidFill>
                <a:highlight>
                  <a:srgbClr val="FFFFFF"/>
                </a:highlight>
                <a:ea typeface="Lato Regular"/>
                <a:cs typeface="Lato Regular"/>
              </a:rPr>
              <a:t>Revenue ₹4.1 Cr in FY26 (+30% YoY)</a:t>
            </a:r>
            <a:r>
              <a:rPr lang="en-IN" sz="1200">
                <a:solidFill>
                  <a:srgbClr val="242424"/>
                </a:solidFill>
                <a:highlight>
                  <a:srgbClr val="FFFFFF"/>
                </a:highlight>
                <a:ea typeface="Lato Regular"/>
                <a:cs typeface="Lato Regular"/>
              </a:rPr>
              <a:t>, ARPU up from ₹376k to ₹511k — meaningful per-customer monetisation improvement. </a:t>
            </a:r>
            <a:endParaRPr lang="en-US" sz="1200">
              <a:solidFill>
                <a:srgbClr val="171717"/>
              </a:solidFill>
              <a:ea typeface="Lato Regular"/>
              <a:cs typeface="Lato Regular"/>
            </a:endParaRPr>
          </a:p>
          <a:p>
            <a:pPr marL="171450" indent="-171450" algn="just">
              <a:spcAft>
                <a:spcPts val="600"/>
              </a:spcAft>
              <a:buFont typeface="Arial,Sans-Serif" panose="020B0604020202020204" pitchFamily="34" charset="0"/>
              <a:buChar char="•"/>
            </a:pPr>
            <a:r>
              <a:rPr lang="en-IN" sz="1200">
                <a:solidFill>
                  <a:srgbClr val="242424"/>
                </a:solidFill>
                <a:highlight>
                  <a:srgbClr val="FFFFFF"/>
                </a:highlight>
                <a:ea typeface="Lato Regular"/>
                <a:cs typeface="Lato Regular"/>
              </a:rPr>
              <a:t>EBITDA turned negative as the company invests behind the transition from a translation tool into the </a:t>
            </a:r>
            <a:r>
              <a:rPr lang="en-IN" sz="1200" b="1">
                <a:solidFill>
                  <a:srgbClr val="242424"/>
                </a:solidFill>
                <a:highlight>
                  <a:srgbClr val="FFFFFF"/>
                </a:highlight>
                <a:ea typeface="Lato Regular"/>
                <a:cs typeface="Lato Regular"/>
              </a:rPr>
              <a:t>"Vitra.ai Universe"</a:t>
            </a:r>
            <a:r>
              <a:rPr lang="en-IN" sz="1200">
                <a:solidFill>
                  <a:srgbClr val="242424"/>
                </a:solidFill>
                <a:highlight>
                  <a:srgbClr val="FFFFFF"/>
                </a:highlight>
                <a:ea typeface="Lato Regular"/>
                <a:cs typeface="Lato Regular"/>
              </a:rPr>
              <a:t> — a horizontal operating system for enterprise content generation and translation. </a:t>
            </a:r>
            <a:endParaRPr lang="en-US" sz="1200">
              <a:solidFill>
                <a:srgbClr val="171717"/>
              </a:solidFill>
              <a:ea typeface="Lato Regular"/>
              <a:cs typeface="Lato Regular"/>
            </a:endParaRPr>
          </a:p>
          <a:p>
            <a:pPr marL="171450" indent="-171450" algn="just">
              <a:spcAft>
                <a:spcPts val="600"/>
              </a:spcAft>
              <a:buFont typeface="Arial,Sans-Serif" panose="020B0604020202020204" pitchFamily="34" charset="0"/>
              <a:buChar char="•"/>
            </a:pPr>
            <a:r>
              <a:rPr lang="en-IN" sz="1200">
                <a:solidFill>
                  <a:srgbClr val="242424"/>
                </a:solidFill>
                <a:highlight>
                  <a:srgbClr val="FFFFFF"/>
                </a:highlight>
                <a:ea typeface="Lato Regular"/>
                <a:cs typeface="Lato Regular"/>
              </a:rPr>
              <a:t>This is a bet that the company can graduate from feature to platform. Most do not. The few that do produce the kind of returns this asset class is designed to find.</a:t>
            </a:r>
            <a:endParaRPr lang="en-US" sz="1200">
              <a:solidFill>
                <a:schemeClr val="bg2">
                  <a:lumMod val="10000"/>
                </a:schemeClr>
              </a:solidFill>
              <a:ea typeface="Lato Regular"/>
              <a:cs typeface="Lato Regular"/>
            </a:endParaRPr>
          </a:p>
          <a:p>
            <a:pPr marL="171450" indent="-171450" algn="just">
              <a:spcAft>
                <a:spcPts val="600"/>
              </a:spcAft>
              <a:buFont typeface="Arial" panose="020B0604020202020204" pitchFamily="34" charset="0"/>
              <a:buChar char="•"/>
            </a:pPr>
            <a:endParaRPr lang="en-IN" sz="1200">
              <a:solidFill>
                <a:schemeClr val="bg2">
                  <a:lumMod val="10000"/>
                </a:schemeClr>
              </a:solidFill>
              <a:ea typeface="Lato Regular" panose="020F0502020204030203" pitchFamily="34" charset="0"/>
              <a:cs typeface="Lato Regular" panose="020F0502020204030203" pitchFamily="34" charset="0"/>
            </a:endParaRPr>
          </a:p>
          <a:p>
            <a:pPr marL="171450" indent="-171450" algn="just">
              <a:spcAft>
                <a:spcPts val="600"/>
              </a:spcAft>
              <a:buFont typeface="Arial" panose="020B0604020202020204" pitchFamily="34" charset="0"/>
              <a:buChar char="•"/>
            </a:pPr>
            <a:endParaRPr lang="en-IN" sz="1200">
              <a:solidFill>
                <a:schemeClr val="bg2">
                  <a:lumMod val="10000"/>
                </a:schemeClr>
              </a:solidFill>
              <a:ea typeface="Lato Regular" panose="020F0502020204030203" pitchFamily="34" charset="0"/>
              <a:cs typeface="Lato Regular" panose="020F0502020204030203" pitchFamily="34" charset="0"/>
            </a:endParaRPr>
          </a:p>
        </p:txBody>
      </p:sp>
      <p:graphicFrame>
        <p:nvGraphicFramePr>
          <p:cNvPr id="8" name="Table 7">
            <a:extLst>
              <a:ext uri="{FF2B5EF4-FFF2-40B4-BE49-F238E27FC236}">
                <a16:creationId xmlns:a16="http://schemas.microsoft.com/office/drawing/2014/main" id="{15A8ADF0-126C-CEE6-7C81-709A708A4642}"/>
              </a:ext>
            </a:extLst>
          </p:cNvPr>
          <p:cNvGraphicFramePr>
            <a:graphicFrameLocks noGrp="1"/>
          </p:cNvGraphicFramePr>
          <p:nvPr/>
        </p:nvGraphicFramePr>
        <p:xfrm>
          <a:off x="5539984" y="4144254"/>
          <a:ext cx="5842026" cy="2084314"/>
        </p:xfrm>
        <a:graphic>
          <a:graphicData uri="http://schemas.openxmlformats.org/drawingml/2006/table">
            <a:tbl>
              <a:tblPr firstRow="1" bandRow="1">
                <a:tableStyleId>{72833802-FEF1-4C79-8D5D-14CF1EAF98D9}</a:tableStyleId>
              </a:tblPr>
              <a:tblGrid>
                <a:gridCol w="1911076">
                  <a:extLst>
                    <a:ext uri="{9D8B030D-6E8A-4147-A177-3AD203B41FA5}">
                      <a16:colId xmlns:a16="http://schemas.microsoft.com/office/drawing/2014/main" val="3001066899"/>
                    </a:ext>
                  </a:extLst>
                </a:gridCol>
                <a:gridCol w="786190">
                  <a:extLst>
                    <a:ext uri="{9D8B030D-6E8A-4147-A177-3AD203B41FA5}">
                      <a16:colId xmlns:a16="http://schemas.microsoft.com/office/drawing/2014/main" val="700748351"/>
                    </a:ext>
                  </a:extLst>
                </a:gridCol>
                <a:gridCol w="786190">
                  <a:extLst>
                    <a:ext uri="{9D8B030D-6E8A-4147-A177-3AD203B41FA5}">
                      <a16:colId xmlns:a16="http://schemas.microsoft.com/office/drawing/2014/main" val="3274968397"/>
                    </a:ext>
                  </a:extLst>
                </a:gridCol>
                <a:gridCol w="786190">
                  <a:extLst>
                    <a:ext uri="{9D8B030D-6E8A-4147-A177-3AD203B41FA5}">
                      <a16:colId xmlns:a16="http://schemas.microsoft.com/office/drawing/2014/main" val="3623532732"/>
                    </a:ext>
                  </a:extLst>
                </a:gridCol>
                <a:gridCol w="786190">
                  <a:extLst>
                    <a:ext uri="{9D8B030D-6E8A-4147-A177-3AD203B41FA5}">
                      <a16:colId xmlns:a16="http://schemas.microsoft.com/office/drawing/2014/main" val="746035582"/>
                    </a:ext>
                  </a:extLst>
                </a:gridCol>
                <a:gridCol w="786190">
                  <a:extLst>
                    <a:ext uri="{9D8B030D-6E8A-4147-A177-3AD203B41FA5}">
                      <a16:colId xmlns:a16="http://schemas.microsoft.com/office/drawing/2014/main" val="3336224203"/>
                    </a:ext>
                  </a:extLst>
                </a:gridCol>
              </a:tblGrid>
              <a:tr h="255952">
                <a:tc>
                  <a:txBody>
                    <a:bodyPr/>
                    <a:lstStyle/>
                    <a:p>
                      <a:pPr algn="l" fontAlgn="b">
                        <a:buNone/>
                      </a:pPr>
                      <a:r>
                        <a:rPr lang="en-US" sz="1050" b="1" u="none" strike="noStrike">
                          <a:solidFill>
                            <a:schemeClr val="bg1"/>
                          </a:solidFill>
                          <a:effectLst/>
                          <a:latin typeface="+mn-lt"/>
                          <a:ea typeface="Lato Regular" panose="020F0502020204030203" pitchFamily="34" charset="0"/>
                          <a:cs typeface="Lato Regular" panose="020F0502020204030203" pitchFamily="34" charset="0"/>
                        </a:rPr>
                        <a:t>INR Cr.</a:t>
                      </a:r>
                      <a:endParaRPr lang="en-US" sz="1050" b="1" i="0" u="none" strike="noStrike">
                        <a:solidFill>
                          <a:schemeClr val="bg1"/>
                        </a:solidFill>
                        <a:effectLst/>
                        <a:latin typeface="+mn-lt"/>
                        <a:ea typeface="Lato Regular" panose="020F0502020204030203" pitchFamily="34" charset="0"/>
                        <a:cs typeface="Lato Regular" panose="020F0502020204030203" pitchFamily="34" charset="0"/>
                      </a:endParaRPr>
                    </a:p>
                  </a:txBody>
                  <a:tcPr marL="144000" marR="6350" marT="6350" marB="0" anchor="ctr"/>
                </a:tc>
                <a:tc>
                  <a:txBody>
                    <a:bodyPr/>
                    <a:lstStyle/>
                    <a:p>
                      <a:pPr algn="ctr" fontAlgn="b">
                        <a:buNone/>
                      </a:pPr>
                      <a:r>
                        <a:rPr lang="en-US" sz="1050" b="1" u="none" strike="noStrike">
                          <a:solidFill>
                            <a:schemeClr val="bg1"/>
                          </a:solidFill>
                          <a:effectLst/>
                          <a:latin typeface="+mn-lt"/>
                          <a:ea typeface="Lato Regular" panose="020F0502020204030203" pitchFamily="34" charset="0"/>
                          <a:cs typeface="Lato Regular" panose="020F0502020204030203" pitchFamily="34" charset="0"/>
                        </a:rPr>
                        <a:t>FY24</a:t>
                      </a:r>
                      <a:endParaRPr lang="en-US" sz="1050" b="1" i="0" u="none" strike="noStrike">
                        <a:solidFill>
                          <a:schemeClr val="bg1"/>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050" b="1" u="none" strike="noStrike">
                          <a:solidFill>
                            <a:schemeClr val="bg1"/>
                          </a:solidFill>
                          <a:effectLst/>
                          <a:latin typeface="+mn-lt"/>
                          <a:ea typeface="Lato Regular" panose="020F0502020204030203" pitchFamily="34" charset="0"/>
                          <a:cs typeface="Lato Regular" panose="020F0502020204030203" pitchFamily="34" charset="0"/>
                        </a:rPr>
                        <a:t>FY25</a:t>
                      </a:r>
                      <a:endParaRPr lang="en-US" sz="1050" b="1" i="0" u="none" strike="noStrike">
                        <a:solidFill>
                          <a:schemeClr val="bg1"/>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050" b="1" u="none" strike="noStrike">
                          <a:solidFill>
                            <a:schemeClr val="bg1"/>
                          </a:solidFill>
                          <a:effectLst/>
                          <a:latin typeface="+mn-lt"/>
                          <a:ea typeface="Lato Regular"/>
                          <a:cs typeface="Lato Regular"/>
                        </a:rPr>
                        <a:t>FY26</a:t>
                      </a:r>
                    </a:p>
                  </a:txBody>
                  <a:tcPr marL="6350" marR="6350" marT="6350" marB="0" anchor="ctr"/>
                </a:tc>
                <a:tc>
                  <a:txBody>
                    <a:bodyPr/>
                    <a:lstStyle/>
                    <a:p>
                      <a:pPr algn="ctr" fontAlgn="b">
                        <a:buNone/>
                      </a:pPr>
                      <a:r>
                        <a:rPr lang="en-IN" sz="1050" b="1" i="0" u="none" strike="noStrike">
                          <a:solidFill>
                            <a:srgbClr val="FFFFFF"/>
                          </a:solidFill>
                          <a:effectLst/>
                          <a:latin typeface="+mn-lt"/>
                        </a:rPr>
                        <a:t>Q4FY25</a:t>
                      </a:r>
                      <a:endParaRPr lang="en-US"/>
                    </a:p>
                  </a:txBody>
                  <a:tcPr marL="0" marR="0" marT="0" marB="0" anchor="ctr"/>
                </a:tc>
                <a:tc>
                  <a:txBody>
                    <a:bodyPr/>
                    <a:lstStyle/>
                    <a:p>
                      <a:pPr algn="ctr" fontAlgn="b">
                        <a:buNone/>
                      </a:pPr>
                      <a:r>
                        <a:rPr lang="en-IN" sz="1050" b="1" i="0" u="none" strike="noStrike">
                          <a:solidFill>
                            <a:srgbClr val="FFFFFF"/>
                          </a:solidFill>
                          <a:effectLst/>
                          <a:latin typeface="+mn-lt"/>
                        </a:rPr>
                        <a:t>Q4FY26</a:t>
                      </a:r>
                    </a:p>
                  </a:txBody>
                  <a:tcPr marL="0" marR="0" marT="0" marB="0" anchor="ctr"/>
                </a:tc>
                <a:extLst>
                  <a:ext uri="{0D108BD9-81ED-4DB2-BD59-A6C34878D82A}">
                    <a16:rowId xmlns:a16="http://schemas.microsoft.com/office/drawing/2014/main" val="3735237806"/>
                  </a:ext>
                </a:extLst>
              </a:tr>
              <a:tr h="304727">
                <a:tc>
                  <a:txBody>
                    <a:bodyPr/>
                    <a:lstStyle/>
                    <a:p>
                      <a:pPr algn="l" fontAlgn="b">
                        <a:buNone/>
                      </a:pPr>
                      <a:r>
                        <a:rPr lang="en-IN" sz="1050" b="1" i="0" u="none" strike="noStrike">
                          <a:solidFill>
                            <a:srgbClr val="000000"/>
                          </a:solidFill>
                          <a:effectLst/>
                          <a:latin typeface="+mn-lt"/>
                          <a:ea typeface="Lato Regular" panose="020F0502020204030203" pitchFamily="34" charset="0"/>
                          <a:cs typeface="Lato Regular" panose="020F0502020204030203" pitchFamily="34" charset="0"/>
                        </a:rPr>
                        <a:t>Net Revenue</a:t>
                      </a:r>
                    </a:p>
                  </a:txBody>
                  <a:tcPr marL="144000" marR="0" marT="0" marB="0" anchor="ctr"/>
                </a:tc>
                <a:tc>
                  <a:txBody>
                    <a:bodyPr/>
                    <a:lstStyle/>
                    <a:p>
                      <a:pPr algn="ctr" fontAlgn="b">
                        <a:buNone/>
                      </a:pPr>
                      <a:r>
                        <a:rPr lang="en-IN" sz="1050" b="1" i="0" u="none" strike="noStrike">
                          <a:solidFill>
                            <a:srgbClr val="000000"/>
                          </a:solidFill>
                          <a:effectLst/>
                          <a:latin typeface="+mn-lt"/>
                        </a:rPr>
                        <a:t>1.6 </a:t>
                      </a:r>
                    </a:p>
                  </a:txBody>
                  <a:tcPr marL="0" marR="0" marT="0" marB="0" anchor="ctr"/>
                </a:tc>
                <a:tc>
                  <a:txBody>
                    <a:bodyPr/>
                    <a:lstStyle/>
                    <a:p>
                      <a:pPr algn="ctr" fontAlgn="b">
                        <a:buNone/>
                      </a:pPr>
                      <a:r>
                        <a:rPr lang="en-IN" sz="1050" b="1" i="0" u="none" strike="noStrike">
                          <a:solidFill>
                            <a:srgbClr val="000000"/>
                          </a:solidFill>
                          <a:effectLst/>
                          <a:latin typeface="+mn-lt"/>
                        </a:rPr>
                        <a:t>3.2 </a:t>
                      </a:r>
                    </a:p>
                  </a:txBody>
                  <a:tcPr marL="0" marR="0" marT="0" marB="0" anchor="ctr"/>
                </a:tc>
                <a:tc>
                  <a:txBody>
                    <a:bodyPr/>
                    <a:lstStyle/>
                    <a:p>
                      <a:pPr algn="ctr" fontAlgn="b">
                        <a:buNone/>
                      </a:pPr>
                      <a:r>
                        <a:rPr lang="en-US" sz="1050" b="1" i="0" u="none" strike="noStrike">
                          <a:solidFill>
                            <a:srgbClr val="000000"/>
                          </a:solidFill>
                          <a:effectLst/>
                          <a:latin typeface="+mn-lt"/>
                        </a:rPr>
                        <a:t>4.1</a:t>
                      </a:r>
                    </a:p>
                  </a:txBody>
                  <a:tcPr marL="0" marR="0" marT="0" marB="0" anchor="ctr"/>
                </a:tc>
                <a:tc>
                  <a:txBody>
                    <a:bodyPr/>
                    <a:lstStyle/>
                    <a:p>
                      <a:pPr algn="ctr" fontAlgn="b">
                        <a:buNone/>
                      </a:pPr>
                      <a:r>
                        <a:rPr lang="en-US" sz="1050" b="1" i="0" u="none" strike="noStrike">
                          <a:solidFill>
                            <a:srgbClr val="000000"/>
                          </a:solidFill>
                          <a:effectLst/>
                          <a:latin typeface="+mn-lt"/>
                        </a:rPr>
                        <a:t>1.1</a:t>
                      </a:r>
                    </a:p>
                  </a:txBody>
                  <a:tcPr marL="0" marR="0" marT="0" marB="0" anchor="ctr"/>
                </a:tc>
                <a:tc>
                  <a:txBody>
                    <a:bodyPr/>
                    <a:lstStyle/>
                    <a:p>
                      <a:pPr algn="ctr" fontAlgn="b">
                        <a:buNone/>
                      </a:pPr>
                      <a:r>
                        <a:rPr lang="en-US" sz="1050" b="1" i="0" u="none" strike="noStrike">
                          <a:solidFill>
                            <a:srgbClr val="000000"/>
                          </a:solidFill>
                          <a:effectLst/>
                          <a:latin typeface="+mn-lt"/>
                        </a:rPr>
                        <a:t>0.87</a:t>
                      </a:r>
                    </a:p>
                  </a:txBody>
                  <a:tcPr marL="0" marR="0" marT="0" marB="0" anchor="ctr"/>
                </a:tc>
                <a:extLst>
                  <a:ext uri="{0D108BD9-81ED-4DB2-BD59-A6C34878D82A}">
                    <a16:rowId xmlns:a16="http://schemas.microsoft.com/office/drawing/2014/main" val="2159784742"/>
                  </a:ext>
                </a:extLst>
              </a:tr>
              <a:tr h="304727">
                <a:tc>
                  <a:txBody>
                    <a:bodyPr/>
                    <a:lstStyle/>
                    <a:p>
                      <a:pPr algn="l" fontAlgn="b">
                        <a:buNone/>
                      </a:pPr>
                      <a:r>
                        <a:rPr lang="en-IN" sz="1050" b="0" i="0" u="none" strike="noStrike">
                          <a:solidFill>
                            <a:srgbClr val="000000"/>
                          </a:solidFill>
                          <a:effectLst/>
                          <a:latin typeface="+mn-lt"/>
                          <a:ea typeface="Lato Regular" panose="020F0502020204030203" pitchFamily="34" charset="0"/>
                          <a:cs typeface="Lato Regular" panose="020F0502020204030203" pitchFamily="34" charset="0"/>
                        </a:rPr>
                        <a:t>% Growth </a:t>
                      </a:r>
                    </a:p>
                  </a:txBody>
                  <a:tcPr marL="144000" marR="0" marT="0" marB="0" anchor="ctr"/>
                </a:tc>
                <a:tc>
                  <a:txBody>
                    <a:bodyPr/>
                    <a:lstStyle/>
                    <a:p>
                      <a:pPr algn="ctr" fontAlgn="b">
                        <a:buNone/>
                      </a:pPr>
                      <a:r>
                        <a:rPr lang="en-IN" sz="1050" b="0" i="0" u="none" strike="noStrike">
                          <a:solidFill>
                            <a:srgbClr val="000000"/>
                          </a:solidFill>
                          <a:effectLst/>
                          <a:latin typeface="+mn-lt"/>
                        </a:rPr>
                        <a:t>23.9%</a:t>
                      </a:r>
                    </a:p>
                  </a:txBody>
                  <a:tcPr marL="0" marR="0" marT="0" marB="0" anchor="ctr"/>
                </a:tc>
                <a:tc>
                  <a:txBody>
                    <a:bodyPr/>
                    <a:lstStyle/>
                    <a:p>
                      <a:pPr algn="ctr" fontAlgn="b">
                        <a:buNone/>
                      </a:pPr>
                      <a:r>
                        <a:rPr lang="en-IN" sz="1050" b="0" i="0" u="none" strike="noStrike">
                          <a:solidFill>
                            <a:srgbClr val="000000"/>
                          </a:solidFill>
                          <a:effectLst/>
                          <a:latin typeface="+mn-lt"/>
                        </a:rPr>
                        <a:t>96.6%</a:t>
                      </a:r>
                    </a:p>
                  </a:txBody>
                  <a:tcPr marL="0" marR="0" marT="0" marB="0" anchor="ctr"/>
                </a:tc>
                <a:tc>
                  <a:txBody>
                    <a:bodyPr/>
                    <a:lstStyle/>
                    <a:p>
                      <a:pPr algn="ctr" fontAlgn="b">
                        <a:buNone/>
                      </a:pPr>
                      <a:r>
                        <a:rPr lang="en-US" sz="1050" b="0" i="0" u="none" strike="noStrike">
                          <a:solidFill>
                            <a:srgbClr val="000000"/>
                          </a:solidFill>
                          <a:effectLst/>
                          <a:latin typeface="+mn-lt"/>
                        </a:rPr>
                        <a:t>29.4%</a:t>
                      </a:r>
                    </a:p>
                  </a:txBody>
                  <a:tcPr marL="0" marR="0" marT="0" marB="0" anchor="ctr"/>
                </a:tc>
                <a:tc>
                  <a:txBody>
                    <a:bodyPr/>
                    <a:lstStyle/>
                    <a:p>
                      <a:pPr algn="ctr" fontAlgn="b">
                        <a:buNone/>
                      </a:pPr>
                      <a:r>
                        <a:rPr lang="en-US" sz="1050" b="0" i="0" u="none" strike="noStrike">
                          <a:solidFill>
                            <a:srgbClr val="000000"/>
                          </a:solidFill>
                          <a:effectLst/>
                          <a:latin typeface="+mn-lt"/>
                        </a:rPr>
                        <a:t>84.8%</a:t>
                      </a:r>
                    </a:p>
                  </a:txBody>
                  <a:tcPr marL="0" marR="0" marT="0" marB="0" anchor="ctr"/>
                </a:tc>
                <a:tc>
                  <a:txBody>
                    <a:bodyPr/>
                    <a:lstStyle/>
                    <a:p>
                      <a:pPr algn="ctr" fontAlgn="b">
                        <a:buNone/>
                      </a:pPr>
                      <a:r>
                        <a:rPr lang="en-US" sz="1050" b="0" i="0" u="none" strike="noStrike">
                          <a:solidFill>
                            <a:srgbClr val="000000"/>
                          </a:solidFill>
                          <a:effectLst/>
                          <a:latin typeface="+mn-lt"/>
                        </a:rPr>
                        <a:t>-18.9%</a:t>
                      </a:r>
                    </a:p>
                  </a:txBody>
                  <a:tcPr marL="0" marR="0" marT="0" marB="0" anchor="ctr"/>
                </a:tc>
                <a:extLst>
                  <a:ext uri="{0D108BD9-81ED-4DB2-BD59-A6C34878D82A}">
                    <a16:rowId xmlns:a16="http://schemas.microsoft.com/office/drawing/2014/main" val="2809398452"/>
                  </a:ext>
                </a:extLst>
              </a:tr>
              <a:tr h="304727">
                <a:tc>
                  <a:txBody>
                    <a:bodyPr/>
                    <a:lstStyle/>
                    <a:p>
                      <a:pPr algn="l" fontAlgn="t">
                        <a:buNone/>
                      </a:pPr>
                      <a:r>
                        <a:rPr lang="en-IN" sz="1050" b="1" i="0" u="none" strike="noStrike">
                          <a:solidFill>
                            <a:srgbClr val="000000"/>
                          </a:solidFill>
                          <a:effectLst/>
                          <a:latin typeface="+mn-lt"/>
                          <a:ea typeface="Lato Regular" panose="020F0502020204030203" pitchFamily="34" charset="0"/>
                          <a:cs typeface="Lato Regular" panose="020F0502020204030203" pitchFamily="34" charset="0"/>
                        </a:rPr>
                        <a:t>Gross Profit</a:t>
                      </a:r>
                    </a:p>
                  </a:txBody>
                  <a:tcPr marL="144000" marR="0" marT="0" marB="0" anchor="ctr"/>
                </a:tc>
                <a:tc>
                  <a:txBody>
                    <a:bodyPr/>
                    <a:lstStyle/>
                    <a:p>
                      <a:pPr algn="ctr" fontAlgn="b">
                        <a:buNone/>
                      </a:pPr>
                      <a:r>
                        <a:rPr lang="en-IN" sz="1050" b="1" i="0" u="none" strike="noStrike">
                          <a:solidFill>
                            <a:srgbClr val="000000"/>
                          </a:solidFill>
                          <a:effectLst/>
                          <a:latin typeface="+mn-lt"/>
                        </a:rPr>
                        <a:t>1.4 </a:t>
                      </a:r>
                    </a:p>
                  </a:txBody>
                  <a:tcPr marL="0" marR="0" marT="0" marB="0" anchor="ctr"/>
                </a:tc>
                <a:tc>
                  <a:txBody>
                    <a:bodyPr/>
                    <a:lstStyle/>
                    <a:p>
                      <a:pPr algn="ctr" fontAlgn="b">
                        <a:buNone/>
                      </a:pPr>
                      <a:r>
                        <a:rPr lang="en-IN" sz="1050" b="1" i="0" u="none" strike="noStrike">
                          <a:solidFill>
                            <a:srgbClr val="000000"/>
                          </a:solidFill>
                          <a:effectLst/>
                          <a:latin typeface="+mn-lt"/>
                        </a:rPr>
                        <a:t>2.6 </a:t>
                      </a:r>
                    </a:p>
                  </a:txBody>
                  <a:tcPr marL="0" marR="0" marT="0" marB="0" anchor="ctr"/>
                </a:tc>
                <a:tc>
                  <a:txBody>
                    <a:bodyPr/>
                    <a:lstStyle/>
                    <a:p>
                      <a:pPr algn="ctr" fontAlgn="b">
                        <a:buNone/>
                      </a:pPr>
                      <a:r>
                        <a:rPr lang="en-US" sz="1050" b="1" i="0" u="none" strike="noStrike">
                          <a:solidFill>
                            <a:srgbClr val="000000"/>
                          </a:solidFill>
                          <a:effectLst/>
                          <a:latin typeface="+mn-lt"/>
                        </a:rPr>
                        <a:t>3.7</a:t>
                      </a:r>
                    </a:p>
                  </a:txBody>
                  <a:tcPr marL="0" marR="0" marT="0" marB="0" anchor="ctr"/>
                </a:tc>
                <a:tc>
                  <a:txBody>
                    <a:bodyPr/>
                    <a:lstStyle/>
                    <a:p>
                      <a:pPr algn="ctr" fontAlgn="b">
                        <a:buNone/>
                      </a:pPr>
                      <a:r>
                        <a:rPr lang="en-US" sz="1050" b="1" i="0" u="none" strike="noStrike">
                          <a:solidFill>
                            <a:srgbClr val="000000"/>
                          </a:solidFill>
                          <a:effectLst/>
                          <a:latin typeface="+mn-lt"/>
                        </a:rPr>
                        <a:t>0.9</a:t>
                      </a:r>
                    </a:p>
                  </a:txBody>
                  <a:tcPr marL="0" marR="0" marT="0" marB="0" anchor="ctr"/>
                </a:tc>
                <a:tc>
                  <a:txBody>
                    <a:bodyPr/>
                    <a:lstStyle/>
                    <a:p>
                      <a:pPr algn="ctr" fontAlgn="b">
                        <a:buNone/>
                      </a:pPr>
                      <a:r>
                        <a:rPr lang="en-US" sz="1050" b="1" i="0" u="none" strike="noStrike">
                          <a:solidFill>
                            <a:srgbClr val="000000"/>
                          </a:solidFill>
                          <a:effectLst/>
                          <a:latin typeface="+mn-lt"/>
                        </a:rPr>
                        <a:t>0.82</a:t>
                      </a:r>
                    </a:p>
                  </a:txBody>
                  <a:tcPr marL="0" marR="0" marT="0" marB="0" anchor="ctr"/>
                </a:tc>
                <a:extLst>
                  <a:ext uri="{0D108BD9-81ED-4DB2-BD59-A6C34878D82A}">
                    <a16:rowId xmlns:a16="http://schemas.microsoft.com/office/drawing/2014/main" val="4076501595"/>
                  </a:ext>
                </a:extLst>
              </a:tr>
              <a:tr h="304727">
                <a:tc>
                  <a:txBody>
                    <a:bodyPr/>
                    <a:lstStyle/>
                    <a:p>
                      <a:pPr algn="l" fontAlgn="t">
                        <a:buNone/>
                      </a:pPr>
                      <a:r>
                        <a:rPr lang="en-IN" sz="1050" b="0" i="0" u="none" strike="noStrike">
                          <a:solidFill>
                            <a:srgbClr val="000000"/>
                          </a:solidFill>
                          <a:effectLst/>
                          <a:latin typeface="+mn-lt"/>
                          <a:ea typeface="Lato Regular" panose="020F0502020204030203" pitchFamily="34" charset="0"/>
                          <a:cs typeface="Lato Regular" panose="020F0502020204030203" pitchFamily="34" charset="0"/>
                        </a:rPr>
                        <a:t>% Gross Margin</a:t>
                      </a:r>
                    </a:p>
                  </a:txBody>
                  <a:tcPr marL="144000" marR="0" marT="0" marB="0" anchor="ctr"/>
                </a:tc>
                <a:tc>
                  <a:txBody>
                    <a:bodyPr/>
                    <a:lstStyle/>
                    <a:p>
                      <a:pPr algn="ctr" fontAlgn="b">
                        <a:buNone/>
                      </a:pPr>
                      <a:r>
                        <a:rPr lang="en-IN" sz="1050" b="0" i="0" u="none" strike="noStrike">
                          <a:solidFill>
                            <a:srgbClr val="000000"/>
                          </a:solidFill>
                          <a:effectLst/>
                          <a:latin typeface="+mn-lt"/>
                        </a:rPr>
                        <a:t>89.0%</a:t>
                      </a:r>
                    </a:p>
                  </a:txBody>
                  <a:tcPr marL="0" marR="0" marT="0" marB="0" anchor="ctr"/>
                </a:tc>
                <a:tc>
                  <a:txBody>
                    <a:bodyPr/>
                    <a:lstStyle/>
                    <a:p>
                      <a:pPr algn="ctr" fontAlgn="b">
                        <a:buNone/>
                      </a:pPr>
                      <a:r>
                        <a:rPr lang="en-IN" sz="1050" b="0" i="0" u="none" strike="noStrike">
                          <a:solidFill>
                            <a:srgbClr val="000000"/>
                          </a:solidFill>
                          <a:effectLst/>
                          <a:latin typeface="+mn-lt"/>
                        </a:rPr>
                        <a:t>81.6%</a:t>
                      </a:r>
                    </a:p>
                  </a:txBody>
                  <a:tcPr marL="0" marR="0" marT="0" marB="0" anchor="ctr"/>
                </a:tc>
                <a:tc>
                  <a:txBody>
                    <a:bodyPr/>
                    <a:lstStyle/>
                    <a:p>
                      <a:pPr algn="ctr" fontAlgn="b">
                        <a:buNone/>
                      </a:pPr>
                      <a:r>
                        <a:rPr lang="en-US" sz="1050" b="0" i="0" u="none" strike="noStrike">
                          <a:solidFill>
                            <a:srgbClr val="000000"/>
                          </a:solidFill>
                          <a:effectLst/>
                          <a:latin typeface="+mn-lt"/>
                        </a:rPr>
                        <a:t>89.1%</a:t>
                      </a:r>
                    </a:p>
                  </a:txBody>
                  <a:tcPr marL="0" marR="0" marT="0" marB="0" anchor="ctr"/>
                </a:tc>
                <a:tc>
                  <a:txBody>
                    <a:bodyPr/>
                    <a:lstStyle/>
                    <a:p>
                      <a:pPr algn="ctr" fontAlgn="b">
                        <a:buNone/>
                      </a:pPr>
                      <a:r>
                        <a:rPr lang="en-US" sz="1050" b="0" i="0" u="none" strike="noStrike">
                          <a:solidFill>
                            <a:srgbClr val="000000"/>
                          </a:solidFill>
                          <a:effectLst/>
                          <a:latin typeface="+mn-lt"/>
                        </a:rPr>
                        <a:t>85.9%</a:t>
                      </a:r>
                    </a:p>
                  </a:txBody>
                  <a:tcPr marL="0" marR="0" marT="0" marB="0" anchor="ctr"/>
                </a:tc>
                <a:tc>
                  <a:txBody>
                    <a:bodyPr/>
                    <a:lstStyle/>
                    <a:p>
                      <a:pPr algn="ctr" fontAlgn="b">
                        <a:buNone/>
                      </a:pPr>
                      <a:r>
                        <a:rPr lang="en-US" sz="1050" b="0" i="0" u="none" strike="noStrike">
                          <a:solidFill>
                            <a:srgbClr val="000000"/>
                          </a:solidFill>
                          <a:effectLst/>
                          <a:latin typeface="+mn-lt"/>
                        </a:rPr>
                        <a:t>94.2%</a:t>
                      </a:r>
                    </a:p>
                  </a:txBody>
                  <a:tcPr marL="0" marR="0" marT="0" marB="0" anchor="ctr"/>
                </a:tc>
                <a:extLst>
                  <a:ext uri="{0D108BD9-81ED-4DB2-BD59-A6C34878D82A}">
                    <a16:rowId xmlns:a16="http://schemas.microsoft.com/office/drawing/2014/main" val="3179895044"/>
                  </a:ext>
                </a:extLst>
              </a:tr>
              <a:tr h="304727">
                <a:tc>
                  <a:txBody>
                    <a:bodyPr/>
                    <a:lstStyle/>
                    <a:p>
                      <a:pPr algn="l" fontAlgn="t">
                        <a:buNone/>
                      </a:pPr>
                      <a:r>
                        <a:rPr lang="en-IN" sz="1050" b="1" i="0" u="none" strike="noStrike">
                          <a:solidFill>
                            <a:srgbClr val="000000"/>
                          </a:solidFill>
                          <a:effectLst/>
                          <a:latin typeface="+mn-lt"/>
                          <a:ea typeface="Lato Regular" panose="020F0502020204030203" pitchFamily="34" charset="0"/>
                          <a:cs typeface="Lato Regular" panose="020F0502020204030203" pitchFamily="34" charset="0"/>
                        </a:rPr>
                        <a:t>EBITDA</a:t>
                      </a:r>
                    </a:p>
                  </a:txBody>
                  <a:tcPr marL="144000" marR="0" marT="0" marB="0" anchor="ctr"/>
                </a:tc>
                <a:tc>
                  <a:txBody>
                    <a:bodyPr/>
                    <a:lstStyle/>
                    <a:p>
                      <a:pPr algn="ctr" fontAlgn="b">
                        <a:buNone/>
                      </a:pPr>
                      <a:r>
                        <a:rPr lang="en-IN" sz="1050" b="1" i="0" u="none" strike="noStrike">
                          <a:solidFill>
                            <a:srgbClr val="000000"/>
                          </a:solidFill>
                          <a:effectLst/>
                          <a:latin typeface="+mn-lt"/>
                        </a:rPr>
                        <a:t>2.2 </a:t>
                      </a:r>
                    </a:p>
                  </a:txBody>
                  <a:tcPr marL="0" marR="0" marT="0" marB="0" anchor="ctr"/>
                </a:tc>
                <a:tc>
                  <a:txBody>
                    <a:bodyPr/>
                    <a:lstStyle/>
                    <a:p>
                      <a:pPr algn="ctr" fontAlgn="b">
                        <a:buNone/>
                      </a:pPr>
                      <a:r>
                        <a:rPr lang="en-IN" sz="1050" b="1" i="0" u="none" strike="noStrike">
                          <a:solidFill>
                            <a:srgbClr val="000000"/>
                          </a:solidFill>
                          <a:effectLst/>
                          <a:latin typeface="+mn-lt"/>
                        </a:rPr>
                        <a:t>3.8 </a:t>
                      </a:r>
                    </a:p>
                  </a:txBody>
                  <a:tcPr marL="0" marR="0" marT="0" marB="0" anchor="ctr"/>
                </a:tc>
                <a:tc>
                  <a:txBody>
                    <a:bodyPr/>
                    <a:lstStyle/>
                    <a:p>
                      <a:pPr algn="ctr" fontAlgn="b">
                        <a:buNone/>
                      </a:pPr>
                      <a:r>
                        <a:rPr lang="en-US" sz="1050" b="1" i="0" u="none" strike="noStrike">
                          <a:solidFill>
                            <a:srgbClr val="000000"/>
                          </a:solidFill>
                          <a:effectLst/>
                          <a:latin typeface="+mn-lt"/>
                        </a:rPr>
                        <a:t>-5.3</a:t>
                      </a:r>
                    </a:p>
                  </a:txBody>
                  <a:tcPr marL="0" marR="0" marT="0" marB="0" anchor="ctr"/>
                </a:tc>
                <a:tc>
                  <a:txBody>
                    <a:bodyPr/>
                    <a:lstStyle/>
                    <a:p>
                      <a:pPr algn="ctr" fontAlgn="b">
                        <a:buNone/>
                      </a:pPr>
                      <a:r>
                        <a:rPr lang="en-US" sz="1050" b="1" i="0" u="none" strike="noStrike">
                          <a:solidFill>
                            <a:srgbClr val="000000"/>
                          </a:solidFill>
                          <a:effectLst/>
                          <a:latin typeface="+mn-lt"/>
                        </a:rPr>
                        <a:t>-1.0</a:t>
                      </a:r>
                    </a:p>
                  </a:txBody>
                  <a:tcPr marL="0" marR="0" marT="0" marB="0" anchor="ctr"/>
                </a:tc>
                <a:tc>
                  <a:txBody>
                    <a:bodyPr/>
                    <a:lstStyle/>
                    <a:p>
                      <a:pPr algn="ctr" fontAlgn="b">
                        <a:buNone/>
                      </a:pPr>
                      <a:r>
                        <a:rPr lang="en-US" sz="1050" b="1" i="0" u="none" strike="noStrike">
                          <a:solidFill>
                            <a:srgbClr val="000000"/>
                          </a:solidFill>
                          <a:effectLst/>
                          <a:latin typeface="+mn-lt"/>
                        </a:rPr>
                        <a:t>-1.28</a:t>
                      </a:r>
                    </a:p>
                  </a:txBody>
                  <a:tcPr marL="0" marR="0" marT="0" marB="0" anchor="ctr"/>
                </a:tc>
                <a:extLst>
                  <a:ext uri="{0D108BD9-81ED-4DB2-BD59-A6C34878D82A}">
                    <a16:rowId xmlns:a16="http://schemas.microsoft.com/office/drawing/2014/main" val="3498926890"/>
                  </a:ext>
                </a:extLst>
              </a:tr>
              <a:tr h="304727">
                <a:tc>
                  <a:txBody>
                    <a:bodyPr/>
                    <a:lstStyle/>
                    <a:p>
                      <a:pPr algn="l" fontAlgn="b">
                        <a:buNone/>
                      </a:pPr>
                      <a:r>
                        <a:rPr lang="en-IN" sz="1050" b="0" i="0" u="none" strike="noStrike">
                          <a:solidFill>
                            <a:srgbClr val="000000"/>
                          </a:solidFill>
                          <a:effectLst/>
                          <a:latin typeface="+mn-lt"/>
                          <a:ea typeface="Lato Regular" panose="020F0502020204030203" pitchFamily="34" charset="0"/>
                          <a:cs typeface="Lato Regular" panose="020F0502020204030203" pitchFamily="34" charset="0"/>
                        </a:rPr>
                        <a:t>% EBITDA</a:t>
                      </a:r>
                    </a:p>
                  </a:txBody>
                  <a:tcPr marL="144000" marR="0" marT="0" marB="0" anchor="ctr"/>
                </a:tc>
                <a:tc>
                  <a:txBody>
                    <a:bodyPr/>
                    <a:lstStyle/>
                    <a:p>
                      <a:pPr algn="ctr" fontAlgn="b">
                        <a:buNone/>
                      </a:pPr>
                      <a:r>
                        <a:rPr lang="en-IN" sz="1050" b="0" i="0" u="none" strike="noStrike">
                          <a:solidFill>
                            <a:srgbClr val="000000"/>
                          </a:solidFill>
                          <a:effectLst/>
                          <a:latin typeface="+mn-lt"/>
                        </a:rPr>
                        <a:t>-138.6%</a:t>
                      </a:r>
                    </a:p>
                  </a:txBody>
                  <a:tcPr marL="0" marR="0" marT="0" marB="0" anchor="ctr"/>
                </a:tc>
                <a:tc>
                  <a:txBody>
                    <a:bodyPr/>
                    <a:lstStyle/>
                    <a:p>
                      <a:pPr algn="ctr" fontAlgn="b">
                        <a:buNone/>
                      </a:pPr>
                      <a:r>
                        <a:rPr lang="en-IN" sz="1050" b="0" i="0" u="none" strike="noStrike">
                          <a:solidFill>
                            <a:srgbClr val="000000"/>
                          </a:solidFill>
                          <a:effectLst/>
                          <a:latin typeface="+mn-lt"/>
                        </a:rPr>
                        <a:t>-119.4%</a:t>
                      </a:r>
                    </a:p>
                  </a:txBody>
                  <a:tcPr marL="0" marR="0" marT="0" marB="0" anchor="ctr"/>
                </a:tc>
                <a:tc>
                  <a:txBody>
                    <a:bodyPr/>
                    <a:lstStyle/>
                    <a:p>
                      <a:pPr algn="ctr" fontAlgn="b">
                        <a:buNone/>
                      </a:pPr>
                      <a:r>
                        <a:rPr lang="en-US" sz="1050" b="0" i="0" u="none" strike="noStrike">
                          <a:solidFill>
                            <a:srgbClr val="000000"/>
                          </a:solidFill>
                          <a:effectLst/>
                          <a:latin typeface="+mn-lt"/>
                        </a:rPr>
                        <a:t>-128.0%</a:t>
                      </a:r>
                    </a:p>
                  </a:txBody>
                  <a:tcPr marL="0" marR="0" marT="0" marB="0" anchor="ctr"/>
                </a:tc>
                <a:tc>
                  <a:txBody>
                    <a:bodyPr/>
                    <a:lstStyle/>
                    <a:p>
                      <a:pPr algn="ctr" fontAlgn="b">
                        <a:buNone/>
                      </a:pPr>
                      <a:r>
                        <a:rPr lang="en-US" sz="1050" b="0" i="0" u="none" strike="noStrike">
                          <a:solidFill>
                            <a:srgbClr val="000000"/>
                          </a:solidFill>
                          <a:effectLst/>
                          <a:latin typeface="+mn-lt"/>
                        </a:rPr>
                        <a:t>-92.4%</a:t>
                      </a:r>
                    </a:p>
                  </a:txBody>
                  <a:tcPr marL="0" marR="0" marT="0" marB="0" anchor="ctr"/>
                </a:tc>
                <a:tc>
                  <a:txBody>
                    <a:bodyPr/>
                    <a:lstStyle/>
                    <a:p>
                      <a:pPr algn="ctr" fontAlgn="b">
                        <a:buNone/>
                      </a:pPr>
                      <a:r>
                        <a:rPr lang="en-US" sz="1050" b="0" i="0" u="none" strike="noStrike">
                          <a:solidFill>
                            <a:srgbClr val="000000"/>
                          </a:solidFill>
                          <a:effectLst/>
                          <a:latin typeface="+mn-lt"/>
                        </a:rPr>
                        <a:t>-147.1%</a:t>
                      </a:r>
                    </a:p>
                  </a:txBody>
                  <a:tcPr marL="0" marR="0" marT="0" marB="0" anchor="ctr"/>
                </a:tc>
                <a:extLst>
                  <a:ext uri="{0D108BD9-81ED-4DB2-BD59-A6C34878D82A}">
                    <a16:rowId xmlns:a16="http://schemas.microsoft.com/office/drawing/2014/main" val="3759208202"/>
                  </a:ext>
                </a:extLst>
              </a:tr>
            </a:tbl>
          </a:graphicData>
        </a:graphic>
      </p:graphicFrame>
      <p:cxnSp>
        <p:nvCxnSpPr>
          <p:cNvPr id="10" name="Straight Connector 9">
            <a:extLst>
              <a:ext uri="{FF2B5EF4-FFF2-40B4-BE49-F238E27FC236}">
                <a16:creationId xmlns:a16="http://schemas.microsoft.com/office/drawing/2014/main" id="{47C8D8C5-1DA0-15E9-31AA-5C08F2BA4EAC}"/>
              </a:ext>
            </a:extLst>
          </p:cNvPr>
          <p:cNvCxnSpPr>
            <a:cxnSpLocks/>
          </p:cNvCxnSpPr>
          <p:nvPr/>
        </p:nvCxnSpPr>
        <p:spPr>
          <a:xfrm>
            <a:off x="5653533" y="536026"/>
            <a:ext cx="0" cy="320217"/>
          </a:xfrm>
          <a:prstGeom prst="line">
            <a:avLst/>
          </a:prstGeom>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DE2D6A8-1CB6-BDDB-9347-44A341F781B3}"/>
              </a:ext>
            </a:extLst>
          </p:cNvPr>
          <p:cNvSpPr txBox="1"/>
          <p:nvPr/>
        </p:nvSpPr>
        <p:spPr>
          <a:xfrm>
            <a:off x="5539984" y="1433554"/>
            <a:ext cx="3607078" cy="227883"/>
          </a:xfrm>
          <a:prstGeom prst="rect">
            <a:avLst/>
          </a:prstGeom>
          <a:noFill/>
        </p:spPr>
        <p:txBody>
          <a:bodyPr wrap="square" lIns="0" tIns="0" rIns="0" bIns="0" rtlCol="0">
            <a:spAutoFit/>
          </a:bodyPr>
          <a:lstStyle/>
          <a:p>
            <a:r>
              <a:rPr lang="en-IN" sz="1481" b="1">
                <a:solidFill>
                  <a:schemeClr val="tx2"/>
                </a:solidFill>
                <a:ea typeface="Lato Regular" panose="020F0502020204030203" pitchFamily="34" charset="0"/>
                <a:cs typeface="Lato Regular" panose="020F0502020204030203" pitchFamily="34" charset="0"/>
              </a:rPr>
              <a:t>Key Performance Indicators</a:t>
            </a:r>
          </a:p>
        </p:txBody>
      </p:sp>
      <p:graphicFrame>
        <p:nvGraphicFramePr>
          <p:cNvPr id="16" name="Table 15">
            <a:extLst>
              <a:ext uri="{FF2B5EF4-FFF2-40B4-BE49-F238E27FC236}">
                <a16:creationId xmlns:a16="http://schemas.microsoft.com/office/drawing/2014/main" id="{D4F4763D-7F3F-6D0D-FF99-31F5770C6A8A}"/>
              </a:ext>
            </a:extLst>
          </p:cNvPr>
          <p:cNvGraphicFramePr>
            <a:graphicFrameLocks noGrp="1"/>
          </p:cNvGraphicFramePr>
          <p:nvPr>
            <p:extLst>
              <p:ext uri="{D42A27DB-BD31-4B8C-83A1-F6EECF244321}">
                <p14:modId xmlns:p14="http://schemas.microsoft.com/office/powerpoint/2010/main" val="1196365672"/>
              </p:ext>
            </p:extLst>
          </p:nvPr>
        </p:nvGraphicFramePr>
        <p:xfrm>
          <a:off x="5539984" y="1840227"/>
          <a:ext cx="5833725" cy="849117"/>
        </p:xfrm>
        <a:graphic>
          <a:graphicData uri="http://schemas.openxmlformats.org/drawingml/2006/table">
            <a:tbl>
              <a:tblPr firstRow="1" bandRow="1">
                <a:tableStyleId>{69012ECD-51FC-41F1-AA8D-1B2483CD663E}</a:tableStyleId>
              </a:tblPr>
              <a:tblGrid>
                <a:gridCol w="2032635">
                  <a:extLst>
                    <a:ext uri="{9D8B030D-6E8A-4147-A177-3AD203B41FA5}">
                      <a16:colId xmlns:a16="http://schemas.microsoft.com/office/drawing/2014/main" val="3001066899"/>
                    </a:ext>
                  </a:extLst>
                </a:gridCol>
                <a:gridCol w="911806">
                  <a:extLst>
                    <a:ext uri="{9D8B030D-6E8A-4147-A177-3AD203B41FA5}">
                      <a16:colId xmlns:a16="http://schemas.microsoft.com/office/drawing/2014/main" val="700748351"/>
                    </a:ext>
                  </a:extLst>
                </a:gridCol>
                <a:gridCol w="722321">
                  <a:extLst>
                    <a:ext uri="{9D8B030D-6E8A-4147-A177-3AD203B41FA5}">
                      <a16:colId xmlns:a16="http://schemas.microsoft.com/office/drawing/2014/main" val="3274968397"/>
                    </a:ext>
                  </a:extLst>
                </a:gridCol>
                <a:gridCol w="722321">
                  <a:extLst>
                    <a:ext uri="{9D8B030D-6E8A-4147-A177-3AD203B41FA5}">
                      <a16:colId xmlns:a16="http://schemas.microsoft.com/office/drawing/2014/main" val="3623532732"/>
                    </a:ext>
                  </a:extLst>
                </a:gridCol>
                <a:gridCol w="722321">
                  <a:extLst>
                    <a:ext uri="{9D8B030D-6E8A-4147-A177-3AD203B41FA5}">
                      <a16:colId xmlns:a16="http://schemas.microsoft.com/office/drawing/2014/main" val="746035582"/>
                    </a:ext>
                  </a:extLst>
                </a:gridCol>
                <a:gridCol w="722321">
                  <a:extLst>
                    <a:ext uri="{9D8B030D-6E8A-4147-A177-3AD203B41FA5}">
                      <a16:colId xmlns:a16="http://schemas.microsoft.com/office/drawing/2014/main" val="2799431461"/>
                    </a:ext>
                  </a:extLst>
                </a:gridCol>
              </a:tblGrid>
              <a:tr h="262575">
                <a:tc>
                  <a:txBody>
                    <a:bodyPr/>
                    <a:lstStyle/>
                    <a:p>
                      <a:pPr algn="l" fontAlgn="b">
                        <a:buNone/>
                      </a:pPr>
                      <a:r>
                        <a:rPr lang="en-US" sz="1050" b="1" u="none" strike="noStrike">
                          <a:solidFill>
                            <a:schemeClr val="bg1"/>
                          </a:solidFill>
                          <a:effectLst/>
                          <a:latin typeface="+mn-lt"/>
                          <a:ea typeface="Lato Regular" panose="020F0502020204030203" pitchFamily="34" charset="0"/>
                          <a:cs typeface="Lato Regular" panose="020F0502020204030203" pitchFamily="34" charset="0"/>
                        </a:rPr>
                        <a:t>KPIs</a:t>
                      </a:r>
                      <a:endParaRPr lang="en-US" sz="1050" b="1" i="0" u="none" strike="noStrike">
                        <a:solidFill>
                          <a:schemeClr val="bg1"/>
                        </a:solidFill>
                        <a:effectLst/>
                        <a:latin typeface="+mn-lt"/>
                        <a:ea typeface="Lato Regular" panose="020F0502020204030203" pitchFamily="34" charset="0"/>
                        <a:cs typeface="Lato Regular" panose="020F0502020204030203" pitchFamily="34" charset="0"/>
                      </a:endParaRPr>
                    </a:p>
                  </a:txBody>
                  <a:tcPr marL="144000" marR="6350" marT="6350" marB="0" anchor="ctr"/>
                </a:tc>
                <a:tc>
                  <a:txBody>
                    <a:bodyPr/>
                    <a:lstStyle/>
                    <a:p>
                      <a:pPr algn="ctr" fontAlgn="b">
                        <a:buNone/>
                      </a:pPr>
                      <a:r>
                        <a:rPr lang="en-US" sz="1050" b="1" u="none" strike="noStrike">
                          <a:solidFill>
                            <a:schemeClr val="bg1"/>
                          </a:solidFill>
                          <a:effectLst/>
                          <a:latin typeface="+mn-lt"/>
                          <a:ea typeface="Lato Regular" panose="020F0502020204030203" pitchFamily="34" charset="0"/>
                          <a:cs typeface="Lato Regular" panose="020F0502020204030203" pitchFamily="34" charset="0"/>
                        </a:rPr>
                        <a:t>FY24</a:t>
                      </a:r>
                      <a:endParaRPr lang="en-US" sz="1050" b="1" i="0" u="none" strike="noStrike">
                        <a:solidFill>
                          <a:schemeClr val="bg1"/>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050" b="1" u="none" strike="noStrike">
                          <a:solidFill>
                            <a:schemeClr val="bg1"/>
                          </a:solidFill>
                          <a:effectLst/>
                          <a:latin typeface="+mn-lt"/>
                          <a:ea typeface="Lato Regular" panose="020F0502020204030203" pitchFamily="34" charset="0"/>
                          <a:cs typeface="Lato Regular" panose="020F0502020204030203" pitchFamily="34" charset="0"/>
                        </a:rPr>
                        <a:t>FY25</a:t>
                      </a:r>
                      <a:endParaRPr lang="en-US" sz="1050" b="1" i="0" u="none" strike="noStrike">
                        <a:solidFill>
                          <a:schemeClr val="bg1"/>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050" b="1" u="none" strike="noStrike">
                          <a:solidFill>
                            <a:schemeClr val="bg1"/>
                          </a:solidFill>
                          <a:effectLst/>
                          <a:latin typeface="+mn-lt"/>
                          <a:ea typeface="Lato Regular"/>
                          <a:cs typeface="Lato Regular"/>
                        </a:rPr>
                        <a:t>FY26</a:t>
                      </a:r>
                      <a:endParaRPr lang="en-US" sz="1050" b="1" i="0" u="none" strike="noStrike">
                        <a:solidFill>
                          <a:schemeClr val="bg1"/>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IN" sz="1050" b="1" i="0" u="none" strike="noStrike">
                          <a:solidFill>
                            <a:srgbClr val="FFFFFF"/>
                          </a:solidFill>
                          <a:effectLst/>
                          <a:latin typeface="+mn-lt"/>
                        </a:rPr>
                        <a:t>Q4FY25</a:t>
                      </a:r>
                    </a:p>
                  </a:txBody>
                  <a:tcPr marL="0" marR="0" marT="0" marB="0" anchor="ctr"/>
                </a:tc>
                <a:tc>
                  <a:txBody>
                    <a:bodyPr/>
                    <a:lstStyle/>
                    <a:p>
                      <a:pPr algn="ctr" fontAlgn="b">
                        <a:buNone/>
                      </a:pPr>
                      <a:r>
                        <a:rPr lang="en-IN" sz="1050" b="1" i="0" u="none" strike="noStrike">
                          <a:solidFill>
                            <a:srgbClr val="FFFFFF"/>
                          </a:solidFill>
                          <a:effectLst/>
                          <a:latin typeface="+mn-lt"/>
                        </a:rPr>
                        <a:t>Q4FY26</a:t>
                      </a:r>
                    </a:p>
                  </a:txBody>
                  <a:tcPr marL="0" marR="0" marT="0" marB="0" anchor="ctr"/>
                </a:tc>
                <a:extLst>
                  <a:ext uri="{0D108BD9-81ED-4DB2-BD59-A6C34878D82A}">
                    <a16:rowId xmlns:a16="http://schemas.microsoft.com/office/drawing/2014/main" val="3735237806"/>
                  </a:ext>
                </a:extLst>
              </a:tr>
              <a:tr h="293271">
                <a:tc>
                  <a:txBody>
                    <a:bodyPr/>
                    <a:lstStyle/>
                    <a:p>
                      <a:pPr algn="l" fontAlgn="b">
                        <a:buNone/>
                      </a:pPr>
                      <a:r>
                        <a:rPr lang="en-IN" sz="1050" b="0" i="0" u="none" strike="noStrike">
                          <a:solidFill>
                            <a:srgbClr val="000000"/>
                          </a:solidFill>
                          <a:effectLst/>
                          <a:latin typeface="+mn-lt"/>
                          <a:ea typeface="Lato Regular" panose="020F0502020204030203" pitchFamily="34" charset="0"/>
                          <a:cs typeface="Lato Regular" panose="020F0502020204030203" pitchFamily="34" charset="0"/>
                        </a:rPr>
                        <a:t>No. of Customers</a:t>
                      </a:r>
                    </a:p>
                  </a:txBody>
                  <a:tcPr marL="144000" marR="0" marT="0" marB="0" anchor="ctr"/>
                </a:tc>
                <a:tc>
                  <a:txBody>
                    <a:bodyPr/>
                    <a:lstStyle/>
                    <a:p>
                      <a:pPr algn="ctr" fontAlgn="b">
                        <a:buNone/>
                      </a:pPr>
                      <a:r>
                        <a:rPr lang="en-IN" sz="1050" b="0" i="0" u="none" strike="noStrike">
                          <a:solidFill>
                            <a:srgbClr val="000000"/>
                          </a:solidFill>
                          <a:effectLst/>
                          <a:latin typeface="+mn-lt"/>
                        </a:rPr>
                        <a:t>79 </a:t>
                      </a:r>
                    </a:p>
                  </a:txBody>
                  <a:tcPr marL="0" marR="0" marT="0" marB="0" anchor="ctr"/>
                </a:tc>
                <a:tc>
                  <a:txBody>
                    <a:bodyPr/>
                    <a:lstStyle/>
                    <a:p>
                      <a:pPr algn="ctr" fontAlgn="b">
                        <a:buNone/>
                      </a:pPr>
                      <a:r>
                        <a:rPr lang="en-IN" sz="1050" b="0" i="0" u="none" strike="noStrike">
                          <a:solidFill>
                            <a:srgbClr val="000000"/>
                          </a:solidFill>
                          <a:effectLst/>
                          <a:latin typeface="+mn-lt"/>
                        </a:rPr>
                        <a:t>84 </a:t>
                      </a:r>
                    </a:p>
                  </a:txBody>
                  <a:tcPr marL="0" marR="0" marT="0" marB="0" anchor="ctr"/>
                </a:tc>
                <a:tc>
                  <a:txBody>
                    <a:bodyPr/>
                    <a:lstStyle/>
                    <a:p>
                      <a:pPr algn="ctr" fontAlgn="b">
                        <a:buNone/>
                      </a:pPr>
                      <a:r>
                        <a:rPr lang="en-IN" sz="1050" b="0" i="0" u="none" strike="noStrike">
                          <a:solidFill>
                            <a:srgbClr val="000000"/>
                          </a:solidFill>
                          <a:effectLst/>
                          <a:latin typeface="+mn-lt"/>
                        </a:rPr>
                        <a:t>81</a:t>
                      </a:r>
                    </a:p>
                  </a:txBody>
                  <a:tcPr marL="0" marR="0" marT="0" marB="0" anchor="ctr"/>
                </a:tc>
                <a:tc>
                  <a:txBody>
                    <a:bodyPr/>
                    <a:lstStyle/>
                    <a:p>
                      <a:pPr algn="ctr" fontAlgn="b">
                        <a:buNone/>
                      </a:pPr>
                      <a:r>
                        <a:rPr lang="en-IN" sz="1050" b="0" i="0" u="none" strike="noStrike">
                          <a:solidFill>
                            <a:srgbClr val="000000"/>
                          </a:solidFill>
                          <a:effectLst/>
                          <a:latin typeface="+mn-lt"/>
                        </a:rPr>
                        <a:t>84</a:t>
                      </a:r>
                    </a:p>
                  </a:txBody>
                  <a:tcPr marL="0" marR="0" marT="0" marB="0" anchor="ctr"/>
                </a:tc>
                <a:tc>
                  <a:txBody>
                    <a:bodyPr/>
                    <a:lstStyle/>
                    <a:p>
                      <a:pPr algn="ctr" fontAlgn="b">
                        <a:buNone/>
                      </a:pPr>
                      <a:r>
                        <a:rPr lang="en-IN" sz="1050" b="0" i="0" u="none" strike="noStrike">
                          <a:solidFill>
                            <a:srgbClr val="000000"/>
                          </a:solidFill>
                          <a:effectLst/>
                          <a:latin typeface="+mn-lt"/>
                        </a:rPr>
                        <a:t>81</a:t>
                      </a:r>
                    </a:p>
                  </a:txBody>
                  <a:tcPr marL="0" marR="0" marT="0" marB="0" anchor="ctr"/>
                </a:tc>
                <a:extLst>
                  <a:ext uri="{0D108BD9-81ED-4DB2-BD59-A6C34878D82A}">
                    <a16:rowId xmlns:a16="http://schemas.microsoft.com/office/drawing/2014/main" val="2159784742"/>
                  </a:ext>
                </a:extLst>
              </a:tr>
              <a:tr h="293271">
                <a:tc>
                  <a:txBody>
                    <a:bodyPr/>
                    <a:lstStyle/>
                    <a:p>
                      <a:pPr algn="l" fontAlgn="b">
                        <a:buNone/>
                      </a:pPr>
                      <a:r>
                        <a:rPr lang="en-IN" sz="1050" b="0" i="0" u="none" strike="noStrike">
                          <a:solidFill>
                            <a:srgbClr val="000000"/>
                          </a:solidFill>
                          <a:effectLst/>
                          <a:latin typeface="+mn-lt"/>
                          <a:ea typeface="Lato Regular" panose="020F0502020204030203" pitchFamily="34" charset="0"/>
                          <a:cs typeface="Lato Regular" panose="020F0502020204030203" pitchFamily="34" charset="0"/>
                        </a:rPr>
                        <a:t>ARPU ( in Thousands)</a:t>
                      </a:r>
                    </a:p>
                  </a:txBody>
                  <a:tcPr marL="144000" marR="0" marT="0" marB="0" anchor="ctr"/>
                </a:tc>
                <a:tc>
                  <a:txBody>
                    <a:bodyPr/>
                    <a:lstStyle/>
                    <a:p>
                      <a:pPr algn="ctr" fontAlgn="b">
                        <a:buNone/>
                      </a:pPr>
                      <a:r>
                        <a:rPr lang="en-IN" sz="1050" b="0" i="0" u="none" strike="noStrike">
                          <a:solidFill>
                            <a:srgbClr val="000000"/>
                          </a:solidFill>
                          <a:effectLst/>
                          <a:latin typeface="+mn-lt"/>
                        </a:rPr>
                        <a:t>203.8 </a:t>
                      </a:r>
                    </a:p>
                  </a:txBody>
                  <a:tcPr marL="0" marR="0" marT="0" marB="0" anchor="ctr"/>
                </a:tc>
                <a:tc>
                  <a:txBody>
                    <a:bodyPr/>
                    <a:lstStyle/>
                    <a:p>
                      <a:pPr algn="ctr" fontAlgn="b">
                        <a:buNone/>
                      </a:pPr>
                      <a:r>
                        <a:rPr lang="en-IN" sz="1050" b="0" i="0" u="none" strike="noStrike">
                          <a:solidFill>
                            <a:srgbClr val="000000"/>
                          </a:solidFill>
                          <a:effectLst/>
                          <a:latin typeface="+mn-lt"/>
                        </a:rPr>
                        <a:t>376.9 </a:t>
                      </a:r>
                    </a:p>
                  </a:txBody>
                  <a:tcPr marL="0" marR="0" marT="0" marB="0" anchor="ctr"/>
                </a:tc>
                <a:tc>
                  <a:txBody>
                    <a:bodyPr/>
                    <a:lstStyle/>
                    <a:p>
                      <a:pPr algn="ctr" fontAlgn="b">
                        <a:buNone/>
                      </a:pPr>
                      <a:r>
                        <a:rPr lang="en-IN" sz="1050" b="0" i="0" u="none" strike="noStrike">
                          <a:solidFill>
                            <a:srgbClr val="000000"/>
                          </a:solidFill>
                          <a:effectLst/>
                          <a:latin typeface="+mn-lt"/>
                        </a:rPr>
                        <a:t>511</a:t>
                      </a:r>
                    </a:p>
                  </a:txBody>
                  <a:tcPr marL="0" marR="0" marT="0" marB="0" anchor="ctr"/>
                </a:tc>
                <a:tc>
                  <a:txBody>
                    <a:bodyPr/>
                    <a:lstStyle/>
                    <a:p>
                      <a:pPr algn="ctr" fontAlgn="b">
                        <a:buNone/>
                      </a:pPr>
                      <a:r>
                        <a:rPr lang="en-IN" sz="1050" b="0" i="0" u="none" strike="noStrike">
                          <a:solidFill>
                            <a:srgbClr val="000000"/>
                          </a:solidFill>
                          <a:effectLst/>
                          <a:latin typeface="+mn-lt"/>
                        </a:rPr>
                        <a:t>127.8</a:t>
                      </a:r>
                    </a:p>
                  </a:txBody>
                  <a:tcPr marL="0" marR="0" marT="0" marB="0" anchor="ctr"/>
                </a:tc>
                <a:tc>
                  <a:txBody>
                    <a:bodyPr/>
                    <a:lstStyle/>
                    <a:p>
                      <a:pPr algn="ctr" fontAlgn="b">
                        <a:buNone/>
                      </a:pPr>
                      <a:r>
                        <a:rPr lang="en-IN" sz="1050" b="0" i="0" u="none" strike="noStrike">
                          <a:solidFill>
                            <a:srgbClr val="000000"/>
                          </a:solidFill>
                          <a:effectLst/>
                          <a:latin typeface="+mn-lt"/>
                        </a:rPr>
                        <a:t>107.4</a:t>
                      </a:r>
                    </a:p>
                  </a:txBody>
                  <a:tcPr marL="0" marR="0" marT="0" marB="0" anchor="ctr"/>
                </a:tc>
                <a:extLst>
                  <a:ext uri="{0D108BD9-81ED-4DB2-BD59-A6C34878D82A}">
                    <a16:rowId xmlns:a16="http://schemas.microsoft.com/office/drawing/2014/main" val="2809398452"/>
                  </a:ext>
                </a:extLst>
              </a:tr>
            </a:tbl>
          </a:graphicData>
        </a:graphic>
      </p:graphicFrame>
      <p:pic>
        <p:nvPicPr>
          <p:cNvPr id="9" name="Picture 8">
            <a:extLst>
              <a:ext uri="{FF2B5EF4-FFF2-40B4-BE49-F238E27FC236}">
                <a16:creationId xmlns:a16="http://schemas.microsoft.com/office/drawing/2014/main" id="{80645F10-2840-DAD0-C0D7-4BD5135924AE}"/>
              </a:ext>
            </a:extLst>
          </p:cNvPr>
          <p:cNvPicPr>
            <a:picLocks noChangeAspect="1"/>
          </p:cNvPicPr>
          <p:nvPr/>
        </p:nvPicPr>
        <p:blipFill>
          <a:blip r:embed="rId3"/>
          <a:stretch>
            <a:fillRect/>
          </a:stretch>
        </p:blipFill>
        <p:spPr>
          <a:xfrm>
            <a:off x="5787624" y="493412"/>
            <a:ext cx="1009046" cy="334076"/>
          </a:xfrm>
          <a:prstGeom prst="rect">
            <a:avLst/>
          </a:prstGeom>
        </p:spPr>
      </p:pic>
    </p:spTree>
    <p:extLst>
      <p:ext uri="{BB962C8B-B14F-4D97-AF65-F5344CB8AC3E}">
        <p14:creationId xmlns:p14="http://schemas.microsoft.com/office/powerpoint/2010/main" val="32171066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76D7-F24D-EABC-132C-E44D57D7838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35855E6-326B-1E53-ED78-B10D1D9ADD0F}"/>
              </a:ext>
            </a:extLst>
          </p:cNvPr>
          <p:cNvSpPr txBox="1"/>
          <p:nvPr/>
        </p:nvSpPr>
        <p:spPr>
          <a:xfrm>
            <a:off x="499141" y="1387387"/>
            <a:ext cx="3450246" cy="320216"/>
          </a:xfrm>
          <a:prstGeom prst="rect">
            <a:avLst/>
          </a:prstGeom>
          <a:noFill/>
        </p:spPr>
        <p:txBody>
          <a:bodyPr wrap="square" rtlCol="0">
            <a:spAutoFit/>
          </a:bodyPr>
          <a:lstStyle/>
          <a:p>
            <a:r>
              <a:rPr lang="en-IN" sz="1481" b="1">
                <a:solidFill>
                  <a:schemeClr val="tx2"/>
                </a:solidFill>
                <a:ea typeface="Lato Regular" panose="020F0502020204030203" pitchFamily="34" charset="0"/>
                <a:cs typeface="Lato Regular" panose="020F0502020204030203" pitchFamily="34" charset="0"/>
              </a:rPr>
              <a:t>Business Description</a:t>
            </a:r>
          </a:p>
        </p:txBody>
      </p:sp>
      <p:sp>
        <p:nvSpPr>
          <p:cNvPr id="4" name="TextBox 3">
            <a:extLst>
              <a:ext uri="{FF2B5EF4-FFF2-40B4-BE49-F238E27FC236}">
                <a16:creationId xmlns:a16="http://schemas.microsoft.com/office/drawing/2014/main" id="{A276D1C1-25BB-43F8-9C90-F3AED8F28333}"/>
              </a:ext>
            </a:extLst>
          </p:cNvPr>
          <p:cNvSpPr txBox="1"/>
          <p:nvPr/>
        </p:nvSpPr>
        <p:spPr>
          <a:xfrm>
            <a:off x="499141" y="3758945"/>
            <a:ext cx="3450246" cy="320216"/>
          </a:xfrm>
          <a:prstGeom prst="rect">
            <a:avLst/>
          </a:prstGeom>
          <a:noFill/>
        </p:spPr>
        <p:txBody>
          <a:bodyPr wrap="square" rtlCol="0">
            <a:spAutoFit/>
          </a:bodyPr>
          <a:lstStyle/>
          <a:p>
            <a:r>
              <a:rPr lang="en-IN" sz="1481" b="1">
                <a:solidFill>
                  <a:schemeClr val="tx2"/>
                </a:solidFill>
                <a:ea typeface="Lato Regular" panose="020F0502020204030203" pitchFamily="34" charset="0"/>
                <a:cs typeface="Lato Regular" panose="020F0502020204030203" pitchFamily="34" charset="0"/>
              </a:rPr>
              <a:t>Performance Commentary</a:t>
            </a:r>
          </a:p>
        </p:txBody>
      </p:sp>
      <p:sp>
        <p:nvSpPr>
          <p:cNvPr id="5" name="TextBox 4">
            <a:extLst>
              <a:ext uri="{FF2B5EF4-FFF2-40B4-BE49-F238E27FC236}">
                <a16:creationId xmlns:a16="http://schemas.microsoft.com/office/drawing/2014/main" id="{6394D20F-FC73-3FFA-4834-E13704FF1D49}"/>
              </a:ext>
            </a:extLst>
          </p:cNvPr>
          <p:cNvSpPr txBox="1"/>
          <p:nvPr/>
        </p:nvSpPr>
        <p:spPr>
          <a:xfrm>
            <a:off x="5539984" y="3805112"/>
            <a:ext cx="3450246" cy="227883"/>
          </a:xfrm>
          <a:prstGeom prst="rect">
            <a:avLst/>
          </a:prstGeom>
          <a:noFill/>
        </p:spPr>
        <p:txBody>
          <a:bodyPr wrap="square" lIns="0" tIns="0" rIns="0" bIns="0" rtlCol="0">
            <a:spAutoFit/>
          </a:bodyPr>
          <a:lstStyle/>
          <a:p>
            <a:r>
              <a:rPr lang="en-IN" sz="1481" b="1">
                <a:solidFill>
                  <a:schemeClr val="tx2"/>
                </a:solidFill>
                <a:ea typeface="Lato Regular" panose="020F0502020204030203" pitchFamily="34" charset="0"/>
                <a:cs typeface="Lato Regular" panose="020F0502020204030203" pitchFamily="34" charset="0"/>
              </a:rPr>
              <a:t>Key Financial Highlights</a:t>
            </a:r>
          </a:p>
        </p:txBody>
      </p:sp>
      <p:sp>
        <p:nvSpPr>
          <p:cNvPr id="6" name="Rectangle 5">
            <a:extLst>
              <a:ext uri="{FF2B5EF4-FFF2-40B4-BE49-F238E27FC236}">
                <a16:creationId xmlns:a16="http://schemas.microsoft.com/office/drawing/2014/main" id="{2AF2FA03-D227-6A95-E4FF-7E8F85AE5C07}"/>
              </a:ext>
            </a:extLst>
          </p:cNvPr>
          <p:cNvSpPr/>
          <p:nvPr/>
        </p:nvSpPr>
        <p:spPr>
          <a:xfrm>
            <a:off x="562116" y="1738936"/>
            <a:ext cx="4195514" cy="2077492"/>
          </a:xfrm>
          <a:prstGeom prst="rect">
            <a:avLst/>
          </a:prstGeom>
        </p:spPr>
        <p:txBody>
          <a:bodyPr wrap="square" lIns="0" tIns="0" rIns="0" bIns="0" anchor="t">
            <a:spAutoFit/>
          </a:bodyPr>
          <a:lstStyle/>
          <a:p>
            <a:pPr marL="171450" indent="-171450" algn="just">
              <a:spcAft>
                <a:spcPts val="600"/>
              </a:spcAft>
              <a:buFont typeface="Arial,Sans-Serif" panose="020B0604020202020204" pitchFamily="34" charset="0"/>
              <a:buChar char="•"/>
            </a:pPr>
            <a:r>
              <a:rPr lang="en-US" sz="1200">
                <a:solidFill>
                  <a:schemeClr val="bg2">
                    <a:lumMod val="10000"/>
                  </a:schemeClr>
                </a:solidFill>
                <a:ea typeface="Calibri"/>
                <a:cs typeface="Calibri"/>
                <a:sym typeface="Calibri"/>
              </a:rPr>
              <a:t>GQ offers online platform for fee payment solutions to k-12 schools and universities. It enables parents and guardians to pay the school fees in monthly instalments. It also partners with educational institutions to make fee payment procedures easy</a:t>
            </a:r>
          </a:p>
          <a:p>
            <a:pPr marL="171450" indent="-171450" algn="just">
              <a:spcAft>
                <a:spcPts val="600"/>
              </a:spcAft>
              <a:buFont typeface="Arial,Sans-Serif" panose="020B0604020202020204" pitchFamily="34" charset="0"/>
              <a:buChar char="•"/>
            </a:pPr>
            <a:r>
              <a:rPr lang="en-US" sz="1200">
                <a:solidFill>
                  <a:schemeClr val="bg2">
                    <a:lumMod val="10000"/>
                  </a:schemeClr>
                </a:solidFill>
                <a:ea typeface="Calibri"/>
                <a:cs typeface="Calibri"/>
                <a:sym typeface="Calibri"/>
              </a:rPr>
              <a:t>The company uses stringent underwriting process, wherein it underwrites the parents credit score to offer fee financing solution</a:t>
            </a:r>
            <a:endParaRPr lang="en-US" sz="1200">
              <a:solidFill>
                <a:schemeClr val="bg2">
                  <a:lumMod val="10000"/>
                </a:schemeClr>
              </a:solidFill>
              <a:ea typeface="Calibri"/>
              <a:cs typeface="Calibri"/>
            </a:endParaRPr>
          </a:p>
          <a:p>
            <a:pPr marL="171450" indent="-171450" algn="just">
              <a:spcAft>
                <a:spcPts val="600"/>
              </a:spcAft>
              <a:buFont typeface="Arial,Sans-Serif" panose="020B0604020202020204" pitchFamily="34" charset="0"/>
              <a:buChar char="•"/>
            </a:pPr>
            <a:r>
              <a:rPr lang="en-US" sz="1200">
                <a:solidFill>
                  <a:schemeClr val="bg2">
                    <a:lumMod val="10000"/>
                  </a:schemeClr>
                </a:solidFill>
                <a:ea typeface="Calibri"/>
                <a:cs typeface="Calibri"/>
                <a:sym typeface="Calibri"/>
              </a:rPr>
              <a:t>It has 6000+ partnered </a:t>
            </a:r>
            <a:r>
              <a:rPr lang="en-US" sz="1200" err="1">
                <a:solidFill>
                  <a:schemeClr val="bg2">
                    <a:lumMod val="10000"/>
                  </a:schemeClr>
                </a:solidFill>
                <a:ea typeface="Calibri"/>
                <a:cs typeface="Calibri"/>
                <a:sym typeface="Calibri"/>
              </a:rPr>
              <a:t>Instititions</a:t>
            </a:r>
            <a:endParaRPr lang="en-US" sz="1200" err="1">
              <a:solidFill>
                <a:schemeClr val="bg2">
                  <a:lumMod val="10000"/>
                </a:schemeClr>
              </a:solidFill>
              <a:ea typeface="Calibri"/>
              <a:cs typeface="Calibri"/>
            </a:endParaRPr>
          </a:p>
          <a:p>
            <a:pPr marL="171450" indent="-171450" algn="just">
              <a:spcAft>
                <a:spcPts val="600"/>
              </a:spcAft>
              <a:buFont typeface="Arial" panose="020B0604020202020204" pitchFamily="34" charset="0"/>
              <a:buChar char="•"/>
            </a:pPr>
            <a:endParaRPr lang="en-US" sz="1200">
              <a:solidFill>
                <a:schemeClr val="bg2">
                  <a:lumMod val="10000"/>
                </a:schemeClr>
              </a:solidFill>
              <a:ea typeface="Calibri"/>
              <a:cs typeface="Calibri"/>
            </a:endParaRPr>
          </a:p>
        </p:txBody>
      </p:sp>
      <p:sp>
        <p:nvSpPr>
          <p:cNvPr id="7" name="TextBox 6">
            <a:extLst>
              <a:ext uri="{FF2B5EF4-FFF2-40B4-BE49-F238E27FC236}">
                <a16:creationId xmlns:a16="http://schemas.microsoft.com/office/drawing/2014/main" id="{9B4646A2-070D-6AC5-84D8-8C409C5A8B1F}"/>
              </a:ext>
            </a:extLst>
          </p:cNvPr>
          <p:cNvSpPr txBox="1"/>
          <p:nvPr/>
        </p:nvSpPr>
        <p:spPr>
          <a:xfrm>
            <a:off x="473741" y="4093453"/>
            <a:ext cx="4408262" cy="2985433"/>
          </a:xfrm>
          <a:prstGeom prst="rect">
            <a:avLst/>
          </a:prstGeom>
          <a:noFill/>
        </p:spPr>
        <p:txBody>
          <a:bodyPr wrap="square" lIns="91440" tIns="45720" rIns="91440" bIns="45720" rtlCol="0" anchor="t">
            <a:spAutoFit/>
          </a:bodyPr>
          <a:lstStyle/>
          <a:p>
            <a:pPr marL="171450" indent="-171450" algn="just">
              <a:spcAft>
                <a:spcPts val="600"/>
              </a:spcAft>
              <a:buFont typeface="Arial,Sans-Serif" panose="020B0604020202020204" pitchFamily="34" charset="0"/>
              <a:buChar char="•"/>
            </a:pPr>
            <a:r>
              <a:rPr lang="en-GB" sz="1200" err="1">
                <a:solidFill>
                  <a:schemeClr val="bg2">
                    <a:lumMod val="10000"/>
                  </a:schemeClr>
                </a:solidFill>
                <a:ea typeface="Calibri"/>
                <a:cs typeface="Calibri"/>
              </a:rPr>
              <a:t>Grayquest</a:t>
            </a:r>
            <a:r>
              <a:rPr lang="en-GB" sz="1200">
                <a:solidFill>
                  <a:schemeClr val="bg2">
                    <a:lumMod val="10000"/>
                  </a:schemeClr>
                </a:solidFill>
                <a:ea typeface="Calibri"/>
                <a:cs typeface="Calibri"/>
              </a:rPr>
              <a:t> finances K-12 and university fee payments. Total Disbursals grew 43.8% YoY to INR 1,738 Cr in FY26 with school segment dominating at 83.5% of the mix while edtech platforms doubled their share to 11.0%.</a:t>
            </a:r>
            <a:endParaRPr lang="en-US" sz="1200">
              <a:solidFill>
                <a:schemeClr val="bg2">
                  <a:lumMod val="10000"/>
                </a:schemeClr>
              </a:solidFill>
              <a:ea typeface="Calibri"/>
              <a:cs typeface="Calibri"/>
            </a:endParaRPr>
          </a:p>
          <a:p>
            <a:pPr marL="171450" indent="-171450" algn="just">
              <a:spcAft>
                <a:spcPts val="600"/>
              </a:spcAft>
              <a:buFont typeface="Arial,Sans-Serif" panose="020B0604020202020204" pitchFamily="34" charset="0"/>
              <a:buChar char="•"/>
            </a:pPr>
            <a:r>
              <a:rPr lang="en-GB" sz="1200">
                <a:solidFill>
                  <a:schemeClr val="bg2">
                    <a:lumMod val="10000"/>
                  </a:schemeClr>
                </a:solidFill>
                <a:ea typeface="Calibri"/>
                <a:cs typeface="Calibri"/>
              </a:rPr>
              <a:t> Net revenue scaled 49.4% to INR 32.5 Cr with gross margins expanded to 93.8%. EBITDA loss narrowed materially. </a:t>
            </a:r>
          </a:p>
          <a:p>
            <a:pPr marL="171450" indent="-171450" algn="just">
              <a:spcAft>
                <a:spcPts val="600"/>
              </a:spcAft>
              <a:buFont typeface="Arial,Sans-Serif" panose="020B0604020202020204" pitchFamily="34" charset="0"/>
              <a:buChar char="•"/>
            </a:pPr>
            <a:r>
              <a:rPr lang="en-GB" sz="1200">
                <a:solidFill>
                  <a:schemeClr val="bg2">
                    <a:lumMod val="10000"/>
                  </a:schemeClr>
                </a:solidFill>
                <a:ea typeface="Calibri"/>
                <a:cs typeface="Calibri"/>
              </a:rPr>
              <a:t>The most interesting thing this quarter is not the growth — it is the deliberate concentration: the school segment now contributes 83.5% of disbursals, while the college segment was pared back from 29% to 5.5%. Management chose predictability over volume. In credit, that choice tends to be rewarded over a cycle.</a:t>
            </a:r>
          </a:p>
          <a:p>
            <a:pPr marL="171450" indent="-171450" algn="just">
              <a:spcAft>
                <a:spcPts val="600"/>
              </a:spcAft>
              <a:buFont typeface="Arial,Sans-Serif" panose="020B0604020202020204" pitchFamily="34" charset="0"/>
              <a:buChar char="•"/>
            </a:pPr>
            <a:endParaRPr lang="en-GB" sz="1200">
              <a:solidFill>
                <a:schemeClr val="bg2">
                  <a:lumMod val="10000"/>
                </a:schemeClr>
              </a:solidFill>
              <a:ea typeface="Lato Regular"/>
              <a:cs typeface="Lato Regular"/>
            </a:endParaRPr>
          </a:p>
          <a:p>
            <a:pPr marL="171450" indent="-171450" algn="just">
              <a:spcAft>
                <a:spcPts val="600"/>
              </a:spcAft>
              <a:buFont typeface="Arial" panose="020B0604020202020204" pitchFamily="34" charset="0"/>
              <a:buChar char="•"/>
            </a:pPr>
            <a:endParaRPr lang="en-IN" sz="1200">
              <a:solidFill>
                <a:schemeClr val="bg2">
                  <a:lumMod val="10000"/>
                </a:schemeClr>
              </a:solidFill>
              <a:ea typeface="Lato Regular"/>
              <a:cs typeface="Lato Regular"/>
            </a:endParaRPr>
          </a:p>
        </p:txBody>
      </p:sp>
      <p:graphicFrame>
        <p:nvGraphicFramePr>
          <p:cNvPr id="8" name="Table 7">
            <a:extLst>
              <a:ext uri="{FF2B5EF4-FFF2-40B4-BE49-F238E27FC236}">
                <a16:creationId xmlns:a16="http://schemas.microsoft.com/office/drawing/2014/main" id="{553ADCC4-CCA0-9516-3B63-C13D274562F1}"/>
              </a:ext>
            </a:extLst>
          </p:cNvPr>
          <p:cNvGraphicFramePr>
            <a:graphicFrameLocks noGrp="1"/>
          </p:cNvGraphicFramePr>
          <p:nvPr/>
        </p:nvGraphicFramePr>
        <p:xfrm>
          <a:off x="5539984" y="4144253"/>
          <a:ext cx="5765846" cy="1969165"/>
        </p:xfrm>
        <a:graphic>
          <a:graphicData uri="http://schemas.openxmlformats.org/drawingml/2006/table">
            <a:tbl>
              <a:tblPr firstRow="1" bandRow="1">
                <a:tableStyleId>{72833802-FEF1-4C79-8D5D-14CF1EAF98D9}</a:tableStyleId>
              </a:tblPr>
              <a:tblGrid>
                <a:gridCol w="1886156">
                  <a:extLst>
                    <a:ext uri="{9D8B030D-6E8A-4147-A177-3AD203B41FA5}">
                      <a16:colId xmlns:a16="http://schemas.microsoft.com/office/drawing/2014/main" val="3001066899"/>
                    </a:ext>
                  </a:extLst>
                </a:gridCol>
                <a:gridCol w="775938">
                  <a:extLst>
                    <a:ext uri="{9D8B030D-6E8A-4147-A177-3AD203B41FA5}">
                      <a16:colId xmlns:a16="http://schemas.microsoft.com/office/drawing/2014/main" val="700748351"/>
                    </a:ext>
                  </a:extLst>
                </a:gridCol>
                <a:gridCol w="775938">
                  <a:extLst>
                    <a:ext uri="{9D8B030D-6E8A-4147-A177-3AD203B41FA5}">
                      <a16:colId xmlns:a16="http://schemas.microsoft.com/office/drawing/2014/main" val="3274968397"/>
                    </a:ext>
                  </a:extLst>
                </a:gridCol>
                <a:gridCol w="775938">
                  <a:extLst>
                    <a:ext uri="{9D8B030D-6E8A-4147-A177-3AD203B41FA5}">
                      <a16:colId xmlns:a16="http://schemas.microsoft.com/office/drawing/2014/main" val="3607597589"/>
                    </a:ext>
                  </a:extLst>
                </a:gridCol>
                <a:gridCol w="775938">
                  <a:extLst>
                    <a:ext uri="{9D8B030D-6E8A-4147-A177-3AD203B41FA5}">
                      <a16:colId xmlns:a16="http://schemas.microsoft.com/office/drawing/2014/main" val="746035582"/>
                    </a:ext>
                  </a:extLst>
                </a:gridCol>
                <a:gridCol w="775938">
                  <a:extLst>
                    <a:ext uri="{9D8B030D-6E8A-4147-A177-3AD203B41FA5}">
                      <a16:colId xmlns:a16="http://schemas.microsoft.com/office/drawing/2014/main" val="3336224203"/>
                    </a:ext>
                  </a:extLst>
                </a:gridCol>
              </a:tblGrid>
              <a:tr h="276035">
                <a:tc>
                  <a:txBody>
                    <a:bodyPr/>
                    <a:lstStyle/>
                    <a:p>
                      <a:pPr lvl="0" algn="l">
                        <a:buNone/>
                      </a:pPr>
                      <a:r>
                        <a:rPr lang="en-US" sz="1050" b="1" u="none" strike="noStrike">
                          <a:solidFill>
                            <a:schemeClr val="bg1"/>
                          </a:solidFill>
                          <a:effectLst/>
                          <a:latin typeface="+mn-lt"/>
                          <a:ea typeface="Lato Regular"/>
                          <a:cs typeface="Lato Regular"/>
                        </a:rPr>
                        <a:t>INR Cr.</a:t>
                      </a:r>
                      <a:endParaRPr lang="en-US" sz="1050" b="1" i="0" u="none" strike="noStrike">
                        <a:solidFill>
                          <a:schemeClr val="bg1"/>
                        </a:solidFill>
                        <a:effectLst/>
                        <a:latin typeface="+mn-lt"/>
                        <a:ea typeface="Lato Regular"/>
                        <a:cs typeface="Lato Regular"/>
                      </a:endParaRPr>
                    </a:p>
                  </a:txBody>
                  <a:tcPr marL="6350" marR="6350" marT="6350" marB="0" anchor="ctr"/>
                </a:tc>
                <a:tc>
                  <a:txBody>
                    <a:bodyPr/>
                    <a:lstStyle/>
                    <a:p>
                      <a:pPr lvl="0" algn="ctr">
                        <a:buNone/>
                      </a:pPr>
                      <a:r>
                        <a:rPr lang="en-US" sz="1050" b="1" u="none" strike="noStrike">
                          <a:solidFill>
                            <a:schemeClr val="bg1"/>
                          </a:solidFill>
                          <a:effectLst/>
                          <a:latin typeface="Aptos"/>
                          <a:ea typeface="Lato Regular"/>
                          <a:cs typeface="Lato Regular"/>
                        </a:rPr>
                        <a:t>FY24</a:t>
                      </a:r>
                      <a:endParaRPr lang="en-US" sz="1050" b="1" i="0" u="none" strike="noStrike">
                        <a:solidFill>
                          <a:schemeClr val="bg1"/>
                        </a:solidFill>
                        <a:effectLst/>
                        <a:latin typeface="Aptos"/>
                        <a:ea typeface="Lato Regular"/>
                        <a:cs typeface="Lato Regular"/>
                      </a:endParaRPr>
                    </a:p>
                  </a:txBody>
                  <a:tcPr marL="6350" marR="6350" marT="6350" marB="0" anchor="ctr"/>
                </a:tc>
                <a:tc>
                  <a:txBody>
                    <a:bodyPr/>
                    <a:lstStyle/>
                    <a:p>
                      <a:pPr lvl="0" algn="ctr">
                        <a:buNone/>
                      </a:pPr>
                      <a:r>
                        <a:rPr lang="en-US" sz="1050" b="1" u="none" strike="noStrike">
                          <a:solidFill>
                            <a:schemeClr val="bg1"/>
                          </a:solidFill>
                          <a:effectLst/>
                          <a:latin typeface="Aptos"/>
                          <a:ea typeface="Lato Regular"/>
                          <a:cs typeface="Lato Regular"/>
                        </a:rPr>
                        <a:t>FY25</a:t>
                      </a:r>
                      <a:endParaRPr lang="en-US" sz="1050" b="1" i="0" u="none" strike="noStrike">
                        <a:solidFill>
                          <a:schemeClr val="bg1"/>
                        </a:solidFill>
                        <a:effectLst/>
                        <a:latin typeface="Aptos"/>
                        <a:ea typeface="Lato Regular"/>
                        <a:cs typeface="Lato Regular"/>
                      </a:endParaRPr>
                    </a:p>
                  </a:txBody>
                  <a:tcPr marL="6350" marR="6350" marT="6350" marB="0" anchor="ctr"/>
                </a:tc>
                <a:tc>
                  <a:txBody>
                    <a:bodyPr/>
                    <a:lstStyle/>
                    <a:p>
                      <a:pPr lvl="0" algn="ctr">
                        <a:buNone/>
                      </a:pPr>
                      <a:r>
                        <a:rPr lang="en-US" sz="1050" b="1" i="0" u="none" strike="noStrike">
                          <a:solidFill>
                            <a:schemeClr val="bg1"/>
                          </a:solidFill>
                          <a:effectLst/>
                          <a:latin typeface="Aptos"/>
                          <a:ea typeface="Lato Regular"/>
                          <a:cs typeface="Lato Regular"/>
                        </a:rPr>
                        <a:t>FY26</a:t>
                      </a:r>
                      <a:endParaRPr lang="en-US" sz="1050" i="0"/>
                    </a:p>
                  </a:txBody>
                  <a:tcPr marL="6350" marR="6350" marT="6350" marB="0" anchor="ctr"/>
                </a:tc>
                <a:tc>
                  <a:txBody>
                    <a:bodyPr/>
                    <a:lstStyle/>
                    <a:p>
                      <a:pPr lvl="0" algn="ctr">
                        <a:buNone/>
                      </a:pPr>
                      <a:r>
                        <a:rPr lang="en-US" sz="1050" b="1" u="none" strike="noStrike">
                          <a:solidFill>
                            <a:schemeClr val="bg1"/>
                          </a:solidFill>
                          <a:effectLst/>
                          <a:latin typeface="Aptos"/>
                          <a:ea typeface="Lato Regular"/>
                          <a:cs typeface="Lato Regular"/>
                        </a:rPr>
                        <a:t>Q4FY25</a:t>
                      </a:r>
                      <a:endParaRPr lang="en-US" sz="1050" b="1" i="0" u="none" strike="noStrike">
                        <a:solidFill>
                          <a:schemeClr val="bg1"/>
                        </a:solidFill>
                        <a:effectLst/>
                        <a:latin typeface="Aptos"/>
                        <a:ea typeface="Lato Regular"/>
                        <a:cs typeface="Lato Regular"/>
                      </a:endParaRPr>
                    </a:p>
                  </a:txBody>
                  <a:tcPr marL="6350" marR="6350" marT="6350" marB="0" anchor="ctr"/>
                </a:tc>
                <a:tc>
                  <a:txBody>
                    <a:bodyPr/>
                    <a:lstStyle/>
                    <a:p>
                      <a:pPr lvl="0" algn="ctr">
                        <a:buNone/>
                      </a:pPr>
                      <a:r>
                        <a:rPr lang="en-US" sz="1050" b="1" u="none" strike="noStrike">
                          <a:solidFill>
                            <a:schemeClr val="bg1"/>
                          </a:solidFill>
                          <a:effectLst/>
                          <a:latin typeface="Aptos"/>
                          <a:ea typeface="Lato Regular"/>
                          <a:cs typeface="Lato Regular"/>
                        </a:rPr>
                        <a:t>Q4FY26</a:t>
                      </a:r>
                      <a:endParaRPr lang="en-US" sz="1050" b="1" i="0" u="none" strike="noStrike">
                        <a:solidFill>
                          <a:schemeClr val="bg1"/>
                        </a:solidFill>
                        <a:effectLst/>
                        <a:latin typeface="Aptos"/>
                        <a:ea typeface="Lato Regular"/>
                        <a:cs typeface="Lato Regular"/>
                      </a:endParaRPr>
                    </a:p>
                  </a:txBody>
                  <a:tcPr marL="6350" marR="6350" marT="6350" marB="0" anchor="ctr"/>
                </a:tc>
                <a:extLst>
                  <a:ext uri="{0D108BD9-81ED-4DB2-BD59-A6C34878D82A}">
                    <a16:rowId xmlns:a16="http://schemas.microsoft.com/office/drawing/2014/main" val="3735237806"/>
                  </a:ext>
                </a:extLst>
              </a:tr>
              <a:tr h="276035">
                <a:tc>
                  <a:txBody>
                    <a:bodyPr/>
                    <a:lstStyle/>
                    <a:p>
                      <a:pPr lvl="0" algn="l">
                        <a:buNone/>
                      </a:pPr>
                      <a:r>
                        <a:rPr lang="en-IN" sz="1050" b="1" i="0" u="none" strike="noStrike">
                          <a:solidFill>
                            <a:srgbClr val="000000"/>
                          </a:solidFill>
                          <a:effectLst/>
                          <a:latin typeface="+mn-lt"/>
                          <a:ea typeface="Lato Regular"/>
                          <a:cs typeface="Lato Regular"/>
                        </a:rPr>
                        <a:t>Net Revenue</a:t>
                      </a:r>
                      <a:endParaRPr lang="en-IN" sz="1050" i="0">
                        <a:solidFill>
                          <a:srgbClr val="000000"/>
                        </a:solidFill>
                        <a:latin typeface="+mn-lt"/>
                        <a:ea typeface="Lato Regular"/>
                        <a:cs typeface="Lato Regular"/>
                      </a:endParaRPr>
                    </a:p>
                  </a:txBody>
                  <a:tcPr marL="76200" marR="0" marT="0" marB="0" anchor="ctr"/>
                </a:tc>
                <a:tc>
                  <a:txBody>
                    <a:bodyPr/>
                    <a:lstStyle/>
                    <a:p>
                      <a:pPr lvl="0" algn="ctr">
                        <a:buNone/>
                      </a:pPr>
                      <a:r>
                        <a:rPr lang="en-IN" sz="1100" b="1" i="0" u="none" strike="noStrike">
                          <a:solidFill>
                            <a:srgbClr val="000000"/>
                          </a:solidFill>
                          <a:effectLst/>
                          <a:latin typeface="Calibri"/>
                        </a:rPr>
                        <a:t>17.6</a:t>
                      </a:r>
                      <a:endParaRPr lang="en-US"/>
                    </a:p>
                  </a:txBody>
                  <a:tcPr marL="6350" marR="6350" marT="6350" marB="0" anchor="ctr"/>
                </a:tc>
                <a:tc>
                  <a:txBody>
                    <a:bodyPr/>
                    <a:lstStyle/>
                    <a:p>
                      <a:pPr lvl="0" algn="ctr">
                        <a:buNone/>
                      </a:pPr>
                      <a:r>
                        <a:rPr lang="en-IN" sz="1100" b="1" i="0" u="none" strike="noStrike">
                          <a:solidFill>
                            <a:srgbClr val="000000"/>
                          </a:solidFill>
                          <a:effectLst/>
                          <a:latin typeface="Calibri"/>
                        </a:rPr>
                        <a:t>21.8</a:t>
                      </a:r>
                      <a:endParaRPr lang="en-US"/>
                    </a:p>
                  </a:txBody>
                  <a:tcPr marL="6350" marR="6350" marT="6350" marB="0" anchor="ctr"/>
                </a:tc>
                <a:tc>
                  <a:txBody>
                    <a:bodyPr/>
                    <a:lstStyle/>
                    <a:p>
                      <a:pPr lvl="0" algn="ctr">
                        <a:buNone/>
                      </a:pPr>
                      <a:r>
                        <a:rPr lang="en-IN" sz="1100" b="1" i="0" u="none" strike="noStrike">
                          <a:solidFill>
                            <a:srgbClr val="000000"/>
                          </a:solidFill>
                          <a:effectLst/>
                          <a:latin typeface="Calibri"/>
                        </a:rPr>
                        <a:t>32.5</a:t>
                      </a:r>
                      <a:endParaRPr lang="en-US" sz="1100" b="1" i="0" u="none" strike="noStrike">
                        <a:solidFill>
                          <a:srgbClr val="000000"/>
                        </a:solidFill>
                        <a:effectLst/>
                        <a:latin typeface="+mn-lt"/>
                      </a:endParaRPr>
                    </a:p>
                  </a:txBody>
                  <a:tcPr marL="6350" marR="6350" marT="6350" marB="0" anchor="ctr"/>
                </a:tc>
                <a:tc>
                  <a:txBody>
                    <a:bodyPr/>
                    <a:lstStyle/>
                    <a:p>
                      <a:pPr lvl="0" algn="ctr">
                        <a:buNone/>
                      </a:pPr>
                      <a:r>
                        <a:rPr lang="en-IN" sz="1100" b="1" i="0" u="none" strike="noStrike">
                          <a:solidFill>
                            <a:srgbClr val="000000"/>
                          </a:solidFill>
                          <a:effectLst/>
                          <a:latin typeface="Calibri"/>
                        </a:rPr>
                        <a:t>4.2</a:t>
                      </a:r>
                      <a:endParaRPr lang="en-US" sz="1100" b="1" i="0" u="none" strike="noStrike">
                        <a:solidFill>
                          <a:srgbClr val="000000"/>
                        </a:solidFill>
                        <a:effectLst/>
                        <a:latin typeface="+mn-lt"/>
                      </a:endParaRPr>
                    </a:p>
                  </a:txBody>
                  <a:tcPr marL="6350" marR="6350" marT="6350" marB="0" anchor="ctr"/>
                </a:tc>
                <a:tc>
                  <a:txBody>
                    <a:bodyPr/>
                    <a:lstStyle/>
                    <a:p>
                      <a:pPr lvl="0" algn="ctr">
                        <a:buNone/>
                      </a:pPr>
                      <a:r>
                        <a:rPr lang="en-IN" sz="1100" b="1" i="0" u="none" strike="noStrike">
                          <a:solidFill>
                            <a:srgbClr val="000000"/>
                          </a:solidFill>
                          <a:effectLst/>
                          <a:latin typeface="Calibri"/>
                        </a:rPr>
                        <a:t>5.9</a:t>
                      </a:r>
                      <a:endParaRPr lang="en-US" sz="1100" b="1" i="0" u="none" strike="noStrike">
                        <a:solidFill>
                          <a:srgbClr val="000000"/>
                        </a:solidFill>
                        <a:effectLst/>
                        <a:latin typeface="+mn-lt"/>
                      </a:endParaRPr>
                    </a:p>
                  </a:txBody>
                  <a:tcPr marL="6350" marR="6350" marT="6350" marB="0" anchor="ctr"/>
                </a:tc>
                <a:extLst>
                  <a:ext uri="{0D108BD9-81ED-4DB2-BD59-A6C34878D82A}">
                    <a16:rowId xmlns:a16="http://schemas.microsoft.com/office/drawing/2014/main" val="2159784742"/>
                  </a:ext>
                </a:extLst>
              </a:tr>
              <a:tr h="276035">
                <a:tc>
                  <a:txBody>
                    <a:bodyPr/>
                    <a:lstStyle/>
                    <a:p>
                      <a:pPr lvl="0" algn="l">
                        <a:buNone/>
                      </a:pPr>
                      <a:r>
                        <a:rPr lang="en-IN" sz="1050" b="0" i="0" u="none" strike="noStrike">
                          <a:solidFill>
                            <a:srgbClr val="000000"/>
                          </a:solidFill>
                          <a:effectLst/>
                          <a:latin typeface="+mn-lt"/>
                          <a:ea typeface="Lato Regular"/>
                          <a:cs typeface="Lato Regular"/>
                        </a:rPr>
                        <a:t>% Growth </a:t>
                      </a:r>
                      <a:endParaRPr lang="en-IN" sz="1050" i="0">
                        <a:solidFill>
                          <a:srgbClr val="000000"/>
                        </a:solidFill>
                        <a:latin typeface="+mn-lt"/>
                        <a:ea typeface="Lato Regular"/>
                        <a:cs typeface="Lato Regular"/>
                      </a:endParaRPr>
                    </a:p>
                  </a:txBody>
                  <a:tcPr marL="76200" marR="0" marT="0" marB="0" anchor="ctr"/>
                </a:tc>
                <a:tc>
                  <a:txBody>
                    <a:bodyPr/>
                    <a:lstStyle/>
                    <a:p>
                      <a:pPr lvl="0" algn="ctr">
                        <a:buNone/>
                      </a:pPr>
                      <a:r>
                        <a:rPr lang="en-IN" sz="1100" b="0" i="0" u="none" strike="noStrike">
                          <a:solidFill>
                            <a:srgbClr val="000000"/>
                          </a:solidFill>
                          <a:effectLst/>
                          <a:latin typeface="Calibri"/>
                        </a:rPr>
                        <a:t>96.1%</a:t>
                      </a:r>
                      <a:endParaRPr lang="en-IN" b="0" i="0">
                        <a:solidFill>
                          <a:srgbClr val="000000"/>
                        </a:solidFill>
                        <a:latin typeface="Calibri"/>
                      </a:endParaRPr>
                    </a:p>
                  </a:txBody>
                  <a:tcPr marL="6350" marR="6350" marT="6350" marB="0" anchor="ctr"/>
                </a:tc>
                <a:tc>
                  <a:txBody>
                    <a:bodyPr/>
                    <a:lstStyle/>
                    <a:p>
                      <a:pPr lvl="0" algn="ctr">
                        <a:buNone/>
                      </a:pPr>
                      <a:r>
                        <a:rPr lang="en-IN" sz="1100" b="0" i="0" u="none" strike="noStrike">
                          <a:solidFill>
                            <a:srgbClr val="000000"/>
                          </a:solidFill>
                          <a:effectLst/>
                          <a:latin typeface="Calibri"/>
                        </a:rPr>
                        <a:t>23.4%</a:t>
                      </a:r>
                      <a:endParaRPr lang="en-IN" b="0" i="0">
                        <a:solidFill>
                          <a:srgbClr val="000000"/>
                        </a:solidFill>
                        <a:latin typeface="Calibri"/>
                      </a:endParaRPr>
                    </a:p>
                  </a:txBody>
                  <a:tcPr marL="6350" marR="6350" marT="6350" marB="0" anchor="ctr"/>
                </a:tc>
                <a:tc>
                  <a:txBody>
                    <a:bodyPr/>
                    <a:lstStyle/>
                    <a:p>
                      <a:pPr lvl="0" algn="ctr">
                        <a:buNone/>
                      </a:pPr>
                      <a:r>
                        <a:rPr lang="en-IN" sz="1100" b="0" i="0" u="none" strike="noStrike">
                          <a:solidFill>
                            <a:srgbClr val="000000"/>
                          </a:solidFill>
                          <a:effectLst/>
                          <a:latin typeface="Calibri"/>
                        </a:rPr>
                        <a:t>49.4%</a:t>
                      </a:r>
                    </a:p>
                  </a:txBody>
                  <a:tcPr marL="6350" marR="6350" marT="6350" marB="0" anchor="ctr"/>
                </a:tc>
                <a:tc>
                  <a:txBody>
                    <a:bodyPr/>
                    <a:lstStyle/>
                    <a:p>
                      <a:pPr lvl="0" algn="ctr">
                        <a:buNone/>
                      </a:pPr>
                      <a:r>
                        <a:rPr lang="en-IN" sz="1100" b="0" i="0" u="none" strike="noStrike">
                          <a:solidFill>
                            <a:srgbClr val="000000"/>
                          </a:solidFill>
                          <a:effectLst/>
                          <a:latin typeface="Calibri"/>
                        </a:rPr>
                        <a:t>37.4%</a:t>
                      </a:r>
                    </a:p>
                  </a:txBody>
                  <a:tcPr marL="6350" marR="6350" marT="6350" marB="0" anchor="ctr"/>
                </a:tc>
                <a:tc>
                  <a:txBody>
                    <a:bodyPr/>
                    <a:lstStyle/>
                    <a:p>
                      <a:pPr lvl="0" algn="ctr">
                        <a:buNone/>
                      </a:pPr>
                      <a:r>
                        <a:rPr lang="en-IN" sz="1100" b="0" i="0" u="none" strike="noStrike">
                          <a:solidFill>
                            <a:srgbClr val="000000"/>
                          </a:solidFill>
                          <a:effectLst/>
                          <a:latin typeface="Calibri"/>
                        </a:rPr>
                        <a:t>38.7%</a:t>
                      </a:r>
                    </a:p>
                  </a:txBody>
                  <a:tcPr marL="6350" marR="6350" marT="6350" marB="0" anchor="ctr"/>
                </a:tc>
                <a:extLst>
                  <a:ext uri="{0D108BD9-81ED-4DB2-BD59-A6C34878D82A}">
                    <a16:rowId xmlns:a16="http://schemas.microsoft.com/office/drawing/2014/main" val="2809398452"/>
                  </a:ext>
                </a:extLst>
              </a:tr>
              <a:tr h="276035">
                <a:tc>
                  <a:txBody>
                    <a:bodyPr/>
                    <a:lstStyle/>
                    <a:p>
                      <a:pPr lvl="0" algn="l">
                        <a:buNone/>
                      </a:pPr>
                      <a:r>
                        <a:rPr lang="en-IN" sz="1050" b="1" i="0" u="none" strike="noStrike">
                          <a:solidFill>
                            <a:srgbClr val="000000"/>
                          </a:solidFill>
                          <a:effectLst/>
                          <a:latin typeface="+mn-lt"/>
                          <a:ea typeface="Lato Regular"/>
                          <a:cs typeface="Lato Regular"/>
                        </a:rPr>
                        <a:t>Gross Profit</a:t>
                      </a:r>
                      <a:endParaRPr lang="en-IN" sz="1050" i="0">
                        <a:solidFill>
                          <a:srgbClr val="000000"/>
                        </a:solidFill>
                        <a:latin typeface="+mn-lt"/>
                        <a:ea typeface="Lato Regular"/>
                        <a:cs typeface="Lato Regular"/>
                      </a:endParaRPr>
                    </a:p>
                  </a:txBody>
                  <a:tcPr marL="76200" marR="0" marT="0" marB="0" anchor="ctr"/>
                </a:tc>
                <a:tc>
                  <a:txBody>
                    <a:bodyPr/>
                    <a:lstStyle/>
                    <a:p>
                      <a:pPr lvl="0" algn="ctr">
                        <a:buNone/>
                      </a:pPr>
                      <a:r>
                        <a:rPr lang="en-IN" sz="1100" b="1" i="0" u="none" strike="noStrike">
                          <a:solidFill>
                            <a:srgbClr val="000000"/>
                          </a:solidFill>
                          <a:effectLst/>
                          <a:latin typeface="Calibri"/>
                        </a:rPr>
                        <a:t>15.9</a:t>
                      </a:r>
                      <a:endParaRPr lang="en-US"/>
                    </a:p>
                  </a:txBody>
                  <a:tcPr marL="6350" marR="6350" marT="6350" marB="0" anchor="ctr"/>
                </a:tc>
                <a:tc>
                  <a:txBody>
                    <a:bodyPr/>
                    <a:lstStyle/>
                    <a:p>
                      <a:pPr lvl="0" algn="ctr">
                        <a:buNone/>
                      </a:pPr>
                      <a:r>
                        <a:rPr lang="en-IN" sz="1100" b="1" i="0" u="none" strike="noStrike">
                          <a:solidFill>
                            <a:srgbClr val="000000"/>
                          </a:solidFill>
                          <a:effectLst/>
                          <a:latin typeface="Calibri"/>
                        </a:rPr>
                        <a:t>20.1</a:t>
                      </a:r>
                      <a:endParaRPr lang="en-US"/>
                    </a:p>
                  </a:txBody>
                  <a:tcPr marL="6350" marR="6350" marT="6350" marB="0" anchor="ctr"/>
                </a:tc>
                <a:tc>
                  <a:txBody>
                    <a:bodyPr/>
                    <a:lstStyle/>
                    <a:p>
                      <a:pPr lvl="0" algn="ctr">
                        <a:buNone/>
                      </a:pPr>
                      <a:r>
                        <a:rPr lang="en-IN" sz="1100" b="1" i="0" u="none" strike="noStrike">
                          <a:solidFill>
                            <a:srgbClr val="000000"/>
                          </a:solidFill>
                          <a:effectLst/>
                          <a:latin typeface="Calibri"/>
                        </a:rPr>
                        <a:t>30.5</a:t>
                      </a:r>
                      <a:endParaRPr lang="en-US" sz="1100" b="1" i="0" u="none" strike="noStrike">
                        <a:solidFill>
                          <a:srgbClr val="000000"/>
                        </a:solidFill>
                        <a:effectLst/>
                        <a:latin typeface="+mn-lt"/>
                      </a:endParaRPr>
                    </a:p>
                  </a:txBody>
                  <a:tcPr marL="6350" marR="6350" marT="6350" marB="0" anchor="ctr"/>
                </a:tc>
                <a:tc>
                  <a:txBody>
                    <a:bodyPr/>
                    <a:lstStyle/>
                    <a:p>
                      <a:pPr lvl="0" algn="ctr">
                        <a:buNone/>
                      </a:pPr>
                      <a:r>
                        <a:rPr lang="en-IN" sz="1100" b="1" i="0" u="none" strike="noStrike">
                          <a:solidFill>
                            <a:srgbClr val="000000"/>
                          </a:solidFill>
                          <a:effectLst/>
                          <a:latin typeface="Calibri"/>
                        </a:rPr>
                        <a:t>3.9</a:t>
                      </a:r>
                      <a:endParaRPr lang="en-US" sz="1100" b="1" i="0" u="none" strike="noStrike">
                        <a:solidFill>
                          <a:srgbClr val="000000"/>
                        </a:solidFill>
                        <a:effectLst/>
                        <a:latin typeface="+mn-lt"/>
                      </a:endParaRPr>
                    </a:p>
                  </a:txBody>
                  <a:tcPr marL="6350" marR="6350" marT="6350" marB="0" anchor="ctr"/>
                </a:tc>
                <a:tc>
                  <a:txBody>
                    <a:bodyPr/>
                    <a:lstStyle/>
                    <a:p>
                      <a:pPr lvl="0" algn="ctr">
                        <a:buNone/>
                      </a:pPr>
                      <a:r>
                        <a:rPr lang="en-IN" sz="1100" b="1" i="0" u="none" strike="noStrike">
                          <a:solidFill>
                            <a:srgbClr val="000000"/>
                          </a:solidFill>
                          <a:effectLst/>
                          <a:latin typeface="Calibri"/>
                        </a:rPr>
                        <a:t>5.5</a:t>
                      </a:r>
                      <a:endParaRPr lang="en-US" sz="1100" b="1" i="0" u="none" strike="noStrike">
                        <a:solidFill>
                          <a:srgbClr val="000000"/>
                        </a:solidFill>
                        <a:effectLst/>
                        <a:latin typeface="+mn-lt"/>
                      </a:endParaRPr>
                    </a:p>
                  </a:txBody>
                  <a:tcPr marL="6350" marR="6350" marT="6350" marB="0" anchor="ctr"/>
                </a:tc>
                <a:extLst>
                  <a:ext uri="{0D108BD9-81ED-4DB2-BD59-A6C34878D82A}">
                    <a16:rowId xmlns:a16="http://schemas.microsoft.com/office/drawing/2014/main" val="4076501595"/>
                  </a:ext>
                </a:extLst>
              </a:tr>
              <a:tr h="276035">
                <a:tc>
                  <a:txBody>
                    <a:bodyPr/>
                    <a:lstStyle/>
                    <a:p>
                      <a:pPr lvl="0" algn="l">
                        <a:buNone/>
                      </a:pPr>
                      <a:r>
                        <a:rPr lang="en-IN" sz="1050" b="0" i="0" u="none" strike="noStrike">
                          <a:solidFill>
                            <a:srgbClr val="000000"/>
                          </a:solidFill>
                          <a:effectLst/>
                          <a:latin typeface="+mn-lt"/>
                          <a:ea typeface="Lato Regular"/>
                          <a:cs typeface="Lato Regular"/>
                        </a:rPr>
                        <a:t>% Gross Margin</a:t>
                      </a:r>
                      <a:endParaRPr lang="en-IN" sz="1050" i="0">
                        <a:solidFill>
                          <a:srgbClr val="000000"/>
                        </a:solidFill>
                        <a:latin typeface="+mn-lt"/>
                        <a:ea typeface="Lato Regular"/>
                        <a:cs typeface="Lato Regular"/>
                      </a:endParaRPr>
                    </a:p>
                  </a:txBody>
                  <a:tcPr marL="76200" marR="0" marT="0" marB="0" anchor="ctr"/>
                </a:tc>
                <a:tc>
                  <a:txBody>
                    <a:bodyPr/>
                    <a:lstStyle/>
                    <a:p>
                      <a:pPr lvl="0" algn="ctr">
                        <a:buNone/>
                      </a:pPr>
                      <a:r>
                        <a:rPr lang="en-IN" sz="1100" b="0" i="0" u="none" strike="noStrike">
                          <a:solidFill>
                            <a:srgbClr val="000000"/>
                          </a:solidFill>
                          <a:effectLst/>
                          <a:latin typeface="Calibri"/>
                        </a:rPr>
                        <a:t>89.9%</a:t>
                      </a:r>
                      <a:endParaRPr lang="en-IN" b="0" i="0">
                        <a:solidFill>
                          <a:srgbClr val="000000"/>
                        </a:solidFill>
                        <a:latin typeface="Calibri"/>
                      </a:endParaRPr>
                    </a:p>
                  </a:txBody>
                  <a:tcPr marL="6350" marR="6350" marT="6350" marB="0" anchor="ctr"/>
                </a:tc>
                <a:tc>
                  <a:txBody>
                    <a:bodyPr/>
                    <a:lstStyle/>
                    <a:p>
                      <a:pPr lvl="0" algn="ctr">
                        <a:buNone/>
                      </a:pPr>
                      <a:r>
                        <a:rPr lang="en-IN" sz="1100" b="0" i="0" u="none" strike="noStrike">
                          <a:solidFill>
                            <a:srgbClr val="000000"/>
                          </a:solidFill>
                          <a:effectLst/>
                          <a:latin typeface="Calibri"/>
                        </a:rPr>
                        <a:t>92.3%</a:t>
                      </a:r>
                      <a:endParaRPr lang="en-IN" b="0" i="0">
                        <a:solidFill>
                          <a:srgbClr val="000000"/>
                        </a:solidFill>
                        <a:latin typeface="Calibri"/>
                      </a:endParaRPr>
                    </a:p>
                  </a:txBody>
                  <a:tcPr marL="6350" marR="6350" marT="6350" marB="0" anchor="ctr"/>
                </a:tc>
                <a:tc>
                  <a:txBody>
                    <a:bodyPr/>
                    <a:lstStyle/>
                    <a:p>
                      <a:pPr lvl="0" algn="ctr">
                        <a:buNone/>
                      </a:pPr>
                      <a:r>
                        <a:rPr lang="en-IN" sz="1100" b="0" i="0" u="none" strike="noStrike">
                          <a:solidFill>
                            <a:srgbClr val="000000"/>
                          </a:solidFill>
                          <a:effectLst/>
                          <a:latin typeface="Calibri"/>
                        </a:rPr>
                        <a:t>93.8%</a:t>
                      </a:r>
                    </a:p>
                  </a:txBody>
                  <a:tcPr marL="6350" marR="6350" marT="6350" marB="0" anchor="ctr"/>
                </a:tc>
                <a:tc>
                  <a:txBody>
                    <a:bodyPr/>
                    <a:lstStyle/>
                    <a:p>
                      <a:pPr lvl="0" algn="ctr">
                        <a:buNone/>
                      </a:pPr>
                      <a:r>
                        <a:rPr lang="en-IN" sz="1100" b="0" i="0" u="none" strike="noStrike">
                          <a:solidFill>
                            <a:srgbClr val="000000"/>
                          </a:solidFill>
                          <a:effectLst/>
                          <a:latin typeface="Calibri"/>
                        </a:rPr>
                        <a:t>91.4%</a:t>
                      </a:r>
                    </a:p>
                  </a:txBody>
                  <a:tcPr marL="6350" marR="6350" marT="6350" marB="0" anchor="ctr"/>
                </a:tc>
                <a:tc>
                  <a:txBody>
                    <a:bodyPr/>
                    <a:lstStyle/>
                    <a:p>
                      <a:pPr lvl="0" algn="ctr">
                        <a:buNone/>
                      </a:pPr>
                      <a:r>
                        <a:rPr lang="en-IN" sz="1100" b="0" i="0" u="none" strike="noStrike">
                          <a:solidFill>
                            <a:srgbClr val="000000"/>
                          </a:solidFill>
                          <a:effectLst/>
                          <a:latin typeface="Calibri"/>
                        </a:rPr>
                        <a:t>93.7%</a:t>
                      </a:r>
                    </a:p>
                  </a:txBody>
                  <a:tcPr marL="6350" marR="6350" marT="6350" marB="0" anchor="ctr"/>
                </a:tc>
                <a:extLst>
                  <a:ext uri="{0D108BD9-81ED-4DB2-BD59-A6C34878D82A}">
                    <a16:rowId xmlns:a16="http://schemas.microsoft.com/office/drawing/2014/main" val="3179895044"/>
                  </a:ext>
                </a:extLst>
              </a:tr>
              <a:tr h="294495">
                <a:tc>
                  <a:txBody>
                    <a:bodyPr/>
                    <a:lstStyle/>
                    <a:p>
                      <a:pPr lvl="0" algn="l">
                        <a:buNone/>
                      </a:pPr>
                      <a:r>
                        <a:rPr lang="en-IN" sz="1050" b="1" i="0" u="none" strike="noStrike">
                          <a:solidFill>
                            <a:srgbClr val="000000"/>
                          </a:solidFill>
                          <a:effectLst/>
                          <a:latin typeface="+mn-lt"/>
                          <a:ea typeface="Lato Regular"/>
                          <a:cs typeface="Lato Regular"/>
                        </a:rPr>
                        <a:t>EBITDA</a:t>
                      </a:r>
                      <a:endParaRPr lang="en-IN" sz="1050" i="0">
                        <a:solidFill>
                          <a:srgbClr val="000000"/>
                        </a:solidFill>
                        <a:latin typeface="+mn-lt"/>
                        <a:ea typeface="Lato Regular"/>
                        <a:cs typeface="Lato Regular"/>
                      </a:endParaRPr>
                    </a:p>
                  </a:txBody>
                  <a:tcPr marL="76200" marR="0" marT="0" marB="0" anchor="ctr"/>
                </a:tc>
                <a:tc>
                  <a:txBody>
                    <a:bodyPr/>
                    <a:lstStyle/>
                    <a:p>
                      <a:pPr lvl="0" algn="ctr">
                        <a:buNone/>
                      </a:pPr>
                      <a:r>
                        <a:rPr lang="en-IN" sz="1100" b="1" i="0" u="none" strike="noStrike">
                          <a:solidFill>
                            <a:srgbClr val="000000"/>
                          </a:solidFill>
                          <a:effectLst/>
                          <a:latin typeface="Calibri"/>
                        </a:rPr>
                        <a:t>-33.3</a:t>
                      </a:r>
                      <a:endParaRPr lang="en-US"/>
                    </a:p>
                  </a:txBody>
                  <a:tcPr marL="6350" marR="6350" marT="6350" marB="0" anchor="ctr"/>
                </a:tc>
                <a:tc>
                  <a:txBody>
                    <a:bodyPr/>
                    <a:lstStyle/>
                    <a:p>
                      <a:pPr lvl="0" algn="ctr">
                        <a:buNone/>
                      </a:pPr>
                      <a:r>
                        <a:rPr lang="en-IN" sz="1100" b="1" i="0" u="none" strike="noStrike">
                          <a:solidFill>
                            <a:srgbClr val="000000"/>
                          </a:solidFill>
                          <a:effectLst/>
                          <a:latin typeface="Calibri"/>
                        </a:rPr>
                        <a:t>-30.5</a:t>
                      </a:r>
                      <a:endParaRPr lang="en-US"/>
                    </a:p>
                  </a:txBody>
                  <a:tcPr marL="6350" marR="6350" marT="6350" marB="0" anchor="ctr"/>
                </a:tc>
                <a:tc>
                  <a:txBody>
                    <a:bodyPr/>
                    <a:lstStyle/>
                    <a:p>
                      <a:pPr lvl="0" algn="ctr">
                        <a:buNone/>
                      </a:pPr>
                      <a:r>
                        <a:rPr lang="en-IN" sz="1100" b="1" i="0" u="none" strike="noStrike">
                          <a:solidFill>
                            <a:srgbClr val="000000"/>
                          </a:solidFill>
                          <a:effectLst/>
                          <a:latin typeface="Calibri"/>
                        </a:rPr>
                        <a:t>-26.8</a:t>
                      </a:r>
                      <a:endParaRPr lang="en-US" sz="1100" b="1" i="0" u="none" strike="noStrike">
                        <a:solidFill>
                          <a:srgbClr val="000000"/>
                        </a:solidFill>
                        <a:effectLst/>
                        <a:latin typeface="+mn-lt"/>
                      </a:endParaRPr>
                    </a:p>
                  </a:txBody>
                  <a:tcPr marL="6350" marR="6350" marT="6350" marB="0" anchor="ctr"/>
                </a:tc>
                <a:tc>
                  <a:txBody>
                    <a:bodyPr/>
                    <a:lstStyle/>
                    <a:p>
                      <a:pPr lvl="0" algn="ctr">
                        <a:buNone/>
                      </a:pPr>
                      <a:r>
                        <a:rPr lang="en-IN" sz="1100" b="1" i="0" u="none" strike="noStrike">
                          <a:solidFill>
                            <a:srgbClr val="000000"/>
                          </a:solidFill>
                          <a:effectLst/>
                          <a:latin typeface="Calibri"/>
                        </a:rPr>
                        <a:t>-9.5</a:t>
                      </a:r>
                      <a:endParaRPr lang="en-US" sz="1100" b="1" i="0" u="none" strike="noStrike">
                        <a:solidFill>
                          <a:srgbClr val="000000"/>
                        </a:solidFill>
                        <a:effectLst/>
                        <a:latin typeface="+mn-lt"/>
                      </a:endParaRPr>
                    </a:p>
                  </a:txBody>
                  <a:tcPr marL="6350" marR="6350" marT="6350" marB="0" anchor="ctr"/>
                </a:tc>
                <a:tc>
                  <a:txBody>
                    <a:bodyPr/>
                    <a:lstStyle/>
                    <a:p>
                      <a:pPr lvl="0" algn="ctr">
                        <a:buNone/>
                      </a:pPr>
                      <a:r>
                        <a:rPr lang="en-IN" sz="1100" b="1" i="0" u="none" strike="noStrike">
                          <a:solidFill>
                            <a:srgbClr val="000000"/>
                          </a:solidFill>
                          <a:effectLst/>
                          <a:latin typeface="Calibri"/>
                        </a:rPr>
                        <a:t>-10.6</a:t>
                      </a:r>
                      <a:endParaRPr lang="en-US" sz="1100" b="1" i="0" u="none" strike="noStrike">
                        <a:solidFill>
                          <a:srgbClr val="000000"/>
                        </a:solidFill>
                        <a:effectLst/>
                        <a:latin typeface="+mn-lt"/>
                      </a:endParaRPr>
                    </a:p>
                  </a:txBody>
                  <a:tcPr marL="6350" marR="6350" marT="6350" marB="0" anchor="ctr"/>
                </a:tc>
                <a:extLst>
                  <a:ext uri="{0D108BD9-81ED-4DB2-BD59-A6C34878D82A}">
                    <a16:rowId xmlns:a16="http://schemas.microsoft.com/office/drawing/2014/main" val="3498926890"/>
                  </a:ext>
                </a:extLst>
              </a:tr>
              <a:tr h="294495">
                <a:tc>
                  <a:txBody>
                    <a:bodyPr/>
                    <a:lstStyle/>
                    <a:p>
                      <a:pPr lvl="0" algn="l">
                        <a:buNone/>
                      </a:pPr>
                      <a:r>
                        <a:rPr lang="en-IN" sz="1050" b="0" i="0" u="none" strike="noStrike">
                          <a:solidFill>
                            <a:srgbClr val="000000"/>
                          </a:solidFill>
                          <a:effectLst/>
                          <a:latin typeface="+mn-lt"/>
                          <a:ea typeface="Lato Regular"/>
                          <a:cs typeface="Lato Regular"/>
                        </a:rPr>
                        <a:t>% EBITDA</a:t>
                      </a:r>
                      <a:endParaRPr lang="en-IN" sz="1050" i="0">
                        <a:solidFill>
                          <a:srgbClr val="000000"/>
                        </a:solidFill>
                        <a:latin typeface="+mn-lt"/>
                        <a:ea typeface="Lato Regular"/>
                        <a:cs typeface="Lato Regular"/>
                      </a:endParaRPr>
                    </a:p>
                  </a:txBody>
                  <a:tcPr marL="76200" marR="0" marT="0" marB="0" anchor="ctr"/>
                </a:tc>
                <a:tc>
                  <a:txBody>
                    <a:bodyPr/>
                    <a:lstStyle/>
                    <a:p>
                      <a:pPr lvl="0" algn="ctr">
                        <a:buNone/>
                      </a:pPr>
                      <a:r>
                        <a:rPr lang="en-IN" sz="1100" b="0" i="0" u="none" strike="noStrike">
                          <a:solidFill>
                            <a:srgbClr val="000000"/>
                          </a:solidFill>
                          <a:effectLst/>
                          <a:latin typeface="Calibri"/>
                        </a:rPr>
                        <a:t>-188.5%</a:t>
                      </a:r>
                      <a:endParaRPr lang="en-IN" b="0" i="0">
                        <a:solidFill>
                          <a:srgbClr val="000000"/>
                        </a:solidFill>
                        <a:latin typeface="Calibri"/>
                      </a:endParaRPr>
                    </a:p>
                  </a:txBody>
                  <a:tcPr marL="6350" marR="6350" marT="6350" marB="0" anchor="ctr"/>
                </a:tc>
                <a:tc>
                  <a:txBody>
                    <a:bodyPr/>
                    <a:lstStyle/>
                    <a:p>
                      <a:pPr lvl="0" algn="ctr">
                        <a:buNone/>
                      </a:pPr>
                      <a:r>
                        <a:rPr lang="en-IN" sz="1100" b="0" i="0" u="none" strike="noStrike">
                          <a:solidFill>
                            <a:srgbClr val="000000"/>
                          </a:solidFill>
                          <a:effectLst/>
                          <a:latin typeface="Calibri"/>
                        </a:rPr>
                        <a:t>-140.1%</a:t>
                      </a:r>
                      <a:endParaRPr lang="en-IN" b="0" i="0">
                        <a:solidFill>
                          <a:srgbClr val="000000"/>
                        </a:solidFill>
                        <a:latin typeface="Calibri"/>
                      </a:endParaRPr>
                    </a:p>
                  </a:txBody>
                  <a:tcPr marL="6350" marR="6350" marT="6350" marB="0" anchor="ctr"/>
                </a:tc>
                <a:tc>
                  <a:txBody>
                    <a:bodyPr/>
                    <a:lstStyle/>
                    <a:p>
                      <a:pPr lvl="0" algn="ctr">
                        <a:buNone/>
                      </a:pPr>
                      <a:r>
                        <a:rPr lang="en-IN" sz="1100" b="0" i="0" u="none" strike="noStrike">
                          <a:solidFill>
                            <a:srgbClr val="000000"/>
                          </a:solidFill>
                          <a:effectLst/>
                          <a:latin typeface="Calibri"/>
                        </a:rPr>
                        <a:t>-82.2%</a:t>
                      </a:r>
                    </a:p>
                  </a:txBody>
                  <a:tcPr marL="6350" marR="6350" marT="6350" marB="0" anchor="ctr"/>
                </a:tc>
                <a:tc>
                  <a:txBody>
                    <a:bodyPr/>
                    <a:lstStyle/>
                    <a:p>
                      <a:pPr lvl="0" algn="ctr">
                        <a:buNone/>
                      </a:pPr>
                      <a:r>
                        <a:rPr lang="en-IN" sz="1100" b="0" i="0" u="none" strike="noStrike">
                          <a:solidFill>
                            <a:srgbClr val="000000"/>
                          </a:solidFill>
                          <a:effectLst/>
                          <a:latin typeface="Calibri"/>
                        </a:rPr>
                        <a:t>-225.9%</a:t>
                      </a:r>
                    </a:p>
                  </a:txBody>
                  <a:tcPr marL="6350" marR="6350" marT="6350" marB="0" anchor="ctr"/>
                </a:tc>
                <a:tc>
                  <a:txBody>
                    <a:bodyPr/>
                    <a:lstStyle/>
                    <a:p>
                      <a:pPr lvl="0" algn="ctr">
                        <a:buNone/>
                      </a:pPr>
                      <a:r>
                        <a:rPr lang="en-IN" sz="1100" b="0" i="0" u="none" strike="noStrike">
                          <a:solidFill>
                            <a:srgbClr val="000000"/>
                          </a:solidFill>
                          <a:effectLst/>
                          <a:latin typeface="Calibri"/>
                        </a:rPr>
                        <a:t>-181.9%</a:t>
                      </a:r>
                    </a:p>
                  </a:txBody>
                  <a:tcPr marL="6350" marR="6350" marT="6350" marB="0" anchor="ctr"/>
                </a:tc>
                <a:extLst>
                  <a:ext uri="{0D108BD9-81ED-4DB2-BD59-A6C34878D82A}">
                    <a16:rowId xmlns:a16="http://schemas.microsoft.com/office/drawing/2014/main" val="3759208202"/>
                  </a:ext>
                </a:extLst>
              </a:tr>
            </a:tbl>
          </a:graphicData>
        </a:graphic>
      </p:graphicFrame>
      <p:sp>
        <p:nvSpPr>
          <p:cNvPr id="11" name="TextBox 10">
            <a:extLst>
              <a:ext uri="{FF2B5EF4-FFF2-40B4-BE49-F238E27FC236}">
                <a16:creationId xmlns:a16="http://schemas.microsoft.com/office/drawing/2014/main" id="{E119687B-592D-7E3F-1484-49492F08179F}"/>
              </a:ext>
            </a:extLst>
          </p:cNvPr>
          <p:cNvSpPr txBox="1"/>
          <p:nvPr/>
        </p:nvSpPr>
        <p:spPr>
          <a:xfrm>
            <a:off x="5539984" y="1433554"/>
            <a:ext cx="3607078" cy="227883"/>
          </a:xfrm>
          <a:prstGeom prst="rect">
            <a:avLst/>
          </a:prstGeom>
          <a:noFill/>
        </p:spPr>
        <p:txBody>
          <a:bodyPr wrap="square" lIns="0" tIns="0" rIns="0" bIns="0" rtlCol="0">
            <a:spAutoFit/>
          </a:bodyPr>
          <a:lstStyle/>
          <a:p>
            <a:r>
              <a:rPr lang="en-IN" sz="1481" b="1">
                <a:solidFill>
                  <a:schemeClr val="tx2"/>
                </a:solidFill>
                <a:ea typeface="Lato Regular" panose="020F0502020204030203" pitchFamily="34" charset="0"/>
                <a:cs typeface="Lato Regular" panose="020F0502020204030203" pitchFamily="34" charset="0"/>
              </a:rPr>
              <a:t>Key Performance Indicators</a:t>
            </a:r>
          </a:p>
        </p:txBody>
      </p:sp>
      <p:graphicFrame>
        <p:nvGraphicFramePr>
          <p:cNvPr id="12" name="Table 11">
            <a:extLst>
              <a:ext uri="{FF2B5EF4-FFF2-40B4-BE49-F238E27FC236}">
                <a16:creationId xmlns:a16="http://schemas.microsoft.com/office/drawing/2014/main" id="{A00F871F-4037-4149-240C-E6CA0D583C24}"/>
              </a:ext>
            </a:extLst>
          </p:cNvPr>
          <p:cNvGraphicFramePr>
            <a:graphicFrameLocks noGrp="1"/>
          </p:cNvGraphicFramePr>
          <p:nvPr/>
        </p:nvGraphicFramePr>
        <p:xfrm>
          <a:off x="5539984" y="1815207"/>
          <a:ext cx="5765844" cy="1312875"/>
        </p:xfrm>
        <a:graphic>
          <a:graphicData uri="http://schemas.openxmlformats.org/drawingml/2006/table">
            <a:tbl>
              <a:tblPr firstRow="1" bandRow="1">
                <a:tableStyleId>{69012ECD-51FC-41F1-AA8D-1B2483CD663E}</a:tableStyleId>
              </a:tblPr>
              <a:tblGrid>
                <a:gridCol w="2200275">
                  <a:extLst>
                    <a:ext uri="{9D8B030D-6E8A-4147-A177-3AD203B41FA5}">
                      <a16:colId xmlns:a16="http://schemas.microsoft.com/office/drawing/2014/main" val="3001066899"/>
                    </a:ext>
                  </a:extLst>
                </a:gridCol>
                <a:gridCol w="461817">
                  <a:extLst>
                    <a:ext uri="{9D8B030D-6E8A-4147-A177-3AD203B41FA5}">
                      <a16:colId xmlns:a16="http://schemas.microsoft.com/office/drawing/2014/main" val="700748351"/>
                    </a:ext>
                  </a:extLst>
                </a:gridCol>
                <a:gridCol w="775938">
                  <a:extLst>
                    <a:ext uri="{9D8B030D-6E8A-4147-A177-3AD203B41FA5}">
                      <a16:colId xmlns:a16="http://schemas.microsoft.com/office/drawing/2014/main" val="3274968397"/>
                    </a:ext>
                  </a:extLst>
                </a:gridCol>
                <a:gridCol w="775938">
                  <a:extLst>
                    <a:ext uri="{9D8B030D-6E8A-4147-A177-3AD203B41FA5}">
                      <a16:colId xmlns:a16="http://schemas.microsoft.com/office/drawing/2014/main" val="3607597589"/>
                    </a:ext>
                  </a:extLst>
                </a:gridCol>
                <a:gridCol w="775938">
                  <a:extLst>
                    <a:ext uri="{9D8B030D-6E8A-4147-A177-3AD203B41FA5}">
                      <a16:colId xmlns:a16="http://schemas.microsoft.com/office/drawing/2014/main" val="746035582"/>
                    </a:ext>
                  </a:extLst>
                </a:gridCol>
                <a:gridCol w="775938">
                  <a:extLst>
                    <a:ext uri="{9D8B030D-6E8A-4147-A177-3AD203B41FA5}">
                      <a16:colId xmlns:a16="http://schemas.microsoft.com/office/drawing/2014/main" val="230250461"/>
                    </a:ext>
                  </a:extLst>
                </a:gridCol>
              </a:tblGrid>
              <a:tr h="262575">
                <a:tc>
                  <a:txBody>
                    <a:bodyPr/>
                    <a:lstStyle/>
                    <a:p>
                      <a:pPr lvl="0" algn="l">
                        <a:buNone/>
                      </a:pPr>
                      <a:r>
                        <a:rPr lang="en-US" sz="1050" b="1" i="0" u="none" strike="noStrike">
                          <a:solidFill>
                            <a:schemeClr val="bg1"/>
                          </a:solidFill>
                          <a:effectLst/>
                          <a:latin typeface="Aptos"/>
                          <a:ea typeface="Lato Regular"/>
                          <a:cs typeface="Lato Regular"/>
                        </a:rPr>
                        <a:t>KPIs</a:t>
                      </a:r>
                    </a:p>
                  </a:txBody>
                  <a:tcPr marL="108000" marR="6350" marT="6350" marB="0" anchor="ctr"/>
                </a:tc>
                <a:tc>
                  <a:txBody>
                    <a:bodyPr/>
                    <a:lstStyle/>
                    <a:p>
                      <a:pPr lvl="0" algn="ctr">
                        <a:buNone/>
                      </a:pPr>
                      <a:r>
                        <a:rPr lang="en-US" sz="1050" b="1" u="none" strike="noStrike">
                          <a:solidFill>
                            <a:schemeClr val="bg1"/>
                          </a:solidFill>
                          <a:effectLst/>
                          <a:latin typeface="Aptos"/>
                          <a:ea typeface="Lato Regular"/>
                          <a:cs typeface="Lato Regular"/>
                        </a:rPr>
                        <a:t>FY24</a:t>
                      </a:r>
                      <a:endParaRPr lang="en-US" sz="1050" b="1" i="0" u="none" strike="noStrike">
                        <a:solidFill>
                          <a:schemeClr val="bg1"/>
                        </a:solidFill>
                        <a:effectLst/>
                        <a:latin typeface="Aptos"/>
                        <a:ea typeface="Lato Regular"/>
                        <a:cs typeface="Lato Regular"/>
                      </a:endParaRPr>
                    </a:p>
                  </a:txBody>
                  <a:tcPr marL="6350" marR="6350" marT="6350" marB="0" anchor="ctr"/>
                </a:tc>
                <a:tc>
                  <a:txBody>
                    <a:bodyPr/>
                    <a:lstStyle/>
                    <a:p>
                      <a:pPr lvl="0" algn="ctr">
                        <a:buNone/>
                      </a:pPr>
                      <a:r>
                        <a:rPr lang="en-US" sz="1050" b="1" u="none" strike="noStrike">
                          <a:solidFill>
                            <a:schemeClr val="bg1"/>
                          </a:solidFill>
                          <a:effectLst/>
                          <a:latin typeface="Aptos"/>
                          <a:ea typeface="Lato Regular"/>
                          <a:cs typeface="Lato Regular"/>
                        </a:rPr>
                        <a:t>FY25</a:t>
                      </a:r>
                      <a:endParaRPr lang="en-US" sz="1050" b="1" i="0" u="none" strike="noStrike">
                        <a:solidFill>
                          <a:schemeClr val="bg1"/>
                        </a:solidFill>
                        <a:effectLst/>
                        <a:latin typeface="Aptos"/>
                        <a:ea typeface="Lato Regular"/>
                        <a:cs typeface="Lato Regular"/>
                      </a:endParaRPr>
                    </a:p>
                  </a:txBody>
                  <a:tcPr marL="6350" marR="6350" marT="6350" marB="0" anchor="ctr"/>
                </a:tc>
                <a:tc>
                  <a:txBody>
                    <a:bodyPr/>
                    <a:lstStyle/>
                    <a:p>
                      <a:pPr lvl="0" algn="ctr">
                        <a:buNone/>
                      </a:pPr>
                      <a:r>
                        <a:rPr lang="en-US" sz="1050" b="1" i="0" u="none" strike="noStrike">
                          <a:solidFill>
                            <a:schemeClr val="bg1"/>
                          </a:solidFill>
                          <a:effectLst/>
                          <a:latin typeface="Aptos"/>
                          <a:ea typeface="Lato Regular"/>
                          <a:cs typeface="Lato Regular"/>
                        </a:rPr>
                        <a:t>FY26</a:t>
                      </a:r>
                      <a:endParaRPr lang="en-US" sz="1050" i="0">
                        <a:latin typeface="Aptos"/>
                      </a:endParaRPr>
                    </a:p>
                  </a:txBody>
                  <a:tcPr marL="6350" marR="6350" marT="6350" marB="0" anchor="ctr"/>
                </a:tc>
                <a:tc>
                  <a:txBody>
                    <a:bodyPr/>
                    <a:lstStyle/>
                    <a:p>
                      <a:pPr lvl="0" algn="ctr">
                        <a:buNone/>
                      </a:pPr>
                      <a:r>
                        <a:rPr lang="en-US" sz="1050" b="1" u="none" strike="noStrike">
                          <a:solidFill>
                            <a:schemeClr val="bg1"/>
                          </a:solidFill>
                          <a:effectLst/>
                          <a:latin typeface="Aptos"/>
                          <a:ea typeface="Lato Regular"/>
                          <a:cs typeface="Lato Regular"/>
                        </a:rPr>
                        <a:t>Q4FY25</a:t>
                      </a:r>
                      <a:endParaRPr lang="en-US" sz="1050" b="1" i="0" u="none" strike="noStrike">
                        <a:solidFill>
                          <a:schemeClr val="bg1"/>
                        </a:solidFill>
                        <a:effectLst/>
                        <a:latin typeface="Aptos"/>
                        <a:ea typeface="Lato Regular"/>
                        <a:cs typeface="Lato Regular"/>
                      </a:endParaRPr>
                    </a:p>
                  </a:txBody>
                  <a:tcPr marL="6350" marR="6350" marT="6350" marB="0" anchor="ctr"/>
                </a:tc>
                <a:tc>
                  <a:txBody>
                    <a:bodyPr/>
                    <a:lstStyle/>
                    <a:p>
                      <a:pPr lvl="0" algn="ctr">
                        <a:buNone/>
                      </a:pPr>
                      <a:r>
                        <a:rPr lang="en-US" sz="1050" b="1" u="none" strike="noStrike">
                          <a:solidFill>
                            <a:schemeClr val="bg1"/>
                          </a:solidFill>
                          <a:effectLst/>
                          <a:latin typeface="Aptos"/>
                          <a:ea typeface="Lato Regular"/>
                          <a:cs typeface="Lato Regular"/>
                        </a:rPr>
                        <a:t>Q4FY26</a:t>
                      </a:r>
                      <a:endParaRPr lang="en-US" sz="1050" b="1" i="0" u="none" strike="noStrike">
                        <a:solidFill>
                          <a:schemeClr val="bg1"/>
                        </a:solidFill>
                        <a:effectLst/>
                        <a:latin typeface="Aptos"/>
                        <a:ea typeface="Lato Regular"/>
                        <a:cs typeface="Lato Regular"/>
                      </a:endParaRPr>
                    </a:p>
                  </a:txBody>
                  <a:tcPr marL="6350" marR="6350" marT="6350" marB="0" anchor="ctr"/>
                </a:tc>
                <a:extLst>
                  <a:ext uri="{0D108BD9-81ED-4DB2-BD59-A6C34878D82A}">
                    <a16:rowId xmlns:a16="http://schemas.microsoft.com/office/drawing/2014/main" val="3735237806"/>
                  </a:ext>
                </a:extLst>
              </a:tr>
              <a:tr h="262575">
                <a:tc>
                  <a:txBody>
                    <a:bodyPr/>
                    <a:lstStyle/>
                    <a:p>
                      <a:pPr lvl="0" algn="l">
                        <a:buNone/>
                      </a:pPr>
                      <a:r>
                        <a:rPr lang="en-IN" sz="1050" b="0" i="0" u="none" strike="noStrike">
                          <a:solidFill>
                            <a:srgbClr val="000000"/>
                          </a:solidFill>
                          <a:effectLst/>
                          <a:latin typeface="+mj-lt"/>
                          <a:ea typeface="Lato Regular"/>
                          <a:cs typeface="Lato Regular"/>
                        </a:rPr>
                        <a:t>Total Disbursals</a:t>
                      </a:r>
                      <a:endParaRPr lang="en-US"/>
                    </a:p>
                  </a:txBody>
                  <a:tcPr marL="108000" marR="0" marT="0" marB="0" anchor="ctr"/>
                </a:tc>
                <a:tc>
                  <a:txBody>
                    <a:bodyPr/>
                    <a:lstStyle/>
                    <a:p>
                      <a:pPr lvl="0" algn="ctr">
                        <a:buNone/>
                      </a:pPr>
                      <a:r>
                        <a:rPr lang="en-IN" sz="1050" b="0" i="0" u="none" strike="noStrike">
                          <a:solidFill>
                            <a:srgbClr val="000000"/>
                          </a:solidFill>
                          <a:effectLst/>
                          <a:latin typeface="+mj-lt"/>
                        </a:rPr>
                        <a:t>826.6</a:t>
                      </a:r>
                      <a:endParaRPr lang="en-US" sz="1100" b="0" i="0" u="none" strike="noStrike">
                        <a:solidFill>
                          <a:schemeClr val="bg2">
                            <a:lumMod val="10000"/>
                          </a:schemeClr>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lvl="0" algn="ctr">
                        <a:buNone/>
                      </a:pPr>
                      <a:r>
                        <a:rPr lang="en-IN" sz="1050" b="0" i="0" u="none" strike="noStrike">
                          <a:solidFill>
                            <a:srgbClr val="000000"/>
                          </a:solidFill>
                          <a:effectLst/>
                          <a:latin typeface="+mj-lt"/>
                        </a:rPr>
                        <a:t>1208.7</a:t>
                      </a:r>
                      <a:endParaRPr lang="en-US" sz="1100" b="0" i="0" u="none" strike="noStrike">
                        <a:solidFill>
                          <a:schemeClr val="bg2">
                            <a:lumMod val="10000"/>
                          </a:schemeClr>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lvl="0" algn="ctr">
                        <a:buNone/>
                      </a:pPr>
                      <a:r>
                        <a:rPr lang="en-IN" sz="1050" b="0" i="0" u="none" strike="noStrike">
                          <a:solidFill>
                            <a:srgbClr val="000000"/>
                          </a:solidFill>
                          <a:effectLst/>
                          <a:latin typeface="+mj-lt"/>
                        </a:rPr>
                        <a:t>1738.3</a:t>
                      </a:r>
                      <a:endParaRPr lang="en-US" sz="1100" b="0" i="0" u="none" strike="noStrike">
                        <a:solidFill>
                          <a:schemeClr val="bg2">
                            <a:lumMod val="10000"/>
                          </a:schemeClr>
                        </a:solidFill>
                        <a:effectLst/>
                        <a:latin typeface="+mn-lt"/>
                        <a:ea typeface="Lato Regular"/>
                        <a:cs typeface="Lato Regular"/>
                      </a:endParaRPr>
                    </a:p>
                  </a:txBody>
                  <a:tcPr marL="6350" marR="6350" marT="6350" marB="0" anchor="ctr"/>
                </a:tc>
                <a:tc>
                  <a:txBody>
                    <a:bodyPr/>
                    <a:lstStyle/>
                    <a:p>
                      <a:pPr lvl="0" algn="ctr">
                        <a:buNone/>
                      </a:pPr>
                      <a:r>
                        <a:rPr lang="en-IN" sz="1050" b="0" i="0" u="none" strike="noStrike">
                          <a:solidFill>
                            <a:srgbClr val="000000"/>
                          </a:solidFill>
                          <a:effectLst/>
                          <a:latin typeface="+mj-lt"/>
                        </a:rPr>
                        <a:t>238.2</a:t>
                      </a:r>
                      <a:endParaRPr lang="en-US" sz="1100" b="0" i="0" u="none" strike="noStrike">
                        <a:solidFill>
                          <a:schemeClr val="bg2">
                            <a:lumMod val="10000"/>
                          </a:schemeClr>
                        </a:solidFill>
                        <a:effectLst/>
                        <a:latin typeface="+mn-lt"/>
                        <a:ea typeface="Lato Regular"/>
                        <a:cs typeface="Lato Regular"/>
                      </a:endParaRPr>
                    </a:p>
                  </a:txBody>
                  <a:tcPr marL="6350" marR="6350" marT="6350" marB="0" anchor="ctr"/>
                </a:tc>
                <a:tc>
                  <a:txBody>
                    <a:bodyPr/>
                    <a:lstStyle/>
                    <a:p>
                      <a:pPr lvl="0" algn="ctr">
                        <a:buNone/>
                      </a:pPr>
                      <a:r>
                        <a:rPr lang="en-IN" sz="1050" b="0" i="0" u="none" strike="noStrike">
                          <a:solidFill>
                            <a:srgbClr val="000000"/>
                          </a:solidFill>
                          <a:effectLst/>
                          <a:latin typeface="+mj-lt"/>
                        </a:rPr>
                        <a:t>311.8</a:t>
                      </a:r>
                      <a:endParaRPr lang="en-US" sz="1100" b="0" i="0" u="none" strike="noStrike">
                        <a:solidFill>
                          <a:schemeClr val="bg2">
                            <a:lumMod val="10000"/>
                          </a:schemeClr>
                        </a:solidFill>
                        <a:effectLst/>
                        <a:latin typeface="+mn-lt"/>
                        <a:ea typeface="Lato Regular"/>
                        <a:cs typeface="Lato Regular"/>
                      </a:endParaRPr>
                    </a:p>
                  </a:txBody>
                  <a:tcPr marL="6350" marR="6350" marT="6350" marB="0" anchor="ctr"/>
                </a:tc>
                <a:extLst>
                  <a:ext uri="{0D108BD9-81ED-4DB2-BD59-A6C34878D82A}">
                    <a16:rowId xmlns:a16="http://schemas.microsoft.com/office/drawing/2014/main" val="2159784742"/>
                  </a:ext>
                </a:extLst>
              </a:tr>
              <a:tr h="262575">
                <a:tc>
                  <a:txBody>
                    <a:bodyPr/>
                    <a:lstStyle/>
                    <a:p>
                      <a:pPr lvl="0" algn="l">
                        <a:buNone/>
                      </a:pPr>
                      <a:r>
                        <a:rPr lang="en-IN" sz="1050" b="0" i="0" u="none" strike="noStrike">
                          <a:solidFill>
                            <a:srgbClr val="000000"/>
                          </a:solidFill>
                          <a:effectLst/>
                          <a:latin typeface="+mj-lt"/>
                          <a:ea typeface="Lato Regular"/>
                          <a:cs typeface="Lato Regular"/>
                        </a:rPr>
                        <a:t>Schools</a:t>
                      </a:r>
                      <a:endParaRPr lang="en-US"/>
                    </a:p>
                  </a:txBody>
                  <a:tcPr marL="108000" marR="0" marT="0" marB="0" anchor="ctr"/>
                </a:tc>
                <a:tc>
                  <a:txBody>
                    <a:bodyPr/>
                    <a:lstStyle/>
                    <a:p>
                      <a:pPr lvl="0" algn="ctr">
                        <a:buNone/>
                      </a:pPr>
                      <a:r>
                        <a:rPr lang="en-IN" sz="1050" b="0" i="0" u="none" strike="noStrike">
                          <a:solidFill>
                            <a:srgbClr val="000000"/>
                          </a:solidFill>
                          <a:effectLst/>
                          <a:latin typeface="+mj-lt"/>
                        </a:rPr>
                        <a:t>67.9%</a:t>
                      </a:r>
                      <a:endParaRPr lang="en-US" sz="1100" b="0" i="0" u="none" strike="noStrike">
                        <a:solidFill>
                          <a:schemeClr val="bg2">
                            <a:lumMod val="10000"/>
                          </a:schemeClr>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lvl="0" algn="ctr">
                        <a:buNone/>
                      </a:pPr>
                      <a:r>
                        <a:rPr lang="en-IN" sz="1050" b="0" i="0" u="none" strike="noStrike">
                          <a:solidFill>
                            <a:srgbClr val="000000"/>
                          </a:solidFill>
                          <a:effectLst/>
                          <a:latin typeface="+mj-lt"/>
                        </a:rPr>
                        <a:t>65.8%</a:t>
                      </a:r>
                      <a:endParaRPr lang="en-US" sz="1100" b="0" i="0" u="none" strike="noStrike">
                        <a:solidFill>
                          <a:schemeClr val="bg2">
                            <a:lumMod val="10000"/>
                          </a:schemeClr>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lvl="0" algn="ctr">
                        <a:buNone/>
                      </a:pPr>
                      <a:r>
                        <a:rPr lang="en-IN" sz="1050" b="0" i="0" u="none" strike="noStrike">
                          <a:solidFill>
                            <a:srgbClr val="000000"/>
                          </a:solidFill>
                          <a:effectLst/>
                          <a:latin typeface="+mj-lt"/>
                        </a:rPr>
                        <a:t>83.5%</a:t>
                      </a:r>
                      <a:endParaRPr lang="en-US" sz="1100" b="0" i="0" u="none" strike="noStrike">
                        <a:solidFill>
                          <a:schemeClr val="bg2">
                            <a:lumMod val="10000"/>
                          </a:schemeClr>
                        </a:solidFill>
                        <a:effectLst/>
                        <a:latin typeface="+mn-lt"/>
                        <a:ea typeface="Lato Regular"/>
                        <a:cs typeface="Lato Regular"/>
                      </a:endParaRPr>
                    </a:p>
                  </a:txBody>
                  <a:tcPr marL="6350" marR="6350" marT="6350" marB="0" anchor="ctr"/>
                </a:tc>
                <a:tc>
                  <a:txBody>
                    <a:bodyPr/>
                    <a:lstStyle/>
                    <a:p>
                      <a:pPr lvl="0" algn="ctr">
                        <a:buNone/>
                      </a:pPr>
                      <a:r>
                        <a:rPr lang="en-IN" sz="1050" b="0" i="0" u="none" strike="noStrike">
                          <a:solidFill>
                            <a:srgbClr val="000000"/>
                          </a:solidFill>
                          <a:effectLst/>
                          <a:latin typeface="+mj-lt"/>
                        </a:rPr>
                        <a:t>63.4%</a:t>
                      </a:r>
                      <a:endParaRPr lang="en-US" sz="1100" b="0" i="0" u="none" strike="noStrike">
                        <a:solidFill>
                          <a:schemeClr val="bg2">
                            <a:lumMod val="10000"/>
                          </a:schemeClr>
                        </a:solidFill>
                        <a:effectLst/>
                        <a:latin typeface="+mn-lt"/>
                        <a:ea typeface="Lato Regular"/>
                        <a:cs typeface="Lato Regular"/>
                      </a:endParaRPr>
                    </a:p>
                  </a:txBody>
                  <a:tcPr marL="6350" marR="6350" marT="6350" marB="0" anchor="ctr"/>
                </a:tc>
                <a:tc>
                  <a:txBody>
                    <a:bodyPr/>
                    <a:lstStyle/>
                    <a:p>
                      <a:pPr lvl="0" algn="ctr">
                        <a:buNone/>
                      </a:pPr>
                      <a:r>
                        <a:rPr lang="en-IN" sz="1050" b="0" i="0" u="none" strike="noStrike">
                          <a:solidFill>
                            <a:srgbClr val="000000"/>
                          </a:solidFill>
                          <a:effectLst/>
                          <a:latin typeface="+mj-lt"/>
                        </a:rPr>
                        <a:t>83.5%</a:t>
                      </a:r>
                      <a:endParaRPr lang="en-US" sz="1100" b="0" i="0" u="none" strike="noStrike">
                        <a:solidFill>
                          <a:schemeClr val="bg2">
                            <a:lumMod val="10000"/>
                          </a:schemeClr>
                        </a:solidFill>
                        <a:effectLst/>
                        <a:latin typeface="+mn-lt"/>
                        <a:ea typeface="Lato Regular"/>
                        <a:cs typeface="Lato Regular"/>
                      </a:endParaRPr>
                    </a:p>
                  </a:txBody>
                  <a:tcPr marL="6350" marR="6350" marT="6350" marB="0" anchor="ctr"/>
                </a:tc>
                <a:extLst>
                  <a:ext uri="{0D108BD9-81ED-4DB2-BD59-A6C34878D82A}">
                    <a16:rowId xmlns:a16="http://schemas.microsoft.com/office/drawing/2014/main" val="2809398452"/>
                  </a:ext>
                </a:extLst>
              </a:tr>
              <a:tr h="262575">
                <a:tc>
                  <a:txBody>
                    <a:bodyPr/>
                    <a:lstStyle/>
                    <a:p>
                      <a:pPr lvl="0" algn="l">
                        <a:buNone/>
                      </a:pPr>
                      <a:r>
                        <a:rPr lang="en-IN" sz="1050" b="0" i="0" u="none" strike="noStrike">
                          <a:solidFill>
                            <a:srgbClr val="000000"/>
                          </a:solidFill>
                          <a:effectLst/>
                          <a:latin typeface="+mj-lt"/>
                          <a:ea typeface="Lato Regular"/>
                          <a:cs typeface="Lato Regular"/>
                        </a:rPr>
                        <a:t>Colleges</a:t>
                      </a:r>
                      <a:endParaRPr lang="en-US"/>
                    </a:p>
                  </a:txBody>
                  <a:tcPr marL="108000" marR="0" marT="0" marB="0" anchor="ctr"/>
                </a:tc>
                <a:tc>
                  <a:txBody>
                    <a:bodyPr/>
                    <a:lstStyle/>
                    <a:p>
                      <a:pPr lvl="0" algn="ctr">
                        <a:buNone/>
                      </a:pPr>
                      <a:r>
                        <a:rPr lang="en-IN" sz="1050" b="0" i="0" u="none" strike="noStrike">
                          <a:solidFill>
                            <a:srgbClr val="000000"/>
                          </a:solidFill>
                          <a:effectLst/>
                          <a:latin typeface="+mj-lt"/>
                        </a:rPr>
                        <a:t>26.3%</a:t>
                      </a:r>
                      <a:endParaRPr lang="en-US" sz="1100" b="0" i="0" u="none" strike="noStrike">
                        <a:solidFill>
                          <a:schemeClr val="bg2">
                            <a:lumMod val="10000"/>
                          </a:schemeClr>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lvl="0" algn="ctr">
                        <a:buNone/>
                      </a:pPr>
                      <a:r>
                        <a:rPr lang="en-IN" sz="1050" b="0" i="0" u="none" strike="noStrike">
                          <a:solidFill>
                            <a:srgbClr val="000000"/>
                          </a:solidFill>
                          <a:effectLst/>
                          <a:latin typeface="+mj-lt"/>
                        </a:rPr>
                        <a:t>29.0%</a:t>
                      </a:r>
                      <a:endParaRPr lang="en-US" sz="1100" b="0" i="0" u="none" strike="noStrike">
                        <a:solidFill>
                          <a:schemeClr val="bg2">
                            <a:lumMod val="10000"/>
                          </a:schemeClr>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lvl="0" algn="ctr">
                        <a:buNone/>
                      </a:pPr>
                      <a:r>
                        <a:rPr lang="en-IN" sz="1050" b="0" i="0" u="none" strike="noStrike">
                          <a:solidFill>
                            <a:srgbClr val="000000"/>
                          </a:solidFill>
                          <a:effectLst/>
                          <a:latin typeface="+mj-lt"/>
                        </a:rPr>
                        <a:t>5.5%</a:t>
                      </a:r>
                      <a:endParaRPr lang="en-US" sz="1100" b="0" i="0" u="none" strike="noStrike">
                        <a:solidFill>
                          <a:schemeClr val="bg2">
                            <a:lumMod val="10000"/>
                          </a:schemeClr>
                        </a:solidFill>
                        <a:effectLst/>
                        <a:latin typeface="+mn-lt"/>
                        <a:ea typeface="Lato Regular"/>
                        <a:cs typeface="Lato Regular"/>
                      </a:endParaRPr>
                    </a:p>
                  </a:txBody>
                  <a:tcPr marL="6350" marR="6350" marT="6350" marB="0" anchor="ctr"/>
                </a:tc>
                <a:tc>
                  <a:txBody>
                    <a:bodyPr/>
                    <a:lstStyle/>
                    <a:p>
                      <a:pPr lvl="0" algn="ctr">
                        <a:buNone/>
                      </a:pPr>
                      <a:r>
                        <a:rPr lang="en-IN" sz="1050" b="0" i="0" u="none" strike="noStrike">
                          <a:solidFill>
                            <a:srgbClr val="000000"/>
                          </a:solidFill>
                          <a:effectLst/>
                          <a:latin typeface="+mj-lt"/>
                        </a:rPr>
                        <a:t>21.8%</a:t>
                      </a:r>
                      <a:endParaRPr lang="en-US" sz="1100" b="0" i="0" u="none" strike="noStrike">
                        <a:solidFill>
                          <a:schemeClr val="bg2">
                            <a:lumMod val="10000"/>
                          </a:schemeClr>
                        </a:solidFill>
                        <a:effectLst/>
                        <a:latin typeface="+mn-lt"/>
                        <a:ea typeface="Lato Regular"/>
                        <a:cs typeface="Lato Regular"/>
                      </a:endParaRPr>
                    </a:p>
                  </a:txBody>
                  <a:tcPr marL="6350" marR="6350" marT="6350" marB="0" anchor="ctr"/>
                </a:tc>
                <a:tc>
                  <a:txBody>
                    <a:bodyPr/>
                    <a:lstStyle/>
                    <a:p>
                      <a:pPr lvl="0" algn="ctr">
                        <a:buNone/>
                      </a:pPr>
                      <a:r>
                        <a:rPr lang="en-IN" sz="1050" b="0" i="0" u="none" strike="noStrike">
                          <a:solidFill>
                            <a:srgbClr val="000000"/>
                          </a:solidFill>
                          <a:effectLst/>
                          <a:latin typeface="+mj-lt"/>
                        </a:rPr>
                        <a:t>5.5%</a:t>
                      </a:r>
                      <a:endParaRPr lang="en-US" sz="1100" b="0" i="0" u="none" strike="noStrike">
                        <a:solidFill>
                          <a:schemeClr val="bg2">
                            <a:lumMod val="10000"/>
                          </a:schemeClr>
                        </a:solidFill>
                        <a:effectLst/>
                        <a:latin typeface="+mn-lt"/>
                        <a:ea typeface="Lato Regular"/>
                        <a:cs typeface="Lato Regular"/>
                      </a:endParaRPr>
                    </a:p>
                  </a:txBody>
                  <a:tcPr marL="6350" marR="6350" marT="6350" marB="0" anchor="ctr"/>
                </a:tc>
                <a:extLst>
                  <a:ext uri="{0D108BD9-81ED-4DB2-BD59-A6C34878D82A}">
                    <a16:rowId xmlns:a16="http://schemas.microsoft.com/office/drawing/2014/main" val="4076501595"/>
                  </a:ext>
                </a:extLst>
              </a:tr>
              <a:tr h="262575">
                <a:tc>
                  <a:txBody>
                    <a:bodyPr/>
                    <a:lstStyle/>
                    <a:p>
                      <a:pPr lvl="0" algn="l">
                        <a:buNone/>
                      </a:pPr>
                      <a:r>
                        <a:rPr lang="en-IN" sz="1050" b="0" i="0" u="none" strike="noStrike" err="1">
                          <a:solidFill>
                            <a:srgbClr val="000000"/>
                          </a:solidFill>
                          <a:effectLst/>
                          <a:latin typeface="+mj-lt"/>
                          <a:ea typeface="Lato Regular"/>
                          <a:cs typeface="Lato Regular"/>
                        </a:rPr>
                        <a:t>Edtech</a:t>
                      </a:r>
                      <a:r>
                        <a:rPr lang="en-IN" sz="1050" b="0" i="0" u="none" strike="noStrike">
                          <a:solidFill>
                            <a:srgbClr val="000000"/>
                          </a:solidFill>
                          <a:effectLst/>
                          <a:latin typeface="+mj-lt"/>
                          <a:ea typeface="Lato Regular"/>
                          <a:cs typeface="Lato Regular"/>
                        </a:rPr>
                        <a:t> Platforms</a:t>
                      </a:r>
                      <a:endParaRPr lang="en-US"/>
                    </a:p>
                  </a:txBody>
                  <a:tcPr marL="108000" marR="0" marT="0" marB="0" anchor="ctr"/>
                </a:tc>
                <a:tc>
                  <a:txBody>
                    <a:bodyPr/>
                    <a:lstStyle/>
                    <a:p>
                      <a:pPr lvl="0" algn="ctr">
                        <a:buNone/>
                      </a:pPr>
                      <a:r>
                        <a:rPr lang="en-IN" sz="1050" b="0" i="0" u="none" strike="noStrike">
                          <a:solidFill>
                            <a:srgbClr val="000000"/>
                          </a:solidFill>
                          <a:effectLst/>
                          <a:latin typeface="+mj-lt"/>
                        </a:rPr>
                        <a:t>5.9%</a:t>
                      </a:r>
                      <a:endParaRPr lang="en-US" sz="1100" b="0" i="0" u="none" strike="noStrike">
                        <a:solidFill>
                          <a:schemeClr val="bg2">
                            <a:lumMod val="10000"/>
                          </a:schemeClr>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lvl="0" algn="ctr">
                        <a:buNone/>
                      </a:pPr>
                      <a:r>
                        <a:rPr lang="en-IN" sz="1050" b="0" i="0" u="none" strike="noStrike">
                          <a:solidFill>
                            <a:srgbClr val="000000"/>
                          </a:solidFill>
                          <a:effectLst/>
                          <a:latin typeface="+mj-lt"/>
                        </a:rPr>
                        <a:t>5.2%</a:t>
                      </a:r>
                      <a:endParaRPr lang="en-US" sz="1100" b="0" i="0" u="none" strike="noStrike">
                        <a:solidFill>
                          <a:schemeClr val="bg2">
                            <a:lumMod val="10000"/>
                          </a:schemeClr>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lvl="0" algn="ctr">
                        <a:buNone/>
                      </a:pPr>
                      <a:r>
                        <a:rPr lang="en-IN" sz="1050" b="0" i="0" u="none" strike="noStrike">
                          <a:solidFill>
                            <a:srgbClr val="000000"/>
                          </a:solidFill>
                          <a:effectLst/>
                          <a:latin typeface="+mj-lt"/>
                        </a:rPr>
                        <a:t>11.0%</a:t>
                      </a:r>
                      <a:endParaRPr lang="en-US" sz="1100" b="0" i="0" u="none" strike="noStrike">
                        <a:solidFill>
                          <a:schemeClr val="bg2">
                            <a:lumMod val="10000"/>
                          </a:schemeClr>
                        </a:solidFill>
                        <a:effectLst/>
                        <a:latin typeface="+mn-lt"/>
                        <a:ea typeface="Lato Regular"/>
                        <a:cs typeface="Lato Regular"/>
                      </a:endParaRPr>
                    </a:p>
                  </a:txBody>
                  <a:tcPr marL="6350" marR="6350" marT="6350" marB="0" anchor="ctr"/>
                </a:tc>
                <a:tc>
                  <a:txBody>
                    <a:bodyPr/>
                    <a:lstStyle/>
                    <a:p>
                      <a:pPr lvl="0" algn="ctr">
                        <a:buNone/>
                      </a:pPr>
                      <a:r>
                        <a:rPr lang="en-IN" sz="1050" b="0" i="0" u="none" strike="noStrike">
                          <a:solidFill>
                            <a:srgbClr val="000000"/>
                          </a:solidFill>
                          <a:effectLst/>
                          <a:latin typeface="+mj-lt"/>
                        </a:rPr>
                        <a:t>14.8%</a:t>
                      </a:r>
                      <a:endParaRPr lang="en-US" sz="1100" b="0" i="0" u="none" strike="noStrike">
                        <a:solidFill>
                          <a:schemeClr val="bg2">
                            <a:lumMod val="10000"/>
                          </a:schemeClr>
                        </a:solidFill>
                        <a:effectLst/>
                        <a:latin typeface="+mn-lt"/>
                        <a:ea typeface="Lato Regular"/>
                        <a:cs typeface="Lato Regular"/>
                      </a:endParaRPr>
                    </a:p>
                  </a:txBody>
                  <a:tcPr marL="6350" marR="6350" marT="6350" marB="0" anchor="ctr"/>
                </a:tc>
                <a:tc>
                  <a:txBody>
                    <a:bodyPr/>
                    <a:lstStyle/>
                    <a:p>
                      <a:pPr lvl="0" algn="ctr">
                        <a:buNone/>
                      </a:pPr>
                      <a:r>
                        <a:rPr lang="en-IN" sz="1050" b="0" i="0" u="none" strike="noStrike">
                          <a:solidFill>
                            <a:srgbClr val="000000"/>
                          </a:solidFill>
                          <a:effectLst/>
                          <a:latin typeface="+mj-lt"/>
                        </a:rPr>
                        <a:t>11.0%</a:t>
                      </a:r>
                      <a:endParaRPr lang="en-US" sz="1100" b="0" i="0" u="none" strike="noStrike">
                        <a:solidFill>
                          <a:schemeClr val="bg2">
                            <a:lumMod val="10000"/>
                          </a:schemeClr>
                        </a:solidFill>
                        <a:effectLst/>
                        <a:latin typeface="+mn-lt"/>
                        <a:ea typeface="Lato Regular"/>
                        <a:cs typeface="Lato Regular"/>
                      </a:endParaRPr>
                    </a:p>
                  </a:txBody>
                  <a:tcPr marL="6350" marR="6350" marT="6350" marB="0" anchor="ctr"/>
                </a:tc>
                <a:extLst>
                  <a:ext uri="{0D108BD9-81ED-4DB2-BD59-A6C34878D82A}">
                    <a16:rowId xmlns:a16="http://schemas.microsoft.com/office/drawing/2014/main" val="3179895044"/>
                  </a:ext>
                </a:extLst>
              </a:tr>
            </a:tbl>
          </a:graphicData>
        </a:graphic>
      </p:graphicFrame>
      <p:sp>
        <p:nvSpPr>
          <p:cNvPr id="22" name="Title 1">
            <a:extLst>
              <a:ext uri="{FF2B5EF4-FFF2-40B4-BE49-F238E27FC236}">
                <a16:creationId xmlns:a16="http://schemas.microsoft.com/office/drawing/2014/main" id="{12223C4D-80EC-71A9-23E2-B518EC1049CD}"/>
              </a:ext>
            </a:extLst>
          </p:cNvPr>
          <p:cNvSpPr txBox="1">
            <a:spLocks/>
          </p:cNvSpPr>
          <p:nvPr/>
        </p:nvSpPr>
        <p:spPr>
          <a:xfrm>
            <a:off x="371556" y="500020"/>
            <a:ext cx="7103131" cy="334515"/>
          </a:xfrm>
          <a:prstGeom prst="rect">
            <a:avLst/>
          </a:prstGeom>
        </p:spPr>
        <p:txBody>
          <a:bodyPr vert="horz" lIns="0" tIns="0" rIns="0" bIns="0" rtlCol="0" anchor="t">
            <a:sp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r>
              <a:rPr lang="en-US" err="1"/>
              <a:t>Grayquest</a:t>
            </a:r>
            <a:r>
              <a:rPr lang="en-US"/>
              <a:t> - Picking the right lane</a:t>
            </a:r>
          </a:p>
        </p:txBody>
      </p:sp>
      <p:pic>
        <p:nvPicPr>
          <p:cNvPr id="24" name="Picture 30" descr="For Parents | Flexible Fee Payment ...">
            <a:extLst>
              <a:ext uri="{FF2B5EF4-FFF2-40B4-BE49-F238E27FC236}">
                <a16:creationId xmlns:a16="http://schemas.microsoft.com/office/drawing/2014/main" id="{640CECC2-5F0A-391E-CCB9-1D51063D5A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8587" y="566599"/>
            <a:ext cx="1361835" cy="279011"/>
          </a:xfrm>
          <a:prstGeom prst="rect">
            <a:avLst/>
          </a:prstGeom>
          <a:noFill/>
          <a:extLst>
            <a:ext uri="{909E8E84-426E-40DD-AFC4-6F175D3DCCD1}">
              <a14:hiddenFill xmlns:a14="http://schemas.microsoft.com/office/drawing/2010/main">
                <a:solidFill>
                  <a:srgbClr val="FFFFFF"/>
                </a:solidFill>
              </a14:hiddenFill>
            </a:ext>
          </a:extLst>
        </p:spPr>
      </p:pic>
      <p:cxnSp>
        <p:nvCxnSpPr>
          <p:cNvPr id="26" name="Straight Connector 25">
            <a:extLst>
              <a:ext uri="{FF2B5EF4-FFF2-40B4-BE49-F238E27FC236}">
                <a16:creationId xmlns:a16="http://schemas.microsoft.com/office/drawing/2014/main" id="{4A2BFF58-3B9D-1477-06FA-2FB0443DAEE5}"/>
              </a:ext>
            </a:extLst>
          </p:cNvPr>
          <p:cNvCxnSpPr>
            <a:cxnSpLocks/>
          </p:cNvCxnSpPr>
          <p:nvPr/>
        </p:nvCxnSpPr>
        <p:spPr>
          <a:xfrm>
            <a:off x="4510249" y="525393"/>
            <a:ext cx="0" cy="320217"/>
          </a:xfrm>
          <a:prstGeom prst="line">
            <a:avLst/>
          </a:prstGeo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80882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A5BE1-3F40-DB89-BE70-C3D53273F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C80F29-E04A-D429-B1D9-B320D57CC151}"/>
              </a:ext>
            </a:extLst>
          </p:cNvPr>
          <p:cNvSpPr>
            <a:spLocks noGrp="1"/>
          </p:cNvSpPr>
          <p:nvPr>
            <p:ph type="title"/>
          </p:nvPr>
        </p:nvSpPr>
        <p:spPr/>
        <p:txBody>
          <a:bodyPr/>
          <a:lstStyle/>
          <a:p>
            <a:r>
              <a:rPr lang="en-US" err="1"/>
              <a:t>Fundamento</a:t>
            </a:r>
            <a:r>
              <a:rPr lang="en-US"/>
              <a:t>- The outlier on velocity</a:t>
            </a:r>
          </a:p>
        </p:txBody>
      </p:sp>
      <p:sp>
        <p:nvSpPr>
          <p:cNvPr id="3" name="TextBox 2">
            <a:extLst>
              <a:ext uri="{FF2B5EF4-FFF2-40B4-BE49-F238E27FC236}">
                <a16:creationId xmlns:a16="http://schemas.microsoft.com/office/drawing/2014/main" id="{AE5A08D8-AE38-3266-1605-8F6314F5EBCA}"/>
              </a:ext>
            </a:extLst>
          </p:cNvPr>
          <p:cNvSpPr txBox="1"/>
          <p:nvPr/>
        </p:nvSpPr>
        <p:spPr>
          <a:xfrm>
            <a:off x="499141" y="1387387"/>
            <a:ext cx="3450246" cy="320216"/>
          </a:xfrm>
          <a:prstGeom prst="rect">
            <a:avLst/>
          </a:prstGeom>
          <a:noFill/>
        </p:spPr>
        <p:txBody>
          <a:bodyPr wrap="square" rtlCol="0">
            <a:spAutoFit/>
          </a:bodyPr>
          <a:lstStyle/>
          <a:p>
            <a:r>
              <a:rPr lang="en-IN" sz="1481" b="1">
                <a:solidFill>
                  <a:schemeClr val="tx2"/>
                </a:solidFill>
                <a:ea typeface="Lato Regular" panose="020F0502020204030203" pitchFamily="34" charset="0"/>
                <a:cs typeface="Lato Regular" panose="020F0502020204030203" pitchFamily="34" charset="0"/>
              </a:rPr>
              <a:t>Business Description</a:t>
            </a:r>
          </a:p>
        </p:txBody>
      </p:sp>
      <p:sp>
        <p:nvSpPr>
          <p:cNvPr id="4" name="TextBox 3">
            <a:extLst>
              <a:ext uri="{FF2B5EF4-FFF2-40B4-BE49-F238E27FC236}">
                <a16:creationId xmlns:a16="http://schemas.microsoft.com/office/drawing/2014/main" id="{3D1DC7AB-36C1-F16C-C1C9-542F5E7773E0}"/>
              </a:ext>
            </a:extLst>
          </p:cNvPr>
          <p:cNvSpPr txBox="1"/>
          <p:nvPr/>
        </p:nvSpPr>
        <p:spPr>
          <a:xfrm>
            <a:off x="499141" y="3805112"/>
            <a:ext cx="3450246" cy="320216"/>
          </a:xfrm>
          <a:prstGeom prst="rect">
            <a:avLst/>
          </a:prstGeom>
          <a:noFill/>
        </p:spPr>
        <p:txBody>
          <a:bodyPr wrap="square" rtlCol="0">
            <a:spAutoFit/>
          </a:bodyPr>
          <a:lstStyle/>
          <a:p>
            <a:r>
              <a:rPr lang="en-IN" sz="1481" b="1">
                <a:solidFill>
                  <a:schemeClr val="tx2"/>
                </a:solidFill>
                <a:ea typeface="Lato Regular" panose="020F0502020204030203" pitchFamily="34" charset="0"/>
                <a:cs typeface="Lato Regular" panose="020F0502020204030203" pitchFamily="34" charset="0"/>
              </a:rPr>
              <a:t>Performance Commentary</a:t>
            </a:r>
          </a:p>
        </p:txBody>
      </p:sp>
      <p:sp>
        <p:nvSpPr>
          <p:cNvPr id="5" name="TextBox 4">
            <a:extLst>
              <a:ext uri="{FF2B5EF4-FFF2-40B4-BE49-F238E27FC236}">
                <a16:creationId xmlns:a16="http://schemas.microsoft.com/office/drawing/2014/main" id="{11880987-0212-3F4C-31D1-4A3CD6FE3B21}"/>
              </a:ext>
            </a:extLst>
          </p:cNvPr>
          <p:cNvSpPr txBox="1"/>
          <p:nvPr/>
        </p:nvSpPr>
        <p:spPr>
          <a:xfrm>
            <a:off x="5539984" y="3805112"/>
            <a:ext cx="3450246" cy="227883"/>
          </a:xfrm>
          <a:prstGeom prst="rect">
            <a:avLst/>
          </a:prstGeom>
          <a:noFill/>
        </p:spPr>
        <p:txBody>
          <a:bodyPr wrap="square" lIns="0" tIns="0" rIns="0" bIns="0" rtlCol="0">
            <a:spAutoFit/>
          </a:bodyPr>
          <a:lstStyle/>
          <a:p>
            <a:r>
              <a:rPr lang="en-IN" sz="1481" b="1">
                <a:solidFill>
                  <a:schemeClr val="tx2"/>
                </a:solidFill>
                <a:ea typeface="Lato Regular" panose="020F0502020204030203" pitchFamily="34" charset="0"/>
                <a:cs typeface="Lato Regular" panose="020F0502020204030203" pitchFamily="34" charset="0"/>
              </a:rPr>
              <a:t>Key Financial Highlights</a:t>
            </a:r>
          </a:p>
        </p:txBody>
      </p:sp>
      <p:sp>
        <p:nvSpPr>
          <p:cNvPr id="6" name="Rectangle 5">
            <a:extLst>
              <a:ext uri="{FF2B5EF4-FFF2-40B4-BE49-F238E27FC236}">
                <a16:creationId xmlns:a16="http://schemas.microsoft.com/office/drawing/2014/main" id="{3A4749E8-2636-B674-38AA-A33D74D3F0FD}"/>
              </a:ext>
            </a:extLst>
          </p:cNvPr>
          <p:cNvSpPr/>
          <p:nvPr/>
        </p:nvSpPr>
        <p:spPr>
          <a:xfrm>
            <a:off x="562116" y="1815136"/>
            <a:ext cx="4195514" cy="1815882"/>
          </a:xfrm>
          <a:prstGeom prst="rect">
            <a:avLst/>
          </a:prstGeom>
        </p:spPr>
        <p:txBody>
          <a:bodyPr wrap="square" lIns="0" tIns="0" rIns="0" bIns="0">
            <a:spAutoFit/>
          </a:bodyPr>
          <a:lstStyle/>
          <a:p>
            <a:pPr marL="171450" indent="-171450" algn="just">
              <a:spcAft>
                <a:spcPts val="600"/>
              </a:spcAft>
              <a:buFont typeface="Arial" panose="020B0604020202020204" pitchFamily="34" charset="0"/>
              <a:buChar char="•"/>
            </a:pPr>
            <a:r>
              <a:rPr lang="en-US" sz="1200" err="1">
                <a:solidFill>
                  <a:schemeClr val="bg2">
                    <a:lumMod val="10000"/>
                  </a:schemeClr>
                </a:solidFill>
                <a:ea typeface="Calibri"/>
                <a:cs typeface="Calibri"/>
                <a:sym typeface="Calibri"/>
              </a:rPr>
              <a:t>Fundamento</a:t>
            </a:r>
            <a:r>
              <a:rPr lang="en-US" sz="1200">
                <a:solidFill>
                  <a:schemeClr val="bg2">
                    <a:lumMod val="10000"/>
                  </a:schemeClr>
                </a:solidFill>
                <a:ea typeface="Calibri"/>
                <a:cs typeface="Calibri"/>
                <a:sym typeface="Calibri"/>
              </a:rPr>
              <a:t> is an AI-powered Voice Agent solution designed to automate, assist, and streamline customer engagement in contact </a:t>
            </a:r>
            <a:r>
              <a:rPr lang="en-US" sz="1200" err="1">
                <a:solidFill>
                  <a:schemeClr val="bg2">
                    <a:lumMod val="10000"/>
                  </a:schemeClr>
                </a:solidFill>
                <a:ea typeface="Calibri"/>
                <a:cs typeface="Calibri"/>
                <a:sym typeface="Calibri"/>
              </a:rPr>
              <a:t>centres</a:t>
            </a:r>
            <a:r>
              <a:rPr lang="en-US" sz="1200">
                <a:solidFill>
                  <a:schemeClr val="bg2">
                    <a:lumMod val="10000"/>
                  </a:schemeClr>
                </a:solidFill>
                <a:ea typeface="Calibri"/>
                <a:cs typeface="Calibri"/>
                <a:sym typeface="Calibri"/>
              </a:rPr>
              <a:t>. </a:t>
            </a:r>
          </a:p>
          <a:p>
            <a:pPr marL="171450" indent="-171450" algn="just">
              <a:spcAft>
                <a:spcPts val="600"/>
              </a:spcAft>
              <a:buFont typeface="Arial" panose="020B0604020202020204" pitchFamily="34" charset="0"/>
              <a:buChar char="•"/>
            </a:pPr>
            <a:r>
              <a:rPr lang="en-US" sz="1200">
                <a:solidFill>
                  <a:schemeClr val="bg2">
                    <a:lumMod val="10000"/>
                  </a:schemeClr>
                </a:solidFill>
                <a:ea typeface="Calibri"/>
                <a:cs typeface="Calibri"/>
                <a:sym typeface="Calibri"/>
              </a:rPr>
              <a:t>It is an API-first, no-code, multilingual, and deployable cloud or on-prem, with real-time guidance and conversational intelligence to boost agent performance.</a:t>
            </a:r>
          </a:p>
          <a:p>
            <a:pPr marL="171450" indent="-171450" algn="just">
              <a:spcAft>
                <a:spcPts val="600"/>
              </a:spcAft>
              <a:buFont typeface="Arial" panose="020B0604020202020204" pitchFamily="34" charset="0"/>
              <a:buChar char="•"/>
            </a:pPr>
            <a:r>
              <a:rPr lang="en-US" sz="1200">
                <a:solidFill>
                  <a:schemeClr val="bg2">
                    <a:lumMod val="10000"/>
                  </a:schemeClr>
                </a:solidFill>
                <a:ea typeface="Calibri"/>
                <a:cs typeface="Calibri"/>
                <a:sym typeface="Calibri"/>
              </a:rPr>
              <a:t>The company charges on per Pulse basis.</a:t>
            </a:r>
          </a:p>
        </p:txBody>
      </p:sp>
      <p:sp>
        <p:nvSpPr>
          <p:cNvPr id="7" name="TextBox 6">
            <a:extLst>
              <a:ext uri="{FF2B5EF4-FFF2-40B4-BE49-F238E27FC236}">
                <a16:creationId xmlns:a16="http://schemas.microsoft.com/office/drawing/2014/main" id="{E2838656-C0A3-0EC9-2147-0F7C441E7B8D}"/>
              </a:ext>
            </a:extLst>
          </p:cNvPr>
          <p:cNvSpPr txBox="1"/>
          <p:nvPr/>
        </p:nvSpPr>
        <p:spPr>
          <a:xfrm>
            <a:off x="499141" y="4114220"/>
            <a:ext cx="4408262" cy="2877711"/>
          </a:xfrm>
          <a:prstGeom prst="rect">
            <a:avLst/>
          </a:prstGeom>
          <a:noFill/>
        </p:spPr>
        <p:txBody>
          <a:bodyPr wrap="square" lIns="91440" tIns="45720" rIns="91440" bIns="45720" rtlCol="0" anchor="t">
            <a:spAutoFit/>
          </a:bodyPr>
          <a:lstStyle/>
          <a:p>
            <a:pPr marL="171450" indent="-171450" algn="just">
              <a:spcAft>
                <a:spcPts val="600"/>
              </a:spcAft>
              <a:buFont typeface="Arial" panose="020B0604020202020204" pitchFamily="34" charset="0"/>
              <a:buChar char="•"/>
            </a:pPr>
            <a:r>
              <a:rPr lang="en-GB" sz="1200" err="1">
                <a:solidFill>
                  <a:schemeClr val="bg2">
                    <a:lumMod val="10000"/>
                  </a:schemeClr>
                </a:solidFill>
                <a:ea typeface="Calibri"/>
                <a:cs typeface="Calibri"/>
              </a:rPr>
              <a:t>Fundamento</a:t>
            </a:r>
            <a:r>
              <a:rPr lang="en-GB" sz="1200">
                <a:solidFill>
                  <a:schemeClr val="bg2">
                    <a:lumMod val="10000"/>
                  </a:schemeClr>
                </a:solidFill>
                <a:ea typeface="Calibri"/>
                <a:cs typeface="Calibri"/>
              </a:rPr>
              <a:t> is an AI-powered Voice Agent for contact centres — API-first, no-code, multilingual. Gross revenue grew roughly 8x to INR 4.83 Cr in FY26, a 660% YoY increase. </a:t>
            </a:r>
            <a:endParaRPr lang="en-US" sz="1200">
              <a:solidFill>
                <a:schemeClr val="bg2">
                  <a:lumMod val="10000"/>
                </a:schemeClr>
              </a:solidFill>
              <a:ea typeface="Calibri"/>
              <a:cs typeface="Calibri"/>
            </a:endParaRPr>
          </a:p>
          <a:p>
            <a:pPr marL="171450" indent="-171450" algn="just">
              <a:spcAft>
                <a:spcPts val="600"/>
              </a:spcAft>
              <a:buFont typeface="Arial" panose="020B0604020202020204" pitchFamily="34" charset="0"/>
              <a:buChar char="•"/>
            </a:pPr>
            <a:r>
              <a:rPr lang="en-GB" sz="1200">
                <a:solidFill>
                  <a:schemeClr val="bg2">
                    <a:lumMod val="10000"/>
                  </a:schemeClr>
                </a:solidFill>
                <a:ea typeface="Calibri"/>
                <a:cs typeface="Calibri"/>
              </a:rPr>
              <a:t>Cumulative "pulses" surged 17.5x to 3.46 Cr, validating platform adoption at scale across collections, lead engagement and customer service use cases. </a:t>
            </a:r>
            <a:endParaRPr lang="en-US" sz="1200">
              <a:solidFill>
                <a:schemeClr val="bg2">
                  <a:lumMod val="10000"/>
                </a:schemeClr>
              </a:solidFill>
              <a:ea typeface="Calibri"/>
              <a:cs typeface="Calibri"/>
            </a:endParaRPr>
          </a:p>
          <a:p>
            <a:pPr marL="171450" indent="-171450" algn="just">
              <a:spcAft>
                <a:spcPts val="600"/>
              </a:spcAft>
              <a:buFont typeface="Arial" panose="020B0604020202020204" pitchFamily="34" charset="0"/>
              <a:buChar char="•"/>
            </a:pPr>
            <a:r>
              <a:rPr lang="en-GB" sz="1200">
                <a:solidFill>
                  <a:schemeClr val="bg2">
                    <a:lumMod val="10000"/>
                  </a:schemeClr>
                </a:solidFill>
                <a:ea typeface="Calibri"/>
                <a:cs typeface="Calibri"/>
              </a:rPr>
              <a:t>The EBITDA loss held essentially flat in absolute terms while revenue grew 8x — which is, mechanically, exactly the operating leverage one wants to see when betting on a new category. Margin moved from -877% to -116% in a single year. </a:t>
            </a:r>
          </a:p>
          <a:p>
            <a:pPr marL="171450" indent="-171450" algn="just">
              <a:spcAft>
                <a:spcPts val="600"/>
              </a:spcAft>
              <a:buFont typeface="Arial" panose="020B0604020202020204" pitchFamily="34" charset="0"/>
              <a:buChar char="•"/>
            </a:pPr>
            <a:endParaRPr lang="en-GB" sz="1200">
              <a:solidFill>
                <a:schemeClr val="bg2">
                  <a:lumMod val="10000"/>
                </a:schemeClr>
              </a:solidFill>
              <a:ea typeface="Calibri"/>
              <a:cs typeface="Calibri"/>
            </a:endParaRPr>
          </a:p>
          <a:p>
            <a:pPr marL="171450" indent="-171450" algn="just">
              <a:spcAft>
                <a:spcPts val="600"/>
              </a:spcAft>
              <a:buFont typeface="Arial" panose="020B0604020202020204" pitchFamily="34" charset="0"/>
              <a:buChar char="•"/>
            </a:pPr>
            <a:endParaRPr lang="en-IN" sz="1200">
              <a:solidFill>
                <a:schemeClr val="bg2">
                  <a:lumMod val="10000"/>
                </a:schemeClr>
              </a:solidFill>
              <a:ea typeface="Lato Regular" panose="020F0502020204030203" pitchFamily="34" charset="0"/>
              <a:cs typeface="Lato Regular" panose="020F0502020204030203" pitchFamily="34" charset="0"/>
            </a:endParaRPr>
          </a:p>
          <a:p>
            <a:pPr marL="171450" indent="-171450" algn="just">
              <a:spcAft>
                <a:spcPts val="600"/>
              </a:spcAft>
              <a:buFont typeface="Arial" panose="020B0604020202020204" pitchFamily="34" charset="0"/>
              <a:buChar char="•"/>
            </a:pPr>
            <a:endParaRPr lang="en-IN" sz="1200">
              <a:solidFill>
                <a:schemeClr val="bg2">
                  <a:lumMod val="10000"/>
                </a:schemeClr>
              </a:solidFill>
              <a:ea typeface="Lato Regular" panose="020F0502020204030203" pitchFamily="34" charset="0"/>
              <a:cs typeface="Lato Regular" panose="020F0502020204030203" pitchFamily="34" charset="0"/>
            </a:endParaRPr>
          </a:p>
        </p:txBody>
      </p:sp>
      <p:graphicFrame>
        <p:nvGraphicFramePr>
          <p:cNvPr id="8" name="Table 7">
            <a:extLst>
              <a:ext uri="{FF2B5EF4-FFF2-40B4-BE49-F238E27FC236}">
                <a16:creationId xmlns:a16="http://schemas.microsoft.com/office/drawing/2014/main" id="{15A8ADF0-126C-CEE6-7C81-709A708A4642}"/>
              </a:ext>
            </a:extLst>
          </p:cNvPr>
          <p:cNvGraphicFramePr>
            <a:graphicFrameLocks noGrp="1"/>
          </p:cNvGraphicFramePr>
          <p:nvPr/>
        </p:nvGraphicFramePr>
        <p:xfrm>
          <a:off x="5539984" y="4144254"/>
          <a:ext cx="5785513" cy="1991503"/>
        </p:xfrm>
        <a:graphic>
          <a:graphicData uri="http://schemas.openxmlformats.org/drawingml/2006/table">
            <a:tbl>
              <a:tblPr firstRow="1" bandRow="1">
                <a:tableStyleId>{72833802-FEF1-4C79-8D5D-14CF1EAF98D9}</a:tableStyleId>
              </a:tblPr>
              <a:tblGrid>
                <a:gridCol w="1892588">
                  <a:extLst>
                    <a:ext uri="{9D8B030D-6E8A-4147-A177-3AD203B41FA5}">
                      <a16:colId xmlns:a16="http://schemas.microsoft.com/office/drawing/2014/main" val="3001066899"/>
                    </a:ext>
                  </a:extLst>
                </a:gridCol>
                <a:gridCol w="778585">
                  <a:extLst>
                    <a:ext uri="{9D8B030D-6E8A-4147-A177-3AD203B41FA5}">
                      <a16:colId xmlns:a16="http://schemas.microsoft.com/office/drawing/2014/main" val="700748351"/>
                    </a:ext>
                  </a:extLst>
                </a:gridCol>
                <a:gridCol w="778585">
                  <a:extLst>
                    <a:ext uri="{9D8B030D-6E8A-4147-A177-3AD203B41FA5}">
                      <a16:colId xmlns:a16="http://schemas.microsoft.com/office/drawing/2014/main" val="3274968397"/>
                    </a:ext>
                  </a:extLst>
                </a:gridCol>
                <a:gridCol w="778585">
                  <a:extLst>
                    <a:ext uri="{9D8B030D-6E8A-4147-A177-3AD203B41FA5}">
                      <a16:colId xmlns:a16="http://schemas.microsoft.com/office/drawing/2014/main" val="2449438832"/>
                    </a:ext>
                  </a:extLst>
                </a:gridCol>
                <a:gridCol w="778585">
                  <a:extLst>
                    <a:ext uri="{9D8B030D-6E8A-4147-A177-3AD203B41FA5}">
                      <a16:colId xmlns:a16="http://schemas.microsoft.com/office/drawing/2014/main" val="2120665549"/>
                    </a:ext>
                  </a:extLst>
                </a:gridCol>
                <a:gridCol w="778585">
                  <a:extLst>
                    <a:ext uri="{9D8B030D-6E8A-4147-A177-3AD203B41FA5}">
                      <a16:colId xmlns:a16="http://schemas.microsoft.com/office/drawing/2014/main" val="3935803133"/>
                    </a:ext>
                  </a:extLst>
                </a:gridCol>
              </a:tblGrid>
              <a:tr h="244555">
                <a:tc>
                  <a:txBody>
                    <a:bodyPr/>
                    <a:lstStyle/>
                    <a:p>
                      <a:pPr algn="l" fontAlgn="b">
                        <a:buNone/>
                      </a:pPr>
                      <a:r>
                        <a:rPr lang="en-US" sz="1050" b="1" u="none" strike="noStrike">
                          <a:solidFill>
                            <a:schemeClr val="bg1"/>
                          </a:solidFill>
                          <a:effectLst/>
                          <a:latin typeface="+mn-lt"/>
                          <a:ea typeface="Lato Regular" panose="020F0502020204030203" pitchFamily="34" charset="0"/>
                          <a:cs typeface="Lato Regular" panose="020F0502020204030203" pitchFamily="34" charset="0"/>
                        </a:rPr>
                        <a:t>INR Cr.</a:t>
                      </a:r>
                      <a:endParaRPr lang="en-US" sz="1050" b="1" i="0" u="none" strike="noStrike">
                        <a:solidFill>
                          <a:schemeClr val="bg1"/>
                        </a:solidFill>
                        <a:effectLst/>
                        <a:latin typeface="+mn-lt"/>
                        <a:ea typeface="Lato Regular" panose="020F0502020204030203" pitchFamily="34" charset="0"/>
                        <a:cs typeface="Lato Regular" panose="020F0502020204030203" pitchFamily="34" charset="0"/>
                      </a:endParaRPr>
                    </a:p>
                  </a:txBody>
                  <a:tcPr marL="144000" marR="6350" marT="6350" marB="0" anchor="ctr"/>
                </a:tc>
                <a:tc>
                  <a:txBody>
                    <a:bodyPr/>
                    <a:lstStyle/>
                    <a:p>
                      <a:pPr algn="ctr" fontAlgn="b">
                        <a:buNone/>
                      </a:pPr>
                      <a:r>
                        <a:rPr lang="en-US" sz="1050" b="1"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rPr>
                        <a:t>FY24</a:t>
                      </a:r>
                      <a:endParaRPr lang="en-US" sz="105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050" b="1"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rPr>
                        <a:t>FY25</a:t>
                      </a:r>
                      <a:endParaRPr lang="en-US" sz="105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05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rPr>
                        <a:t>FY26</a:t>
                      </a:r>
                    </a:p>
                  </a:txBody>
                  <a:tcPr marL="6350" marR="6350" marT="6350" marB="0" anchor="ctr"/>
                </a:tc>
                <a:tc>
                  <a:txBody>
                    <a:bodyPr/>
                    <a:lstStyle/>
                    <a:p>
                      <a:pPr algn="ctr" fontAlgn="b">
                        <a:buNone/>
                      </a:pPr>
                      <a:r>
                        <a:rPr lang="en-US" sz="1050" b="1"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rPr>
                        <a:t>Q4FY25</a:t>
                      </a:r>
                      <a:endParaRPr lang="en-US" sz="105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050" b="1"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rPr>
                        <a:t>Q4FY26</a:t>
                      </a:r>
                      <a:endParaRPr lang="en-US" sz="105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extLst>
                  <a:ext uri="{0D108BD9-81ED-4DB2-BD59-A6C34878D82A}">
                    <a16:rowId xmlns:a16="http://schemas.microsoft.com/office/drawing/2014/main" val="3735237806"/>
                  </a:ext>
                </a:extLst>
              </a:tr>
              <a:tr h="291158">
                <a:tc>
                  <a:txBody>
                    <a:bodyPr/>
                    <a:lstStyle/>
                    <a:p>
                      <a:pPr algn="l" fontAlgn="b"/>
                      <a:r>
                        <a:rPr lang="en-US" sz="1050" b="1" u="none" strike="noStrike">
                          <a:solidFill>
                            <a:schemeClr val="accent4"/>
                          </a:solidFill>
                          <a:effectLst/>
                          <a:latin typeface="+mn-lt"/>
                          <a:ea typeface="Lato Regular" panose="020F0502020204030203" pitchFamily="34" charset="0"/>
                          <a:cs typeface="Lato Regular" panose="020F0502020204030203" pitchFamily="34" charset="0"/>
                        </a:rPr>
                        <a:t>Gross Revenue</a:t>
                      </a:r>
                      <a:endParaRPr lang="en-US" sz="1050" b="1" i="0" u="none" strike="noStrike">
                        <a:solidFill>
                          <a:schemeClr val="accent4"/>
                        </a:solidFill>
                        <a:effectLst/>
                        <a:latin typeface="+mn-lt"/>
                        <a:ea typeface="Lato Regular" panose="020F0502020204030203" pitchFamily="34" charset="0"/>
                        <a:cs typeface="Lato Regular" panose="020F0502020204030203" pitchFamily="34" charset="0"/>
                      </a:endParaRPr>
                    </a:p>
                  </a:txBody>
                  <a:tcPr marL="144000" marR="6350" marT="6350" marB="0" anchor="ctr"/>
                </a:tc>
                <a:tc>
                  <a:txBody>
                    <a:bodyPr/>
                    <a:lstStyle/>
                    <a:p>
                      <a:pPr algn="ctr" fontAlgn="b"/>
                      <a:r>
                        <a:rPr lang="en-IN" sz="1050" b="1" i="0" u="none" strike="noStrike">
                          <a:solidFill>
                            <a:schemeClr val="accent4"/>
                          </a:solidFill>
                          <a:effectLst/>
                          <a:latin typeface="+mn-lt"/>
                        </a:rPr>
                        <a:t>1.18</a:t>
                      </a:r>
                    </a:p>
                  </a:txBody>
                  <a:tcPr marL="6350" marR="6350" marT="6350" marB="0" anchor="ctr"/>
                </a:tc>
                <a:tc>
                  <a:txBody>
                    <a:bodyPr/>
                    <a:lstStyle/>
                    <a:p>
                      <a:pPr algn="ctr" fontAlgn="b"/>
                      <a:r>
                        <a:rPr lang="en-IN" sz="1050" b="1" i="0" u="none" strike="noStrike">
                          <a:solidFill>
                            <a:schemeClr val="accent4"/>
                          </a:solidFill>
                          <a:effectLst/>
                          <a:latin typeface="+mn-lt"/>
                        </a:rPr>
                        <a:t>0.6</a:t>
                      </a:r>
                    </a:p>
                  </a:txBody>
                  <a:tcPr marL="6350" marR="6350" marT="6350" marB="0" anchor="ctr"/>
                </a:tc>
                <a:tc>
                  <a:txBody>
                    <a:bodyPr/>
                    <a:lstStyle/>
                    <a:p>
                      <a:pPr algn="ctr" fontAlgn="b"/>
                      <a:r>
                        <a:rPr lang="en-IN" sz="1050" b="1" i="0" u="none" strike="noStrike">
                          <a:solidFill>
                            <a:schemeClr val="accent4"/>
                          </a:solidFill>
                          <a:effectLst/>
                          <a:latin typeface="+mn-lt"/>
                        </a:rPr>
                        <a:t>4.83</a:t>
                      </a:r>
                    </a:p>
                  </a:txBody>
                  <a:tcPr marL="6350" marR="6350" marT="6350" marB="0" anchor="ctr"/>
                </a:tc>
                <a:tc>
                  <a:txBody>
                    <a:bodyPr/>
                    <a:lstStyle/>
                    <a:p>
                      <a:pPr marL="0" algn="ctr" defTabSz="914400" rtl="0" eaLnBrk="1" fontAlgn="b" latinLnBrk="0" hangingPunct="1"/>
                      <a:r>
                        <a:rPr lang="en-IN" sz="1050" b="1" i="0" u="none" strike="noStrike" kern="1200">
                          <a:solidFill>
                            <a:schemeClr val="accent4"/>
                          </a:solidFill>
                          <a:effectLst/>
                          <a:latin typeface="+mn-lt"/>
                          <a:ea typeface="+mn-ea"/>
                          <a:cs typeface="+mn-cs"/>
                        </a:rPr>
                        <a:t>0.24</a:t>
                      </a:r>
                    </a:p>
                  </a:txBody>
                  <a:tcPr marL="9525" marR="9525" marT="9525" marB="0" anchor="ctr"/>
                </a:tc>
                <a:tc>
                  <a:txBody>
                    <a:bodyPr/>
                    <a:lstStyle/>
                    <a:p>
                      <a:pPr marL="0" algn="ctr" defTabSz="914400" rtl="0" eaLnBrk="1" fontAlgn="b" latinLnBrk="0" hangingPunct="1"/>
                      <a:r>
                        <a:rPr lang="en-IN" sz="1050" b="1" i="0" u="none" strike="noStrike" kern="1200">
                          <a:solidFill>
                            <a:schemeClr val="accent4"/>
                          </a:solidFill>
                          <a:effectLst/>
                          <a:latin typeface="+mn-lt"/>
                          <a:ea typeface="+mn-ea"/>
                          <a:cs typeface="+mn-cs"/>
                        </a:rPr>
                        <a:t>1.82</a:t>
                      </a:r>
                    </a:p>
                  </a:txBody>
                  <a:tcPr marL="6350" marR="6350" marT="6350" marB="0" anchor="ctr"/>
                </a:tc>
                <a:extLst>
                  <a:ext uri="{0D108BD9-81ED-4DB2-BD59-A6C34878D82A}">
                    <a16:rowId xmlns:a16="http://schemas.microsoft.com/office/drawing/2014/main" val="2159784742"/>
                  </a:ext>
                </a:extLst>
              </a:tr>
              <a:tr h="291158">
                <a:tc>
                  <a:txBody>
                    <a:bodyPr/>
                    <a:lstStyle/>
                    <a:p>
                      <a:pPr algn="l" fontAlgn="b"/>
                      <a:r>
                        <a:rPr lang="en-US" sz="1050" b="0" u="none" strike="noStrike">
                          <a:solidFill>
                            <a:schemeClr val="accent4"/>
                          </a:solidFill>
                          <a:effectLst/>
                          <a:latin typeface="+mn-lt"/>
                          <a:ea typeface="Lato Regular" panose="020F0502020204030203" pitchFamily="34" charset="0"/>
                          <a:cs typeface="Lato Regular" panose="020F0502020204030203" pitchFamily="34" charset="0"/>
                        </a:rPr>
                        <a:t>% Growth YoY</a:t>
                      </a:r>
                      <a:endParaRPr lang="en-US" sz="1050" b="0" i="0" u="none" strike="noStrike">
                        <a:solidFill>
                          <a:schemeClr val="accent4"/>
                        </a:solidFill>
                        <a:effectLst/>
                        <a:latin typeface="+mn-lt"/>
                        <a:ea typeface="Lato Regular" panose="020F0502020204030203" pitchFamily="34" charset="0"/>
                        <a:cs typeface="Lato Regular" panose="020F0502020204030203" pitchFamily="34" charset="0"/>
                      </a:endParaRPr>
                    </a:p>
                  </a:txBody>
                  <a:tcPr marL="144000" marR="6350" marT="6350" marB="0" anchor="ctr"/>
                </a:tc>
                <a:tc>
                  <a:txBody>
                    <a:bodyPr/>
                    <a:lstStyle/>
                    <a:p>
                      <a:pPr algn="ctr" fontAlgn="b"/>
                      <a:endParaRPr lang="en-IN" sz="1050" b="0" i="0" u="none" strike="noStrike">
                        <a:solidFill>
                          <a:schemeClr val="accent4"/>
                        </a:solidFill>
                        <a:effectLst/>
                        <a:latin typeface="+mn-lt"/>
                      </a:endParaRPr>
                    </a:p>
                  </a:txBody>
                  <a:tcPr marL="6350" marR="6350" marT="6350" marB="0" anchor="ctr"/>
                </a:tc>
                <a:tc>
                  <a:txBody>
                    <a:bodyPr/>
                    <a:lstStyle/>
                    <a:p>
                      <a:pPr algn="ctr" fontAlgn="b"/>
                      <a:r>
                        <a:rPr lang="en-IN" sz="1050" b="0" i="0" u="none" strike="noStrike">
                          <a:solidFill>
                            <a:schemeClr val="accent4"/>
                          </a:solidFill>
                          <a:effectLst/>
                          <a:latin typeface="+mn-lt"/>
                        </a:rPr>
                        <a:t>-46%</a:t>
                      </a:r>
                    </a:p>
                  </a:txBody>
                  <a:tcPr marL="6350" marR="6350" marT="6350" marB="0" anchor="ctr"/>
                </a:tc>
                <a:tc>
                  <a:txBody>
                    <a:bodyPr/>
                    <a:lstStyle/>
                    <a:p>
                      <a:pPr algn="ctr" fontAlgn="b"/>
                      <a:r>
                        <a:rPr lang="en-IN" sz="1050" b="0" i="0" u="none" strike="noStrike">
                          <a:solidFill>
                            <a:schemeClr val="accent4"/>
                          </a:solidFill>
                          <a:effectLst/>
                          <a:latin typeface="+mn-lt"/>
                        </a:rPr>
                        <a:t>660%</a:t>
                      </a:r>
                    </a:p>
                  </a:txBody>
                  <a:tcPr marL="6350" marR="6350" marT="6350" marB="0" anchor="ctr"/>
                </a:tc>
                <a:tc>
                  <a:txBody>
                    <a:bodyPr/>
                    <a:lstStyle/>
                    <a:p>
                      <a:pPr algn="ctr" fontAlgn="b"/>
                      <a:r>
                        <a:rPr lang="en-IN" sz="1050" b="0" i="0" u="none" strike="noStrike" kern="1200">
                          <a:solidFill>
                            <a:schemeClr val="accent4"/>
                          </a:solidFill>
                          <a:effectLst/>
                          <a:latin typeface="+mn-lt"/>
                          <a:ea typeface="+mn-ea"/>
                          <a:cs typeface="+mn-cs"/>
                        </a:rPr>
                        <a:t>59%</a:t>
                      </a:r>
                    </a:p>
                  </a:txBody>
                  <a:tcPr marL="9525" marR="9525" marT="9525" marB="0" anchor="ctr"/>
                </a:tc>
                <a:tc>
                  <a:txBody>
                    <a:bodyPr/>
                    <a:lstStyle/>
                    <a:p>
                      <a:pPr algn="ctr" fontAlgn="b"/>
                      <a:r>
                        <a:rPr lang="en-IN" sz="1050" b="0" i="0" u="none" strike="noStrike" kern="1200">
                          <a:solidFill>
                            <a:schemeClr val="accent4"/>
                          </a:solidFill>
                          <a:effectLst/>
                          <a:latin typeface="+mn-lt"/>
                          <a:ea typeface="+mn-ea"/>
                          <a:cs typeface="+mn-cs"/>
                        </a:rPr>
                        <a:t>672%</a:t>
                      </a:r>
                    </a:p>
                  </a:txBody>
                  <a:tcPr marL="6350" marR="6350" marT="6350" marB="0" anchor="ctr"/>
                </a:tc>
                <a:extLst>
                  <a:ext uri="{0D108BD9-81ED-4DB2-BD59-A6C34878D82A}">
                    <a16:rowId xmlns:a16="http://schemas.microsoft.com/office/drawing/2014/main" val="2809398452"/>
                  </a:ext>
                </a:extLst>
              </a:tr>
              <a:tr h="291158">
                <a:tc>
                  <a:txBody>
                    <a:bodyPr/>
                    <a:lstStyle/>
                    <a:p>
                      <a:pPr algn="l" fontAlgn="b"/>
                      <a:r>
                        <a:rPr lang="en-US" sz="1050" b="1" i="0" u="none" strike="noStrike">
                          <a:solidFill>
                            <a:schemeClr val="accent4"/>
                          </a:solidFill>
                          <a:effectLst/>
                          <a:latin typeface="+mn-lt"/>
                          <a:ea typeface="Lato Regular" panose="020F0502020204030203" pitchFamily="34" charset="0"/>
                          <a:cs typeface="Lato Regular" panose="020F0502020204030203" pitchFamily="34" charset="0"/>
                        </a:rPr>
                        <a:t>Gross Margin</a:t>
                      </a:r>
                    </a:p>
                  </a:txBody>
                  <a:tcPr marL="144000" marR="6350" marT="6350" marB="0" anchor="ctr"/>
                </a:tc>
                <a:tc>
                  <a:txBody>
                    <a:bodyPr/>
                    <a:lstStyle/>
                    <a:p>
                      <a:pPr algn="ctr" fontAlgn="b"/>
                      <a:r>
                        <a:rPr lang="en-IN" sz="1050" b="1" i="0" u="none" strike="noStrike">
                          <a:solidFill>
                            <a:schemeClr val="accent4"/>
                          </a:solidFill>
                          <a:effectLst/>
                          <a:latin typeface="+mn-lt"/>
                        </a:rPr>
                        <a:t>0.5</a:t>
                      </a:r>
                    </a:p>
                  </a:txBody>
                  <a:tcPr marL="6350" marR="6350" marT="6350" marB="0" anchor="ctr"/>
                </a:tc>
                <a:tc>
                  <a:txBody>
                    <a:bodyPr/>
                    <a:lstStyle/>
                    <a:p>
                      <a:pPr algn="ctr" fontAlgn="b"/>
                      <a:r>
                        <a:rPr lang="en-IN" sz="1050" b="1" i="0" u="none" strike="noStrike">
                          <a:solidFill>
                            <a:schemeClr val="accent4"/>
                          </a:solidFill>
                          <a:effectLst/>
                          <a:latin typeface="+mn-lt"/>
                        </a:rPr>
                        <a:t>0.2</a:t>
                      </a:r>
                    </a:p>
                  </a:txBody>
                  <a:tcPr marL="6350" marR="6350" marT="6350" marB="0" anchor="ctr"/>
                </a:tc>
                <a:tc>
                  <a:txBody>
                    <a:bodyPr/>
                    <a:lstStyle/>
                    <a:p>
                      <a:pPr algn="ctr" fontAlgn="b"/>
                      <a:r>
                        <a:rPr lang="en-IN" sz="1050" b="1" i="0" u="none" strike="noStrike">
                          <a:solidFill>
                            <a:schemeClr val="accent4"/>
                          </a:solidFill>
                          <a:effectLst/>
                          <a:latin typeface="+mn-lt"/>
                        </a:rPr>
                        <a:t>2.19</a:t>
                      </a:r>
                    </a:p>
                  </a:txBody>
                  <a:tcPr marL="6350" marR="6350" marT="6350" marB="0" anchor="ctr"/>
                </a:tc>
                <a:tc>
                  <a:txBody>
                    <a:bodyPr/>
                    <a:lstStyle/>
                    <a:p>
                      <a:pPr algn="ctr" fontAlgn="b"/>
                      <a:r>
                        <a:rPr lang="en-IN" sz="1050" b="1" i="0" u="none" strike="noStrike" kern="1200">
                          <a:solidFill>
                            <a:schemeClr val="accent4"/>
                          </a:solidFill>
                          <a:effectLst/>
                          <a:latin typeface="+mn-lt"/>
                          <a:ea typeface="+mn-ea"/>
                          <a:cs typeface="+mn-cs"/>
                        </a:rPr>
                        <a:t>0.0</a:t>
                      </a:r>
                    </a:p>
                  </a:txBody>
                  <a:tcPr marL="9525" marR="9525" marT="9525" marB="0" anchor="ctr"/>
                </a:tc>
                <a:tc>
                  <a:txBody>
                    <a:bodyPr/>
                    <a:lstStyle/>
                    <a:p>
                      <a:pPr algn="ctr" fontAlgn="b"/>
                      <a:r>
                        <a:rPr lang="en-IN" sz="1050" b="1" i="0" u="none" strike="noStrike" kern="1200">
                          <a:solidFill>
                            <a:schemeClr val="accent4"/>
                          </a:solidFill>
                          <a:effectLst/>
                          <a:latin typeface="+mn-lt"/>
                          <a:ea typeface="+mn-ea"/>
                          <a:cs typeface="+mn-cs"/>
                        </a:rPr>
                        <a:t>0.75</a:t>
                      </a:r>
                    </a:p>
                  </a:txBody>
                  <a:tcPr marL="6350" marR="6350" marT="6350" marB="0" anchor="ctr"/>
                </a:tc>
                <a:extLst>
                  <a:ext uri="{0D108BD9-81ED-4DB2-BD59-A6C34878D82A}">
                    <a16:rowId xmlns:a16="http://schemas.microsoft.com/office/drawing/2014/main" val="4076501595"/>
                  </a:ext>
                </a:extLst>
              </a:tr>
              <a:tr h="291158">
                <a:tc>
                  <a:txBody>
                    <a:bodyPr/>
                    <a:lstStyle/>
                    <a:p>
                      <a:pPr algn="l" fontAlgn="b"/>
                      <a:r>
                        <a:rPr lang="en-US" sz="1050" b="0" i="0" u="none" strike="noStrike">
                          <a:solidFill>
                            <a:schemeClr val="accent4"/>
                          </a:solidFill>
                          <a:effectLst/>
                          <a:latin typeface="+mn-lt"/>
                          <a:ea typeface="Lato Regular" panose="020F0502020204030203" pitchFamily="34" charset="0"/>
                          <a:cs typeface="Lato Regular" panose="020F0502020204030203" pitchFamily="34" charset="0"/>
                        </a:rPr>
                        <a:t>% Gross Margin</a:t>
                      </a:r>
                    </a:p>
                  </a:txBody>
                  <a:tcPr marL="144000" marR="6350" marT="6350" marB="0" anchor="ctr"/>
                </a:tc>
                <a:tc>
                  <a:txBody>
                    <a:bodyPr/>
                    <a:lstStyle/>
                    <a:p>
                      <a:pPr algn="ctr" fontAlgn="b"/>
                      <a:r>
                        <a:rPr lang="en-IN" sz="1050" b="0" i="0" u="none" strike="noStrike">
                          <a:solidFill>
                            <a:schemeClr val="accent4"/>
                          </a:solidFill>
                          <a:effectLst/>
                          <a:latin typeface="+mn-lt"/>
                        </a:rPr>
                        <a:t>40.2%</a:t>
                      </a:r>
                    </a:p>
                  </a:txBody>
                  <a:tcPr marL="6350" marR="6350" marT="6350" marB="0" anchor="ctr"/>
                </a:tc>
                <a:tc>
                  <a:txBody>
                    <a:bodyPr/>
                    <a:lstStyle/>
                    <a:p>
                      <a:pPr algn="ctr" fontAlgn="b"/>
                      <a:r>
                        <a:rPr lang="en-IN" sz="1050" b="0" i="0" u="none" strike="noStrike">
                          <a:solidFill>
                            <a:schemeClr val="accent4"/>
                          </a:solidFill>
                          <a:effectLst/>
                          <a:latin typeface="+mn-lt"/>
                        </a:rPr>
                        <a:t>33.7%</a:t>
                      </a:r>
                    </a:p>
                  </a:txBody>
                  <a:tcPr marL="6350" marR="6350" marT="6350" marB="0" anchor="ctr"/>
                </a:tc>
                <a:tc>
                  <a:txBody>
                    <a:bodyPr/>
                    <a:lstStyle/>
                    <a:p>
                      <a:pPr algn="ctr" fontAlgn="b"/>
                      <a:r>
                        <a:rPr lang="en-IN" sz="1050" b="0" i="0" u="none" strike="noStrike">
                          <a:solidFill>
                            <a:schemeClr val="accent4"/>
                          </a:solidFill>
                          <a:effectLst/>
                          <a:latin typeface="+mn-lt"/>
                        </a:rPr>
                        <a:t>45.4%</a:t>
                      </a:r>
                    </a:p>
                  </a:txBody>
                  <a:tcPr marL="6350" marR="6350" marT="6350" marB="0" anchor="ctr"/>
                </a:tc>
                <a:tc>
                  <a:txBody>
                    <a:bodyPr/>
                    <a:lstStyle/>
                    <a:p>
                      <a:pPr algn="ctr" fontAlgn="b"/>
                      <a:r>
                        <a:rPr lang="en-IN" sz="1050" b="0" i="0" u="none" strike="noStrike" kern="1200">
                          <a:solidFill>
                            <a:schemeClr val="accent4"/>
                          </a:solidFill>
                          <a:effectLst/>
                          <a:latin typeface="+mn-lt"/>
                          <a:ea typeface="+mn-ea"/>
                          <a:cs typeface="+mn-cs"/>
                        </a:rPr>
                        <a:t>0.4%</a:t>
                      </a:r>
                    </a:p>
                  </a:txBody>
                  <a:tcPr marL="9525" marR="9525" marT="9525" marB="0" anchor="ctr"/>
                </a:tc>
                <a:tc>
                  <a:txBody>
                    <a:bodyPr/>
                    <a:lstStyle/>
                    <a:p>
                      <a:pPr algn="ctr" fontAlgn="b"/>
                      <a:r>
                        <a:rPr lang="en-IN" sz="1050" b="0" i="0" u="none" strike="noStrike">
                          <a:solidFill>
                            <a:schemeClr val="accent4"/>
                          </a:solidFill>
                          <a:effectLst/>
                          <a:latin typeface="+mn-lt"/>
                        </a:rPr>
                        <a:t>41%</a:t>
                      </a:r>
                    </a:p>
                  </a:txBody>
                  <a:tcPr marL="6350" marR="6350" marT="6350" marB="0" anchor="ctr"/>
                </a:tc>
                <a:extLst>
                  <a:ext uri="{0D108BD9-81ED-4DB2-BD59-A6C34878D82A}">
                    <a16:rowId xmlns:a16="http://schemas.microsoft.com/office/drawing/2014/main" val="3179895044"/>
                  </a:ext>
                </a:extLst>
              </a:tr>
              <a:tr h="291158">
                <a:tc>
                  <a:txBody>
                    <a:bodyPr/>
                    <a:lstStyle/>
                    <a:p>
                      <a:pPr algn="l" fontAlgn="b"/>
                      <a:r>
                        <a:rPr lang="en-US" sz="1050" b="1" u="none" strike="noStrike">
                          <a:solidFill>
                            <a:schemeClr val="accent4"/>
                          </a:solidFill>
                          <a:effectLst/>
                          <a:latin typeface="+mn-lt"/>
                          <a:ea typeface="Lato Regular" panose="020F0502020204030203" pitchFamily="34" charset="0"/>
                          <a:cs typeface="Lato Regular" panose="020F0502020204030203" pitchFamily="34" charset="0"/>
                        </a:rPr>
                        <a:t>EBITDA</a:t>
                      </a:r>
                      <a:endParaRPr lang="en-US" sz="1050" b="1" i="0" u="none" strike="noStrike">
                        <a:solidFill>
                          <a:schemeClr val="accent4"/>
                        </a:solidFill>
                        <a:effectLst/>
                        <a:latin typeface="+mn-lt"/>
                        <a:ea typeface="Lato Regular" panose="020F0502020204030203" pitchFamily="34" charset="0"/>
                        <a:cs typeface="Lato Regular" panose="020F0502020204030203" pitchFamily="34" charset="0"/>
                      </a:endParaRPr>
                    </a:p>
                  </a:txBody>
                  <a:tcPr marL="144000" marR="6350" marT="6350" marB="0" anchor="ctr"/>
                </a:tc>
                <a:tc>
                  <a:txBody>
                    <a:bodyPr/>
                    <a:lstStyle/>
                    <a:p>
                      <a:pPr algn="ctr" fontAlgn="b"/>
                      <a:r>
                        <a:rPr lang="en-IN" sz="1050" b="1" i="0" u="none" strike="noStrike">
                          <a:solidFill>
                            <a:schemeClr val="accent4"/>
                          </a:solidFill>
                          <a:effectLst/>
                          <a:latin typeface="+mn-lt"/>
                        </a:rPr>
                        <a:t>-3.0</a:t>
                      </a:r>
                    </a:p>
                  </a:txBody>
                  <a:tcPr marL="6350" marR="6350" marT="6350" marB="0" anchor="ctr"/>
                </a:tc>
                <a:tc>
                  <a:txBody>
                    <a:bodyPr/>
                    <a:lstStyle/>
                    <a:p>
                      <a:pPr algn="ctr" fontAlgn="b"/>
                      <a:r>
                        <a:rPr lang="en-IN" sz="1050" b="1" i="0" u="none" strike="noStrike">
                          <a:solidFill>
                            <a:schemeClr val="accent4"/>
                          </a:solidFill>
                          <a:effectLst/>
                          <a:latin typeface="+mn-lt"/>
                        </a:rPr>
                        <a:t>-5.6</a:t>
                      </a:r>
                    </a:p>
                  </a:txBody>
                  <a:tcPr marL="6350" marR="6350" marT="6350" marB="0" anchor="ctr"/>
                </a:tc>
                <a:tc>
                  <a:txBody>
                    <a:bodyPr/>
                    <a:lstStyle/>
                    <a:p>
                      <a:pPr algn="ctr" fontAlgn="b"/>
                      <a:r>
                        <a:rPr lang="en-IN" sz="1050" b="1" i="0" u="none" strike="noStrike">
                          <a:solidFill>
                            <a:schemeClr val="accent4"/>
                          </a:solidFill>
                          <a:effectLst/>
                          <a:latin typeface="+mn-lt"/>
                        </a:rPr>
                        <a:t>-5.6</a:t>
                      </a:r>
                    </a:p>
                  </a:txBody>
                  <a:tcPr marL="6350" marR="6350" marT="6350" marB="0" anchor="ctr"/>
                </a:tc>
                <a:tc>
                  <a:txBody>
                    <a:bodyPr/>
                    <a:lstStyle/>
                    <a:p>
                      <a:pPr algn="ctr" fontAlgn="b"/>
                      <a:r>
                        <a:rPr lang="en-IN" sz="1050" b="1" i="0" u="none" strike="noStrike" kern="1200">
                          <a:solidFill>
                            <a:schemeClr val="accent4"/>
                          </a:solidFill>
                          <a:effectLst/>
                          <a:latin typeface="+mn-lt"/>
                          <a:ea typeface="+mn-ea"/>
                          <a:cs typeface="+mn-cs"/>
                        </a:rPr>
                        <a:t>-1.34</a:t>
                      </a:r>
                    </a:p>
                  </a:txBody>
                  <a:tcPr marL="9525" marR="9525" marT="9525" marB="0" anchor="ctr"/>
                </a:tc>
                <a:tc>
                  <a:txBody>
                    <a:bodyPr/>
                    <a:lstStyle/>
                    <a:p>
                      <a:pPr algn="ctr" fontAlgn="b"/>
                      <a:r>
                        <a:rPr lang="en-IN" sz="1050" b="1" i="0" u="none" strike="noStrike">
                          <a:solidFill>
                            <a:schemeClr val="accent4"/>
                          </a:solidFill>
                          <a:effectLst/>
                          <a:latin typeface="+mn-lt"/>
                        </a:rPr>
                        <a:t>-0.99</a:t>
                      </a:r>
                    </a:p>
                  </a:txBody>
                  <a:tcPr marL="6350" marR="6350" marT="6350" marB="0" anchor="ctr"/>
                </a:tc>
                <a:extLst>
                  <a:ext uri="{0D108BD9-81ED-4DB2-BD59-A6C34878D82A}">
                    <a16:rowId xmlns:a16="http://schemas.microsoft.com/office/drawing/2014/main" val="3498926890"/>
                  </a:ext>
                </a:extLst>
              </a:tr>
              <a:tr h="291158">
                <a:tc>
                  <a:txBody>
                    <a:bodyPr/>
                    <a:lstStyle/>
                    <a:p>
                      <a:pPr algn="l" fontAlgn="b"/>
                      <a:r>
                        <a:rPr lang="en-US" sz="1050" b="0" u="none" strike="noStrike">
                          <a:solidFill>
                            <a:schemeClr val="accent4"/>
                          </a:solidFill>
                          <a:effectLst/>
                          <a:latin typeface="+mn-lt"/>
                          <a:ea typeface="Lato Regular" panose="020F0502020204030203" pitchFamily="34" charset="0"/>
                          <a:cs typeface="Lato Regular" panose="020F0502020204030203" pitchFamily="34" charset="0"/>
                        </a:rPr>
                        <a:t>% EBITDA</a:t>
                      </a:r>
                      <a:endParaRPr lang="en-US" sz="1050" b="0" i="0" u="none" strike="noStrike">
                        <a:solidFill>
                          <a:schemeClr val="accent4"/>
                        </a:solidFill>
                        <a:effectLst/>
                        <a:latin typeface="+mn-lt"/>
                        <a:ea typeface="Lato Regular" panose="020F0502020204030203" pitchFamily="34" charset="0"/>
                        <a:cs typeface="Lato Regular" panose="020F0502020204030203" pitchFamily="34" charset="0"/>
                      </a:endParaRPr>
                    </a:p>
                  </a:txBody>
                  <a:tcPr marL="144000" marR="6350" marT="6350" marB="0" anchor="ctr"/>
                </a:tc>
                <a:tc>
                  <a:txBody>
                    <a:bodyPr/>
                    <a:lstStyle/>
                    <a:p>
                      <a:pPr algn="ctr" fontAlgn="b"/>
                      <a:r>
                        <a:rPr lang="en-IN" sz="1050" b="0" i="0" u="none" strike="noStrike">
                          <a:solidFill>
                            <a:schemeClr val="accent4"/>
                          </a:solidFill>
                          <a:effectLst/>
                          <a:latin typeface="+mn-lt"/>
                        </a:rPr>
                        <a:t>-251%</a:t>
                      </a:r>
                    </a:p>
                  </a:txBody>
                  <a:tcPr marL="6350" marR="6350" marT="6350" marB="0" anchor="ctr"/>
                </a:tc>
                <a:tc>
                  <a:txBody>
                    <a:bodyPr/>
                    <a:lstStyle/>
                    <a:p>
                      <a:pPr algn="ctr" fontAlgn="b"/>
                      <a:r>
                        <a:rPr lang="en-IN" sz="1050" b="0" i="0" u="none" strike="noStrike">
                          <a:solidFill>
                            <a:schemeClr val="accent4"/>
                          </a:solidFill>
                          <a:effectLst/>
                          <a:latin typeface="+mn-lt"/>
                        </a:rPr>
                        <a:t>-877%</a:t>
                      </a:r>
                    </a:p>
                  </a:txBody>
                  <a:tcPr marL="6350" marR="6350" marT="6350" marB="0" anchor="ctr"/>
                </a:tc>
                <a:tc>
                  <a:txBody>
                    <a:bodyPr/>
                    <a:lstStyle/>
                    <a:p>
                      <a:pPr algn="ctr" fontAlgn="b"/>
                      <a:r>
                        <a:rPr lang="en-IN" sz="1050" b="0" i="0" u="none" strike="noStrike">
                          <a:solidFill>
                            <a:schemeClr val="accent4"/>
                          </a:solidFill>
                          <a:effectLst/>
                          <a:latin typeface="+mn-lt"/>
                        </a:rPr>
                        <a:t>-116%</a:t>
                      </a:r>
                    </a:p>
                  </a:txBody>
                  <a:tcPr marL="6350" marR="6350" marT="6350" marB="0" anchor="ctr"/>
                </a:tc>
                <a:tc>
                  <a:txBody>
                    <a:bodyPr/>
                    <a:lstStyle/>
                    <a:p>
                      <a:pPr algn="ctr" fontAlgn="b"/>
                      <a:r>
                        <a:rPr lang="en-IN" sz="1050" b="0" i="0" u="none" strike="noStrike" kern="1200">
                          <a:solidFill>
                            <a:schemeClr val="accent4"/>
                          </a:solidFill>
                          <a:effectLst/>
                          <a:latin typeface="+mn-lt"/>
                          <a:ea typeface="+mn-ea"/>
                          <a:cs typeface="+mn-cs"/>
                        </a:rPr>
                        <a:t>-569%</a:t>
                      </a:r>
                    </a:p>
                  </a:txBody>
                  <a:tcPr marL="9525" marR="9525" marT="9525" marB="0" anchor="ctr"/>
                </a:tc>
                <a:tc>
                  <a:txBody>
                    <a:bodyPr/>
                    <a:lstStyle/>
                    <a:p>
                      <a:pPr algn="ctr" fontAlgn="b"/>
                      <a:r>
                        <a:rPr lang="en-IN" sz="1050" b="0" i="0" u="none" strike="noStrike">
                          <a:solidFill>
                            <a:schemeClr val="accent4"/>
                          </a:solidFill>
                          <a:effectLst/>
                          <a:latin typeface="+mn-lt"/>
                        </a:rPr>
                        <a:t>-55%</a:t>
                      </a:r>
                    </a:p>
                  </a:txBody>
                  <a:tcPr marL="6350" marR="6350" marT="6350" marB="0" anchor="ctr"/>
                </a:tc>
                <a:extLst>
                  <a:ext uri="{0D108BD9-81ED-4DB2-BD59-A6C34878D82A}">
                    <a16:rowId xmlns:a16="http://schemas.microsoft.com/office/drawing/2014/main" val="3759208202"/>
                  </a:ext>
                </a:extLst>
              </a:tr>
            </a:tbl>
          </a:graphicData>
        </a:graphic>
      </p:graphicFrame>
      <p:cxnSp>
        <p:nvCxnSpPr>
          <p:cNvPr id="10" name="Straight Connector 9">
            <a:extLst>
              <a:ext uri="{FF2B5EF4-FFF2-40B4-BE49-F238E27FC236}">
                <a16:creationId xmlns:a16="http://schemas.microsoft.com/office/drawing/2014/main" id="{47C8D8C5-1DA0-15E9-31AA-5C08F2BA4EAC}"/>
              </a:ext>
            </a:extLst>
          </p:cNvPr>
          <p:cNvCxnSpPr>
            <a:cxnSpLocks/>
          </p:cNvCxnSpPr>
          <p:nvPr/>
        </p:nvCxnSpPr>
        <p:spPr>
          <a:xfrm>
            <a:off x="4891533" y="536026"/>
            <a:ext cx="0" cy="320217"/>
          </a:xfrm>
          <a:prstGeom prst="line">
            <a:avLst/>
          </a:prstGeom>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DE2D6A8-1CB6-BDDB-9347-44A341F781B3}"/>
              </a:ext>
            </a:extLst>
          </p:cNvPr>
          <p:cNvSpPr txBox="1"/>
          <p:nvPr/>
        </p:nvSpPr>
        <p:spPr>
          <a:xfrm>
            <a:off x="5539984" y="1433554"/>
            <a:ext cx="3607078" cy="227883"/>
          </a:xfrm>
          <a:prstGeom prst="rect">
            <a:avLst/>
          </a:prstGeom>
          <a:noFill/>
        </p:spPr>
        <p:txBody>
          <a:bodyPr wrap="square" lIns="0" tIns="0" rIns="0" bIns="0" rtlCol="0">
            <a:spAutoFit/>
          </a:bodyPr>
          <a:lstStyle/>
          <a:p>
            <a:r>
              <a:rPr lang="en-IN" sz="1481" b="1">
                <a:solidFill>
                  <a:schemeClr val="tx2"/>
                </a:solidFill>
                <a:ea typeface="Lato Regular" panose="020F0502020204030203" pitchFamily="34" charset="0"/>
                <a:cs typeface="Lato Regular" panose="020F0502020204030203" pitchFamily="34" charset="0"/>
              </a:rPr>
              <a:t>Key Performance Indicators</a:t>
            </a:r>
          </a:p>
        </p:txBody>
      </p:sp>
      <p:graphicFrame>
        <p:nvGraphicFramePr>
          <p:cNvPr id="16" name="Table 15">
            <a:extLst>
              <a:ext uri="{FF2B5EF4-FFF2-40B4-BE49-F238E27FC236}">
                <a16:creationId xmlns:a16="http://schemas.microsoft.com/office/drawing/2014/main" id="{D4F4763D-7F3F-6D0D-FF99-31F5770C6A8A}"/>
              </a:ext>
            </a:extLst>
          </p:cNvPr>
          <p:cNvGraphicFramePr>
            <a:graphicFrameLocks noGrp="1"/>
          </p:cNvGraphicFramePr>
          <p:nvPr/>
        </p:nvGraphicFramePr>
        <p:xfrm>
          <a:off x="5539984" y="1840227"/>
          <a:ext cx="5785512" cy="558416"/>
        </p:xfrm>
        <a:graphic>
          <a:graphicData uri="http://schemas.openxmlformats.org/drawingml/2006/table">
            <a:tbl>
              <a:tblPr firstRow="1" bandRow="1">
                <a:tableStyleId>{69012ECD-51FC-41F1-AA8D-1B2483CD663E}</a:tableStyleId>
              </a:tblPr>
              <a:tblGrid>
                <a:gridCol w="1787916">
                  <a:extLst>
                    <a:ext uri="{9D8B030D-6E8A-4147-A177-3AD203B41FA5}">
                      <a16:colId xmlns:a16="http://schemas.microsoft.com/office/drawing/2014/main" val="3001066899"/>
                    </a:ext>
                  </a:extLst>
                </a:gridCol>
                <a:gridCol w="1257300">
                  <a:extLst>
                    <a:ext uri="{9D8B030D-6E8A-4147-A177-3AD203B41FA5}">
                      <a16:colId xmlns:a16="http://schemas.microsoft.com/office/drawing/2014/main" val="3274968397"/>
                    </a:ext>
                  </a:extLst>
                </a:gridCol>
                <a:gridCol w="929861">
                  <a:extLst>
                    <a:ext uri="{9D8B030D-6E8A-4147-A177-3AD203B41FA5}">
                      <a16:colId xmlns:a16="http://schemas.microsoft.com/office/drawing/2014/main" val="1682304161"/>
                    </a:ext>
                  </a:extLst>
                </a:gridCol>
                <a:gridCol w="983427">
                  <a:extLst>
                    <a:ext uri="{9D8B030D-6E8A-4147-A177-3AD203B41FA5}">
                      <a16:colId xmlns:a16="http://schemas.microsoft.com/office/drawing/2014/main" val="1234793262"/>
                    </a:ext>
                  </a:extLst>
                </a:gridCol>
                <a:gridCol w="827008">
                  <a:extLst>
                    <a:ext uri="{9D8B030D-6E8A-4147-A177-3AD203B41FA5}">
                      <a16:colId xmlns:a16="http://schemas.microsoft.com/office/drawing/2014/main" val="3741411441"/>
                    </a:ext>
                  </a:extLst>
                </a:gridCol>
              </a:tblGrid>
              <a:tr h="263789">
                <a:tc>
                  <a:txBody>
                    <a:bodyPr/>
                    <a:lstStyle/>
                    <a:p>
                      <a:pPr algn="l" fontAlgn="b">
                        <a:buNone/>
                      </a:pPr>
                      <a:r>
                        <a:rPr lang="en-US" sz="1050" b="1" u="none" strike="noStrike">
                          <a:solidFill>
                            <a:schemeClr val="bg1"/>
                          </a:solidFill>
                          <a:effectLst/>
                          <a:latin typeface="+mn-lt"/>
                          <a:ea typeface="Lato Regular" panose="020F0502020204030203" pitchFamily="34" charset="0"/>
                          <a:cs typeface="Lato Regular" panose="020F0502020204030203" pitchFamily="34" charset="0"/>
                        </a:rPr>
                        <a:t>KPIs</a:t>
                      </a:r>
                      <a:endParaRPr lang="en-US" sz="1050" b="1" i="0" u="none" strike="noStrike">
                        <a:solidFill>
                          <a:schemeClr val="bg1"/>
                        </a:solidFill>
                        <a:effectLst/>
                        <a:latin typeface="+mn-lt"/>
                        <a:ea typeface="Lato Regular" panose="020F0502020204030203" pitchFamily="34" charset="0"/>
                        <a:cs typeface="Lato Regular" panose="020F0502020204030203" pitchFamily="34" charset="0"/>
                      </a:endParaRPr>
                    </a:p>
                  </a:txBody>
                  <a:tcPr marL="144000" marR="6350" marT="6350" marB="0" anchor="ctr"/>
                </a:tc>
                <a:tc>
                  <a:txBody>
                    <a:bodyPr/>
                    <a:lstStyle/>
                    <a:p>
                      <a:pPr algn="ctr" fontAlgn="b">
                        <a:buNone/>
                      </a:pPr>
                      <a:r>
                        <a:rPr lang="en-US" sz="1050" b="1"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rPr>
                        <a:t>FY25</a:t>
                      </a:r>
                      <a:endParaRPr lang="en-US" sz="105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05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rPr>
                        <a:t>FY26</a:t>
                      </a:r>
                    </a:p>
                  </a:txBody>
                  <a:tcPr marL="6350" marR="6350" marT="6350" marB="0" anchor="ctr"/>
                </a:tc>
                <a:tc>
                  <a:txBody>
                    <a:bodyPr/>
                    <a:lstStyle/>
                    <a:p>
                      <a:pPr algn="ctr" fontAlgn="b">
                        <a:buNone/>
                      </a:pPr>
                      <a:r>
                        <a:rPr lang="en-US" sz="1050" b="1"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rPr>
                        <a:t>Q4FY25</a:t>
                      </a:r>
                      <a:endParaRPr lang="en-US" sz="105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050" b="1"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rPr>
                        <a:t>Q4FY26</a:t>
                      </a:r>
                      <a:endParaRPr lang="en-US" sz="105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extLst>
                  <a:ext uri="{0D108BD9-81ED-4DB2-BD59-A6C34878D82A}">
                    <a16:rowId xmlns:a16="http://schemas.microsoft.com/office/drawing/2014/main" val="3735237806"/>
                  </a:ext>
                </a:extLst>
              </a:tr>
              <a:tr h="294627">
                <a:tc>
                  <a:txBody>
                    <a:bodyPr/>
                    <a:lstStyle/>
                    <a:p>
                      <a:pPr algn="l" fontAlgn="b"/>
                      <a:r>
                        <a:rPr lang="en-US" sz="1050" b="1" i="0" u="none" strike="noStrike">
                          <a:solidFill>
                            <a:schemeClr val="bg2">
                              <a:lumMod val="10000"/>
                            </a:schemeClr>
                          </a:solidFill>
                          <a:effectLst/>
                          <a:latin typeface="+mn-lt"/>
                          <a:ea typeface="Lato Regular" panose="020F0502020204030203" pitchFamily="34" charset="0"/>
                          <a:cs typeface="Lato Regular" panose="020F0502020204030203" pitchFamily="34" charset="0"/>
                        </a:rPr>
                        <a:t>Cumulative</a:t>
                      </a:r>
                      <a:r>
                        <a:rPr lang="en-US" sz="1050" b="1" i="0" u="none" strike="noStrike" baseline="0">
                          <a:solidFill>
                            <a:schemeClr val="bg2">
                              <a:lumMod val="10000"/>
                            </a:schemeClr>
                          </a:solidFill>
                          <a:effectLst/>
                          <a:latin typeface="+mn-lt"/>
                          <a:ea typeface="Lato Regular" panose="020F0502020204030203" pitchFamily="34" charset="0"/>
                          <a:cs typeface="Lato Regular" panose="020F0502020204030203" pitchFamily="34" charset="0"/>
                        </a:rPr>
                        <a:t> Pulses</a:t>
                      </a:r>
                      <a:endParaRPr lang="en-US" sz="1050" b="1" i="0" u="none" strike="noStrike">
                        <a:solidFill>
                          <a:schemeClr val="bg2">
                            <a:lumMod val="10000"/>
                          </a:schemeClr>
                        </a:solidFill>
                        <a:effectLst/>
                        <a:latin typeface="+mn-lt"/>
                        <a:ea typeface="Lato Regular" panose="020F0502020204030203" pitchFamily="34" charset="0"/>
                        <a:cs typeface="Lato Regular" panose="020F0502020204030203" pitchFamily="34" charset="0"/>
                      </a:endParaRPr>
                    </a:p>
                  </a:txBody>
                  <a:tcPr marL="108000" marR="6350" marT="6350" marB="0" anchor="ctr"/>
                </a:tc>
                <a:tc>
                  <a:txBody>
                    <a:bodyPr/>
                    <a:lstStyle/>
                    <a:p>
                      <a:pPr algn="ctr" fontAlgn="b"/>
                      <a:r>
                        <a:rPr lang="en-IN" sz="1050" b="0" i="0" u="none" strike="noStrike">
                          <a:solidFill>
                            <a:srgbClr val="000000"/>
                          </a:solidFill>
                          <a:effectLst/>
                          <a:latin typeface="+mn-lt"/>
                        </a:rPr>
                        <a:t>19,74,407</a:t>
                      </a:r>
                    </a:p>
                  </a:txBody>
                  <a:tcPr marL="6350" marR="6350" marT="6350" marB="0" anchor="ctr"/>
                </a:tc>
                <a:tc>
                  <a:txBody>
                    <a:bodyPr/>
                    <a:lstStyle/>
                    <a:p>
                      <a:pPr marL="0" algn="ctr" defTabSz="914400" rtl="0" eaLnBrk="1" fontAlgn="b" latinLnBrk="0" hangingPunct="1"/>
                      <a:r>
                        <a:rPr lang="en-IN" sz="1050" b="0" i="0" u="none" strike="noStrike" kern="1200">
                          <a:solidFill>
                            <a:srgbClr val="000000"/>
                          </a:solidFill>
                          <a:effectLst/>
                          <a:latin typeface="+mn-lt"/>
                          <a:ea typeface="+mn-ea"/>
                          <a:cs typeface="+mn-cs"/>
                        </a:rPr>
                        <a:t>3,46,34,740</a:t>
                      </a:r>
                    </a:p>
                  </a:txBody>
                  <a:tcPr marL="9525" marR="9525" marT="9525" marB="0" anchor="ctr"/>
                </a:tc>
                <a:tc>
                  <a:txBody>
                    <a:bodyPr/>
                    <a:lstStyle/>
                    <a:p>
                      <a:pPr marL="0" algn="ctr" defTabSz="914400" rtl="0" eaLnBrk="1" fontAlgn="b" latinLnBrk="0" hangingPunct="1"/>
                      <a:r>
                        <a:rPr lang="en-IN" sz="1050" b="0" i="0" u="none" strike="noStrike" kern="1200">
                          <a:solidFill>
                            <a:srgbClr val="000000"/>
                          </a:solidFill>
                          <a:effectLst/>
                          <a:latin typeface="+mn-lt"/>
                          <a:ea typeface="+mn-ea"/>
                          <a:cs typeface="+mn-cs"/>
                        </a:rPr>
                        <a:t>12,67,845</a:t>
                      </a:r>
                    </a:p>
                  </a:txBody>
                  <a:tcPr marL="9525" marR="9525" marT="9525" marB="0" anchor="ctr"/>
                </a:tc>
                <a:tc>
                  <a:txBody>
                    <a:bodyPr/>
                    <a:lstStyle/>
                    <a:p>
                      <a:pPr marL="0" algn="ctr" defTabSz="914400" rtl="0" eaLnBrk="1" fontAlgn="b" latinLnBrk="0" hangingPunct="1"/>
                      <a:r>
                        <a:rPr lang="en-IN" sz="1050" b="0" i="0" u="none" strike="noStrike" kern="1200">
                          <a:solidFill>
                            <a:srgbClr val="000000"/>
                          </a:solidFill>
                          <a:effectLst/>
                          <a:latin typeface="+mn-lt"/>
                          <a:ea typeface="+mn-ea"/>
                          <a:cs typeface="+mn-cs"/>
                        </a:rPr>
                        <a:t>3,46,34,740</a:t>
                      </a:r>
                    </a:p>
                  </a:txBody>
                  <a:tcPr marL="9525" marR="9525" marT="9525" marB="0" anchor="ctr"/>
                </a:tc>
                <a:extLst>
                  <a:ext uri="{0D108BD9-81ED-4DB2-BD59-A6C34878D82A}">
                    <a16:rowId xmlns:a16="http://schemas.microsoft.com/office/drawing/2014/main" val="2159784742"/>
                  </a:ext>
                </a:extLst>
              </a:tr>
            </a:tbl>
          </a:graphicData>
        </a:graphic>
      </p:graphicFrame>
      <p:pic>
        <p:nvPicPr>
          <p:cNvPr id="1028" name="Picture 4" descr="CoRE-AI">
            <a:extLst>
              <a:ext uri="{FF2B5EF4-FFF2-40B4-BE49-F238E27FC236}">
                <a16:creationId xmlns:a16="http://schemas.microsoft.com/office/drawing/2014/main" id="{C27F8A9C-A069-6FF2-3F37-C53B4588F19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309" t="26821" r="11565" b="29018"/>
          <a:stretch>
            <a:fillRect/>
          </a:stretch>
        </p:blipFill>
        <p:spPr bwMode="auto">
          <a:xfrm>
            <a:off x="4997993" y="405633"/>
            <a:ext cx="1605437" cy="4102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52998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A5BE1-3F40-DB89-BE70-C3D53273F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C80F29-E04A-D429-B1D9-B320D57CC151}"/>
              </a:ext>
            </a:extLst>
          </p:cNvPr>
          <p:cNvSpPr>
            <a:spLocks noGrp="1"/>
          </p:cNvSpPr>
          <p:nvPr>
            <p:ph type="title"/>
          </p:nvPr>
        </p:nvSpPr>
        <p:spPr/>
        <p:txBody>
          <a:bodyPr/>
          <a:lstStyle/>
          <a:p>
            <a:r>
              <a:rPr lang="en-US"/>
              <a:t>Knight Fintech – Maturing into its market</a:t>
            </a:r>
          </a:p>
        </p:txBody>
      </p:sp>
      <p:sp>
        <p:nvSpPr>
          <p:cNvPr id="3" name="TextBox 2">
            <a:extLst>
              <a:ext uri="{FF2B5EF4-FFF2-40B4-BE49-F238E27FC236}">
                <a16:creationId xmlns:a16="http://schemas.microsoft.com/office/drawing/2014/main" id="{AE5A08D8-AE38-3266-1605-8F6314F5EBCA}"/>
              </a:ext>
            </a:extLst>
          </p:cNvPr>
          <p:cNvSpPr txBox="1"/>
          <p:nvPr/>
        </p:nvSpPr>
        <p:spPr>
          <a:xfrm>
            <a:off x="499141" y="1387387"/>
            <a:ext cx="3450246" cy="320216"/>
          </a:xfrm>
          <a:prstGeom prst="rect">
            <a:avLst/>
          </a:prstGeom>
          <a:noFill/>
        </p:spPr>
        <p:txBody>
          <a:bodyPr wrap="square" rtlCol="0">
            <a:spAutoFit/>
          </a:bodyPr>
          <a:lstStyle/>
          <a:p>
            <a:r>
              <a:rPr lang="en-IN" sz="1481" b="1">
                <a:solidFill>
                  <a:schemeClr val="tx2"/>
                </a:solidFill>
                <a:ea typeface="Lato Regular" panose="020F0502020204030203" pitchFamily="34" charset="0"/>
                <a:cs typeface="Lato Regular" panose="020F0502020204030203" pitchFamily="34" charset="0"/>
              </a:rPr>
              <a:t>Business Description</a:t>
            </a:r>
          </a:p>
        </p:txBody>
      </p:sp>
      <p:sp>
        <p:nvSpPr>
          <p:cNvPr id="4" name="TextBox 3">
            <a:extLst>
              <a:ext uri="{FF2B5EF4-FFF2-40B4-BE49-F238E27FC236}">
                <a16:creationId xmlns:a16="http://schemas.microsoft.com/office/drawing/2014/main" id="{3D1DC7AB-36C1-F16C-C1C9-542F5E7773E0}"/>
              </a:ext>
            </a:extLst>
          </p:cNvPr>
          <p:cNvSpPr txBox="1"/>
          <p:nvPr/>
        </p:nvSpPr>
        <p:spPr>
          <a:xfrm>
            <a:off x="499141" y="3805112"/>
            <a:ext cx="3450246" cy="320216"/>
          </a:xfrm>
          <a:prstGeom prst="rect">
            <a:avLst/>
          </a:prstGeom>
          <a:noFill/>
        </p:spPr>
        <p:txBody>
          <a:bodyPr wrap="square" rtlCol="0">
            <a:spAutoFit/>
          </a:bodyPr>
          <a:lstStyle/>
          <a:p>
            <a:r>
              <a:rPr lang="en-IN" sz="1481" b="1">
                <a:solidFill>
                  <a:schemeClr val="tx2"/>
                </a:solidFill>
                <a:ea typeface="Lato Regular" panose="020F0502020204030203" pitchFamily="34" charset="0"/>
                <a:cs typeface="Lato Regular" panose="020F0502020204030203" pitchFamily="34" charset="0"/>
              </a:rPr>
              <a:t>Performance Commentary</a:t>
            </a:r>
          </a:p>
        </p:txBody>
      </p:sp>
      <p:sp>
        <p:nvSpPr>
          <p:cNvPr id="5" name="TextBox 4">
            <a:extLst>
              <a:ext uri="{FF2B5EF4-FFF2-40B4-BE49-F238E27FC236}">
                <a16:creationId xmlns:a16="http://schemas.microsoft.com/office/drawing/2014/main" id="{11880987-0212-3F4C-31D1-4A3CD6FE3B21}"/>
              </a:ext>
            </a:extLst>
          </p:cNvPr>
          <p:cNvSpPr txBox="1"/>
          <p:nvPr/>
        </p:nvSpPr>
        <p:spPr>
          <a:xfrm>
            <a:off x="5539984" y="3805112"/>
            <a:ext cx="3450246" cy="227883"/>
          </a:xfrm>
          <a:prstGeom prst="rect">
            <a:avLst/>
          </a:prstGeom>
          <a:noFill/>
        </p:spPr>
        <p:txBody>
          <a:bodyPr wrap="square" lIns="0" tIns="0" rIns="0" bIns="0" rtlCol="0">
            <a:spAutoFit/>
          </a:bodyPr>
          <a:lstStyle/>
          <a:p>
            <a:r>
              <a:rPr lang="en-IN" sz="1481" b="1">
                <a:solidFill>
                  <a:schemeClr val="tx2"/>
                </a:solidFill>
                <a:ea typeface="Lato Regular" panose="020F0502020204030203" pitchFamily="34" charset="0"/>
                <a:cs typeface="Lato Regular" panose="020F0502020204030203" pitchFamily="34" charset="0"/>
              </a:rPr>
              <a:t>Key Financial Highlights</a:t>
            </a:r>
          </a:p>
        </p:txBody>
      </p:sp>
      <p:sp>
        <p:nvSpPr>
          <p:cNvPr id="6" name="Rectangle 5">
            <a:extLst>
              <a:ext uri="{FF2B5EF4-FFF2-40B4-BE49-F238E27FC236}">
                <a16:creationId xmlns:a16="http://schemas.microsoft.com/office/drawing/2014/main" id="{3A4749E8-2636-B674-38AA-A33D74D3F0FD}"/>
              </a:ext>
            </a:extLst>
          </p:cNvPr>
          <p:cNvSpPr/>
          <p:nvPr/>
        </p:nvSpPr>
        <p:spPr>
          <a:xfrm>
            <a:off x="562116" y="1815136"/>
            <a:ext cx="4195514" cy="2369880"/>
          </a:xfrm>
          <a:prstGeom prst="rect">
            <a:avLst/>
          </a:prstGeom>
        </p:spPr>
        <p:txBody>
          <a:bodyPr wrap="square" lIns="0" tIns="0" rIns="0" bIns="0">
            <a:spAutoFit/>
          </a:bodyPr>
          <a:lstStyle/>
          <a:p>
            <a:pPr marL="171450" indent="-171450" algn="just">
              <a:spcAft>
                <a:spcPts val="600"/>
              </a:spcAft>
              <a:buFont typeface="Arial" panose="020B0604020202020204" pitchFamily="34" charset="0"/>
              <a:buChar char="•"/>
            </a:pPr>
            <a:r>
              <a:rPr lang="en-GB" sz="1200">
                <a:solidFill>
                  <a:schemeClr val="bg2">
                    <a:lumMod val="10000"/>
                  </a:schemeClr>
                </a:solidFill>
                <a:ea typeface="Calibri"/>
                <a:cs typeface="Calibri"/>
                <a:sym typeface="Calibri"/>
              </a:rPr>
              <a:t>Knight </a:t>
            </a:r>
            <a:r>
              <a:rPr lang="en-GB" sz="1200" err="1">
                <a:solidFill>
                  <a:schemeClr val="bg2">
                    <a:lumMod val="10000"/>
                  </a:schemeClr>
                </a:solidFill>
                <a:ea typeface="Calibri"/>
                <a:cs typeface="Calibri"/>
                <a:sym typeface="Calibri"/>
              </a:rPr>
              <a:t>FinTech</a:t>
            </a:r>
            <a:r>
              <a:rPr lang="en-GB" sz="1200">
                <a:solidFill>
                  <a:schemeClr val="bg2">
                    <a:lumMod val="10000"/>
                  </a:schemeClr>
                </a:solidFill>
                <a:ea typeface="Calibri"/>
                <a:cs typeface="Calibri"/>
                <a:sym typeface="Calibri"/>
              </a:rPr>
              <a:t> is a leading digital banking infrastructure provider, aiming to empower 500+ banks and financial institutions globally over the next 5 years with co-lending, digital lending, and treasury solutions.</a:t>
            </a:r>
          </a:p>
          <a:p>
            <a:pPr marL="171450" indent="-171450" algn="just">
              <a:spcAft>
                <a:spcPts val="600"/>
              </a:spcAft>
              <a:buFont typeface="Arial" panose="020B0604020202020204" pitchFamily="34" charset="0"/>
              <a:buChar char="•"/>
            </a:pPr>
            <a:r>
              <a:rPr lang="en-GB" sz="1200">
                <a:solidFill>
                  <a:schemeClr val="bg2">
                    <a:lumMod val="10000"/>
                  </a:schemeClr>
                </a:solidFill>
                <a:ea typeface="Calibri"/>
                <a:cs typeface="Calibri"/>
                <a:sym typeface="Calibri"/>
              </a:rPr>
              <a:t>The company manages over USD 4.5Bn+ in assets, adding USD 1Bn every quarter, and serves 85+ mid to large-sized banks and FIs, including 9 out of 12 large public sector banks in India.</a:t>
            </a:r>
          </a:p>
          <a:p>
            <a:pPr marL="171450" indent="-171450" algn="just">
              <a:spcAft>
                <a:spcPts val="600"/>
              </a:spcAft>
              <a:buFont typeface="Arial" panose="020B0604020202020204" pitchFamily="34" charset="0"/>
              <a:buChar char="•"/>
            </a:pPr>
            <a:endParaRPr lang="en-US" sz="1200">
              <a:solidFill>
                <a:schemeClr val="bg2">
                  <a:lumMod val="10000"/>
                </a:schemeClr>
              </a:solidFill>
              <a:ea typeface="Calibri"/>
              <a:cs typeface="Calibri"/>
              <a:sym typeface="Calibri"/>
            </a:endParaRPr>
          </a:p>
        </p:txBody>
      </p:sp>
      <p:graphicFrame>
        <p:nvGraphicFramePr>
          <p:cNvPr id="8" name="Table 7">
            <a:extLst>
              <a:ext uri="{FF2B5EF4-FFF2-40B4-BE49-F238E27FC236}">
                <a16:creationId xmlns:a16="http://schemas.microsoft.com/office/drawing/2014/main" id="{15A8ADF0-126C-CEE6-7C81-709A708A4642}"/>
              </a:ext>
            </a:extLst>
          </p:cNvPr>
          <p:cNvGraphicFramePr>
            <a:graphicFrameLocks noGrp="1"/>
          </p:cNvGraphicFramePr>
          <p:nvPr/>
        </p:nvGraphicFramePr>
        <p:xfrm>
          <a:off x="5539984" y="4144254"/>
          <a:ext cx="5877315" cy="2066045"/>
        </p:xfrm>
        <a:graphic>
          <a:graphicData uri="http://schemas.openxmlformats.org/drawingml/2006/table">
            <a:tbl>
              <a:tblPr firstRow="1" bandRow="1">
                <a:tableStyleId>{72833802-FEF1-4C79-8D5D-14CF1EAF98D9}</a:tableStyleId>
              </a:tblPr>
              <a:tblGrid>
                <a:gridCol w="1922620">
                  <a:extLst>
                    <a:ext uri="{9D8B030D-6E8A-4147-A177-3AD203B41FA5}">
                      <a16:colId xmlns:a16="http://schemas.microsoft.com/office/drawing/2014/main" val="3001066899"/>
                    </a:ext>
                  </a:extLst>
                </a:gridCol>
                <a:gridCol w="790939">
                  <a:extLst>
                    <a:ext uri="{9D8B030D-6E8A-4147-A177-3AD203B41FA5}">
                      <a16:colId xmlns:a16="http://schemas.microsoft.com/office/drawing/2014/main" val="700748351"/>
                    </a:ext>
                  </a:extLst>
                </a:gridCol>
                <a:gridCol w="790939">
                  <a:extLst>
                    <a:ext uri="{9D8B030D-6E8A-4147-A177-3AD203B41FA5}">
                      <a16:colId xmlns:a16="http://schemas.microsoft.com/office/drawing/2014/main" val="3274968397"/>
                    </a:ext>
                  </a:extLst>
                </a:gridCol>
                <a:gridCol w="790939">
                  <a:extLst>
                    <a:ext uri="{9D8B030D-6E8A-4147-A177-3AD203B41FA5}">
                      <a16:colId xmlns:a16="http://schemas.microsoft.com/office/drawing/2014/main" val="2449438832"/>
                    </a:ext>
                  </a:extLst>
                </a:gridCol>
                <a:gridCol w="790939">
                  <a:extLst>
                    <a:ext uri="{9D8B030D-6E8A-4147-A177-3AD203B41FA5}">
                      <a16:colId xmlns:a16="http://schemas.microsoft.com/office/drawing/2014/main" val="2120665549"/>
                    </a:ext>
                  </a:extLst>
                </a:gridCol>
                <a:gridCol w="790939">
                  <a:extLst>
                    <a:ext uri="{9D8B030D-6E8A-4147-A177-3AD203B41FA5}">
                      <a16:colId xmlns:a16="http://schemas.microsoft.com/office/drawing/2014/main" val="3935803133"/>
                    </a:ext>
                  </a:extLst>
                </a:gridCol>
              </a:tblGrid>
              <a:tr h="253709">
                <a:tc>
                  <a:txBody>
                    <a:bodyPr/>
                    <a:lstStyle/>
                    <a:p>
                      <a:pPr algn="l" fontAlgn="b">
                        <a:buNone/>
                      </a:pPr>
                      <a:r>
                        <a:rPr lang="en-US" sz="1050" b="1" u="none" strike="noStrike">
                          <a:solidFill>
                            <a:schemeClr val="bg1"/>
                          </a:solidFill>
                          <a:effectLst/>
                          <a:latin typeface="+mn-lt"/>
                          <a:ea typeface="Lato Regular" panose="020F0502020204030203" pitchFamily="34" charset="0"/>
                          <a:cs typeface="Lato Regular" panose="020F0502020204030203" pitchFamily="34" charset="0"/>
                        </a:rPr>
                        <a:t>INR Cr.</a:t>
                      </a:r>
                      <a:endParaRPr lang="en-US" sz="1050" b="1" i="0" u="none" strike="noStrike">
                        <a:solidFill>
                          <a:schemeClr val="bg1"/>
                        </a:solidFill>
                        <a:effectLst/>
                        <a:latin typeface="+mn-lt"/>
                        <a:ea typeface="Lato Regular" panose="020F0502020204030203" pitchFamily="34" charset="0"/>
                        <a:cs typeface="Lato Regular" panose="020F0502020204030203" pitchFamily="34" charset="0"/>
                      </a:endParaRPr>
                    </a:p>
                  </a:txBody>
                  <a:tcPr marL="144000" marR="6350" marT="6350" marB="0" anchor="ctr"/>
                </a:tc>
                <a:tc>
                  <a:txBody>
                    <a:bodyPr/>
                    <a:lstStyle/>
                    <a:p>
                      <a:pPr algn="ctr" fontAlgn="b">
                        <a:buNone/>
                      </a:pPr>
                      <a:r>
                        <a:rPr lang="en-US" sz="1050" b="1" u="none" strike="noStrike">
                          <a:solidFill>
                            <a:schemeClr val="bg1"/>
                          </a:solidFill>
                          <a:effectLst/>
                          <a:latin typeface="+mn-lt"/>
                          <a:ea typeface="Lato Regular" panose="020F0502020204030203" pitchFamily="34" charset="0"/>
                          <a:cs typeface="Lato Regular" panose="020F0502020204030203" pitchFamily="34" charset="0"/>
                        </a:rPr>
                        <a:t>FY24</a:t>
                      </a:r>
                      <a:endParaRPr lang="en-US" sz="1050" b="1" i="0" u="none" strike="noStrike">
                        <a:solidFill>
                          <a:schemeClr val="bg1"/>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050" b="1" u="none" strike="noStrike">
                          <a:solidFill>
                            <a:schemeClr val="bg1"/>
                          </a:solidFill>
                          <a:effectLst/>
                          <a:latin typeface="+mn-lt"/>
                          <a:ea typeface="Lato Regular" panose="020F0502020204030203" pitchFamily="34" charset="0"/>
                          <a:cs typeface="Lato Regular" panose="020F0502020204030203" pitchFamily="34" charset="0"/>
                        </a:rPr>
                        <a:t>FY25</a:t>
                      </a:r>
                      <a:endParaRPr lang="en-US" sz="1050" b="1" i="0" u="none" strike="noStrike">
                        <a:solidFill>
                          <a:schemeClr val="bg1"/>
                        </a:solidFill>
                        <a:effectLst/>
                        <a:latin typeface="+mn-lt"/>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05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rPr>
                        <a:t>FY26</a:t>
                      </a:r>
                    </a:p>
                  </a:txBody>
                  <a:tcPr marL="6350" marR="6350" marT="6350" marB="0" anchor="ctr"/>
                </a:tc>
                <a:tc>
                  <a:txBody>
                    <a:bodyPr/>
                    <a:lstStyle/>
                    <a:p>
                      <a:pPr algn="ctr" fontAlgn="b">
                        <a:buNone/>
                      </a:pPr>
                      <a:r>
                        <a:rPr lang="en-US" sz="1050" b="1"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rPr>
                        <a:t>Q4FY25</a:t>
                      </a:r>
                      <a:endParaRPr lang="en-US" sz="105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tc>
                  <a:txBody>
                    <a:bodyPr/>
                    <a:lstStyle/>
                    <a:p>
                      <a:pPr algn="ctr" fontAlgn="b">
                        <a:buNone/>
                      </a:pPr>
                      <a:r>
                        <a:rPr lang="en-US" sz="1050" b="1"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rPr>
                        <a:t>Q4FY26</a:t>
                      </a:r>
                      <a:endParaRPr lang="en-US" sz="1050" b="1" i="0" u="none" strike="noStrike">
                        <a:solidFill>
                          <a:schemeClr val="bg1"/>
                        </a:solidFill>
                        <a:effectLst/>
                        <a:latin typeface="Aptos" panose="020B0004020202020204" pitchFamily="34" charset="0"/>
                        <a:ea typeface="Lato Regular" panose="020F0502020204030203" pitchFamily="34" charset="0"/>
                        <a:cs typeface="Lato Regular" panose="020F0502020204030203" pitchFamily="34" charset="0"/>
                      </a:endParaRPr>
                    </a:p>
                  </a:txBody>
                  <a:tcPr marL="6350" marR="6350" marT="6350" marB="0" anchor="ctr"/>
                </a:tc>
                <a:extLst>
                  <a:ext uri="{0D108BD9-81ED-4DB2-BD59-A6C34878D82A}">
                    <a16:rowId xmlns:a16="http://schemas.microsoft.com/office/drawing/2014/main" val="3735237806"/>
                  </a:ext>
                </a:extLst>
              </a:tr>
              <a:tr h="302056">
                <a:tc>
                  <a:txBody>
                    <a:bodyPr/>
                    <a:lstStyle/>
                    <a:p>
                      <a:pPr algn="l" fontAlgn="b"/>
                      <a:r>
                        <a:rPr lang="en-US" sz="1050" b="1" u="none" strike="noStrike">
                          <a:solidFill>
                            <a:schemeClr val="accent4"/>
                          </a:solidFill>
                          <a:effectLst/>
                          <a:latin typeface="+mn-lt"/>
                          <a:ea typeface="Lato Regular" panose="020F0502020204030203" pitchFamily="34" charset="0"/>
                          <a:cs typeface="Lato Regular" panose="020F0502020204030203" pitchFamily="34" charset="0"/>
                        </a:rPr>
                        <a:t>Gross Revenue</a:t>
                      </a:r>
                      <a:endParaRPr lang="en-US" sz="1050" b="1" i="0" u="none" strike="noStrike">
                        <a:solidFill>
                          <a:schemeClr val="accent4"/>
                        </a:solidFill>
                        <a:effectLst/>
                        <a:latin typeface="+mn-lt"/>
                        <a:ea typeface="Lato Regular" panose="020F0502020204030203" pitchFamily="34" charset="0"/>
                        <a:cs typeface="Lato Regular" panose="020F0502020204030203" pitchFamily="34" charset="0"/>
                      </a:endParaRPr>
                    </a:p>
                  </a:txBody>
                  <a:tcPr marL="144000" marR="6350" marT="6350" marB="0" anchor="ctr"/>
                </a:tc>
                <a:tc>
                  <a:txBody>
                    <a:bodyPr/>
                    <a:lstStyle/>
                    <a:p>
                      <a:pPr algn="ctr" fontAlgn="b"/>
                      <a:r>
                        <a:rPr lang="en-IN" sz="1050" b="1" i="0" u="none" strike="noStrike">
                          <a:solidFill>
                            <a:schemeClr val="accent4"/>
                          </a:solidFill>
                          <a:effectLst/>
                          <a:latin typeface="+mn-lt"/>
                        </a:rPr>
                        <a:t>11.6</a:t>
                      </a:r>
                    </a:p>
                  </a:txBody>
                  <a:tcPr marL="6350" marR="6350" marT="6350" marB="0" anchor="ctr"/>
                </a:tc>
                <a:tc>
                  <a:txBody>
                    <a:bodyPr/>
                    <a:lstStyle/>
                    <a:p>
                      <a:pPr algn="ctr" fontAlgn="b"/>
                      <a:r>
                        <a:rPr lang="en-IN" sz="1050" b="1" i="0" u="none" strike="noStrike">
                          <a:solidFill>
                            <a:schemeClr val="accent4"/>
                          </a:solidFill>
                          <a:effectLst/>
                          <a:latin typeface="+mn-lt"/>
                        </a:rPr>
                        <a:t>25.4</a:t>
                      </a:r>
                    </a:p>
                  </a:txBody>
                  <a:tcPr marL="6350" marR="6350" marT="6350" marB="0" anchor="ctr"/>
                </a:tc>
                <a:tc>
                  <a:txBody>
                    <a:bodyPr/>
                    <a:lstStyle/>
                    <a:p>
                      <a:pPr algn="ctr" fontAlgn="b"/>
                      <a:r>
                        <a:rPr lang="en-IN" sz="1050" b="1" i="0" u="none" strike="noStrike">
                          <a:solidFill>
                            <a:schemeClr val="accent4"/>
                          </a:solidFill>
                          <a:effectLst/>
                          <a:latin typeface="+mn-lt"/>
                        </a:rPr>
                        <a:t>37.1</a:t>
                      </a:r>
                    </a:p>
                  </a:txBody>
                  <a:tcPr marL="6350" marR="6350" marT="6350" marB="0" anchor="ctr"/>
                </a:tc>
                <a:tc>
                  <a:txBody>
                    <a:bodyPr/>
                    <a:lstStyle/>
                    <a:p>
                      <a:pPr algn="ctr" fontAlgn="b"/>
                      <a:r>
                        <a:rPr lang="en-IN" sz="1050" b="1" i="0" u="none" strike="noStrike">
                          <a:solidFill>
                            <a:schemeClr val="accent4"/>
                          </a:solidFill>
                          <a:effectLst/>
                          <a:latin typeface="+mn-lt"/>
                        </a:rPr>
                        <a:t>9.2</a:t>
                      </a:r>
                    </a:p>
                  </a:txBody>
                  <a:tcPr marL="6350" marR="6350" marT="6350" marB="0" anchor="ctr"/>
                </a:tc>
                <a:tc>
                  <a:txBody>
                    <a:bodyPr/>
                    <a:lstStyle/>
                    <a:p>
                      <a:pPr algn="ctr" fontAlgn="b"/>
                      <a:r>
                        <a:rPr lang="en-IN" sz="1050" b="1" i="0" u="none" strike="noStrike">
                          <a:solidFill>
                            <a:schemeClr val="accent4"/>
                          </a:solidFill>
                          <a:effectLst/>
                          <a:latin typeface="+mn-lt"/>
                        </a:rPr>
                        <a:t>13.8</a:t>
                      </a:r>
                    </a:p>
                  </a:txBody>
                  <a:tcPr marL="6350" marR="6350" marT="6350" marB="0" anchor="ctr"/>
                </a:tc>
                <a:extLst>
                  <a:ext uri="{0D108BD9-81ED-4DB2-BD59-A6C34878D82A}">
                    <a16:rowId xmlns:a16="http://schemas.microsoft.com/office/drawing/2014/main" val="2159784742"/>
                  </a:ext>
                </a:extLst>
              </a:tr>
              <a:tr h="302056">
                <a:tc>
                  <a:txBody>
                    <a:bodyPr/>
                    <a:lstStyle/>
                    <a:p>
                      <a:pPr algn="l" fontAlgn="b"/>
                      <a:r>
                        <a:rPr lang="en-US" sz="1050" b="0" u="none" strike="noStrike">
                          <a:solidFill>
                            <a:schemeClr val="accent4"/>
                          </a:solidFill>
                          <a:effectLst/>
                          <a:latin typeface="+mn-lt"/>
                          <a:ea typeface="Lato Regular" panose="020F0502020204030203" pitchFamily="34" charset="0"/>
                          <a:cs typeface="Lato Regular" panose="020F0502020204030203" pitchFamily="34" charset="0"/>
                        </a:rPr>
                        <a:t>% Growth YoY</a:t>
                      </a:r>
                      <a:endParaRPr lang="en-US" sz="1050" b="0" i="0" u="none" strike="noStrike">
                        <a:solidFill>
                          <a:schemeClr val="accent4"/>
                        </a:solidFill>
                        <a:effectLst/>
                        <a:latin typeface="+mn-lt"/>
                        <a:ea typeface="Lato Regular" panose="020F0502020204030203" pitchFamily="34" charset="0"/>
                        <a:cs typeface="Lato Regular" panose="020F0502020204030203" pitchFamily="34" charset="0"/>
                      </a:endParaRPr>
                    </a:p>
                  </a:txBody>
                  <a:tcPr marL="144000" marR="6350" marT="6350" marB="0" anchor="ctr"/>
                </a:tc>
                <a:tc>
                  <a:txBody>
                    <a:bodyPr/>
                    <a:lstStyle/>
                    <a:p>
                      <a:pPr algn="ctr" fontAlgn="b"/>
                      <a:r>
                        <a:rPr lang="en-IN" sz="1050" b="0" i="0" u="none" strike="noStrike">
                          <a:solidFill>
                            <a:schemeClr val="accent4"/>
                          </a:solidFill>
                          <a:effectLst/>
                          <a:latin typeface="+mn-lt"/>
                        </a:rPr>
                        <a:t>62.5%</a:t>
                      </a:r>
                    </a:p>
                  </a:txBody>
                  <a:tcPr marL="6350" marR="6350" marT="6350" marB="0" anchor="ctr"/>
                </a:tc>
                <a:tc>
                  <a:txBody>
                    <a:bodyPr/>
                    <a:lstStyle/>
                    <a:p>
                      <a:pPr algn="ctr" fontAlgn="b"/>
                      <a:r>
                        <a:rPr lang="en-IN" sz="1050" b="0" i="0" u="none" strike="noStrike">
                          <a:solidFill>
                            <a:schemeClr val="accent4"/>
                          </a:solidFill>
                          <a:effectLst/>
                          <a:latin typeface="+mn-lt"/>
                        </a:rPr>
                        <a:t>118.5%</a:t>
                      </a:r>
                    </a:p>
                  </a:txBody>
                  <a:tcPr marL="6350" marR="6350" marT="6350" marB="0" anchor="ctr"/>
                </a:tc>
                <a:tc>
                  <a:txBody>
                    <a:bodyPr/>
                    <a:lstStyle/>
                    <a:p>
                      <a:pPr marL="0" algn="ctr" defTabSz="914400" rtl="0" eaLnBrk="1" fontAlgn="b" latinLnBrk="0" hangingPunct="1"/>
                      <a:r>
                        <a:rPr lang="en-IN" sz="1050" b="0" i="0" u="none" strike="noStrike" kern="1200">
                          <a:solidFill>
                            <a:schemeClr val="accent4"/>
                          </a:solidFill>
                          <a:effectLst/>
                          <a:latin typeface="+mn-lt"/>
                          <a:ea typeface="+mn-ea"/>
                          <a:cs typeface="+mn-cs"/>
                        </a:rPr>
                        <a:t>45.8%</a:t>
                      </a:r>
                    </a:p>
                  </a:txBody>
                  <a:tcPr marL="6350" marR="6350" marT="6350" marB="0" anchor="ctr"/>
                </a:tc>
                <a:tc>
                  <a:txBody>
                    <a:bodyPr/>
                    <a:lstStyle/>
                    <a:p>
                      <a:pPr marL="0" algn="ctr" defTabSz="914400" rtl="0" eaLnBrk="1" fontAlgn="b" latinLnBrk="0" hangingPunct="1"/>
                      <a:r>
                        <a:rPr lang="en-IN" sz="1050" b="0" i="0" u="none" strike="noStrike" kern="1200">
                          <a:solidFill>
                            <a:schemeClr val="accent4"/>
                          </a:solidFill>
                          <a:effectLst/>
                          <a:latin typeface="+mn-lt"/>
                          <a:ea typeface="+mn-ea"/>
                          <a:cs typeface="+mn-cs"/>
                        </a:rPr>
                        <a:t>99%</a:t>
                      </a:r>
                    </a:p>
                  </a:txBody>
                  <a:tcPr marL="9525" marR="9525" marT="9525" marB="0" anchor="ctr"/>
                </a:tc>
                <a:tc>
                  <a:txBody>
                    <a:bodyPr/>
                    <a:lstStyle/>
                    <a:p>
                      <a:pPr marL="0" algn="ctr" defTabSz="914400" rtl="0" eaLnBrk="1" fontAlgn="b" latinLnBrk="0" hangingPunct="1"/>
                      <a:r>
                        <a:rPr lang="en-IN" sz="1050" b="0" i="0" u="none" strike="noStrike" kern="1200">
                          <a:solidFill>
                            <a:schemeClr val="accent4"/>
                          </a:solidFill>
                          <a:effectLst/>
                          <a:latin typeface="+mn-lt"/>
                          <a:ea typeface="+mn-ea"/>
                          <a:cs typeface="+mn-cs"/>
                        </a:rPr>
                        <a:t>50%</a:t>
                      </a:r>
                    </a:p>
                  </a:txBody>
                  <a:tcPr marL="9525" marR="9525" marT="9525" marB="0" anchor="ctr"/>
                </a:tc>
                <a:extLst>
                  <a:ext uri="{0D108BD9-81ED-4DB2-BD59-A6C34878D82A}">
                    <a16:rowId xmlns:a16="http://schemas.microsoft.com/office/drawing/2014/main" val="2809398452"/>
                  </a:ext>
                </a:extLst>
              </a:tr>
              <a:tr h="302056">
                <a:tc>
                  <a:txBody>
                    <a:bodyPr/>
                    <a:lstStyle/>
                    <a:p>
                      <a:pPr algn="l" fontAlgn="b"/>
                      <a:r>
                        <a:rPr lang="en-US" sz="1050" b="1" i="0" u="none" strike="noStrike">
                          <a:solidFill>
                            <a:schemeClr val="accent4"/>
                          </a:solidFill>
                          <a:effectLst/>
                          <a:latin typeface="+mn-lt"/>
                          <a:ea typeface="Lato Regular" panose="020F0502020204030203" pitchFamily="34" charset="0"/>
                          <a:cs typeface="Lato Regular" panose="020F0502020204030203" pitchFamily="34" charset="0"/>
                        </a:rPr>
                        <a:t>Gross Margin</a:t>
                      </a:r>
                    </a:p>
                  </a:txBody>
                  <a:tcPr marL="144000" marR="6350" marT="6350" marB="0" anchor="ctr"/>
                </a:tc>
                <a:tc>
                  <a:txBody>
                    <a:bodyPr/>
                    <a:lstStyle/>
                    <a:p>
                      <a:pPr algn="ctr" fontAlgn="b"/>
                      <a:r>
                        <a:rPr lang="en-IN" sz="1050" b="1" i="0" u="none" strike="noStrike">
                          <a:solidFill>
                            <a:schemeClr val="accent4"/>
                          </a:solidFill>
                          <a:effectLst/>
                          <a:latin typeface="+mn-lt"/>
                        </a:rPr>
                        <a:t>9.0</a:t>
                      </a:r>
                    </a:p>
                  </a:txBody>
                  <a:tcPr marL="6350" marR="6350" marT="6350" marB="0" anchor="ctr"/>
                </a:tc>
                <a:tc>
                  <a:txBody>
                    <a:bodyPr/>
                    <a:lstStyle/>
                    <a:p>
                      <a:pPr algn="ctr" fontAlgn="b"/>
                      <a:r>
                        <a:rPr lang="en-IN" sz="1050" b="1" i="0" u="none" strike="noStrike">
                          <a:solidFill>
                            <a:schemeClr val="accent4"/>
                          </a:solidFill>
                          <a:effectLst/>
                          <a:latin typeface="+mn-lt"/>
                        </a:rPr>
                        <a:t>21.1</a:t>
                      </a:r>
                    </a:p>
                  </a:txBody>
                  <a:tcPr marL="6350" marR="6350" marT="6350" marB="0" anchor="ctr"/>
                </a:tc>
                <a:tc>
                  <a:txBody>
                    <a:bodyPr/>
                    <a:lstStyle/>
                    <a:p>
                      <a:pPr algn="ctr" fontAlgn="b"/>
                      <a:r>
                        <a:rPr lang="en-IN" sz="1050" b="1" i="0" u="none" strike="noStrike">
                          <a:solidFill>
                            <a:schemeClr val="accent4"/>
                          </a:solidFill>
                          <a:effectLst/>
                          <a:latin typeface="+mn-lt"/>
                        </a:rPr>
                        <a:t>30.8</a:t>
                      </a:r>
                    </a:p>
                  </a:txBody>
                  <a:tcPr marL="6350" marR="6350" marT="6350" marB="0" anchor="ctr"/>
                </a:tc>
                <a:tc>
                  <a:txBody>
                    <a:bodyPr/>
                    <a:lstStyle/>
                    <a:p>
                      <a:pPr algn="ctr" fontAlgn="b"/>
                      <a:r>
                        <a:rPr lang="en-IN" sz="1050" b="1" i="0" u="none" strike="noStrike">
                          <a:solidFill>
                            <a:schemeClr val="accent4"/>
                          </a:solidFill>
                          <a:effectLst/>
                          <a:latin typeface="+mn-lt"/>
                        </a:rPr>
                        <a:t>7.9</a:t>
                      </a:r>
                    </a:p>
                  </a:txBody>
                  <a:tcPr marL="6350" marR="6350" marT="6350" marB="0" anchor="ctr"/>
                </a:tc>
                <a:tc>
                  <a:txBody>
                    <a:bodyPr/>
                    <a:lstStyle/>
                    <a:p>
                      <a:pPr algn="ctr" fontAlgn="b"/>
                      <a:r>
                        <a:rPr lang="en-IN" sz="1050" b="1" i="0" u="none" strike="noStrike">
                          <a:solidFill>
                            <a:schemeClr val="accent4"/>
                          </a:solidFill>
                          <a:effectLst/>
                          <a:latin typeface="+mn-lt"/>
                        </a:rPr>
                        <a:t>11.6</a:t>
                      </a:r>
                    </a:p>
                  </a:txBody>
                  <a:tcPr marL="6350" marR="6350" marT="6350" marB="0" anchor="ctr"/>
                </a:tc>
                <a:extLst>
                  <a:ext uri="{0D108BD9-81ED-4DB2-BD59-A6C34878D82A}">
                    <a16:rowId xmlns:a16="http://schemas.microsoft.com/office/drawing/2014/main" val="4076501595"/>
                  </a:ext>
                </a:extLst>
              </a:tr>
              <a:tr h="302056">
                <a:tc>
                  <a:txBody>
                    <a:bodyPr/>
                    <a:lstStyle/>
                    <a:p>
                      <a:pPr algn="l" fontAlgn="b"/>
                      <a:r>
                        <a:rPr lang="en-US" sz="1050" b="0" i="0" u="none" strike="noStrike">
                          <a:solidFill>
                            <a:schemeClr val="accent4"/>
                          </a:solidFill>
                          <a:effectLst/>
                          <a:latin typeface="+mn-lt"/>
                          <a:ea typeface="Lato Regular" panose="020F0502020204030203" pitchFamily="34" charset="0"/>
                          <a:cs typeface="Lato Regular" panose="020F0502020204030203" pitchFamily="34" charset="0"/>
                        </a:rPr>
                        <a:t>% Gross Margin</a:t>
                      </a:r>
                    </a:p>
                  </a:txBody>
                  <a:tcPr marL="144000" marR="6350" marT="6350" marB="0" anchor="ctr"/>
                </a:tc>
                <a:tc>
                  <a:txBody>
                    <a:bodyPr/>
                    <a:lstStyle/>
                    <a:p>
                      <a:pPr algn="ctr" fontAlgn="b"/>
                      <a:r>
                        <a:rPr lang="en-IN" sz="1050" b="0" i="0" u="none" strike="noStrike">
                          <a:solidFill>
                            <a:schemeClr val="accent4"/>
                          </a:solidFill>
                          <a:effectLst/>
                          <a:latin typeface="+mn-lt"/>
                        </a:rPr>
                        <a:t>77.0%</a:t>
                      </a:r>
                    </a:p>
                  </a:txBody>
                  <a:tcPr marL="6350" marR="6350" marT="6350" marB="0" anchor="ctr"/>
                </a:tc>
                <a:tc>
                  <a:txBody>
                    <a:bodyPr/>
                    <a:lstStyle/>
                    <a:p>
                      <a:pPr algn="ctr" fontAlgn="b"/>
                      <a:r>
                        <a:rPr lang="en-IN" sz="1050" b="0" i="0" u="none" strike="noStrike">
                          <a:solidFill>
                            <a:schemeClr val="accent4"/>
                          </a:solidFill>
                          <a:effectLst/>
                          <a:latin typeface="+mn-lt"/>
                        </a:rPr>
                        <a:t>83.1%</a:t>
                      </a:r>
                    </a:p>
                  </a:txBody>
                  <a:tcPr marL="6350" marR="6350" marT="6350" marB="0" anchor="ctr"/>
                </a:tc>
                <a:tc>
                  <a:txBody>
                    <a:bodyPr/>
                    <a:lstStyle/>
                    <a:p>
                      <a:pPr marL="0" algn="ctr" defTabSz="914400" rtl="0" eaLnBrk="1" fontAlgn="b" latinLnBrk="0" hangingPunct="1"/>
                      <a:r>
                        <a:rPr lang="en-IN" sz="1050" b="0" i="0" u="none" strike="noStrike" kern="1200">
                          <a:solidFill>
                            <a:schemeClr val="accent4"/>
                          </a:solidFill>
                          <a:effectLst/>
                          <a:latin typeface="+mn-lt"/>
                          <a:ea typeface="+mn-ea"/>
                          <a:cs typeface="+mn-cs"/>
                        </a:rPr>
                        <a:t>83.1%</a:t>
                      </a:r>
                    </a:p>
                  </a:txBody>
                  <a:tcPr marL="9525" marR="9525" marT="9525" marB="0" anchor="ctr"/>
                </a:tc>
                <a:tc>
                  <a:txBody>
                    <a:bodyPr/>
                    <a:lstStyle/>
                    <a:p>
                      <a:pPr marL="0" algn="ctr" defTabSz="914400" rtl="0" eaLnBrk="1" fontAlgn="b" latinLnBrk="0" hangingPunct="1"/>
                      <a:r>
                        <a:rPr lang="en-IN" sz="1050" b="0" i="0" u="none" strike="noStrike" kern="1200">
                          <a:solidFill>
                            <a:schemeClr val="accent4"/>
                          </a:solidFill>
                          <a:effectLst/>
                          <a:latin typeface="+mn-lt"/>
                          <a:ea typeface="+mn-ea"/>
                          <a:cs typeface="+mn-cs"/>
                        </a:rPr>
                        <a:t>86.8%</a:t>
                      </a:r>
                    </a:p>
                  </a:txBody>
                  <a:tcPr marL="9525" marR="9525" marT="9525" marB="0" anchor="ctr"/>
                </a:tc>
                <a:tc>
                  <a:txBody>
                    <a:bodyPr/>
                    <a:lstStyle/>
                    <a:p>
                      <a:pPr marL="0" algn="ctr" defTabSz="914400" rtl="0" eaLnBrk="1" fontAlgn="b" latinLnBrk="0" hangingPunct="1"/>
                      <a:r>
                        <a:rPr lang="en-IN" sz="1050" b="0" i="0" u="none" strike="noStrike" kern="1200">
                          <a:solidFill>
                            <a:schemeClr val="accent4"/>
                          </a:solidFill>
                          <a:effectLst/>
                          <a:latin typeface="+mn-lt"/>
                          <a:ea typeface="+mn-ea"/>
                          <a:cs typeface="+mn-cs"/>
                        </a:rPr>
                        <a:t>84%</a:t>
                      </a:r>
                    </a:p>
                  </a:txBody>
                  <a:tcPr marL="9525" marR="9525" marT="9525" marB="0" anchor="ctr"/>
                </a:tc>
                <a:extLst>
                  <a:ext uri="{0D108BD9-81ED-4DB2-BD59-A6C34878D82A}">
                    <a16:rowId xmlns:a16="http://schemas.microsoft.com/office/drawing/2014/main" val="3179895044"/>
                  </a:ext>
                </a:extLst>
              </a:tr>
              <a:tr h="302056">
                <a:tc>
                  <a:txBody>
                    <a:bodyPr/>
                    <a:lstStyle/>
                    <a:p>
                      <a:pPr algn="l" fontAlgn="b"/>
                      <a:r>
                        <a:rPr lang="en-US" sz="1050" b="1" u="none" strike="noStrike">
                          <a:solidFill>
                            <a:schemeClr val="accent4"/>
                          </a:solidFill>
                          <a:effectLst/>
                          <a:latin typeface="+mn-lt"/>
                          <a:ea typeface="Lato Regular" panose="020F0502020204030203" pitchFamily="34" charset="0"/>
                          <a:cs typeface="Lato Regular" panose="020F0502020204030203" pitchFamily="34" charset="0"/>
                        </a:rPr>
                        <a:t>EBITDA</a:t>
                      </a:r>
                      <a:endParaRPr lang="en-US" sz="1050" b="1" i="0" u="none" strike="noStrike">
                        <a:solidFill>
                          <a:schemeClr val="accent4"/>
                        </a:solidFill>
                        <a:effectLst/>
                        <a:latin typeface="+mn-lt"/>
                        <a:ea typeface="Lato Regular" panose="020F0502020204030203" pitchFamily="34" charset="0"/>
                        <a:cs typeface="Lato Regular" panose="020F0502020204030203" pitchFamily="34" charset="0"/>
                      </a:endParaRPr>
                    </a:p>
                  </a:txBody>
                  <a:tcPr marL="144000" marR="6350" marT="6350" marB="0" anchor="ctr"/>
                </a:tc>
                <a:tc>
                  <a:txBody>
                    <a:bodyPr/>
                    <a:lstStyle/>
                    <a:p>
                      <a:pPr algn="ctr" fontAlgn="b"/>
                      <a:r>
                        <a:rPr lang="en-IN" sz="1050" b="1" i="0" u="none" strike="noStrike">
                          <a:solidFill>
                            <a:schemeClr val="accent4"/>
                          </a:solidFill>
                          <a:effectLst/>
                          <a:latin typeface="+mn-lt"/>
                        </a:rPr>
                        <a:t>-23.4</a:t>
                      </a:r>
                    </a:p>
                  </a:txBody>
                  <a:tcPr marL="6350" marR="6350" marT="6350" marB="0" anchor="ctr"/>
                </a:tc>
                <a:tc>
                  <a:txBody>
                    <a:bodyPr/>
                    <a:lstStyle/>
                    <a:p>
                      <a:pPr algn="ctr" fontAlgn="b"/>
                      <a:r>
                        <a:rPr lang="en-IN" sz="1050" b="1" i="0" u="none" strike="noStrike">
                          <a:solidFill>
                            <a:schemeClr val="accent4"/>
                          </a:solidFill>
                          <a:effectLst/>
                          <a:latin typeface="+mn-lt"/>
                        </a:rPr>
                        <a:t>-32.2</a:t>
                      </a:r>
                    </a:p>
                  </a:txBody>
                  <a:tcPr marL="6350" marR="6350" marT="6350" marB="0" anchor="ctr"/>
                </a:tc>
                <a:tc>
                  <a:txBody>
                    <a:bodyPr/>
                    <a:lstStyle/>
                    <a:p>
                      <a:pPr algn="ctr" fontAlgn="b"/>
                      <a:r>
                        <a:rPr lang="en-IN" sz="1050" b="1" i="0" u="none" strike="noStrike">
                          <a:solidFill>
                            <a:schemeClr val="accent4"/>
                          </a:solidFill>
                          <a:effectLst/>
                          <a:latin typeface="+mn-lt"/>
                        </a:rPr>
                        <a:t>-17.0</a:t>
                      </a:r>
                    </a:p>
                  </a:txBody>
                  <a:tcPr marL="6350" marR="6350" marT="6350" marB="0" anchor="ctr"/>
                </a:tc>
                <a:tc>
                  <a:txBody>
                    <a:bodyPr/>
                    <a:lstStyle/>
                    <a:p>
                      <a:pPr algn="ctr" fontAlgn="b"/>
                      <a:r>
                        <a:rPr lang="en-IN" sz="1050" b="1" i="0" u="none" strike="noStrike">
                          <a:solidFill>
                            <a:schemeClr val="accent4"/>
                          </a:solidFill>
                          <a:effectLst/>
                          <a:latin typeface="+mn-lt"/>
                        </a:rPr>
                        <a:t>-6.5</a:t>
                      </a:r>
                    </a:p>
                  </a:txBody>
                  <a:tcPr marL="6350" marR="6350" marT="6350" marB="0" anchor="ctr"/>
                </a:tc>
                <a:tc>
                  <a:txBody>
                    <a:bodyPr/>
                    <a:lstStyle/>
                    <a:p>
                      <a:pPr algn="ctr" fontAlgn="b"/>
                      <a:r>
                        <a:rPr lang="en-IN" sz="1050" b="1" i="0" u="none" strike="noStrike">
                          <a:solidFill>
                            <a:schemeClr val="accent4"/>
                          </a:solidFill>
                          <a:effectLst/>
                          <a:latin typeface="+mn-lt"/>
                        </a:rPr>
                        <a:t>-2.3</a:t>
                      </a:r>
                    </a:p>
                  </a:txBody>
                  <a:tcPr marL="6350" marR="6350" marT="6350" marB="0" anchor="ctr"/>
                </a:tc>
                <a:extLst>
                  <a:ext uri="{0D108BD9-81ED-4DB2-BD59-A6C34878D82A}">
                    <a16:rowId xmlns:a16="http://schemas.microsoft.com/office/drawing/2014/main" val="3498926890"/>
                  </a:ext>
                </a:extLst>
              </a:tr>
              <a:tr h="302056">
                <a:tc>
                  <a:txBody>
                    <a:bodyPr/>
                    <a:lstStyle/>
                    <a:p>
                      <a:pPr algn="l" fontAlgn="b"/>
                      <a:r>
                        <a:rPr lang="en-US" sz="1050" b="0" u="none" strike="noStrike">
                          <a:solidFill>
                            <a:schemeClr val="accent4"/>
                          </a:solidFill>
                          <a:effectLst/>
                          <a:latin typeface="+mn-lt"/>
                          <a:ea typeface="Lato Regular" panose="020F0502020204030203" pitchFamily="34" charset="0"/>
                          <a:cs typeface="Lato Regular" panose="020F0502020204030203" pitchFamily="34" charset="0"/>
                        </a:rPr>
                        <a:t>% EBITDA</a:t>
                      </a:r>
                      <a:endParaRPr lang="en-US" sz="1050" b="0" i="0" u="none" strike="noStrike">
                        <a:solidFill>
                          <a:schemeClr val="accent4"/>
                        </a:solidFill>
                        <a:effectLst/>
                        <a:latin typeface="+mn-lt"/>
                        <a:ea typeface="Lato Regular" panose="020F0502020204030203" pitchFamily="34" charset="0"/>
                        <a:cs typeface="Lato Regular" panose="020F0502020204030203" pitchFamily="34" charset="0"/>
                      </a:endParaRPr>
                    </a:p>
                  </a:txBody>
                  <a:tcPr marL="144000" marR="6350" marT="6350" marB="0" anchor="ctr"/>
                </a:tc>
                <a:tc>
                  <a:txBody>
                    <a:bodyPr/>
                    <a:lstStyle/>
                    <a:p>
                      <a:pPr algn="ctr" fontAlgn="b"/>
                      <a:r>
                        <a:rPr lang="en-IN" sz="1050" b="0" i="0" u="none" strike="noStrike">
                          <a:solidFill>
                            <a:schemeClr val="accent4"/>
                          </a:solidFill>
                          <a:effectLst/>
                          <a:latin typeface="+mn-lt"/>
                        </a:rPr>
                        <a:t>-200.8%</a:t>
                      </a:r>
                    </a:p>
                  </a:txBody>
                  <a:tcPr marL="6350" marR="6350" marT="6350" marB="0" anchor="ctr"/>
                </a:tc>
                <a:tc>
                  <a:txBody>
                    <a:bodyPr/>
                    <a:lstStyle/>
                    <a:p>
                      <a:pPr algn="ctr" fontAlgn="b"/>
                      <a:r>
                        <a:rPr lang="en-IN" sz="1050" b="0" i="0" u="none" strike="noStrike">
                          <a:solidFill>
                            <a:schemeClr val="accent4"/>
                          </a:solidFill>
                          <a:effectLst/>
                          <a:latin typeface="+mn-lt"/>
                        </a:rPr>
                        <a:t>-126.8%</a:t>
                      </a:r>
                    </a:p>
                  </a:txBody>
                  <a:tcPr marL="6350" marR="6350" marT="6350" marB="0" anchor="ctr"/>
                </a:tc>
                <a:tc>
                  <a:txBody>
                    <a:bodyPr/>
                    <a:lstStyle/>
                    <a:p>
                      <a:pPr marL="0" algn="ctr" defTabSz="914400" rtl="0" eaLnBrk="1" fontAlgn="b" latinLnBrk="0" hangingPunct="1"/>
                      <a:r>
                        <a:rPr lang="en-IN" sz="1050" b="0" i="0" u="none" strike="noStrike" kern="1200">
                          <a:solidFill>
                            <a:schemeClr val="accent4"/>
                          </a:solidFill>
                          <a:effectLst/>
                          <a:latin typeface="+mn-lt"/>
                          <a:ea typeface="+mn-ea"/>
                          <a:cs typeface="+mn-cs"/>
                        </a:rPr>
                        <a:t>-46.0%</a:t>
                      </a:r>
                    </a:p>
                  </a:txBody>
                  <a:tcPr marL="9525" marR="9525" marT="9525" marB="0" anchor="ctr"/>
                </a:tc>
                <a:tc>
                  <a:txBody>
                    <a:bodyPr/>
                    <a:lstStyle/>
                    <a:p>
                      <a:pPr marL="0" algn="ctr" defTabSz="914400" rtl="0" eaLnBrk="1" fontAlgn="b" latinLnBrk="0" hangingPunct="1"/>
                      <a:r>
                        <a:rPr lang="en-IN" sz="1050" b="0" i="0" u="none" strike="noStrike" kern="1200">
                          <a:solidFill>
                            <a:schemeClr val="accent4"/>
                          </a:solidFill>
                          <a:effectLst/>
                          <a:latin typeface="+mn-lt"/>
                          <a:ea typeface="+mn-ea"/>
                          <a:cs typeface="+mn-cs"/>
                        </a:rPr>
                        <a:t>-71.2%</a:t>
                      </a:r>
                    </a:p>
                  </a:txBody>
                  <a:tcPr marL="9525" marR="9525" marT="9525" marB="0" anchor="ctr"/>
                </a:tc>
                <a:tc>
                  <a:txBody>
                    <a:bodyPr/>
                    <a:lstStyle/>
                    <a:p>
                      <a:pPr marL="0" algn="ctr" defTabSz="914400" rtl="0" eaLnBrk="1" fontAlgn="b" latinLnBrk="0" hangingPunct="1"/>
                      <a:r>
                        <a:rPr lang="en-IN" sz="1050" b="0" i="0" u="none" strike="noStrike" kern="1200">
                          <a:solidFill>
                            <a:schemeClr val="accent4"/>
                          </a:solidFill>
                          <a:effectLst/>
                          <a:latin typeface="+mn-lt"/>
                          <a:ea typeface="+mn-ea"/>
                          <a:cs typeface="+mn-cs"/>
                        </a:rPr>
                        <a:t>-17%</a:t>
                      </a:r>
                    </a:p>
                  </a:txBody>
                  <a:tcPr marL="9525" marR="9525" marT="9525" marB="0" anchor="ctr"/>
                </a:tc>
                <a:extLst>
                  <a:ext uri="{0D108BD9-81ED-4DB2-BD59-A6C34878D82A}">
                    <a16:rowId xmlns:a16="http://schemas.microsoft.com/office/drawing/2014/main" val="3759208202"/>
                  </a:ext>
                </a:extLst>
              </a:tr>
            </a:tbl>
          </a:graphicData>
        </a:graphic>
      </p:graphicFrame>
      <p:cxnSp>
        <p:nvCxnSpPr>
          <p:cNvPr id="10" name="Straight Connector 9">
            <a:extLst>
              <a:ext uri="{FF2B5EF4-FFF2-40B4-BE49-F238E27FC236}">
                <a16:creationId xmlns:a16="http://schemas.microsoft.com/office/drawing/2014/main" id="{47C8D8C5-1DA0-15E9-31AA-5C08F2BA4EAC}"/>
              </a:ext>
            </a:extLst>
          </p:cNvPr>
          <p:cNvCxnSpPr>
            <a:cxnSpLocks/>
          </p:cNvCxnSpPr>
          <p:nvPr/>
        </p:nvCxnSpPr>
        <p:spPr>
          <a:xfrm>
            <a:off x="5375685" y="536026"/>
            <a:ext cx="0" cy="320217"/>
          </a:xfrm>
          <a:prstGeom prst="line">
            <a:avLst/>
          </a:prstGeom>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DE2D6A8-1CB6-BDDB-9347-44A341F781B3}"/>
              </a:ext>
            </a:extLst>
          </p:cNvPr>
          <p:cNvSpPr txBox="1"/>
          <p:nvPr/>
        </p:nvSpPr>
        <p:spPr>
          <a:xfrm>
            <a:off x="5539984" y="1433554"/>
            <a:ext cx="3607078" cy="227883"/>
          </a:xfrm>
          <a:prstGeom prst="rect">
            <a:avLst/>
          </a:prstGeom>
          <a:noFill/>
        </p:spPr>
        <p:txBody>
          <a:bodyPr wrap="square" lIns="0" tIns="0" rIns="0" bIns="0" rtlCol="0">
            <a:spAutoFit/>
          </a:bodyPr>
          <a:lstStyle/>
          <a:p>
            <a:r>
              <a:rPr lang="en-IN" sz="1481" b="1">
                <a:solidFill>
                  <a:schemeClr val="tx2"/>
                </a:solidFill>
                <a:ea typeface="Lato Regular" panose="020F0502020204030203" pitchFamily="34" charset="0"/>
                <a:cs typeface="Lato Regular" panose="020F0502020204030203" pitchFamily="34" charset="0"/>
              </a:rPr>
              <a:t>Knight Products</a:t>
            </a:r>
          </a:p>
        </p:txBody>
      </p:sp>
      <p:graphicFrame>
        <p:nvGraphicFramePr>
          <p:cNvPr id="16" name="Table 15">
            <a:extLst>
              <a:ext uri="{FF2B5EF4-FFF2-40B4-BE49-F238E27FC236}">
                <a16:creationId xmlns:a16="http://schemas.microsoft.com/office/drawing/2014/main" id="{D4F4763D-7F3F-6D0D-FF99-31F5770C6A8A}"/>
              </a:ext>
            </a:extLst>
          </p:cNvPr>
          <p:cNvGraphicFramePr>
            <a:graphicFrameLocks noGrp="1"/>
          </p:cNvGraphicFramePr>
          <p:nvPr/>
        </p:nvGraphicFramePr>
        <p:xfrm>
          <a:off x="5539984" y="1840227"/>
          <a:ext cx="5785514" cy="555846"/>
        </p:xfrm>
        <a:graphic>
          <a:graphicData uri="http://schemas.openxmlformats.org/drawingml/2006/table">
            <a:tbl>
              <a:tblPr firstRow="1" bandRow="1">
                <a:tableStyleId>{69012ECD-51FC-41F1-AA8D-1B2483CD663E}</a:tableStyleId>
              </a:tblPr>
              <a:tblGrid>
                <a:gridCol w="2733399">
                  <a:extLst>
                    <a:ext uri="{9D8B030D-6E8A-4147-A177-3AD203B41FA5}">
                      <a16:colId xmlns:a16="http://schemas.microsoft.com/office/drawing/2014/main" val="3001066899"/>
                    </a:ext>
                  </a:extLst>
                </a:gridCol>
                <a:gridCol w="1122231">
                  <a:extLst>
                    <a:ext uri="{9D8B030D-6E8A-4147-A177-3AD203B41FA5}">
                      <a16:colId xmlns:a16="http://schemas.microsoft.com/office/drawing/2014/main" val="3274968397"/>
                    </a:ext>
                  </a:extLst>
                </a:gridCol>
                <a:gridCol w="964942">
                  <a:extLst>
                    <a:ext uri="{9D8B030D-6E8A-4147-A177-3AD203B41FA5}">
                      <a16:colId xmlns:a16="http://schemas.microsoft.com/office/drawing/2014/main" val="3741411441"/>
                    </a:ext>
                  </a:extLst>
                </a:gridCol>
                <a:gridCol w="964942">
                  <a:extLst>
                    <a:ext uri="{9D8B030D-6E8A-4147-A177-3AD203B41FA5}">
                      <a16:colId xmlns:a16="http://schemas.microsoft.com/office/drawing/2014/main" val="3211854840"/>
                    </a:ext>
                  </a:extLst>
                </a:gridCol>
              </a:tblGrid>
              <a:tr h="262575">
                <a:tc>
                  <a:txBody>
                    <a:bodyPr/>
                    <a:lstStyle/>
                    <a:p>
                      <a:pPr algn="l" fontAlgn="b">
                        <a:buNone/>
                      </a:pPr>
                      <a:endParaRPr lang="en-US" sz="1050" b="1" i="0" u="none" strike="noStrike">
                        <a:solidFill>
                          <a:schemeClr val="bg1"/>
                        </a:solidFill>
                        <a:effectLst/>
                        <a:latin typeface="+mn-lt"/>
                        <a:ea typeface="Lato Regular" panose="020F0502020204030203" pitchFamily="34" charset="0"/>
                        <a:cs typeface="Lato Regular" panose="020F0502020204030203" pitchFamily="34" charset="0"/>
                      </a:endParaRPr>
                    </a:p>
                  </a:txBody>
                  <a:tcPr marL="144000" marR="6350" marT="6350" marB="0" anchor="ctr"/>
                </a:tc>
                <a:tc>
                  <a:txBody>
                    <a:bodyPr/>
                    <a:lstStyle/>
                    <a:p>
                      <a:pPr algn="ctr" fontAlgn="b">
                        <a:buNone/>
                      </a:pPr>
                      <a:r>
                        <a:rPr lang="en-US" sz="1050" b="1" i="0" u="none" strike="noStrike">
                          <a:solidFill>
                            <a:schemeClr val="bg1"/>
                          </a:solidFill>
                          <a:effectLst/>
                          <a:latin typeface="+mn-lt"/>
                          <a:ea typeface="Lato Regular" panose="020F0502020204030203" pitchFamily="34" charset="0"/>
                          <a:cs typeface="Lato Regular" panose="020F0502020204030203" pitchFamily="34" charset="0"/>
                        </a:rPr>
                        <a:t>UTOPIA</a:t>
                      </a:r>
                    </a:p>
                  </a:txBody>
                  <a:tcPr marL="6350" marR="6350" marT="6350" marB="0" anchor="ctr"/>
                </a:tc>
                <a:tc>
                  <a:txBody>
                    <a:bodyPr/>
                    <a:lstStyle/>
                    <a:p>
                      <a:pPr algn="ctr" fontAlgn="b"/>
                      <a:r>
                        <a:rPr lang="en-IN" sz="1050" b="1" i="0" u="none" strike="noStrike">
                          <a:solidFill>
                            <a:schemeClr val="bg1"/>
                          </a:solidFill>
                          <a:effectLst/>
                          <a:latin typeface="+mn-lt"/>
                        </a:rPr>
                        <a:t>BEACON</a:t>
                      </a:r>
                    </a:p>
                  </a:txBody>
                  <a:tcPr marL="6350" marR="6350" marT="6350" marB="0" anchor="ctr"/>
                </a:tc>
                <a:tc>
                  <a:txBody>
                    <a:bodyPr/>
                    <a:lstStyle/>
                    <a:p>
                      <a:pPr algn="ctr" fontAlgn="b"/>
                      <a:r>
                        <a:rPr lang="en-IN" sz="1050" b="1" i="0" u="none" strike="noStrike">
                          <a:solidFill>
                            <a:srgbClr val="FFFFFF"/>
                          </a:solidFill>
                          <a:effectLst/>
                          <a:latin typeface="+mn-lt"/>
                        </a:rPr>
                        <a:t>AURIX</a:t>
                      </a:r>
                    </a:p>
                  </a:txBody>
                  <a:tcPr marL="6350" marR="6350" marT="6350" marB="0" anchor="ctr"/>
                </a:tc>
                <a:extLst>
                  <a:ext uri="{0D108BD9-81ED-4DB2-BD59-A6C34878D82A}">
                    <a16:rowId xmlns:a16="http://schemas.microsoft.com/office/drawing/2014/main" val="3735237806"/>
                  </a:ext>
                </a:extLst>
              </a:tr>
              <a:tr h="293271">
                <a:tc>
                  <a:txBody>
                    <a:bodyPr/>
                    <a:lstStyle/>
                    <a:p>
                      <a:pPr algn="l" fontAlgn="b"/>
                      <a:r>
                        <a:rPr lang="en-US" sz="1050" b="1" i="0" u="none" strike="noStrike">
                          <a:solidFill>
                            <a:schemeClr val="bg2">
                              <a:lumMod val="10000"/>
                            </a:schemeClr>
                          </a:solidFill>
                          <a:effectLst/>
                          <a:latin typeface="+mn-lt"/>
                          <a:ea typeface="Lato Regular" panose="020F0502020204030203" pitchFamily="34" charset="0"/>
                          <a:cs typeface="Lato Regular" panose="020F0502020204030203" pitchFamily="34" charset="0"/>
                        </a:rPr>
                        <a:t>Revenue Share</a:t>
                      </a:r>
                    </a:p>
                  </a:txBody>
                  <a:tcPr marL="108000" marR="6350" marT="6350" marB="0" anchor="ctr"/>
                </a:tc>
                <a:tc>
                  <a:txBody>
                    <a:bodyPr/>
                    <a:lstStyle/>
                    <a:p>
                      <a:pPr algn="ctr" fontAlgn="b"/>
                      <a:r>
                        <a:rPr lang="en-IN" sz="1050" b="0" i="0" u="none" strike="noStrike">
                          <a:solidFill>
                            <a:srgbClr val="000000"/>
                          </a:solidFill>
                          <a:effectLst/>
                          <a:latin typeface="+mn-lt"/>
                        </a:rPr>
                        <a:t>55.3%</a:t>
                      </a:r>
                    </a:p>
                  </a:txBody>
                  <a:tcPr marL="6350" marR="6350" marT="6350" marB="0" anchor="ctr"/>
                </a:tc>
                <a:tc>
                  <a:txBody>
                    <a:bodyPr/>
                    <a:lstStyle/>
                    <a:p>
                      <a:pPr algn="ctr" fontAlgn="b"/>
                      <a:r>
                        <a:rPr lang="en-IN" sz="1050" b="0" i="0" u="none" strike="noStrike">
                          <a:solidFill>
                            <a:srgbClr val="000000"/>
                          </a:solidFill>
                          <a:effectLst/>
                          <a:latin typeface="+mn-lt"/>
                        </a:rPr>
                        <a:t>44.4%</a:t>
                      </a:r>
                    </a:p>
                  </a:txBody>
                  <a:tcPr marL="6350" marR="6350" marT="6350" marB="0" anchor="ctr"/>
                </a:tc>
                <a:tc>
                  <a:txBody>
                    <a:bodyPr/>
                    <a:lstStyle/>
                    <a:p>
                      <a:pPr algn="ctr" fontAlgn="b"/>
                      <a:r>
                        <a:rPr lang="en-IN" sz="1050" b="0" i="0" u="none" strike="noStrike">
                          <a:solidFill>
                            <a:srgbClr val="000000"/>
                          </a:solidFill>
                          <a:effectLst/>
                          <a:latin typeface="+mn-lt"/>
                        </a:rPr>
                        <a:t>0.4% </a:t>
                      </a:r>
                    </a:p>
                    <a:p>
                      <a:pPr algn="ctr" fontAlgn="b"/>
                      <a:r>
                        <a:rPr lang="en-IN" sz="800" b="0" i="0" u="none" strike="noStrike">
                          <a:solidFill>
                            <a:srgbClr val="000000"/>
                          </a:solidFill>
                          <a:effectLst/>
                          <a:latin typeface="+mn-lt"/>
                        </a:rPr>
                        <a:t>(Just Launched)</a:t>
                      </a:r>
                    </a:p>
                  </a:txBody>
                  <a:tcPr marL="6350" marR="6350" marT="6350" marB="0" anchor="ctr"/>
                </a:tc>
                <a:extLst>
                  <a:ext uri="{0D108BD9-81ED-4DB2-BD59-A6C34878D82A}">
                    <a16:rowId xmlns:a16="http://schemas.microsoft.com/office/drawing/2014/main" val="2159784742"/>
                  </a:ext>
                </a:extLst>
              </a:tr>
            </a:tbl>
          </a:graphicData>
        </a:graphic>
      </p:graphicFrame>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56072" y="466523"/>
            <a:ext cx="1202573" cy="371164"/>
          </a:xfrm>
          <a:prstGeom prst="rect">
            <a:avLst/>
          </a:prstGeom>
        </p:spPr>
      </p:pic>
      <p:sp>
        <p:nvSpPr>
          <p:cNvPr id="9" name="Rectangle 8">
            <a:extLst>
              <a:ext uri="{FF2B5EF4-FFF2-40B4-BE49-F238E27FC236}">
                <a16:creationId xmlns:a16="http://schemas.microsoft.com/office/drawing/2014/main" id="{774D96E1-C590-65AC-BD3D-54C53D28D10D}"/>
              </a:ext>
            </a:extLst>
          </p:cNvPr>
          <p:cNvSpPr/>
          <p:nvPr/>
        </p:nvSpPr>
        <p:spPr>
          <a:xfrm>
            <a:off x="574815" y="4139235"/>
            <a:ext cx="4195514" cy="2446824"/>
          </a:xfrm>
          <a:prstGeom prst="rect">
            <a:avLst/>
          </a:prstGeom>
        </p:spPr>
        <p:txBody>
          <a:bodyPr wrap="square" lIns="0" tIns="0" rIns="0" bIns="0" anchor="t">
            <a:spAutoFit/>
          </a:bodyPr>
          <a:lstStyle/>
          <a:p>
            <a:pPr marL="171450" indent="-171450" algn="just">
              <a:spcAft>
                <a:spcPts val="600"/>
              </a:spcAft>
              <a:buFont typeface="Arial" panose="020B0604020202020204" pitchFamily="34" charset="0"/>
              <a:buChar char="•"/>
            </a:pPr>
            <a:r>
              <a:rPr lang="en-GB" sz="1200">
                <a:solidFill>
                  <a:schemeClr val="bg2">
                    <a:lumMod val="10000"/>
                  </a:schemeClr>
                </a:solidFill>
                <a:ea typeface="Calibri"/>
                <a:cs typeface="Calibri"/>
                <a:sym typeface="Calibri"/>
              </a:rPr>
              <a:t>Revenue</a:t>
            </a:r>
            <a:r>
              <a:rPr lang="en-GB" sz="1200">
                <a:solidFill>
                  <a:schemeClr val="bg2">
                    <a:lumMod val="10000"/>
                  </a:schemeClr>
                </a:solidFill>
                <a:ea typeface="+mn-lt"/>
                <a:cs typeface="+mn-lt"/>
                <a:sym typeface="Calibri"/>
              </a:rPr>
              <a:t> scaled to INR 37.1 Cr in FY26, up 46% YoY from INR 25.4 Cr in FY25. While this reflects moderation from 118.5% growth in FY25, it signals a more sustainable growth</a:t>
            </a:r>
            <a:br>
              <a:rPr lang="en-GB" sz="1200">
                <a:solidFill>
                  <a:schemeClr val="bg2">
                    <a:lumMod val="10000"/>
                  </a:schemeClr>
                </a:solidFill>
                <a:ea typeface="+mn-lt"/>
                <a:cs typeface="+mn-lt"/>
                <a:sym typeface="Calibri"/>
              </a:rPr>
            </a:br>
            <a:r>
              <a:rPr lang="en-GB" sz="1200">
                <a:solidFill>
                  <a:schemeClr val="bg2">
                    <a:lumMod val="10000"/>
                  </a:schemeClr>
                </a:solidFill>
                <a:ea typeface="+mn-lt"/>
                <a:cs typeface="+mn-lt"/>
                <a:sym typeface="Calibri"/>
              </a:rPr>
              <a:t>trajectory as the company matures across both Credit and Treasury segments.</a:t>
            </a:r>
          </a:p>
          <a:p>
            <a:pPr marL="171450" indent="-171450" algn="just">
              <a:spcAft>
                <a:spcPts val="600"/>
              </a:spcAft>
              <a:buFont typeface="Arial" panose="020B0604020202020204" pitchFamily="34" charset="0"/>
              <a:buChar char="•"/>
            </a:pPr>
            <a:r>
              <a:rPr lang="en-GB" sz="1200">
                <a:solidFill>
                  <a:schemeClr val="bg2">
                    <a:lumMod val="10000"/>
                  </a:schemeClr>
                </a:solidFill>
                <a:ea typeface="Calibri"/>
                <a:cs typeface="Calibri"/>
                <a:sym typeface="Calibri"/>
              </a:rPr>
              <a:t>Gross margins held steady at </a:t>
            </a:r>
            <a:r>
              <a:rPr lang="en-GB" sz="1200">
                <a:solidFill>
                  <a:schemeClr val="bg2">
                    <a:lumMod val="10000"/>
                  </a:schemeClr>
                </a:solidFill>
                <a:ea typeface="+mn-lt"/>
                <a:cs typeface="+mn-lt"/>
                <a:sym typeface="Calibri"/>
              </a:rPr>
              <a:t>~83% for FY26 (in line with FY25), reflecting stable unit economics and efficient cost</a:t>
            </a:r>
            <a:br>
              <a:rPr lang="en-GB" sz="1200">
                <a:solidFill>
                  <a:schemeClr val="bg2">
                    <a:lumMod val="10000"/>
                  </a:schemeClr>
                </a:solidFill>
                <a:ea typeface="+mn-lt"/>
                <a:cs typeface="+mn-lt"/>
                <a:sym typeface="Calibri"/>
              </a:rPr>
            </a:br>
            <a:r>
              <a:rPr lang="en-GB" sz="1200">
                <a:solidFill>
                  <a:schemeClr val="bg2">
                    <a:lumMod val="10000"/>
                  </a:schemeClr>
                </a:solidFill>
                <a:ea typeface="+mn-lt"/>
                <a:cs typeface="+mn-lt"/>
                <a:sym typeface="Calibri"/>
              </a:rPr>
              <a:t>management even as the platform scales and new products</a:t>
            </a:r>
            <a:br>
              <a:rPr lang="en-GB" sz="1200">
                <a:solidFill>
                  <a:schemeClr val="bg2">
                    <a:lumMod val="10000"/>
                  </a:schemeClr>
                </a:solidFill>
                <a:ea typeface="+mn-lt"/>
                <a:cs typeface="+mn-lt"/>
                <a:sym typeface="Calibri"/>
              </a:rPr>
            </a:br>
            <a:r>
              <a:rPr lang="en-GB" sz="1200">
                <a:solidFill>
                  <a:schemeClr val="bg2">
                    <a:lumMod val="10000"/>
                  </a:schemeClr>
                </a:solidFill>
                <a:ea typeface="+mn-lt"/>
                <a:cs typeface="+mn-lt"/>
                <a:sym typeface="Calibri"/>
              </a:rPr>
              <a:t>are launched.</a:t>
            </a:r>
          </a:p>
          <a:p>
            <a:pPr marL="171450" indent="-171450" algn="just">
              <a:spcAft>
                <a:spcPts val="600"/>
              </a:spcAft>
              <a:buFont typeface="Arial" panose="020B0604020202020204" pitchFamily="34" charset="0"/>
              <a:buChar char="•"/>
            </a:pPr>
            <a:r>
              <a:rPr lang="en-GB" sz="1200">
                <a:solidFill>
                  <a:schemeClr val="bg2">
                    <a:lumMod val="10000"/>
                  </a:schemeClr>
                </a:solidFill>
                <a:ea typeface="+mn-lt"/>
                <a:cs typeface="+mn-lt"/>
              </a:rPr>
              <a:t>Company achieved EBITDA positivity in its core products in Jan &amp; Mar 2026, signalling a clear path to breakeven. </a:t>
            </a:r>
          </a:p>
          <a:p>
            <a:pPr marL="171450" indent="-171450" algn="just">
              <a:spcAft>
                <a:spcPts val="600"/>
              </a:spcAft>
              <a:buFont typeface="Arial" panose="020B0604020202020204" pitchFamily="34" charset="0"/>
              <a:buChar char="•"/>
            </a:pPr>
            <a:r>
              <a:rPr lang="en-GB" sz="1200">
                <a:solidFill>
                  <a:schemeClr val="bg2">
                    <a:lumMod val="10000"/>
                  </a:schemeClr>
                </a:solidFill>
                <a:ea typeface="+mn-lt"/>
                <a:cs typeface="+mn-lt"/>
              </a:rPr>
              <a:t>The AUM on their platform has crossed INR 70,000Cr. </a:t>
            </a:r>
          </a:p>
        </p:txBody>
      </p:sp>
    </p:spTree>
    <p:extLst>
      <p:ext uri="{BB962C8B-B14F-4D97-AF65-F5344CB8AC3E}">
        <p14:creationId xmlns:p14="http://schemas.microsoft.com/office/powerpoint/2010/main" val="1252045716"/>
      </p:ext>
    </p:extLst>
  </p:cSld>
  <p:clrMapOvr>
    <a:masterClrMapping/>
  </p:clrMapOvr>
</p:sld>
</file>

<file path=ppt/theme/theme1.xml><?xml version="1.0" encoding="utf-8"?>
<a:theme xmlns:a="http://schemas.openxmlformats.org/drawingml/2006/main" name="3_Custom Design">
  <a:themeElements>
    <a:clrScheme name="IIFL CAPITAL 2025 Nov">
      <a:dk1>
        <a:srgbClr val="2C2B69"/>
      </a:dk1>
      <a:lt1>
        <a:srgbClr val="FFFFFF"/>
      </a:lt1>
      <a:dk2>
        <a:srgbClr val="43413F"/>
      </a:dk2>
      <a:lt2>
        <a:srgbClr val="E8E8E8"/>
      </a:lt2>
      <a:accent1>
        <a:srgbClr val="2C2B69"/>
      </a:accent1>
      <a:accent2>
        <a:srgbClr val="D29341"/>
      </a:accent2>
      <a:accent3>
        <a:srgbClr val="836140"/>
      </a:accent3>
      <a:accent4>
        <a:srgbClr val="231F56"/>
      </a:accent4>
      <a:accent5>
        <a:srgbClr val="948B7F"/>
      </a:accent5>
      <a:accent6>
        <a:srgbClr val="D1D3D3"/>
      </a:accent6>
      <a:hlink>
        <a:srgbClr val="003B9B"/>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4_Custom Design">
  <a:themeElements>
    <a:clrScheme name="New IIFL Capital - 2026">
      <a:dk1>
        <a:srgbClr val="202020"/>
      </a:dk1>
      <a:lt1>
        <a:srgbClr val="FFFFFF"/>
      </a:lt1>
      <a:dk2>
        <a:srgbClr val="43413F"/>
      </a:dk2>
      <a:lt2>
        <a:srgbClr val="D1D3D3"/>
      </a:lt2>
      <a:accent1>
        <a:srgbClr val="2E3092"/>
      </a:accent1>
      <a:accent2>
        <a:srgbClr val="CF9C51"/>
      </a:accent2>
      <a:accent3>
        <a:srgbClr val="836140"/>
      </a:accent3>
      <a:accent4>
        <a:srgbClr val="4D59A5"/>
      </a:accent4>
      <a:accent5>
        <a:srgbClr val="E0B87E"/>
      </a:accent5>
      <a:accent6>
        <a:srgbClr val="939598"/>
      </a:accent6>
      <a:hlink>
        <a:srgbClr val="003B9B"/>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6527</Words>
  <Application>Microsoft Office PowerPoint</Application>
  <PresentationFormat>Widescreen</PresentationFormat>
  <Paragraphs>1326</Paragraphs>
  <Slides>18</Slides>
  <Notes>18</Notes>
  <HiddenSlides>0</HiddenSlides>
  <MMClips>0</MMClips>
  <ScaleCrop>false</ScaleCrop>
  <HeadingPairs>
    <vt:vector size="4" baseType="variant">
      <vt:variant>
        <vt:lpstr>Theme</vt:lpstr>
      </vt:variant>
      <vt:variant>
        <vt:i4>2</vt:i4>
      </vt:variant>
      <vt:variant>
        <vt:lpstr>Slide Titles</vt:lpstr>
      </vt:variant>
      <vt:variant>
        <vt:i4>18</vt:i4>
      </vt:variant>
    </vt:vector>
  </HeadingPairs>
  <TitlesOfParts>
    <vt:vector size="20" baseType="lpstr">
      <vt:lpstr>3_Custom Design</vt:lpstr>
      <vt:lpstr>4_Custom Design</vt:lpstr>
      <vt:lpstr>PowerPoint Presentation</vt:lpstr>
      <vt:lpstr>PowerPoint Presentation</vt:lpstr>
      <vt:lpstr>Grey Swift Private Limited - Leegality</vt:lpstr>
      <vt:lpstr>Giskard Datatech Private Limited - Trendlyne</vt:lpstr>
      <vt:lpstr>Moshpit Technologies Private Limited - Finbox</vt:lpstr>
      <vt:lpstr>Finfactor Technologies Private Limited - Finvu</vt:lpstr>
      <vt:lpstr>Extrapolate Advisors Private Limited - Datasutram</vt:lpstr>
      <vt:lpstr>EasyRewardz Software Services Private Limited - Easyrewardz</vt:lpstr>
      <vt:lpstr>Multipl Fintech Solutions Private Limited - Multipl</vt:lpstr>
      <vt:lpstr>Fastsurance Consultants Private Limited - Insurance Samadhan</vt:lpstr>
      <vt:lpstr>UMBO ID Tech Pvt Ltd  Riskcovry</vt:lpstr>
      <vt:lpstr>Ncome Tech Solutions Private Limited- Castler</vt:lpstr>
      <vt:lpstr>Xtracap Fintech India Private Limited– Bridge2Capital</vt:lpstr>
      <vt:lpstr>Grayquest Education FinancePrivate Limited– Grayquest</vt:lpstr>
      <vt:lpstr>Apex Future Labs Private Limited – Vitra.ai</vt:lpstr>
      <vt:lpstr>PowerPoint Presentation</vt:lpstr>
      <vt:lpstr>Fundamento- The outlier on velocity</vt:lpstr>
      <vt:lpstr>Knight Fintech – Maturing into its market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Rishabh Goyal</dc:creator>
  <cp:lastModifiedBy>Smita Dasan</cp:lastModifiedBy>
  <cp:revision>41</cp:revision>
  <cp:lastPrinted>2026-02-06T09:34:47Z</cp:lastPrinted>
  <dcterms:created xsi:type="dcterms:W3CDTF">2025-12-10T09:34:49Z</dcterms:created>
  <dcterms:modified xsi:type="dcterms:W3CDTF">2026-06-08T07:57:45Z</dcterms:modified>
</cp:coreProperties>
</file>